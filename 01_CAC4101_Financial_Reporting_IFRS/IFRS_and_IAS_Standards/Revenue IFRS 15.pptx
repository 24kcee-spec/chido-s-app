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1" r:id="rId5"/>
    <p:sldId id="262" r:id="rId6"/>
    <p:sldId id="263" r:id="rId7"/>
    <p:sldId id="264" r:id="rId8"/>
    <p:sldId id="265" r:id="rId9"/>
    <p:sldId id="266" r:id="rId10"/>
    <p:sldId id="267" r:id="rId11"/>
    <p:sldId id="268"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B724C5AC-033E-43C3-9939-FBE5A76C1E8B}" type="datetimeFigureOut">
              <a:rPr lang="en-US" smtClean="0"/>
              <a:t>8/6/2023</a:t>
            </a:fld>
            <a:endParaRPr lang="en-ZW"/>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ZW"/>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2D46D93-E4AD-40F2-8EA5-91D145E2DC6A}" type="slidenum">
              <a:rPr lang="en-ZW" smtClean="0"/>
              <a:t>‹#›</a:t>
            </a:fld>
            <a:endParaRPr lang="en-ZW"/>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B724C5AC-033E-43C3-9939-FBE5A76C1E8B}" type="datetimeFigureOut">
              <a:rPr lang="en-US" smtClean="0"/>
              <a:t>8/6/2023</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2D46D93-E4AD-40F2-8EA5-91D145E2DC6A}" type="slidenum">
              <a:rPr lang="en-ZW" smtClean="0"/>
              <a:t>‹#›</a:t>
            </a:fld>
            <a:endParaRPr lang="en-ZW"/>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B724C5AC-033E-43C3-9939-FBE5A76C1E8B}" type="datetimeFigureOut">
              <a:rPr lang="en-US" smtClean="0"/>
              <a:t>8/6/2023</a:t>
            </a:fld>
            <a:endParaRPr lang="en-ZW"/>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2D46D93-E4AD-40F2-8EA5-91D145E2DC6A}" type="slidenum">
              <a:rPr lang="en-ZW" smtClean="0"/>
              <a:t>‹#›</a:t>
            </a:fld>
            <a:endParaRPr lang="en-ZW"/>
          </a:p>
        </p:txBody>
      </p:sp>
      <p:sp>
        <p:nvSpPr>
          <p:cNvPr id="14" name="Footer Placeholder 13"/>
          <p:cNvSpPr>
            <a:spLocks noGrp="1"/>
          </p:cNvSpPr>
          <p:nvPr>
            <p:ph type="ftr" sz="quarter" idx="12"/>
          </p:nvPr>
        </p:nvSpPr>
        <p:spPr/>
        <p:txBody>
          <a:bodyPr/>
          <a:lstStyle/>
          <a:p>
            <a:endParaRPr lang="en-ZW"/>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B724C5AC-033E-43C3-9939-FBE5A76C1E8B}" type="datetimeFigureOut">
              <a:rPr lang="en-US" smtClean="0"/>
              <a:t>8/6/2023</a:t>
            </a:fld>
            <a:endParaRPr lang="en-ZW"/>
          </a:p>
        </p:txBody>
      </p:sp>
      <p:sp>
        <p:nvSpPr>
          <p:cNvPr id="10" name="Slide Number Placeholder 9"/>
          <p:cNvSpPr>
            <a:spLocks noGrp="1"/>
          </p:cNvSpPr>
          <p:nvPr>
            <p:ph type="sldNum" sz="quarter" idx="16"/>
          </p:nvPr>
        </p:nvSpPr>
        <p:spPr/>
        <p:txBody>
          <a:bodyPr rtlCol="0"/>
          <a:lstStyle/>
          <a:p>
            <a:fld id="{12D46D93-E4AD-40F2-8EA5-91D145E2DC6A}" type="slidenum">
              <a:rPr lang="en-ZW" smtClean="0"/>
              <a:t>‹#›</a:t>
            </a:fld>
            <a:endParaRPr lang="en-ZW"/>
          </a:p>
        </p:txBody>
      </p:sp>
      <p:sp>
        <p:nvSpPr>
          <p:cNvPr id="12" name="Footer Placeholder 11"/>
          <p:cNvSpPr>
            <a:spLocks noGrp="1"/>
          </p:cNvSpPr>
          <p:nvPr>
            <p:ph type="ftr" sz="quarter" idx="17"/>
          </p:nvPr>
        </p:nvSpPr>
        <p:spPr/>
        <p:txBody>
          <a:bodyPr rtlCol="0"/>
          <a:lstStyle/>
          <a:p>
            <a:endParaRPr lang="en-ZW"/>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B724C5AC-033E-43C3-9939-FBE5A76C1E8B}" type="datetimeFigureOut">
              <a:rPr lang="en-US" smtClean="0"/>
              <a:t>8/6/2023</a:t>
            </a:fld>
            <a:endParaRPr lang="en-ZW"/>
          </a:p>
        </p:txBody>
      </p:sp>
      <p:sp>
        <p:nvSpPr>
          <p:cNvPr id="12" name="Slide Number Placeholder 11"/>
          <p:cNvSpPr>
            <a:spLocks noGrp="1"/>
          </p:cNvSpPr>
          <p:nvPr>
            <p:ph type="sldNum" sz="quarter" idx="16"/>
          </p:nvPr>
        </p:nvSpPr>
        <p:spPr/>
        <p:txBody>
          <a:bodyPr rtlCol="0"/>
          <a:lstStyle/>
          <a:p>
            <a:fld id="{12D46D93-E4AD-40F2-8EA5-91D145E2DC6A}" type="slidenum">
              <a:rPr lang="en-ZW" smtClean="0"/>
              <a:t>‹#›</a:t>
            </a:fld>
            <a:endParaRPr lang="en-ZW"/>
          </a:p>
        </p:txBody>
      </p:sp>
      <p:sp>
        <p:nvSpPr>
          <p:cNvPr id="14" name="Footer Placeholder 13"/>
          <p:cNvSpPr>
            <a:spLocks noGrp="1"/>
          </p:cNvSpPr>
          <p:nvPr>
            <p:ph type="ftr" sz="quarter" idx="17"/>
          </p:nvPr>
        </p:nvSpPr>
        <p:spPr/>
        <p:txBody>
          <a:bodyPr rtlCol="0"/>
          <a:lstStyle/>
          <a:p>
            <a:endParaRPr lang="en-ZW"/>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724C5AC-033E-43C3-9939-FBE5A76C1E8B}" type="datetimeFigureOut">
              <a:rPr lang="en-US" smtClean="0"/>
              <a:t>8/6/2023</a:t>
            </a:fld>
            <a:endParaRPr lang="en-ZW"/>
          </a:p>
        </p:txBody>
      </p:sp>
      <p:sp>
        <p:nvSpPr>
          <p:cNvPr id="4" name="Footer Placeholder 3"/>
          <p:cNvSpPr>
            <a:spLocks noGrp="1"/>
          </p:cNvSpPr>
          <p:nvPr>
            <p:ph type="ftr" sz="quarter" idx="11"/>
          </p:nvPr>
        </p:nvSpPr>
        <p:spPr/>
        <p:txBody>
          <a:bodyPr/>
          <a:lstStyle/>
          <a:p>
            <a:endParaRPr lang="en-ZW"/>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2D46D93-E4AD-40F2-8EA5-91D145E2DC6A}" type="slidenum">
              <a:rPr lang="en-ZW" smtClean="0"/>
              <a:t>‹#›</a:t>
            </a:fld>
            <a:endParaRPr lang="en-ZW"/>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4C5AC-033E-43C3-9939-FBE5A76C1E8B}" type="datetimeFigureOut">
              <a:rPr lang="en-US" smtClean="0"/>
              <a:t>8/6/2023</a:t>
            </a:fld>
            <a:endParaRPr lang="en-ZW"/>
          </a:p>
        </p:txBody>
      </p:sp>
      <p:sp>
        <p:nvSpPr>
          <p:cNvPr id="3" name="Footer Placeholder 2"/>
          <p:cNvSpPr>
            <a:spLocks noGrp="1"/>
          </p:cNvSpPr>
          <p:nvPr>
            <p:ph type="ftr" sz="quarter" idx="11"/>
          </p:nvPr>
        </p:nvSpPr>
        <p:spPr/>
        <p:txBody>
          <a:bodyPr/>
          <a:lstStyle/>
          <a:p>
            <a:endParaRPr lang="en-ZW"/>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2D46D93-E4AD-40F2-8EA5-91D145E2DC6A}" type="slidenum">
              <a:rPr lang="en-ZW" smtClean="0"/>
              <a:t>‹#›</a:t>
            </a:fld>
            <a:endParaRPr lang="en-Z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B724C5AC-033E-43C3-9939-FBE5A76C1E8B}" type="datetimeFigureOut">
              <a:rPr lang="en-US" smtClean="0"/>
              <a:t>8/6/2023</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2D46D93-E4AD-40F2-8EA5-91D145E2DC6A}" type="slidenum">
              <a:rPr lang="en-ZW" smtClean="0"/>
              <a:t>‹#›</a:t>
            </a:fld>
            <a:endParaRPr lang="en-ZW"/>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B724C5AC-033E-43C3-9939-FBE5A76C1E8B}" type="datetimeFigureOut">
              <a:rPr lang="en-US" smtClean="0"/>
              <a:t>8/6/2023</a:t>
            </a:fld>
            <a:endParaRPr lang="en-ZW"/>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2D46D93-E4AD-40F2-8EA5-91D145E2DC6A}" type="slidenum">
              <a:rPr lang="en-ZW" smtClean="0"/>
              <a:t>‹#›</a:t>
            </a:fld>
            <a:endParaRPr lang="en-ZW"/>
          </a:p>
        </p:txBody>
      </p:sp>
      <p:sp>
        <p:nvSpPr>
          <p:cNvPr id="14" name="Footer Placeholder 13"/>
          <p:cNvSpPr>
            <a:spLocks noGrp="1"/>
          </p:cNvSpPr>
          <p:nvPr>
            <p:ph type="ftr" sz="quarter" idx="12"/>
          </p:nvPr>
        </p:nvSpPr>
        <p:spPr>
          <a:xfrm>
            <a:off x="1600200" y="6248206"/>
            <a:ext cx="4572000" cy="365125"/>
          </a:xfrm>
        </p:spPr>
        <p:txBody>
          <a:bodyPr rtlCol="0"/>
          <a:lstStyle/>
          <a:p>
            <a:endParaRPr lang="en-ZW"/>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724C5AC-033E-43C3-9939-FBE5A76C1E8B}" type="datetimeFigureOut">
              <a:rPr lang="en-US" smtClean="0"/>
              <a:t>8/6/2023</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12D46D93-E4AD-40F2-8EA5-91D145E2DC6A}" type="slidenum">
              <a:rPr lang="en-ZW" smtClean="0"/>
              <a:t>‹#›</a:t>
            </a:fld>
            <a:endParaRPr lang="en-Z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B724C5AC-033E-43C3-9939-FBE5A76C1E8B}" type="datetimeFigureOut">
              <a:rPr lang="en-US" smtClean="0"/>
              <a:t>8/6/2023</a:t>
            </a:fld>
            <a:endParaRPr lang="en-ZW"/>
          </a:p>
        </p:txBody>
      </p:sp>
      <p:sp>
        <p:nvSpPr>
          <p:cNvPr id="5" name="Footer Placeholder 4"/>
          <p:cNvSpPr>
            <a:spLocks noGrp="1"/>
          </p:cNvSpPr>
          <p:nvPr>
            <p:ph type="ftr" sz="quarter" idx="11"/>
          </p:nvPr>
        </p:nvSpPr>
        <p:spPr>
          <a:xfrm>
            <a:off x="457201" y="6248207"/>
            <a:ext cx="5573483" cy="365125"/>
          </a:xfrm>
        </p:spPr>
        <p:txBody>
          <a:bodyPr/>
          <a:lstStyle/>
          <a:p>
            <a:endParaRPr lang="en-ZW"/>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12D46D93-E4AD-40F2-8EA5-91D145E2DC6A}" type="slidenum">
              <a:rPr lang="en-ZW" smtClean="0"/>
              <a:t>‹#›</a:t>
            </a:fld>
            <a:endParaRPr lang="en-ZW"/>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B724C5AC-033E-43C3-9939-FBE5A76C1E8B}" type="datetimeFigureOut">
              <a:rPr lang="en-US" smtClean="0"/>
              <a:t>8/6/2023</a:t>
            </a:fld>
            <a:endParaRPr lang="en-ZW"/>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ZW"/>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2D46D93-E4AD-40F2-8EA5-91D145E2DC6A}" type="slidenum">
              <a:rPr lang="en-ZW" smtClean="0"/>
              <a:t>‹#›</a:t>
            </a:fld>
            <a:endParaRPr lang="en-ZW"/>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Revenue IFRS 15</a:t>
            </a:r>
          </a:p>
        </p:txBody>
      </p:sp>
      <p:sp>
        <p:nvSpPr>
          <p:cNvPr id="3" name="Content Placeholder 2"/>
          <p:cNvSpPr>
            <a:spLocks noGrp="1"/>
          </p:cNvSpPr>
          <p:nvPr>
            <p:ph sz="quarter" idx="1"/>
          </p:nvPr>
        </p:nvSpPr>
        <p:spPr/>
        <p:txBody>
          <a:bodyPr/>
          <a:lstStyle/>
          <a:p>
            <a:pPr algn="just"/>
            <a:r>
              <a:rPr lang="en-ZW" dirty="0"/>
              <a:t>Revenue is income arising in the course of an entity’s ordinary activities. Income is increases in economic benefits during the accounting period in the form of inflows or enhancements of assets, or decreases of liabilities that result in an increase in equity, other than those relating to contributions from equity participants.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lstStyle/>
          <a:p>
            <a:pPr algn="just"/>
            <a:r>
              <a:rPr lang="en-ZW" dirty="0"/>
              <a:t>The core principle of IFRS 15 is that an entity shall recognise revenue to depict the transfer of promised goods or services to customers in an amount that reflects the consideration to which the entity expects to be entitled to in exchange for those goods or services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normAutofit fontScale="77500" lnSpcReduction="20000"/>
          </a:bodyPr>
          <a:lstStyle/>
          <a:p>
            <a:pPr algn="just"/>
            <a:r>
              <a:rPr lang="en-ZW" dirty="0"/>
              <a:t>The Standard describes a five-step revenue model</a:t>
            </a:r>
          </a:p>
          <a:p>
            <a:pPr algn="just"/>
            <a:r>
              <a:rPr lang="en-ZW" b="1" dirty="0"/>
              <a:t>Step 1</a:t>
            </a:r>
            <a:r>
              <a:rPr lang="en-ZW" dirty="0"/>
              <a:t>Identify the </a:t>
            </a:r>
            <a:r>
              <a:rPr lang="en-ZW" b="1" dirty="0"/>
              <a:t>contract.</a:t>
            </a:r>
          </a:p>
          <a:p>
            <a:pPr algn="just"/>
            <a:r>
              <a:rPr lang="en-ZW" dirty="0"/>
              <a:t>IFRS 15 </a:t>
            </a:r>
            <a:r>
              <a:rPr lang="en-ZW" i="1" dirty="0"/>
              <a:t>Revenue from Contracts with Customers says that a contract is an </a:t>
            </a:r>
            <a:r>
              <a:rPr lang="en-ZW" dirty="0"/>
              <a:t>agreement between two parties that creates rights and obligations.</a:t>
            </a:r>
          </a:p>
          <a:p>
            <a:pPr algn="just"/>
            <a:r>
              <a:rPr lang="en-ZW" dirty="0"/>
              <a:t>An entity can only account for revenue from a contract if it meets the following criteria</a:t>
            </a:r>
          </a:p>
          <a:p>
            <a:pPr algn="just"/>
            <a:r>
              <a:rPr lang="en-ZW" dirty="0"/>
              <a:t> the parties have approved the contract and each party’s rights can be identified</a:t>
            </a:r>
          </a:p>
          <a:p>
            <a:r>
              <a:rPr lang="en-ZW" dirty="0"/>
              <a:t> payment terms can be identified</a:t>
            </a:r>
          </a:p>
          <a:p>
            <a:r>
              <a:rPr lang="en-ZW" dirty="0"/>
              <a:t> the contract has commercial substance</a:t>
            </a:r>
          </a:p>
          <a:p>
            <a:r>
              <a:rPr lang="en-ZW" dirty="0"/>
              <a:t> it is probable that the selling entity will receive consideration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normAutofit lnSpcReduction="10000"/>
          </a:bodyPr>
          <a:lstStyle/>
          <a:p>
            <a:r>
              <a:rPr lang="en-ZW" dirty="0"/>
              <a:t>Alma has a year end of 31 December 20X1.</a:t>
            </a:r>
          </a:p>
          <a:p>
            <a:r>
              <a:rPr lang="en-ZW" dirty="0"/>
              <a:t>On 30 September 20X1, Alma signed a contract with a customer to provide them with an asset on 31 December 20X1. Control over the asset passed to the customer on 31 December 20X1. The customer will pay $1 million on 30 June 20X2.</a:t>
            </a:r>
          </a:p>
          <a:p>
            <a:r>
              <a:rPr lang="en-ZW" dirty="0"/>
              <a:t>By 31 December 20X1, as a result of changes in the economic climate, Alma did not believe it was probable that it would collect the consideration that it was entitled to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a:t>Step 2: Identify the performance obligations</a:t>
            </a:r>
            <a:endParaRPr lang="en-ZW" dirty="0"/>
          </a:p>
        </p:txBody>
      </p:sp>
      <p:sp>
        <p:nvSpPr>
          <p:cNvPr id="3" name="Content Placeholder 2"/>
          <p:cNvSpPr>
            <a:spLocks noGrp="1"/>
          </p:cNvSpPr>
          <p:nvPr>
            <p:ph sz="quarter" idx="1"/>
          </p:nvPr>
        </p:nvSpPr>
        <p:spPr/>
        <p:txBody>
          <a:bodyPr>
            <a:normAutofit fontScale="92500" lnSpcReduction="20000"/>
          </a:bodyPr>
          <a:lstStyle/>
          <a:p>
            <a:pPr algn="just"/>
            <a:r>
              <a:rPr lang="en-ZW" dirty="0"/>
              <a:t>At inception of the contract, an entity shall assess the goods or services promised in the contract and shall identify the performance obligations</a:t>
            </a:r>
          </a:p>
          <a:p>
            <a:pPr algn="just"/>
            <a:r>
              <a:rPr lang="en-ZW" b="1" dirty="0"/>
              <a:t>Performance obligations are promises to transfer distinct goods or </a:t>
            </a:r>
            <a:r>
              <a:rPr lang="en-ZW" dirty="0"/>
              <a:t>services to a customer</a:t>
            </a:r>
          </a:p>
          <a:p>
            <a:r>
              <a:rPr lang="en-ZW" dirty="0"/>
              <a:t>An entity enters into a contract with a customer to sell a car, which includes one year’s free maintenance.</a:t>
            </a:r>
          </a:p>
          <a:p>
            <a:pPr algn="just"/>
            <a:r>
              <a:rPr lang="en-ZW" dirty="0"/>
              <a:t>A Ltd sells licensed accounting software to a customer for a total consideration of $40 000. In addition, A Ltd promises to provide consulting services to significantly customise the software to the customer’s business environment.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a:t>Step 3: Determine the transaction price</a:t>
            </a:r>
            <a:endParaRPr lang="en-ZW" dirty="0"/>
          </a:p>
        </p:txBody>
      </p:sp>
      <p:sp>
        <p:nvSpPr>
          <p:cNvPr id="3" name="Content Placeholder 2"/>
          <p:cNvSpPr>
            <a:spLocks noGrp="1"/>
          </p:cNvSpPr>
          <p:nvPr>
            <p:ph sz="quarter" idx="1"/>
          </p:nvPr>
        </p:nvSpPr>
        <p:spPr/>
        <p:txBody>
          <a:bodyPr>
            <a:normAutofit fontScale="85000" lnSpcReduction="10000"/>
          </a:bodyPr>
          <a:lstStyle/>
          <a:p>
            <a:pPr algn="just"/>
            <a:r>
              <a:rPr lang="en-ZW" dirty="0"/>
              <a:t>The </a:t>
            </a:r>
            <a:r>
              <a:rPr lang="en-ZW" b="1" dirty="0"/>
              <a:t>transaction price is the consideration that the selling entity will be </a:t>
            </a:r>
            <a:r>
              <a:rPr lang="en-ZW" dirty="0"/>
              <a:t>entitled to once it has fulfilled the performance obligations in the contract, excluding amounts collected on behalf of third parties (e.g. Value added Tax). This may include fixed amounts, variable amounts, or both.</a:t>
            </a:r>
          </a:p>
          <a:p>
            <a:pPr algn="just"/>
            <a:r>
              <a:rPr lang="en-ZW" b="1" dirty="0"/>
              <a:t>Variable consideration</a:t>
            </a:r>
          </a:p>
          <a:p>
            <a:pPr algn="just"/>
            <a:r>
              <a:rPr lang="en-ZW" dirty="0"/>
              <a:t>IFRS 15 says that if a contract includes variable consideration (e.g. a bonus or a penalty for early or late completion) then the entity must estimate the amount it expects to receive, but only include such value within the transaction price if the likelihood of payment is highly probable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normAutofit/>
          </a:bodyPr>
          <a:lstStyle/>
          <a:p>
            <a:pPr algn="just"/>
            <a:r>
              <a:rPr lang="en-ZW" b="1" dirty="0"/>
              <a:t>Financing</a:t>
            </a:r>
          </a:p>
          <a:p>
            <a:pPr algn="just"/>
            <a:r>
              <a:rPr lang="en-ZW" dirty="0"/>
              <a:t>A significant financing component is deemed to exist when there is a substantial delay between the customer receiving the goods or services and making payment for those goods or services. In this case the consideration receivable needs to be discounted to present value using the rate at which the customer is able to borrow money.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ZW" dirty="0"/>
              <a:t>EXAMPLE </a:t>
            </a:r>
          </a:p>
        </p:txBody>
      </p:sp>
      <p:sp>
        <p:nvSpPr>
          <p:cNvPr id="3" name="Content Placeholder 2"/>
          <p:cNvSpPr>
            <a:spLocks noGrp="1"/>
          </p:cNvSpPr>
          <p:nvPr>
            <p:ph sz="quarter" idx="1"/>
          </p:nvPr>
        </p:nvSpPr>
        <p:spPr/>
        <p:txBody>
          <a:bodyPr>
            <a:normAutofit fontScale="92500" lnSpcReduction="10000"/>
          </a:bodyPr>
          <a:lstStyle/>
          <a:p>
            <a:pPr algn="just"/>
            <a:r>
              <a:rPr lang="en-ZW" dirty="0"/>
              <a:t>Rudd Co enters into a contract with a customer to sell equipment on 31 December 20X1. Control of the equipment transfers to the customer on that date. The price stated in the contract is $1m and is due on 31 December 20X3.</a:t>
            </a:r>
          </a:p>
          <a:p>
            <a:pPr algn="just"/>
            <a:r>
              <a:rPr lang="en-ZW" dirty="0"/>
              <a:t>Market rates of interest available to this particular customer are 10%.</a:t>
            </a:r>
          </a:p>
          <a:p>
            <a:r>
              <a:rPr lang="en-ZW" b="1" dirty="0"/>
              <a:t>Required:</a:t>
            </a:r>
          </a:p>
          <a:p>
            <a:pPr algn="just"/>
            <a:r>
              <a:rPr lang="en-ZW" b="1" dirty="0"/>
              <a:t>Explain how this transaction should be accounted for in the financial statements of Rudd Co for the years ended 31 December 20X1, 20X2 and 20X3.</a:t>
            </a:r>
            <a:endParaRPr lang="en-ZW"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solution</a:t>
            </a:r>
          </a:p>
        </p:txBody>
      </p:sp>
      <p:sp>
        <p:nvSpPr>
          <p:cNvPr id="3" name="Content Placeholder 2"/>
          <p:cNvSpPr>
            <a:spLocks noGrp="1"/>
          </p:cNvSpPr>
          <p:nvPr>
            <p:ph sz="quarter" idx="1"/>
          </p:nvPr>
        </p:nvSpPr>
        <p:spPr/>
        <p:txBody>
          <a:bodyPr>
            <a:normAutofit fontScale="70000" lnSpcReduction="20000"/>
          </a:bodyPr>
          <a:lstStyle/>
          <a:p>
            <a:pPr algn="just"/>
            <a:r>
              <a:rPr lang="en-ZW" dirty="0"/>
              <a:t>Revenue should be recognised when the performance obligation is satisfied</a:t>
            </a:r>
          </a:p>
          <a:p>
            <a:pPr algn="just"/>
            <a:r>
              <a:rPr lang="en-ZW" dirty="0"/>
              <a:t>1/1.10^2 *1 000 000  826, 446</a:t>
            </a:r>
          </a:p>
          <a:p>
            <a:pPr algn="just"/>
            <a:r>
              <a:rPr lang="en-ZW" dirty="0"/>
              <a:t>31/12/2001</a:t>
            </a:r>
          </a:p>
          <a:p>
            <a:pPr algn="just"/>
            <a:r>
              <a:rPr lang="en-ZW" dirty="0"/>
              <a:t>Dr receivables		826,446</a:t>
            </a:r>
          </a:p>
          <a:p>
            <a:pPr algn="just"/>
            <a:r>
              <a:rPr lang="en-ZW" dirty="0"/>
              <a:t>Cr Revenue					826,446</a:t>
            </a:r>
          </a:p>
          <a:p>
            <a:pPr algn="just"/>
            <a:r>
              <a:rPr lang="en-ZW" dirty="0"/>
              <a:t>31/12/2002</a:t>
            </a:r>
          </a:p>
          <a:p>
            <a:pPr algn="just"/>
            <a:r>
              <a:rPr lang="en-ZW" dirty="0"/>
              <a:t>Dr Receivable 		82,645</a:t>
            </a:r>
          </a:p>
          <a:p>
            <a:pPr algn="just"/>
            <a:r>
              <a:rPr lang="en-ZW" dirty="0"/>
              <a:t>Cr finance income 				82,645</a:t>
            </a:r>
          </a:p>
          <a:p>
            <a:pPr algn="just"/>
            <a:r>
              <a:rPr lang="en-ZW" dirty="0"/>
              <a:t>31/12/2003</a:t>
            </a:r>
          </a:p>
          <a:p>
            <a:pPr algn="just"/>
            <a:r>
              <a:rPr lang="en-ZW" dirty="0"/>
              <a:t>Dr receivable 			90,909</a:t>
            </a:r>
          </a:p>
          <a:p>
            <a:pPr algn="just"/>
            <a:r>
              <a:rPr lang="en-ZW" dirty="0"/>
              <a:t>Cr Finance Income				90,909</a:t>
            </a:r>
          </a:p>
          <a:p>
            <a:pPr algn="just"/>
            <a:r>
              <a:rPr lang="en-ZW" dirty="0"/>
              <a:t>Dr Bank 			1,000,000</a:t>
            </a:r>
          </a:p>
          <a:p>
            <a:pPr algn="just"/>
            <a:r>
              <a:rPr lang="en-ZW" dirty="0"/>
              <a:t>Cr Receivable 					1,000,000</a:t>
            </a:r>
          </a:p>
          <a:p>
            <a:pPr algn="just"/>
            <a:endParaRPr lang="en-ZW"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normAutofit fontScale="92500"/>
          </a:bodyPr>
          <a:lstStyle/>
          <a:p>
            <a:r>
              <a:rPr lang="en-ZW" b="1" dirty="0"/>
              <a:t>Non-cash consideration</a:t>
            </a:r>
          </a:p>
          <a:p>
            <a:pPr algn="just"/>
            <a:r>
              <a:rPr lang="en-ZW" dirty="0"/>
              <a:t>Any non-cash consideration (e.g. shares) is measured at fair value</a:t>
            </a:r>
          </a:p>
          <a:p>
            <a:pPr algn="just"/>
            <a:r>
              <a:rPr lang="en-ZW" b="1" dirty="0"/>
              <a:t>Consideration payable to a customer</a:t>
            </a:r>
          </a:p>
          <a:p>
            <a:pPr algn="just"/>
            <a:r>
              <a:rPr lang="en-ZW" dirty="0"/>
              <a:t>If consideration is paid to a customer in exchange for a distinct good or service, then it should be accounted for as a separate purchase transaction. Assuming that the consideration paid to a customer is not in exchange for a distinct good or service, an entity should account for it as a reduction in the transaction price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a:t>Step 4: Allocate the transaction price</a:t>
            </a:r>
            <a:endParaRPr lang="en-ZW" dirty="0"/>
          </a:p>
        </p:txBody>
      </p:sp>
      <p:sp>
        <p:nvSpPr>
          <p:cNvPr id="3" name="Content Placeholder 2"/>
          <p:cNvSpPr>
            <a:spLocks noGrp="1"/>
          </p:cNvSpPr>
          <p:nvPr>
            <p:ph sz="quarter" idx="1"/>
          </p:nvPr>
        </p:nvSpPr>
        <p:spPr/>
        <p:txBody>
          <a:bodyPr>
            <a:normAutofit fontScale="85000" lnSpcReduction="20000"/>
          </a:bodyPr>
          <a:lstStyle/>
          <a:p>
            <a:pPr algn="just"/>
            <a:r>
              <a:rPr lang="en-ZW" dirty="0"/>
              <a:t>The total transaction price should be allocated to each performance obligation in proportion to stand-alone selling prices.</a:t>
            </a:r>
          </a:p>
          <a:p>
            <a:pPr algn="just"/>
            <a:r>
              <a:rPr lang="en-ZW" dirty="0"/>
              <a:t>Shred Co sells a machine and one year’s ‘free’ technical support for $120,000. It usually sells the machine for $120,000 but does not sell technical support for this machine as a stand-alone product. Other support services offered by Shred</a:t>
            </a:r>
          </a:p>
          <a:p>
            <a:pPr algn="just"/>
            <a:r>
              <a:rPr lang="en-ZW" dirty="0"/>
              <a:t>Co attract a mark-up of 50%. It is expected that the technical support will cost Shred Co $20,000.</a:t>
            </a:r>
          </a:p>
          <a:p>
            <a:pPr algn="just"/>
            <a:r>
              <a:rPr lang="en-ZW" b="1" dirty="0"/>
              <a:t>Required:</a:t>
            </a:r>
          </a:p>
          <a:p>
            <a:pPr algn="just"/>
            <a:r>
              <a:rPr lang="en-ZW" b="1" dirty="0"/>
              <a:t>How should the transaction price be allocated between the machine and the technical support?</a:t>
            </a:r>
            <a:endParaRPr lang="en-ZW"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normAutofit lnSpcReduction="10000"/>
          </a:bodyPr>
          <a:lstStyle/>
          <a:p>
            <a:pPr algn="just"/>
            <a:r>
              <a:rPr lang="en-ZW" dirty="0"/>
              <a:t>Extreme Motors Ltd enters into an agreement with customer A for the sale of a motor vehicle along with three years of services for a total of $300 000.</a:t>
            </a:r>
          </a:p>
          <a:p>
            <a:pPr algn="just"/>
            <a:r>
              <a:rPr lang="en-ZW" dirty="0"/>
              <a:t>A customer may also acquire a motor vehicle from Extreme Motors Ltd without a service plan for a stand-alone price of $280 000.</a:t>
            </a:r>
          </a:p>
          <a:p>
            <a:pPr algn="just"/>
            <a:r>
              <a:rPr lang="en-ZW" dirty="0"/>
              <a:t>Extreme Motors Ltd regularly sells three year service plan to customers on a stand-alone basis for $25 000.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lstStyle/>
          <a:p>
            <a:r>
              <a:rPr lang="en-ZW" dirty="0"/>
              <a:t>                             standalone 	ratio           allocation</a:t>
            </a:r>
          </a:p>
          <a:p>
            <a:r>
              <a:rPr lang="en-ZW" dirty="0"/>
              <a:t>Motor vehicle       280,000		0.9180	      275,400</a:t>
            </a:r>
          </a:p>
          <a:p>
            <a:r>
              <a:rPr lang="en-ZW" dirty="0"/>
              <a:t>3 year service pl    </a:t>
            </a:r>
            <a:r>
              <a:rPr lang="en-ZW" u="sng" dirty="0"/>
              <a:t>25,000	</a:t>
            </a:r>
            <a:r>
              <a:rPr lang="en-ZW" dirty="0"/>
              <a:t>	0.082	       </a:t>
            </a:r>
            <a:r>
              <a:rPr lang="en-ZW" u="sng" dirty="0"/>
              <a:t>24,600</a:t>
            </a:r>
          </a:p>
          <a:p>
            <a:pPr algn="just"/>
            <a:r>
              <a:rPr lang="en-ZW" dirty="0"/>
              <a:t>                               305,000			        300,000</a:t>
            </a:r>
          </a:p>
          <a:p>
            <a:endParaRPr lang="en-ZW"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b="1" dirty="0"/>
              <a:t>Step 5: Recognise revenue</a:t>
            </a:r>
            <a:endParaRPr lang="en-ZW" dirty="0"/>
          </a:p>
        </p:txBody>
      </p:sp>
      <p:sp>
        <p:nvSpPr>
          <p:cNvPr id="3" name="Content Placeholder 2"/>
          <p:cNvSpPr>
            <a:spLocks noGrp="1"/>
          </p:cNvSpPr>
          <p:nvPr>
            <p:ph sz="quarter" idx="1"/>
          </p:nvPr>
        </p:nvSpPr>
        <p:spPr/>
        <p:txBody>
          <a:bodyPr>
            <a:normAutofit fontScale="92500" lnSpcReduction="20000"/>
          </a:bodyPr>
          <a:lstStyle/>
          <a:p>
            <a:pPr algn="just"/>
            <a:r>
              <a:rPr lang="en-ZW" dirty="0"/>
              <a:t>Revenue is recognised when or as the entity satisfies a performance obligation by transferring a promised good or service to a customer.</a:t>
            </a:r>
          </a:p>
          <a:p>
            <a:pPr algn="just"/>
            <a:r>
              <a:rPr lang="en-ZW" dirty="0"/>
              <a:t>An entity must determine at contract inception whether it satisfies the performance obligation over time or at a point in time</a:t>
            </a:r>
          </a:p>
          <a:p>
            <a:r>
              <a:rPr lang="en-ZW" dirty="0"/>
              <a:t>An entity shall recognise revenue when (or as) the entity </a:t>
            </a:r>
            <a:r>
              <a:rPr lang="en-ZW" b="1" dirty="0"/>
              <a:t>satisfies a performance</a:t>
            </a:r>
          </a:p>
          <a:p>
            <a:r>
              <a:rPr lang="en-ZW" b="1" dirty="0"/>
              <a:t>obligation by transferring promised goods or services to a customer.</a:t>
            </a:r>
          </a:p>
          <a:p>
            <a:r>
              <a:rPr lang="en-ZW" dirty="0"/>
              <a:t> An asset (goods or services) is transferred when (or as) the customer obtains </a:t>
            </a:r>
            <a:r>
              <a:rPr lang="en-ZW" b="1" dirty="0"/>
              <a:t>control of </a:t>
            </a:r>
            <a:r>
              <a:rPr lang="en-ZW" dirty="0"/>
              <a:t>that asset.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ZW" dirty="0"/>
              <a:t>Performance obligation satisfied at a</a:t>
            </a:r>
            <a:br>
              <a:rPr lang="en-ZW" dirty="0"/>
            </a:br>
            <a:r>
              <a:rPr lang="en-ZW" dirty="0"/>
              <a:t>point in time</a:t>
            </a:r>
          </a:p>
        </p:txBody>
      </p:sp>
      <p:sp>
        <p:nvSpPr>
          <p:cNvPr id="3" name="Content Placeholder 2"/>
          <p:cNvSpPr>
            <a:spLocks noGrp="1"/>
          </p:cNvSpPr>
          <p:nvPr>
            <p:ph sz="quarter" idx="1"/>
          </p:nvPr>
        </p:nvSpPr>
        <p:spPr/>
        <p:txBody>
          <a:bodyPr/>
          <a:lstStyle/>
          <a:p>
            <a:pPr algn="just"/>
            <a:r>
              <a:rPr lang="en-ZW" b="1" dirty="0"/>
              <a:t>Performance obligation satisfied at a point in time</a:t>
            </a:r>
          </a:p>
          <a:p>
            <a:pPr algn="just"/>
            <a:r>
              <a:rPr lang="en-ZW" dirty="0"/>
              <a:t>If a performance obligation is not satisfied over time then it is satisfied at a point in time. This is normally when the customer obtains control of the promised asset</a:t>
            </a:r>
          </a:p>
          <a:p>
            <a:pPr algn="just"/>
            <a:r>
              <a:rPr lang="en-ZW" dirty="0"/>
              <a:t>An entity controls an asset if it can direct its use and obtain its remaining </a:t>
            </a:r>
            <a:r>
              <a:rPr lang="en-ZW" dirty="0" err="1"/>
              <a:t>benefits.Some</a:t>
            </a:r>
            <a:r>
              <a:rPr lang="en-ZW" dirty="0"/>
              <a:t> indicators that control has passed to the customer include:</a:t>
            </a:r>
          </a:p>
        </p:txBody>
      </p:sp>
    </p:spTree>
    <p:extLst>
      <p:ext uri="{BB962C8B-B14F-4D97-AF65-F5344CB8AC3E}">
        <p14:creationId xmlns:p14="http://schemas.microsoft.com/office/powerpoint/2010/main" val="3871114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lstStyle/>
          <a:p>
            <a:pPr algn="just"/>
            <a:r>
              <a:rPr lang="en-ZW" dirty="0"/>
              <a:t> the customer has physical possession of the asset</a:t>
            </a:r>
          </a:p>
          <a:p>
            <a:pPr algn="just"/>
            <a:r>
              <a:rPr lang="en-ZW" dirty="0"/>
              <a:t> the customer has the significant risks and rewards of ownership</a:t>
            </a:r>
          </a:p>
          <a:p>
            <a:pPr algn="just"/>
            <a:r>
              <a:rPr lang="en-ZW" dirty="0"/>
              <a:t> the customer has legal title</a:t>
            </a:r>
          </a:p>
          <a:p>
            <a:pPr algn="just"/>
            <a:r>
              <a:rPr lang="en-ZW" dirty="0"/>
              <a:t> the seller has a right to payment.</a:t>
            </a:r>
          </a:p>
        </p:txBody>
      </p:sp>
    </p:spTree>
    <p:extLst>
      <p:ext uri="{BB962C8B-B14F-4D97-AF65-F5344CB8AC3E}">
        <p14:creationId xmlns:p14="http://schemas.microsoft.com/office/powerpoint/2010/main" val="1876234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normAutofit fontScale="92500"/>
          </a:bodyPr>
          <a:lstStyle/>
          <a:p>
            <a:pPr algn="just"/>
            <a:r>
              <a:rPr lang="en-ZW" dirty="0"/>
              <a:t>On 1 September 20X7 Selby sold a machine including two year’s technical support for $396,000. It usually sells the machine for $300,000 but does not sell technical support for this machine as a stand-alone product. Other support services offered by Selby earn a mark-up of 40%. It is expected that the technical support will cost Selby $50,000 per year.</a:t>
            </a:r>
          </a:p>
          <a:p>
            <a:r>
              <a:rPr lang="en-ZW" b="1" dirty="0"/>
              <a:t>Required:</a:t>
            </a:r>
          </a:p>
          <a:p>
            <a:r>
              <a:rPr lang="en-ZW" b="1" dirty="0"/>
              <a:t>How much revenue was earned by Selby in the year to 31 December 20X7?</a:t>
            </a:r>
            <a:endParaRPr lang="en-ZW" dirty="0"/>
          </a:p>
        </p:txBody>
      </p:sp>
    </p:spTree>
    <p:extLst>
      <p:ext uri="{BB962C8B-B14F-4D97-AF65-F5344CB8AC3E}">
        <p14:creationId xmlns:p14="http://schemas.microsoft.com/office/powerpoint/2010/main" val="4191264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normAutofit fontScale="92500" lnSpcReduction="10000"/>
          </a:bodyPr>
          <a:lstStyle/>
          <a:p>
            <a:r>
              <a:rPr lang="en-ZW" b="1" dirty="0"/>
              <a:t>Normal sales price</a:t>
            </a:r>
          </a:p>
          <a:p>
            <a:r>
              <a:rPr lang="en-ZW" dirty="0"/>
              <a:t>$</a:t>
            </a:r>
          </a:p>
          <a:p>
            <a:r>
              <a:rPr lang="en-ZW" dirty="0"/>
              <a:t>Machine 					300,000</a:t>
            </a:r>
          </a:p>
          <a:p>
            <a:r>
              <a:rPr lang="en-ZW" dirty="0"/>
              <a:t>Support $50,000 × 140% × 2 years 	140,000</a:t>
            </a:r>
          </a:p>
          <a:p>
            <a:pPr lvl="5"/>
            <a:r>
              <a:rPr lang="en-ZW" dirty="0"/>
              <a:t>                                                                              ——–—</a:t>
            </a:r>
          </a:p>
          <a:p>
            <a:r>
              <a:rPr lang="en-ZW" dirty="0"/>
              <a:t>Total sales at full price 			440,000</a:t>
            </a:r>
          </a:p>
          <a:p>
            <a:r>
              <a:rPr lang="en-ZW" dirty="0"/>
              <a:t>Machine sales = 300,000/440,000 *396,0000</a:t>
            </a:r>
          </a:p>
          <a:p>
            <a:r>
              <a:rPr lang="en-ZW" dirty="0"/>
              <a:t>$270,000</a:t>
            </a:r>
          </a:p>
          <a:p>
            <a:r>
              <a:rPr lang="en-ZW" dirty="0"/>
              <a:t>Support 140,000/440,000 * 396,000</a:t>
            </a:r>
          </a:p>
          <a:p>
            <a:r>
              <a:rPr lang="en-ZW" dirty="0"/>
              <a:t>=       $126,000</a:t>
            </a:r>
          </a:p>
          <a:p>
            <a:endParaRPr lang="en-ZW" dirty="0"/>
          </a:p>
          <a:p>
            <a:endParaRPr lang="en-ZW" dirty="0"/>
          </a:p>
          <a:p>
            <a:endParaRPr lang="en-ZW" dirty="0"/>
          </a:p>
          <a:p>
            <a:endParaRPr lang="en-ZW" dirty="0"/>
          </a:p>
          <a:p>
            <a:endParaRPr lang="en-ZW" dirty="0"/>
          </a:p>
          <a:p>
            <a:endParaRPr lang="en-ZW" dirty="0"/>
          </a:p>
          <a:p>
            <a:endParaRPr lang="en-ZW" dirty="0"/>
          </a:p>
          <a:p>
            <a:endParaRPr lang="en-ZW" dirty="0"/>
          </a:p>
          <a:p>
            <a:endParaRPr lang="en-ZW" dirty="0"/>
          </a:p>
          <a:p>
            <a:endParaRPr lang="en-ZW" dirty="0"/>
          </a:p>
          <a:p>
            <a:endParaRPr lang="en-ZW" dirty="0"/>
          </a:p>
          <a:p>
            <a:endParaRPr lang="en-ZW" dirty="0"/>
          </a:p>
          <a:p>
            <a:endParaRPr lang="en-ZW" dirty="0"/>
          </a:p>
          <a:p>
            <a:endParaRPr lang="en-ZW" dirty="0"/>
          </a:p>
          <a:p>
            <a:endParaRPr lang="en-ZW" dirty="0"/>
          </a:p>
        </p:txBody>
      </p:sp>
    </p:spTree>
    <p:extLst>
      <p:ext uri="{BB962C8B-B14F-4D97-AF65-F5344CB8AC3E}">
        <p14:creationId xmlns:p14="http://schemas.microsoft.com/office/powerpoint/2010/main" val="1442536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sz="quarter" idx="1"/>
          </p:nvPr>
        </p:nvSpPr>
        <p:spPr/>
        <p:txBody>
          <a:bodyPr/>
          <a:lstStyle/>
          <a:p>
            <a:pPr algn="just"/>
            <a:r>
              <a:rPr lang="en-ZW" dirty="0"/>
              <a:t>Revenue for 2017</a:t>
            </a:r>
          </a:p>
          <a:p>
            <a:r>
              <a:rPr lang="en-ZW" dirty="0"/>
              <a:t>Machine $270,000 in full                                     270,000</a:t>
            </a:r>
          </a:p>
          <a:p>
            <a:r>
              <a:rPr lang="en-ZW" dirty="0"/>
              <a:t>Support $126,000 × 4/24                                   21,000</a:t>
            </a:r>
          </a:p>
          <a:p>
            <a:r>
              <a:rPr lang="en-ZW" dirty="0"/>
              <a:t>                                                                               ———–</a:t>
            </a:r>
          </a:p>
          <a:p>
            <a:r>
              <a:rPr lang="en-ZW" dirty="0"/>
              <a:t>Total revenue recognised                                         291,000</a:t>
            </a:r>
          </a:p>
        </p:txBody>
      </p:sp>
    </p:spTree>
    <p:extLst>
      <p:ext uri="{BB962C8B-B14F-4D97-AF65-F5344CB8AC3E}">
        <p14:creationId xmlns:p14="http://schemas.microsoft.com/office/powerpoint/2010/main" val="4161291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ZW" b="1" dirty="0"/>
              <a:t>Consignment inventory</a:t>
            </a:r>
            <a:endParaRPr lang="en-ZW" dirty="0"/>
          </a:p>
        </p:txBody>
      </p:sp>
      <p:sp>
        <p:nvSpPr>
          <p:cNvPr id="3" name="Content Placeholder 2"/>
          <p:cNvSpPr>
            <a:spLocks noGrp="1"/>
          </p:cNvSpPr>
          <p:nvPr>
            <p:ph sz="quarter" idx="1"/>
          </p:nvPr>
        </p:nvSpPr>
        <p:spPr/>
        <p:txBody>
          <a:bodyPr/>
          <a:lstStyle/>
          <a:p>
            <a:pPr algn="just"/>
            <a:r>
              <a:rPr lang="en-ZW" dirty="0"/>
              <a:t>Where goods are provided to a customer on consignment, it is important to identify whether the seller or the buyer has control in order to establish whether revenue may be recognised</a:t>
            </a:r>
          </a:p>
        </p:txBody>
      </p:sp>
    </p:spTree>
    <p:extLst>
      <p:ext uri="{BB962C8B-B14F-4D97-AF65-F5344CB8AC3E}">
        <p14:creationId xmlns:p14="http://schemas.microsoft.com/office/powerpoint/2010/main" val="4293874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b="1" dirty="0"/>
              <a:t>Sale and repurchase agreements</a:t>
            </a:r>
            <a:endParaRPr lang="en-ZW" dirty="0"/>
          </a:p>
        </p:txBody>
      </p:sp>
      <p:sp>
        <p:nvSpPr>
          <p:cNvPr id="3" name="Content Placeholder 2"/>
          <p:cNvSpPr>
            <a:spLocks noGrp="1"/>
          </p:cNvSpPr>
          <p:nvPr>
            <p:ph sz="quarter" idx="1"/>
          </p:nvPr>
        </p:nvSpPr>
        <p:spPr/>
        <p:txBody>
          <a:bodyPr>
            <a:normAutofit fontScale="77500" lnSpcReduction="20000"/>
          </a:bodyPr>
          <a:lstStyle/>
          <a:p>
            <a:pPr algn="just"/>
            <a:r>
              <a:rPr lang="en-ZW" dirty="0"/>
              <a:t>A repurchase agreement is where an entity sells an asset but retains a right to repurchase the asset. This is often not recognised as a sale, but as a secured loan against the asset.</a:t>
            </a:r>
          </a:p>
          <a:p>
            <a:pPr algn="just"/>
            <a:r>
              <a:rPr lang="en-ZW" dirty="0"/>
              <a:t>Xavier sells its head office, which cost $10 million, to </a:t>
            </a:r>
            <a:r>
              <a:rPr lang="en-ZW" dirty="0" err="1"/>
              <a:t>Yorrick</a:t>
            </a:r>
            <a:r>
              <a:rPr lang="en-ZW" dirty="0"/>
              <a:t>, a bank, for $10 million on 1 January 20X2. Xavier has the option to repurchase the property on 31 December 20X5, four years later, at $12 million. Xavier will continue to use the property as normal throughout the period and so is responsible for its maintenance and insurance. The head office was valued at transfer on 1 January 20X2 at $18 million and is expected to rise in value throughout the four-year period.</a:t>
            </a:r>
          </a:p>
          <a:p>
            <a:pPr algn="just"/>
            <a:r>
              <a:rPr lang="en-ZW" b="1" dirty="0"/>
              <a:t>Giving reasons, show how Xavier should record the above during the</a:t>
            </a:r>
          </a:p>
          <a:p>
            <a:pPr algn="just"/>
            <a:r>
              <a:rPr lang="en-ZW" b="1" dirty="0"/>
              <a:t>first year following transfer</a:t>
            </a:r>
            <a:endParaRPr lang="en-ZW" dirty="0"/>
          </a:p>
        </p:txBody>
      </p:sp>
    </p:spTree>
    <p:extLst>
      <p:ext uri="{BB962C8B-B14F-4D97-AF65-F5344CB8AC3E}">
        <p14:creationId xmlns:p14="http://schemas.microsoft.com/office/powerpoint/2010/main" val="3379176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ZW" b="1" dirty="0"/>
              <a:t>Bill-and-hold arrangements</a:t>
            </a:r>
            <a:endParaRPr lang="en-ZW" dirty="0"/>
          </a:p>
        </p:txBody>
      </p:sp>
      <p:sp>
        <p:nvSpPr>
          <p:cNvPr id="3" name="Content Placeholder 2"/>
          <p:cNvSpPr>
            <a:spLocks noGrp="1"/>
          </p:cNvSpPr>
          <p:nvPr>
            <p:ph sz="quarter" idx="1"/>
          </p:nvPr>
        </p:nvSpPr>
        <p:spPr/>
        <p:txBody>
          <a:bodyPr/>
          <a:lstStyle/>
          <a:p>
            <a:pPr algn="just"/>
            <a:r>
              <a:rPr lang="en-ZW" dirty="0"/>
              <a:t>A bill-and-hold arrangement is a contract under which an entity invoices a customer for a product but the product is physically retained by the entity until it is transferred to the customer at some point in the future.</a:t>
            </a:r>
          </a:p>
          <a:p>
            <a:pPr algn="just"/>
            <a:r>
              <a:rPr lang="en-ZW" dirty="0"/>
              <a:t>For this to be recognised within revenue, the customer must have obtained control of the product, despite it physically remaining with the entity</a:t>
            </a:r>
          </a:p>
        </p:txBody>
      </p:sp>
    </p:spTree>
    <p:extLst>
      <p:ext uri="{BB962C8B-B14F-4D97-AF65-F5344CB8AC3E}">
        <p14:creationId xmlns:p14="http://schemas.microsoft.com/office/powerpoint/2010/main" val="3827661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b="1" dirty="0"/>
              <a:t>Principal and agent</a:t>
            </a:r>
            <a:endParaRPr lang="en-ZW" dirty="0"/>
          </a:p>
        </p:txBody>
      </p:sp>
      <p:sp>
        <p:nvSpPr>
          <p:cNvPr id="3" name="Content Placeholder 2"/>
          <p:cNvSpPr>
            <a:spLocks noGrp="1"/>
          </p:cNvSpPr>
          <p:nvPr>
            <p:ph sz="quarter" idx="1"/>
          </p:nvPr>
        </p:nvSpPr>
        <p:spPr/>
        <p:txBody>
          <a:bodyPr>
            <a:normAutofit lnSpcReduction="10000"/>
          </a:bodyPr>
          <a:lstStyle/>
          <a:p>
            <a:pPr algn="just"/>
            <a:r>
              <a:rPr lang="en-ZW" dirty="0"/>
              <a:t>If an entity is an agent, then revenue is recognised based on the fee or commission to which it is entitled</a:t>
            </a:r>
          </a:p>
          <a:p>
            <a:pPr algn="just"/>
            <a:r>
              <a:rPr lang="en-ZW" dirty="0"/>
              <a:t>Rosemary </a:t>
            </a:r>
            <a:r>
              <a:rPr lang="en-ZW" dirty="0" err="1"/>
              <a:t>Co's</a:t>
            </a:r>
            <a:r>
              <a:rPr lang="en-ZW" dirty="0"/>
              <a:t> revenue includes $2 million for goods it sold acting as an agent for Elaine. Rosemary Co earned a commission of 20% on these sales and remitted the difference of $1.6 million (included in cost of sales) to Elaine.</a:t>
            </a:r>
          </a:p>
          <a:p>
            <a:pPr algn="just"/>
            <a:r>
              <a:rPr lang="en-ZW" b="1" dirty="0"/>
              <a:t>How should the agency sale be treated in Rosemary's statement of profit or loss?</a:t>
            </a:r>
            <a:endParaRPr lang="en-ZW" dirty="0"/>
          </a:p>
        </p:txBody>
      </p:sp>
    </p:spTree>
    <p:extLst>
      <p:ext uri="{BB962C8B-B14F-4D97-AF65-F5344CB8AC3E}">
        <p14:creationId xmlns:p14="http://schemas.microsoft.com/office/powerpoint/2010/main" val="6107621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TotalTime>
  <Words>1729</Words>
  <Application>Microsoft Office PowerPoint</Application>
  <PresentationFormat>On-screen Show (4:3)</PresentationFormat>
  <Paragraphs>120</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Tw Cen MT</vt:lpstr>
      <vt:lpstr>Wingdings</vt:lpstr>
      <vt:lpstr>Wingdings 2</vt:lpstr>
      <vt:lpstr>Median</vt:lpstr>
      <vt:lpstr>Revenue IFRS 15</vt:lpstr>
      <vt:lpstr>PowerPoint Presentation</vt:lpstr>
      <vt:lpstr>PowerPoint Presentation</vt:lpstr>
      <vt:lpstr>PowerPoint Presentation</vt:lpstr>
      <vt:lpstr>Step 2: Identify the performance obligations</vt:lpstr>
      <vt:lpstr>Step 3: Determine the transaction price</vt:lpstr>
      <vt:lpstr>PowerPoint Presentation</vt:lpstr>
      <vt:lpstr>EXAMPLE </vt:lpstr>
      <vt:lpstr>solution</vt:lpstr>
      <vt:lpstr>PowerPoint Presentation</vt:lpstr>
      <vt:lpstr>Step 4: Allocate the transaction price</vt:lpstr>
      <vt:lpstr>PowerPoint Presentation</vt:lpstr>
      <vt:lpstr>PowerPoint Presentation</vt:lpstr>
      <vt:lpstr>Step 5: Recognise revenue</vt:lpstr>
      <vt:lpstr>Performance obligation satisfied at a point in time</vt:lpstr>
      <vt:lpstr>PowerPoint Presentation</vt:lpstr>
      <vt:lpstr>PowerPoint Presentation</vt:lpstr>
      <vt:lpstr>PowerPoint Presentation</vt:lpstr>
      <vt:lpstr>PowerPoint Presentation</vt:lpstr>
      <vt:lpstr>Consignment inventory</vt:lpstr>
      <vt:lpstr>Sale and repurchase agreements</vt:lpstr>
      <vt:lpstr>Bill-and-hold arrangements</vt:lpstr>
      <vt:lpstr>Principal and agent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IFRS 15</dc:title>
  <dc:creator>lungisani.mpofu</dc:creator>
  <cp:lastModifiedBy>Lovemore Mpofu</cp:lastModifiedBy>
  <cp:revision>3</cp:revision>
  <dcterms:created xsi:type="dcterms:W3CDTF">2021-03-24T07:17:50Z</dcterms:created>
  <dcterms:modified xsi:type="dcterms:W3CDTF">2023-08-06T20:42:18Z</dcterms:modified>
</cp:coreProperties>
</file>