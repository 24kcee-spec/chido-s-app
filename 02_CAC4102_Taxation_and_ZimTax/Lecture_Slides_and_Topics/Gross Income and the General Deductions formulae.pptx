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omments/modernComment_110_AFCE5067.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8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325" r:id="rId19"/>
    <p:sldId id="326" r:id="rId20"/>
    <p:sldId id="327" r:id="rId21"/>
    <p:sldId id="328" r:id="rId22"/>
    <p:sldId id="329" r:id="rId23"/>
    <p:sldId id="273" r:id="rId24"/>
    <p:sldId id="330" r:id="rId25"/>
    <p:sldId id="331" r:id="rId26"/>
    <p:sldId id="332" r:id="rId27"/>
    <p:sldId id="334" r:id="rId28"/>
    <p:sldId id="333" r:id="rId29"/>
    <p:sldId id="274" r:id="rId30"/>
    <p:sldId id="275" r:id="rId31"/>
    <p:sldId id="323" r:id="rId32"/>
    <p:sldId id="324"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 id="297" r:id="rId55"/>
    <p:sldId id="298" r:id="rId56"/>
    <p:sldId id="299" r:id="rId57"/>
    <p:sldId id="300" r:id="rId58"/>
    <p:sldId id="301" r:id="rId59"/>
    <p:sldId id="302" r:id="rId60"/>
    <p:sldId id="303" r:id="rId61"/>
    <p:sldId id="304" r:id="rId62"/>
    <p:sldId id="305" r:id="rId63"/>
    <p:sldId id="306" r:id="rId64"/>
    <p:sldId id="307" r:id="rId65"/>
    <p:sldId id="308" r:id="rId66"/>
    <p:sldId id="309" r:id="rId67"/>
    <p:sldId id="310" r:id="rId68"/>
    <p:sldId id="311" r:id="rId69"/>
    <p:sldId id="312" r:id="rId70"/>
    <p:sldId id="313" r:id="rId71"/>
    <p:sldId id="314" r:id="rId72"/>
    <p:sldId id="315" r:id="rId73"/>
    <p:sldId id="316" r:id="rId74"/>
    <p:sldId id="317" r:id="rId75"/>
    <p:sldId id="318" r:id="rId76"/>
    <p:sldId id="319" r:id="rId77"/>
    <p:sldId id="320" r:id="rId78"/>
    <p:sldId id="321" r:id="rId79"/>
    <p:sldId id="322" r:id="rId8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E73F225-84B2-46A7-8AD5-B21FEFE78E7C}">
          <p14:sldIdLst>
            <p14:sldId id="256"/>
            <p14:sldId id="257"/>
            <p14:sldId id="258"/>
            <p14:sldId id="259"/>
            <p14:sldId id="260"/>
            <p14:sldId id="261"/>
            <p14:sldId id="262"/>
            <p14:sldId id="263"/>
            <p14:sldId id="264"/>
            <p14:sldId id="265"/>
            <p14:sldId id="266"/>
            <p14:sldId id="267"/>
            <p14:sldId id="268"/>
            <p14:sldId id="269"/>
            <p14:sldId id="270"/>
            <p14:sldId id="271"/>
            <p14:sldId id="272"/>
            <p14:sldId id="325"/>
            <p14:sldId id="326"/>
            <p14:sldId id="327"/>
            <p14:sldId id="328"/>
            <p14:sldId id="329"/>
            <p14:sldId id="273"/>
            <p14:sldId id="330"/>
            <p14:sldId id="331"/>
          </p14:sldIdLst>
        </p14:section>
        <p14:section name="Untitled Section" id="{6A1868B4-9657-4906-B480-242817149AA0}">
          <p14:sldIdLst>
            <p14:sldId id="332"/>
            <p14:sldId id="334"/>
            <p14:sldId id="333"/>
            <p14:sldId id="274"/>
            <p14:sldId id="275"/>
            <p14:sldId id="323"/>
            <p14:sldId id="324"/>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39541B6-D433-D8B3-4489-7831A69CEF2D}" name="Mlayezeli Mangena" initials="MM" userId="S::Mlayezeli.Mangena@zw.ey.com::b36a9521-1aa9-4e7e-b2e0-194653454975"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260473-7BBE-48D6-834E-0EBA2224DF4F}" v="6" dt="2023-09-27T19:45:59.2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presProps" Target="pres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88"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layezeli Mangena" userId="b36a9521-1aa9-4e7e-b2e0-194653454975" providerId="ADAL" clId="{5C260473-7BBE-48D6-834E-0EBA2224DF4F}"/>
    <pc:docChg chg="undo custSel modSld">
      <pc:chgData name="Mlayezeli Mangena" userId="b36a9521-1aa9-4e7e-b2e0-194653454975" providerId="ADAL" clId="{5C260473-7BBE-48D6-834E-0EBA2224DF4F}" dt="2023-09-27T20:01:43.310" v="566" actId="20577"/>
      <pc:docMkLst>
        <pc:docMk/>
      </pc:docMkLst>
      <pc:sldChg chg="modSp mod">
        <pc:chgData name="Mlayezeli Mangena" userId="b36a9521-1aa9-4e7e-b2e0-194653454975" providerId="ADAL" clId="{5C260473-7BBE-48D6-834E-0EBA2224DF4F}" dt="2023-09-27T19:43:44.517" v="49" actId="255"/>
        <pc:sldMkLst>
          <pc:docMk/>
          <pc:sldMk cId="3028290758" sldId="257"/>
        </pc:sldMkLst>
        <pc:spChg chg="mod">
          <ac:chgData name="Mlayezeli Mangena" userId="b36a9521-1aa9-4e7e-b2e0-194653454975" providerId="ADAL" clId="{5C260473-7BBE-48D6-834E-0EBA2224DF4F}" dt="2023-09-27T19:43:44.517" v="49" actId="255"/>
          <ac:spMkLst>
            <pc:docMk/>
            <pc:sldMk cId="3028290758" sldId="257"/>
            <ac:spMk id="3" creationId="{6A732A95-8B00-468D-851F-8E47888936AE}"/>
          </ac:spMkLst>
        </pc:spChg>
      </pc:sldChg>
      <pc:sldChg chg="modSp mod">
        <pc:chgData name="Mlayezeli Mangena" userId="b36a9521-1aa9-4e7e-b2e0-194653454975" providerId="ADAL" clId="{5C260473-7BBE-48D6-834E-0EBA2224DF4F}" dt="2023-09-27T19:43:27.541" v="46" actId="113"/>
        <pc:sldMkLst>
          <pc:docMk/>
          <pc:sldMk cId="2357483434" sldId="258"/>
        </pc:sldMkLst>
        <pc:spChg chg="mod">
          <ac:chgData name="Mlayezeli Mangena" userId="b36a9521-1aa9-4e7e-b2e0-194653454975" providerId="ADAL" clId="{5C260473-7BBE-48D6-834E-0EBA2224DF4F}" dt="2023-09-27T19:42:55.847" v="18" actId="20577"/>
          <ac:spMkLst>
            <pc:docMk/>
            <pc:sldMk cId="2357483434" sldId="258"/>
            <ac:spMk id="3" creationId="{3C825F47-4E1A-428B-B877-FF1E29F8C049}"/>
          </ac:spMkLst>
        </pc:spChg>
        <pc:spChg chg="mod">
          <ac:chgData name="Mlayezeli Mangena" userId="b36a9521-1aa9-4e7e-b2e0-194653454975" providerId="ADAL" clId="{5C260473-7BBE-48D6-834E-0EBA2224DF4F}" dt="2023-09-27T19:43:27.541" v="46" actId="113"/>
          <ac:spMkLst>
            <pc:docMk/>
            <pc:sldMk cId="2357483434" sldId="258"/>
            <ac:spMk id="4" creationId="{5277C4B6-07A2-42D7-B5ED-8419E8A9A027}"/>
          </ac:spMkLst>
        </pc:spChg>
      </pc:sldChg>
      <pc:sldChg chg="modSp mod">
        <pc:chgData name="Mlayezeli Mangena" userId="b36a9521-1aa9-4e7e-b2e0-194653454975" providerId="ADAL" clId="{5C260473-7BBE-48D6-834E-0EBA2224DF4F}" dt="2023-09-27T19:44:07.955" v="52" actId="255"/>
        <pc:sldMkLst>
          <pc:docMk/>
          <pc:sldMk cId="1458803074" sldId="259"/>
        </pc:sldMkLst>
        <pc:spChg chg="mod">
          <ac:chgData name="Mlayezeli Mangena" userId="b36a9521-1aa9-4e7e-b2e0-194653454975" providerId="ADAL" clId="{5C260473-7BBE-48D6-834E-0EBA2224DF4F}" dt="2023-09-27T19:44:07.955" v="52" actId="255"/>
          <ac:spMkLst>
            <pc:docMk/>
            <pc:sldMk cId="1458803074" sldId="259"/>
            <ac:spMk id="4" creationId="{AC7BF543-50C8-4D86-B7F8-77F2ABEB7F7E}"/>
          </ac:spMkLst>
        </pc:spChg>
      </pc:sldChg>
      <pc:sldChg chg="modSp mod">
        <pc:chgData name="Mlayezeli Mangena" userId="b36a9521-1aa9-4e7e-b2e0-194653454975" providerId="ADAL" clId="{5C260473-7BBE-48D6-834E-0EBA2224DF4F}" dt="2023-09-27T19:44:19.440" v="55" actId="255"/>
        <pc:sldMkLst>
          <pc:docMk/>
          <pc:sldMk cId="3066369423" sldId="260"/>
        </pc:sldMkLst>
        <pc:spChg chg="mod">
          <ac:chgData name="Mlayezeli Mangena" userId="b36a9521-1aa9-4e7e-b2e0-194653454975" providerId="ADAL" clId="{5C260473-7BBE-48D6-834E-0EBA2224DF4F}" dt="2023-09-27T19:44:19.440" v="55" actId="255"/>
          <ac:spMkLst>
            <pc:docMk/>
            <pc:sldMk cId="3066369423" sldId="260"/>
            <ac:spMk id="4" creationId="{5142D27E-38E6-4F51-B3B0-010914D18AB9}"/>
          </ac:spMkLst>
        </pc:spChg>
      </pc:sldChg>
      <pc:sldChg chg="modSp mod">
        <pc:chgData name="Mlayezeli Mangena" userId="b36a9521-1aa9-4e7e-b2e0-194653454975" providerId="ADAL" clId="{5C260473-7BBE-48D6-834E-0EBA2224DF4F}" dt="2023-09-27T19:44:35.994" v="59" actId="1076"/>
        <pc:sldMkLst>
          <pc:docMk/>
          <pc:sldMk cId="4062073058" sldId="261"/>
        </pc:sldMkLst>
        <pc:spChg chg="mod">
          <ac:chgData name="Mlayezeli Mangena" userId="b36a9521-1aa9-4e7e-b2e0-194653454975" providerId="ADAL" clId="{5C260473-7BBE-48D6-834E-0EBA2224DF4F}" dt="2023-09-27T19:44:35.994" v="59" actId="1076"/>
          <ac:spMkLst>
            <pc:docMk/>
            <pc:sldMk cId="4062073058" sldId="261"/>
            <ac:spMk id="4" creationId="{90F746EE-C082-4CDF-91CA-A55FFE44F18F}"/>
          </ac:spMkLst>
        </pc:spChg>
      </pc:sldChg>
      <pc:sldChg chg="modSp mod">
        <pc:chgData name="Mlayezeli Mangena" userId="b36a9521-1aa9-4e7e-b2e0-194653454975" providerId="ADAL" clId="{5C260473-7BBE-48D6-834E-0EBA2224DF4F}" dt="2023-09-27T19:45:06.578" v="64" actId="1076"/>
        <pc:sldMkLst>
          <pc:docMk/>
          <pc:sldMk cId="778309721" sldId="262"/>
        </pc:sldMkLst>
        <pc:spChg chg="mod">
          <ac:chgData name="Mlayezeli Mangena" userId="b36a9521-1aa9-4e7e-b2e0-194653454975" providerId="ADAL" clId="{5C260473-7BBE-48D6-834E-0EBA2224DF4F}" dt="2023-09-27T19:45:06.578" v="64" actId="1076"/>
          <ac:spMkLst>
            <pc:docMk/>
            <pc:sldMk cId="778309721" sldId="262"/>
            <ac:spMk id="2" creationId="{FA4AADB4-2F7F-4146-8010-C527C56D3292}"/>
          </ac:spMkLst>
        </pc:spChg>
        <pc:spChg chg="mod">
          <ac:chgData name="Mlayezeli Mangena" userId="b36a9521-1aa9-4e7e-b2e0-194653454975" providerId="ADAL" clId="{5C260473-7BBE-48D6-834E-0EBA2224DF4F}" dt="2023-09-27T19:45:04.844" v="63" actId="1076"/>
          <ac:spMkLst>
            <pc:docMk/>
            <pc:sldMk cId="778309721" sldId="262"/>
            <ac:spMk id="4" creationId="{65B2F542-7C5D-409B-A8EF-B089D31E7681}"/>
          </ac:spMkLst>
        </pc:spChg>
      </pc:sldChg>
      <pc:sldChg chg="addSp delSp modSp mod">
        <pc:chgData name="Mlayezeli Mangena" userId="b36a9521-1aa9-4e7e-b2e0-194653454975" providerId="ADAL" clId="{5C260473-7BBE-48D6-834E-0EBA2224DF4F}" dt="2023-09-27T19:46:09.283" v="78" actId="255"/>
        <pc:sldMkLst>
          <pc:docMk/>
          <pc:sldMk cId="3589138558" sldId="263"/>
        </pc:sldMkLst>
        <pc:spChg chg="mod">
          <ac:chgData name="Mlayezeli Mangena" userId="b36a9521-1aa9-4e7e-b2e0-194653454975" providerId="ADAL" clId="{5C260473-7BBE-48D6-834E-0EBA2224DF4F}" dt="2023-09-27T19:46:09.283" v="78" actId="255"/>
          <ac:spMkLst>
            <pc:docMk/>
            <pc:sldMk cId="3589138558" sldId="263"/>
            <ac:spMk id="5" creationId="{532B310E-0869-4696-B548-0253F7348C35}"/>
          </ac:spMkLst>
        </pc:spChg>
        <pc:spChg chg="add del mod">
          <ac:chgData name="Mlayezeli Mangena" userId="b36a9521-1aa9-4e7e-b2e0-194653454975" providerId="ADAL" clId="{5C260473-7BBE-48D6-834E-0EBA2224DF4F}" dt="2023-09-27T19:45:40.524" v="72" actId="21"/>
          <ac:spMkLst>
            <pc:docMk/>
            <pc:sldMk cId="3589138558" sldId="263"/>
            <ac:spMk id="6" creationId="{837DC6B6-5B72-49C5-A5C8-9AE82394A183}"/>
          </ac:spMkLst>
        </pc:spChg>
      </pc:sldChg>
      <pc:sldChg chg="addSp delSp modSp mod">
        <pc:chgData name="Mlayezeli Mangena" userId="b36a9521-1aa9-4e7e-b2e0-194653454975" providerId="ADAL" clId="{5C260473-7BBE-48D6-834E-0EBA2224DF4F}" dt="2023-09-27T19:46:25.070" v="81" actId="1076"/>
        <pc:sldMkLst>
          <pc:docMk/>
          <pc:sldMk cId="2545378430" sldId="264"/>
        </pc:sldMkLst>
        <pc:spChg chg="del mod">
          <ac:chgData name="Mlayezeli Mangena" userId="b36a9521-1aa9-4e7e-b2e0-194653454975" providerId="ADAL" clId="{5C260473-7BBE-48D6-834E-0EBA2224DF4F}" dt="2023-09-27T19:45:54.173" v="75"/>
          <ac:spMkLst>
            <pc:docMk/>
            <pc:sldMk cId="2545378430" sldId="264"/>
            <ac:spMk id="4" creationId="{F09412A5-0B2A-4181-AC7F-1FA3B2AA8968}"/>
          </ac:spMkLst>
        </pc:spChg>
        <pc:spChg chg="add del mod">
          <ac:chgData name="Mlayezeli Mangena" userId="b36a9521-1aa9-4e7e-b2e0-194653454975" providerId="ADAL" clId="{5C260473-7BBE-48D6-834E-0EBA2224DF4F}" dt="2023-09-27T19:46:25.070" v="81" actId="1076"/>
          <ac:spMkLst>
            <pc:docMk/>
            <pc:sldMk cId="2545378430" sldId="264"/>
            <ac:spMk id="5" creationId="{4472FD22-D307-45FF-95AC-7876C1240E57}"/>
          </ac:spMkLst>
        </pc:spChg>
        <pc:spChg chg="add del mod">
          <ac:chgData name="Mlayezeli Mangena" userId="b36a9521-1aa9-4e7e-b2e0-194653454975" providerId="ADAL" clId="{5C260473-7BBE-48D6-834E-0EBA2224DF4F}" dt="2023-09-27T19:45:59.276" v="77"/>
          <ac:spMkLst>
            <pc:docMk/>
            <pc:sldMk cId="2545378430" sldId="264"/>
            <ac:spMk id="6" creationId="{A895D176-ED2B-4AC6-89C5-F1FFD84B29CC}"/>
          </ac:spMkLst>
        </pc:spChg>
      </pc:sldChg>
      <pc:sldChg chg="modSp mod">
        <pc:chgData name="Mlayezeli Mangena" userId="b36a9521-1aa9-4e7e-b2e0-194653454975" providerId="ADAL" clId="{5C260473-7BBE-48D6-834E-0EBA2224DF4F}" dt="2023-09-27T19:46:56.143" v="86" actId="1076"/>
        <pc:sldMkLst>
          <pc:docMk/>
          <pc:sldMk cId="340069496" sldId="265"/>
        </pc:sldMkLst>
        <pc:spChg chg="mod">
          <ac:chgData name="Mlayezeli Mangena" userId="b36a9521-1aa9-4e7e-b2e0-194653454975" providerId="ADAL" clId="{5C260473-7BBE-48D6-834E-0EBA2224DF4F}" dt="2023-09-27T19:46:56.143" v="86" actId="1076"/>
          <ac:spMkLst>
            <pc:docMk/>
            <pc:sldMk cId="340069496" sldId="265"/>
            <ac:spMk id="4" creationId="{AAF442F2-4A92-4F2C-8D05-61619090BDB0}"/>
          </ac:spMkLst>
        </pc:spChg>
      </pc:sldChg>
      <pc:sldChg chg="modSp mod">
        <pc:chgData name="Mlayezeli Mangena" userId="b36a9521-1aa9-4e7e-b2e0-194653454975" providerId="ADAL" clId="{5C260473-7BBE-48D6-834E-0EBA2224DF4F}" dt="2023-09-27T19:47:10.399" v="90" actId="1076"/>
        <pc:sldMkLst>
          <pc:docMk/>
          <pc:sldMk cId="815468934" sldId="266"/>
        </pc:sldMkLst>
        <pc:spChg chg="mod">
          <ac:chgData name="Mlayezeli Mangena" userId="b36a9521-1aa9-4e7e-b2e0-194653454975" providerId="ADAL" clId="{5C260473-7BBE-48D6-834E-0EBA2224DF4F}" dt="2023-09-27T19:47:10.399" v="90" actId="1076"/>
          <ac:spMkLst>
            <pc:docMk/>
            <pc:sldMk cId="815468934" sldId="266"/>
            <ac:spMk id="3" creationId="{D5A70121-65D9-4ED6-B455-201928E5E1DB}"/>
          </ac:spMkLst>
        </pc:spChg>
      </pc:sldChg>
      <pc:sldChg chg="modSp mod">
        <pc:chgData name="Mlayezeli Mangena" userId="b36a9521-1aa9-4e7e-b2e0-194653454975" providerId="ADAL" clId="{5C260473-7BBE-48D6-834E-0EBA2224DF4F}" dt="2023-09-27T19:47:24.537" v="94" actId="1076"/>
        <pc:sldMkLst>
          <pc:docMk/>
          <pc:sldMk cId="137940188" sldId="267"/>
        </pc:sldMkLst>
        <pc:spChg chg="mod">
          <ac:chgData name="Mlayezeli Mangena" userId="b36a9521-1aa9-4e7e-b2e0-194653454975" providerId="ADAL" clId="{5C260473-7BBE-48D6-834E-0EBA2224DF4F}" dt="2023-09-27T19:47:24.537" v="94" actId="1076"/>
          <ac:spMkLst>
            <pc:docMk/>
            <pc:sldMk cId="137940188" sldId="267"/>
            <ac:spMk id="4" creationId="{8074ABFE-F29E-4078-A168-55519CA5D905}"/>
          </ac:spMkLst>
        </pc:spChg>
      </pc:sldChg>
      <pc:sldChg chg="modSp mod">
        <pc:chgData name="Mlayezeli Mangena" userId="b36a9521-1aa9-4e7e-b2e0-194653454975" providerId="ADAL" clId="{5C260473-7BBE-48D6-834E-0EBA2224DF4F}" dt="2023-09-27T20:01:43.310" v="566" actId="20577"/>
        <pc:sldMkLst>
          <pc:docMk/>
          <pc:sldMk cId="1158470093" sldId="268"/>
        </pc:sldMkLst>
        <pc:spChg chg="mod">
          <ac:chgData name="Mlayezeli Mangena" userId="b36a9521-1aa9-4e7e-b2e0-194653454975" providerId="ADAL" clId="{5C260473-7BBE-48D6-834E-0EBA2224DF4F}" dt="2023-09-27T20:01:43.310" v="566" actId="20577"/>
          <ac:spMkLst>
            <pc:docMk/>
            <pc:sldMk cId="1158470093" sldId="268"/>
            <ac:spMk id="3" creationId="{3A3D3103-4392-4834-8E47-B7D0C03E78CE}"/>
          </ac:spMkLst>
        </pc:spChg>
        <pc:spChg chg="mod">
          <ac:chgData name="Mlayezeli Mangena" userId="b36a9521-1aa9-4e7e-b2e0-194653454975" providerId="ADAL" clId="{5C260473-7BBE-48D6-834E-0EBA2224DF4F}" dt="2023-09-27T19:47:37.457" v="98" actId="1076"/>
          <ac:spMkLst>
            <pc:docMk/>
            <pc:sldMk cId="1158470093" sldId="268"/>
            <ac:spMk id="4" creationId="{A4CA17FC-FE52-4D47-AD15-E9A74A80CE57}"/>
          </ac:spMkLst>
        </pc:spChg>
      </pc:sldChg>
      <pc:sldChg chg="modSp mod">
        <pc:chgData name="Mlayezeli Mangena" userId="b36a9521-1aa9-4e7e-b2e0-194653454975" providerId="ADAL" clId="{5C260473-7BBE-48D6-834E-0EBA2224DF4F}" dt="2023-09-27T19:10:43.588" v="11" actId="114"/>
        <pc:sldMkLst>
          <pc:docMk/>
          <pc:sldMk cId="1742721182" sldId="269"/>
        </pc:sldMkLst>
        <pc:spChg chg="mod">
          <ac:chgData name="Mlayezeli Mangena" userId="b36a9521-1aa9-4e7e-b2e0-194653454975" providerId="ADAL" clId="{5C260473-7BBE-48D6-834E-0EBA2224DF4F}" dt="2023-09-27T19:10:43.588" v="11" actId="114"/>
          <ac:spMkLst>
            <pc:docMk/>
            <pc:sldMk cId="1742721182" sldId="269"/>
            <ac:spMk id="4" creationId="{75E26B83-2230-4FB7-9460-771CE0809F0C}"/>
          </ac:spMkLst>
        </pc:spChg>
      </pc:sldChg>
      <pc:sldChg chg="modSp mod">
        <pc:chgData name="Mlayezeli Mangena" userId="b36a9521-1aa9-4e7e-b2e0-194653454975" providerId="ADAL" clId="{5C260473-7BBE-48D6-834E-0EBA2224DF4F}" dt="2023-09-27T17:25:02.546" v="8" actId="27636"/>
        <pc:sldMkLst>
          <pc:docMk/>
          <pc:sldMk cId="1966322372" sldId="270"/>
        </pc:sldMkLst>
        <pc:spChg chg="mod">
          <ac:chgData name="Mlayezeli Mangena" userId="b36a9521-1aa9-4e7e-b2e0-194653454975" providerId="ADAL" clId="{5C260473-7BBE-48D6-834E-0EBA2224DF4F}" dt="2023-09-27T17:25:02.546" v="8" actId="27636"/>
          <ac:spMkLst>
            <pc:docMk/>
            <pc:sldMk cId="1966322372" sldId="270"/>
            <ac:spMk id="2" creationId="{3D8C5F34-436F-425B-BB13-A529EB740E4D}"/>
          </ac:spMkLst>
        </pc:spChg>
      </pc:sldChg>
    </pc:docChg>
  </pc:docChgLst>
</pc:chgInfo>
</file>

<file path=ppt/comments/modernComment_110_AFCE5067.xml><?xml version="1.0" encoding="utf-8"?>
<p188:cmLst xmlns:a="http://schemas.openxmlformats.org/drawingml/2006/main" xmlns:r="http://schemas.openxmlformats.org/officeDocument/2006/relationships" xmlns:p188="http://schemas.microsoft.com/office/powerpoint/2018/8/main">
  <p188:cm id="{55DB1390-40AD-4A21-BE0E-CCA883BD4BED}" authorId="{939541B6-D433-D8B3-4489-7831A69CEF2D}" created="2023-09-29T02:11:50.974">
    <ac:deMkLst xmlns:ac="http://schemas.microsoft.com/office/drawing/2013/main/command">
      <pc:docMk xmlns:pc="http://schemas.microsoft.com/office/powerpoint/2013/main/command"/>
      <pc:sldMk xmlns:pc="http://schemas.microsoft.com/office/powerpoint/2013/main/command" cId="2949533799" sldId="272"/>
      <ac:spMk id="3" creationId="{3D2A98B2-7690-403F-A8D9-665371A422A1}"/>
    </ac:deMkLst>
    <p188:txBody>
      <a:bodyPr/>
      <a:lstStyle/>
      <a:p>
        <a:r>
          <a:rPr lang="en-ZA"/>
          <a:t>to update using the current legislation</a:t>
        </a:r>
      </a:p>
    </p188:txBody>
  </p188:cm>
</p188:cmLst>
</file>

<file path=ppt/drawings/_rels/vmlDrawing1.v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image" Target="../media/image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ADEC53-D7E1-475E-BDD9-F76AE8DFC323}" type="datetimeFigureOut">
              <a:rPr lang="en-ZA" smtClean="0"/>
              <a:t>2023/09/29</a:t>
            </a:fld>
            <a:endParaRPr lang="en-ZA"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D97326-744E-4574-A1D6-7FBAB5CBF72D}" type="slidenum">
              <a:rPr lang="en-ZA" smtClean="0"/>
              <a:t>‹#›</a:t>
            </a:fld>
            <a:endParaRPr lang="en-ZA" dirty="0"/>
          </a:p>
        </p:txBody>
      </p:sp>
    </p:spTree>
    <p:extLst>
      <p:ext uri="{BB962C8B-B14F-4D97-AF65-F5344CB8AC3E}">
        <p14:creationId xmlns:p14="http://schemas.microsoft.com/office/powerpoint/2010/main" val="968786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CD7B018-44BF-4BD8-8675-55C8D8E6BF05}" type="datetime1">
              <a:rPr lang="en-ZA" smtClean="0"/>
              <a:t>2023/09/29</a:t>
            </a:fld>
            <a:endParaRPr lang="en-ZA" dirty="0"/>
          </a:p>
        </p:txBody>
      </p:sp>
      <p:sp>
        <p:nvSpPr>
          <p:cNvPr id="5" name="Footer Placeholder 4"/>
          <p:cNvSpPr>
            <a:spLocks noGrp="1"/>
          </p:cNvSpPr>
          <p:nvPr>
            <p:ph type="ftr" sz="quarter" idx="11"/>
          </p:nvPr>
        </p:nvSpPr>
        <p:spPr>
          <a:xfrm>
            <a:off x="5332412" y="5883275"/>
            <a:ext cx="4324044" cy="365125"/>
          </a:xfrm>
        </p:spPr>
        <p:txBody>
          <a:bodyPr/>
          <a:lstStyle/>
          <a:p>
            <a:r>
              <a:rPr lang="en-ZA" dirty="0"/>
              <a:t>Introduction to taxation slides by Mlayezeli Mangena </a:t>
            </a:r>
          </a:p>
        </p:txBody>
      </p:sp>
      <p:sp>
        <p:nvSpPr>
          <p:cNvPr id="6" name="Slide Number Placeholder 5"/>
          <p:cNvSpPr>
            <a:spLocks noGrp="1"/>
          </p:cNvSpPr>
          <p:nvPr>
            <p:ph type="sldNum" sz="quarter" idx="12"/>
          </p:nvPr>
        </p:nvSpPr>
        <p:spPr/>
        <p:txBody>
          <a:bodyPr/>
          <a:lstStyle/>
          <a:p>
            <a:fld id="{C903984B-86B5-4225-B51B-8B1806765823}" type="slidenum">
              <a:rPr lang="en-ZA" smtClean="0"/>
              <a:t>‹#›</a:t>
            </a:fld>
            <a:endParaRPr lang="en-ZA" dirty="0"/>
          </a:p>
        </p:txBody>
      </p:sp>
    </p:spTree>
    <p:extLst>
      <p:ext uri="{BB962C8B-B14F-4D97-AF65-F5344CB8AC3E}">
        <p14:creationId xmlns:p14="http://schemas.microsoft.com/office/powerpoint/2010/main" val="1895284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83B257-F60B-4943-AD9E-C1547BF2BD7B}" type="datetime1">
              <a:rPr lang="en-ZA" smtClean="0"/>
              <a:t>2023/09/29</a:t>
            </a:fld>
            <a:endParaRPr lang="en-ZA" dirty="0"/>
          </a:p>
        </p:txBody>
      </p:sp>
      <p:sp>
        <p:nvSpPr>
          <p:cNvPr id="5" name="Footer Placeholder 4"/>
          <p:cNvSpPr>
            <a:spLocks noGrp="1"/>
          </p:cNvSpPr>
          <p:nvPr>
            <p:ph type="ftr" sz="quarter" idx="11"/>
          </p:nvPr>
        </p:nvSpPr>
        <p:spPr/>
        <p:txBody>
          <a:bodyPr/>
          <a:lstStyle/>
          <a:p>
            <a:r>
              <a:rPr lang="en-ZA" dirty="0"/>
              <a:t>Introduction to taxation slides by Mlayezeli Mangena </a:t>
            </a:r>
          </a:p>
        </p:txBody>
      </p:sp>
      <p:sp>
        <p:nvSpPr>
          <p:cNvPr id="6" name="Slide Number Placeholder 5"/>
          <p:cNvSpPr>
            <a:spLocks noGrp="1"/>
          </p:cNvSpPr>
          <p:nvPr>
            <p:ph type="sldNum" sz="quarter" idx="12"/>
          </p:nvPr>
        </p:nvSpPr>
        <p:spPr>
          <a:xfrm>
            <a:off x="10951856" y="5867131"/>
            <a:ext cx="551167" cy="365125"/>
          </a:xfrm>
        </p:spPr>
        <p:txBody>
          <a:bodyPr/>
          <a:lstStyle/>
          <a:p>
            <a:fld id="{C903984B-86B5-4225-B51B-8B1806765823}" type="slidenum">
              <a:rPr lang="en-ZA" smtClean="0"/>
              <a:t>‹#›</a:t>
            </a:fld>
            <a:endParaRPr lang="en-ZA" dirty="0"/>
          </a:p>
        </p:txBody>
      </p:sp>
    </p:spTree>
    <p:extLst>
      <p:ext uri="{BB962C8B-B14F-4D97-AF65-F5344CB8AC3E}">
        <p14:creationId xmlns:p14="http://schemas.microsoft.com/office/powerpoint/2010/main" val="1821952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C6D665-AEDA-4C52-8401-DFDD7CE39443}" type="datetime1">
              <a:rPr lang="en-ZA" smtClean="0"/>
              <a:t>2023/09/29</a:t>
            </a:fld>
            <a:endParaRPr lang="en-ZA" dirty="0"/>
          </a:p>
        </p:txBody>
      </p:sp>
      <p:sp>
        <p:nvSpPr>
          <p:cNvPr id="5" name="Footer Placeholder 4"/>
          <p:cNvSpPr>
            <a:spLocks noGrp="1"/>
          </p:cNvSpPr>
          <p:nvPr>
            <p:ph type="ftr" sz="quarter" idx="11"/>
          </p:nvPr>
        </p:nvSpPr>
        <p:spPr/>
        <p:txBody>
          <a:bodyPr/>
          <a:lstStyle/>
          <a:p>
            <a:r>
              <a:rPr lang="en-ZA" dirty="0"/>
              <a:t>Introduction to taxation slides by Mlayezeli Mangena </a:t>
            </a:r>
          </a:p>
        </p:txBody>
      </p:sp>
      <p:sp>
        <p:nvSpPr>
          <p:cNvPr id="6" name="Slide Number Placeholder 5"/>
          <p:cNvSpPr>
            <a:spLocks noGrp="1"/>
          </p:cNvSpPr>
          <p:nvPr>
            <p:ph type="sldNum" sz="quarter" idx="12"/>
          </p:nvPr>
        </p:nvSpPr>
        <p:spPr/>
        <p:txBody>
          <a:bodyPr/>
          <a:lstStyle/>
          <a:p>
            <a:fld id="{C903984B-86B5-4225-B51B-8B1806765823}" type="slidenum">
              <a:rPr lang="en-ZA" smtClean="0"/>
              <a:t>‹#›</a:t>
            </a:fld>
            <a:endParaRPr lang="en-ZA" dirty="0"/>
          </a:p>
        </p:txBody>
      </p:sp>
    </p:spTree>
    <p:extLst>
      <p:ext uri="{BB962C8B-B14F-4D97-AF65-F5344CB8AC3E}">
        <p14:creationId xmlns:p14="http://schemas.microsoft.com/office/powerpoint/2010/main" val="3585155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BFA5D83-C1AD-4630-8E06-A8C9FCF1E9E9}" type="datetime1">
              <a:rPr lang="en-ZA" smtClean="0"/>
              <a:t>2023/09/29</a:t>
            </a:fld>
            <a:endParaRPr lang="en-ZA" dirty="0"/>
          </a:p>
        </p:txBody>
      </p:sp>
      <p:sp>
        <p:nvSpPr>
          <p:cNvPr id="6" name="Footer Placeholder 5"/>
          <p:cNvSpPr>
            <a:spLocks noGrp="1"/>
          </p:cNvSpPr>
          <p:nvPr>
            <p:ph type="ftr" sz="quarter" idx="11"/>
          </p:nvPr>
        </p:nvSpPr>
        <p:spPr/>
        <p:txBody>
          <a:bodyPr/>
          <a:lstStyle/>
          <a:p>
            <a:r>
              <a:rPr lang="en-ZA" dirty="0"/>
              <a:t>Introduction to taxation slides by Mlayezeli Mangena </a:t>
            </a:r>
          </a:p>
        </p:txBody>
      </p:sp>
      <p:sp>
        <p:nvSpPr>
          <p:cNvPr id="7" name="Slide Number Placeholder 6"/>
          <p:cNvSpPr>
            <a:spLocks noGrp="1"/>
          </p:cNvSpPr>
          <p:nvPr>
            <p:ph type="sldNum" sz="quarter" idx="12"/>
          </p:nvPr>
        </p:nvSpPr>
        <p:spPr/>
        <p:txBody>
          <a:bodyPr/>
          <a:lstStyle/>
          <a:p>
            <a:fld id="{C903984B-86B5-4225-B51B-8B1806765823}" type="slidenum">
              <a:rPr lang="en-ZA" smtClean="0"/>
              <a:t>‹#›</a:t>
            </a:fld>
            <a:endParaRPr lang="en-ZA" dirty="0"/>
          </a:p>
        </p:txBody>
      </p:sp>
    </p:spTree>
    <p:extLst>
      <p:ext uri="{BB962C8B-B14F-4D97-AF65-F5344CB8AC3E}">
        <p14:creationId xmlns:p14="http://schemas.microsoft.com/office/powerpoint/2010/main" val="31449591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74F0EC-2E57-4045-9FFB-EA51FC6D15CC}" type="datetime1">
              <a:rPr lang="en-ZA" smtClean="0"/>
              <a:t>2023/09/29</a:t>
            </a:fld>
            <a:endParaRPr lang="en-ZA" dirty="0"/>
          </a:p>
        </p:txBody>
      </p:sp>
      <p:sp>
        <p:nvSpPr>
          <p:cNvPr id="8" name="Footer Placeholder 7"/>
          <p:cNvSpPr>
            <a:spLocks noGrp="1"/>
          </p:cNvSpPr>
          <p:nvPr>
            <p:ph type="ftr" sz="quarter" idx="11"/>
          </p:nvPr>
        </p:nvSpPr>
        <p:spPr/>
        <p:txBody>
          <a:bodyPr/>
          <a:lstStyle/>
          <a:p>
            <a:r>
              <a:rPr lang="en-ZA" dirty="0"/>
              <a:t>Introduction to taxation slides by Mlayezeli Mangena </a:t>
            </a:r>
          </a:p>
        </p:txBody>
      </p:sp>
      <p:sp>
        <p:nvSpPr>
          <p:cNvPr id="9" name="Slide Number Placeholder 8"/>
          <p:cNvSpPr>
            <a:spLocks noGrp="1"/>
          </p:cNvSpPr>
          <p:nvPr>
            <p:ph type="sldNum" sz="quarter" idx="12"/>
          </p:nvPr>
        </p:nvSpPr>
        <p:spPr/>
        <p:txBody>
          <a:bodyPr/>
          <a:lstStyle/>
          <a:p>
            <a:fld id="{C903984B-86B5-4225-B51B-8B1806765823}" type="slidenum">
              <a:rPr lang="en-ZA" smtClean="0"/>
              <a:t>‹#›</a:t>
            </a:fld>
            <a:endParaRPr lang="en-ZA" dirty="0"/>
          </a:p>
        </p:txBody>
      </p:sp>
    </p:spTree>
    <p:extLst>
      <p:ext uri="{BB962C8B-B14F-4D97-AF65-F5344CB8AC3E}">
        <p14:creationId xmlns:p14="http://schemas.microsoft.com/office/powerpoint/2010/main" val="71420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2812124-2219-4662-9DEB-9103DC29C899}" type="datetime1">
              <a:rPr lang="en-ZA" smtClean="0"/>
              <a:t>2023/09/29</a:t>
            </a:fld>
            <a:endParaRPr lang="en-ZA" dirty="0"/>
          </a:p>
        </p:txBody>
      </p:sp>
      <p:sp>
        <p:nvSpPr>
          <p:cNvPr id="4" name="Footer Placeholder 3"/>
          <p:cNvSpPr>
            <a:spLocks noGrp="1"/>
          </p:cNvSpPr>
          <p:nvPr>
            <p:ph type="ftr" sz="quarter" idx="11"/>
          </p:nvPr>
        </p:nvSpPr>
        <p:spPr/>
        <p:txBody>
          <a:bodyPr/>
          <a:lstStyle/>
          <a:p>
            <a:r>
              <a:rPr lang="en-ZA" dirty="0"/>
              <a:t>Introduction to taxation slides by Mlayezeli Mangena </a:t>
            </a:r>
          </a:p>
        </p:txBody>
      </p:sp>
      <p:sp>
        <p:nvSpPr>
          <p:cNvPr id="5" name="Slide Number Placeholder 4"/>
          <p:cNvSpPr>
            <a:spLocks noGrp="1"/>
          </p:cNvSpPr>
          <p:nvPr>
            <p:ph type="sldNum" sz="quarter" idx="12"/>
          </p:nvPr>
        </p:nvSpPr>
        <p:spPr/>
        <p:txBody>
          <a:bodyPr/>
          <a:lstStyle/>
          <a:p>
            <a:fld id="{C903984B-86B5-4225-B51B-8B1806765823}" type="slidenum">
              <a:rPr lang="en-ZA" smtClean="0"/>
              <a:t>‹#›</a:t>
            </a:fld>
            <a:endParaRPr lang="en-ZA" dirty="0"/>
          </a:p>
        </p:txBody>
      </p:sp>
    </p:spTree>
    <p:extLst>
      <p:ext uri="{BB962C8B-B14F-4D97-AF65-F5344CB8AC3E}">
        <p14:creationId xmlns:p14="http://schemas.microsoft.com/office/powerpoint/2010/main" val="3322682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9CFD7F-9551-4A8D-B000-CC884ABE2767}" type="datetime1">
              <a:rPr lang="en-ZA" smtClean="0"/>
              <a:t>2023/09/29</a:t>
            </a:fld>
            <a:endParaRPr lang="en-ZA" dirty="0"/>
          </a:p>
        </p:txBody>
      </p:sp>
      <p:sp>
        <p:nvSpPr>
          <p:cNvPr id="3" name="Footer Placeholder 2"/>
          <p:cNvSpPr>
            <a:spLocks noGrp="1"/>
          </p:cNvSpPr>
          <p:nvPr>
            <p:ph type="ftr" sz="quarter" idx="11"/>
          </p:nvPr>
        </p:nvSpPr>
        <p:spPr/>
        <p:txBody>
          <a:bodyPr/>
          <a:lstStyle/>
          <a:p>
            <a:r>
              <a:rPr lang="en-ZA" dirty="0"/>
              <a:t>Introduction to taxation slides by Mlayezeli Mangena </a:t>
            </a:r>
          </a:p>
        </p:txBody>
      </p:sp>
      <p:sp>
        <p:nvSpPr>
          <p:cNvPr id="4" name="Slide Number Placeholder 3"/>
          <p:cNvSpPr>
            <a:spLocks noGrp="1"/>
          </p:cNvSpPr>
          <p:nvPr>
            <p:ph type="sldNum" sz="quarter" idx="12"/>
          </p:nvPr>
        </p:nvSpPr>
        <p:spPr/>
        <p:txBody>
          <a:bodyPr/>
          <a:lstStyle/>
          <a:p>
            <a:fld id="{C903984B-86B5-4225-B51B-8B1806765823}" type="slidenum">
              <a:rPr lang="en-ZA" smtClean="0"/>
              <a:t>‹#›</a:t>
            </a:fld>
            <a:endParaRPr lang="en-ZA" dirty="0"/>
          </a:p>
        </p:txBody>
      </p:sp>
    </p:spTree>
    <p:extLst>
      <p:ext uri="{BB962C8B-B14F-4D97-AF65-F5344CB8AC3E}">
        <p14:creationId xmlns:p14="http://schemas.microsoft.com/office/powerpoint/2010/main" val="146313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2B8055-1BFA-4E7F-B444-3BC53B585274}" type="datetime1">
              <a:rPr lang="en-ZA" smtClean="0"/>
              <a:t>2023/09/29</a:t>
            </a:fld>
            <a:endParaRPr lang="en-ZA" dirty="0"/>
          </a:p>
        </p:txBody>
      </p:sp>
      <p:sp>
        <p:nvSpPr>
          <p:cNvPr id="6" name="Footer Placeholder 5"/>
          <p:cNvSpPr>
            <a:spLocks noGrp="1"/>
          </p:cNvSpPr>
          <p:nvPr>
            <p:ph type="ftr" sz="quarter" idx="11"/>
          </p:nvPr>
        </p:nvSpPr>
        <p:spPr/>
        <p:txBody>
          <a:bodyPr/>
          <a:lstStyle/>
          <a:p>
            <a:r>
              <a:rPr lang="en-ZA" dirty="0"/>
              <a:t>Introduction to taxation slides by Mlayezeli Mangena </a:t>
            </a:r>
          </a:p>
        </p:txBody>
      </p:sp>
      <p:sp>
        <p:nvSpPr>
          <p:cNvPr id="7" name="Slide Number Placeholder 6"/>
          <p:cNvSpPr>
            <a:spLocks noGrp="1"/>
          </p:cNvSpPr>
          <p:nvPr>
            <p:ph type="sldNum" sz="quarter" idx="12"/>
          </p:nvPr>
        </p:nvSpPr>
        <p:spPr/>
        <p:txBody>
          <a:bodyPr/>
          <a:lstStyle/>
          <a:p>
            <a:fld id="{C903984B-86B5-4225-B51B-8B1806765823}" type="slidenum">
              <a:rPr lang="en-ZA" smtClean="0"/>
              <a:t>‹#›</a:t>
            </a:fld>
            <a:endParaRPr lang="en-ZA" dirty="0"/>
          </a:p>
        </p:txBody>
      </p:sp>
    </p:spTree>
    <p:extLst>
      <p:ext uri="{BB962C8B-B14F-4D97-AF65-F5344CB8AC3E}">
        <p14:creationId xmlns:p14="http://schemas.microsoft.com/office/powerpoint/2010/main" val="23287580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C74170-67E2-4740-A707-9069E41A9EF6}" type="datetime1">
              <a:rPr lang="en-ZA" smtClean="0"/>
              <a:t>2023/09/29</a:t>
            </a:fld>
            <a:endParaRPr lang="en-ZA" dirty="0"/>
          </a:p>
        </p:txBody>
      </p:sp>
      <p:sp>
        <p:nvSpPr>
          <p:cNvPr id="6" name="Footer Placeholder 5"/>
          <p:cNvSpPr>
            <a:spLocks noGrp="1"/>
          </p:cNvSpPr>
          <p:nvPr>
            <p:ph type="ftr" sz="quarter" idx="11"/>
          </p:nvPr>
        </p:nvSpPr>
        <p:spPr/>
        <p:txBody>
          <a:bodyPr/>
          <a:lstStyle/>
          <a:p>
            <a:r>
              <a:rPr lang="en-ZA" dirty="0"/>
              <a:t>Introduction to taxation slides by Mlayezeli Mangena </a:t>
            </a:r>
          </a:p>
        </p:txBody>
      </p:sp>
      <p:sp>
        <p:nvSpPr>
          <p:cNvPr id="7" name="Slide Number Placeholder 6"/>
          <p:cNvSpPr>
            <a:spLocks noGrp="1"/>
          </p:cNvSpPr>
          <p:nvPr>
            <p:ph type="sldNum" sz="quarter" idx="12"/>
          </p:nvPr>
        </p:nvSpPr>
        <p:spPr/>
        <p:txBody>
          <a:bodyPr/>
          <a:lstStyle/>
          <a:p>
            <a:fld id="{C903984B-86B5-4225-B51B-8B1806765823}" type="slidenum">
              <a:rPr lang="en-ZA" smtClean="0"/>
              <a:t>‹#›</a:t>
            </a:fld>
            <a:endParaRPr lang="en-ZA" dirty="0"/>
          </a:p>
        </p:txBody>
      </p:sp>
    </p:spTree>
    <p:extLst>
      <p:ext uri="{BB962C8B-B14F-4D97-AF65-F5344CB8AC3E}">
        <p14:creationId xmlns:p14="http://schemas.microsoft.com/office/powerpoint/2010/main" val="4094297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1F92ED-2750-492A-979C-10FC1948C4F3}" type="datetime1">
              <a:rPr lang="en-ZA" smtClean="0"/>
              <a:t>2023/09/29</a:t>
            </a:fld>
            <a:endParaRPr lang="en-ZA" dirty="0"/>
          </a:p>
        </p:txBody>
      </p:sp>
      <p:sp>
        <p:nvSpPr>
          <p:cNvPr id="6" name="Footer Placeholder 5"/>
          <p:cNvSpPr>
            <a:spLocks noGrp="1"/>
          </p:cNvSpPr>
          <p:nvPr>
            <p:ph type="ftr" sz="quarter" idx="11"/>
          </p:nvPr>
        </p:nvSpPr>
        <p:spPr/>
        <p:txBody>
          <a:bodyPr/>
          <a:lstStyle/>
          <a:p>
            <a:r>
              <a:rPr lang="en-ZA" dirty="0"/>
              <a:t>Introduction to taxation slides by Mlayezeli Mangena </a:t>
            </a:r>
          </a:p>
        </p:txBody>
      </p:sp>
      <p:sp>
        <p:nvSpPr>
          <p:cNvPr id="7" name="Slide Number Placeholder 6"/>
          <p:cNvSpPr>
            <a:spLocks noGrp="1"/>
          </p:cNvSpPr>
          <p:nvPr>
            <p:ph type="sldNum" sz="quarter" idx="12"/>
          </p:nvPr>
        </p:nvSpPr>
        <p:spPr/>
        <p:txBody>
          <a:bodyPr/>
          <a:lstStyle/>
          <a:p>
            <a:fld id="{C903984B-86B5-4225-B51B-8B1806765823}" type="slidenum">
              <a:rPr lang="en-ZA" smtClean="0"/>
              <a:t>‹#›</a:t>
            </a:fld>
            <a:endParaRPr lang="en-ZA" dirty="0"/>
          </a:p>
        </p:txBody>
      </p:sp>
    </p:spTree>
    <p:extLst>
      <p:ext uri="{BB962C8B-B14F-4D97-AF65-F5344CB8AC3E}">
        <p14:creationId xmlns:p14="http://schemas.microsoft.com/office/powerpoint/2010/main" val="894436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84EE5F-B25E-4219-A819-C67AF583D547}" type="datetime1">
              <a:rPr lang="en-ZA" smtClean="0"/>
              <a:t>2023/09/29</a:t>
            </a:fld>
            <a:endParaRPr lang="en-ZA" dirty="0"/>
          </a:p>
        </p:txBody>
      </p:sp>
      <p:sp>
        <p:nvSpPr>
          <p:cNvPr id="5" name="Footer Placeholder 4"/>
          <p:cNvSpPr>
            <a:spLocks noGrp="1"/>
          </p:cNvSpPr>
          <p:nvPr>
            <p:ph type="ftr" sz="quarter" idx="11"/>
          </p:nvPr>
        </p:nvSpPr>
        <p:spPr/>
        <p:txBody>
          <a:bodyPr/>
          <a:lstStyle/>
          <a:p>
            <a:r>
              <a:rPr lang="en-ZA" dirty="0"/>
              <a:t>Introduction to taxation slides by Mlayezeli Mangena </a:t>
            </a:r>
          </a:p>
        </p:txBody>
      </p:sp>
      <p:sp>
        <p:nvSpPr>
          <p:cNvPr id="6" name="Slide Number Placeholder 5"/>
          <p:cNvSpPr>
            <a:spLocks noGrp="1"/>
          </p:cNvSpPr>
          <p:nvPr>
            <p:ph type="sldNum" sz="quarter" idx="12"/>
          </p:nvPr>
        </p:nvSpPr>
        <p:spPr/>
        <p:txBody>
          <a:bodyPr/>
          <a:lstStyle/>
          <a:p>
            <a:fld id="{C903984B-86B5-4225-B51B-8B1806765823}" type="slidenum">
              <a:rPr lang="en-ZA" smtClean="0"/>
              <a:t>‹#›</a:t>
            </a:fld>
            <a:endParaRPr lang="en-ZA" dirty="0"/>
          </a:p>
        </p:txBody>
      </p:sp>
    </p:spTree>
    <p:extLst>
      <p:ext uri="{BB962C8B-B14F-4D97-AF65-F5344CB8AC3E}">
        <p14:creationId xmlns:p14="http://schemas.microsoft.com/office/powerpoint/2010/main" val="121020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8439C7-CE75-40B0-9B0E-0E131FC53639}" type="datetime1">
              <a:rPr lang="en-ZA" smtClean="0"/>
              <a:t>2023/09/29</a:t>
            </a:fld>
            <a:endParaRPr lang="en-ZA" dirty="0"/>
          </a:p>
        </p:txBody>
      </p:sp>
      <p:sp>
        <p:nvSpPr>
          <p:cNvPr id="5" name="Footer Placeholder 4"/>
          <p:cNvSpPr>
            <a:spLocks noGrp="1"/>
          </p:cNvSpPr>
          <p:nvPr>
            <p:ph type="ftr" sz="quarter" idx="11"/>
          </p:nvPr>
        </p:nvSpPr>
        <p:spPr/>
        <p:txBody>
          <a:bodyPr/>
          <a:lstStyle/>
          <a:p>
            <a:r>
              <a:rPr lang="en-ZA" dirty="0"/>
              <a:t>Introduction to taxation slides by Mlayezeli Mangena </a:t>
            </a:r>
          </a:p>
        </p:txBody>
      </p:sp>
      <p:sp>
        <p:nvSpPr>
          <p:cNvPr id="6" name="Slide Number Placeholder 5"/>
          <p:cNvSpPr>
            <a:spLocks noGrp="1"/>
          </p:cNvSpPr>
          <p:nvPr>
            <p:ph type="sldNum" sz="quarter" idx="12"/>
          </p:nvPr>
        </p:nvSpPr>
        <p:spPr/>
        <p:txBody>
          <a:bodyPr/>
          <a:lstStyle/>
          <a:p>
            <a:fld id="{C903984B-86B5-4225-B51B-8B1806765823}" type="slidenum">
              <a:rPr lang="en-ZA" smtClean="0"/>
              <a:t>‹#›</a:t>
            </a:fld>
            <a:endParaRPr lang="en-ZA" dirty="0"/>
          </a:p>
        </p:txBody>
      </p:sp>
    </p:spTree>
    <p:extLst>
      <p:ext uri="{BB962C8B-B14F-4D97-AF65-F5344CB8AC3E}">
        <p14:creationId xmlns:p14="http://schemas.microsoft.com/office/powerpoint/2010/main" val="11720036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1D085A-00BB-412F-A31C-A127A84B9273}" type="datetime1">
              <a:rPr lang="en-ZA" smtClean="0"/>
              <a:t>2023/09/29</a:t>
            </a:fld>
            <a:endParaRPr lang="en-ZA" dirty="0"/>
          </a:p>
        </p:txBody>
      </p:sp>
      <p:sp>
        <p:nvSpPr>
          <p:cNvPr id="5" name="Footer Placeholder 4"/>
          <p:cNvSpPr>
            <a:spLocks noGrp="1"/>
          </p:cNvSpPr>
          <p:nvPr>
            <p:ph type="ftr" sz="quarter" idx="11"/>
          </p:nvPr>
        </p:nvSpPr>
        <p:spPr/>
        <p:txBody>
          <a:bodyPr/>
          <a:lstStyle/>
          <a:p>
            <a:r>
              <a:rPr lang="en-ZA" dirty="0"/>
              <a:t>Introduction to taxation slides by Mlayezeli Mangena </a:t>
            </a:r>
          </a:p>
        </p:txBody>
      </p:sp>
      <p:sp>
        <p:nvSpPr>
          <p:cNvPr id="6" name="Slide Number Placeholder 5"/>
          <p:cNvSpPr>
            <a:spLocks noGrp="1"/>
          </p:cNvSpPr>
          <p:nvPr>
            <p:ph type="sldNum" sz="quarter" idx="12"/>
          </p:nvPr>
        </p:nvSpPr>
        <p:spPr/>
        <p:txBody>
          <a:bodyPr/>
          <a:lstStyle/>
          <a:p>
            <a:fld id="{C903984B-86B5-4225-B51B-8B1806765823}" type="slidenum">
              <a:rPr lang="en-ZA" smtClean="0"/>
              <a:t>‹#›</a:t>
            </a:fld>
            <a:endParaRPr lang="en-ZA" dirty="0"/>
          </a:p>
        </p:txBody>
      </p:sp>
    </p:spTree>
    <p:extLst>
      <p:ext uri="{BB962C8B-B14F-4D97-AF65-F5344CB8AC3E}">
        <p14:creationId xmlns:p14="http://schemas.microsoft.com/office/powerpoint/2010/main" val="33753771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4E9B09-4E7D-41D7-8EB0-D471A0DEC5F6}" type="datetime1">
              <a:rPr lang="en-ZA" smtClean="0"/>
              <a:t>2023/09/29</a:t>
            </a:fld>
            <a:endParaRPr lang="en-ZA" dirty="0"/>
          </a:p>
        </p:txBody>
      </p:sp>
      <p:sp>
        <p:nvSpPr>
          <p:cNvPr id="5" name="Footer Placeholder 4"/>
          <p:cNvSpPr>
            <a:spLocks noGrp="1"/>
          </p:cNvSpPr>
          <p:nvPr>
            <p:ph type="ftr" sz="quarter" idx="11"/>
          </p:nvPr>
        </p:nvSpPr>
        <p:spPr/>
        <p:txBody>
          <a:bodyPr/>
          <a:lstStyle/>
          <a:p>
            <a:r>
              <a:rPr lang="en-ZA" dirty="0"/>
              <a:t>Introduction to taxation slides by Mlayezeli Mangena </a:t>
            </a:r>
          </a:p>
        </p:txBody>
      </p:sp>
      <p:sp>
        <p:nvSpPr>
          <p:cNvPr id="6" name="Slide Number Placeholder 5"/>
          <p:cNvSpPr>
            <a:spLocks noGrp="1"/>
          </p:cNvSpPr>
          <p:nvPr>
            <p:ph type="sldNum" sz="quarter" idx="12"/>
          </p:nvPr>
        </p:nvSpPr>
        <p:spPr/>
        <p:txBody>
          <a:bodyPr/>
          <a:lstStyle/>
          <a:p>
            <a:fld id="{C903984B-86B5-4225-B51B-8B1806765823}" type="slidenum">
              <a:rPr lang="en-ZA" smtClean="0"/>
              <a:t>‹#›</a:t>
            </a:fld>
            <a:endParaRPr lang="en-ZA" dirty="0"/>
          </a:p>
        </p:txBody>
      </p:sp>
    </p:spTree>
    <p:extLst>
      <p:ext uri="{BB962C8B-B14F-4D97-AF65-F5344CB8AC3E}">
        <p14:creationId xmlns:p14="http://schemas.microsoft.com/office/powerpoint/2010/main" val="15182593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F3129F-5424-4732-88C7-25634C930ABB}" type="datetime1">
              <a:rPr lang="en-ZA" smtClean="0"/>
              <a:t>2023/09/29</a:t>
            </a:fld>
            <a:endParaRPr lang="en-ZA" dirty="0"/>
          </a:p>
        </p:txBody>
      </p:sp>
      <p:sp>
        <p:nvSpPr>
          <p:cNvPr id="5" name="Footer Placeholder 4"/>
          <p:cNvSpPr>
            <a:spLocks noGrp="1"/>
          </p:cNvSpPr>
          <p:nvPr>
            <p:ph type="ftr" sz="quarter" idx="11"/>
          </p:nvPr>
        </p:nvSpPr>
        <p:spPr/>
        <p:txBody>
          <a:bodyPr/>
          <a:lstStyle/>
          <a:p>
            <a:r>
              <a:rPr lang="en-ZA" dirty="0"/>
              <a:t>Introduction to taxation slides by Mlayezeli Mangena </a:t>
            </a:r>
          </a:p>
        </p:txBody>
      </p:sp>
      <p:sp>
        <p:nvSpPr>
          <p:cNvPr id="6" name="Slide Number Placeholder 5"/>
          <p:cNvSpPr>
            <a:spLocks noGrp="1"/>
          </p:cNvSpPr>
          <p:nvPr>
            <p:ph type="sldNum" sz="quarter" idx="12"/>
          </p:nvPr>
        </p:nvSpPr>
        <p:spPr/>
        <p:txBody>
          <a:bodyPr/>
          <a:lstStyle/>
          <a:p>
            <a:fld id="{C903984B-86B5-4225-B51B-8B1806765823}" type="slidenum">
              <a:rPr lang="en-ZA" smtClean="0"/>
              <a:t>‹#›</a:t>
            </a:fld>
            <a:endParaRPr lang="en-ZA" dirty="0"/>
          </a:p>
        </p:txBody>
      </p:sp>
    </p:spTree>
    <p:extLst>
      <p:ext uri="{BB962C8B-B14F-4D97-AF65-F5344CB8AC3E}">
        <p14:creationId xmlns:p14="http://schemas.microsoft.com/office/powerpoint/2010/main" val="3774211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D476F9-F869-452F-A7A5-089F15FC04E7}" type="datetime1">
              <a:rPr lang="en-ZA" smtClean="0"/>
              <a:t>2023/09/29</a:t>
            </a:fld>
            <a:endParaRPr lang="en-ZA" dirty="0"/>
          </a:p>
        </p:txBody>
      </p:sp>
      <p:sp>
        <p:nvSpPr>
          <p:cNvPr id="5" name="Footer Placeholder 4"/>
          <p:cNvSpPr>
            <a:spLocks noGrp="1"/>
          </p:cNvSpPr>
          <p:nvPr>
            <p:ph type="ftr" sz="quarter" idx="11"/>
          </p:nvPr>
        </p:nvSpPr>
        <p:spPr/>
        <p:txBody>
          <a:bodyPr/>
          <a:lstStyle/>
          <a:p>
            <a:r>
              <a:rPr lang="en-ZA" dirty="0"/>
              <a:t>Introduction to taxation slides by Mlayezeli Mangena </a:t>
            </a:r>
          </a:p>
        </p:txBody>
      </p:sp>
      <p:sp>
        <p:nvSpPr>
          <p:cNvPr id="6" name="Slide Number Placeholder 5"/>
          <p:cNvSpPr>
            <a:spLocks noGrp="1"/>
          </p:cNvSpPr>
          <p:nvPr>
            <p:ph type="sldNum" sz="quarter" idx="12"/>
          </p:nvPr>
        </p:nvSpPr>
        <p:spPr/>
        <p:txBody>
          <a:bodyPr/>
          <a:lstStyle/>
          <a:p>
            <a:fld id="{C903984B-86B5-4225-B51B-8B1806765823}" type="slidenum">
              <a:rPr lang="en-ZA" smtClean="0"/>
              <a:t>‹#›</a:t>
            </a:fld>
            <a:endParaRPr lang="en-ZA" dirty="0"/>
          </a:p>
        </p:txBody>
      </p:sp>
    </p:spTree>
    <p:extLst>
      <p:ext uri="{BB962C8B-B14F-4D97-AF65-F5344CB8AC3E}">
        <p14:creationId xmlns:p14="http://schemas.microsoft.com/office/powerpoint/2010/main" val="13263638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FE6423-0D03-4534-ADE7-DC0C9F673CD8}" type="datetime1">
              <a:rPr lang="en-ZA" smtClean="0"/>
              <a:t>2023/09/29</a:t>
            </a:fld>
            <a:endParaRPr lang="en-ZA" dirty="0"/>
          </a:p>
        </p:txBody>
      </p:sp>
      <p:sp>
        <p:nvSpPr>
          <p:cNvPr id="5" name="Footer Placeholder 4"/>
          <p:cNvSpPr>
            <a:spLocks noGrp="1"/>
          </p:cNvSpPr>
          <p:nvPr>
            <p:ph type="ftr" sz="quarter" idx="11"/>
          </p:nvPr>
        </p:nvSpPr>
        <p:spPr/>
        <p:txBody>
          <a:bodyPr/>
          <a:lstStyle/>
          <a:p>
            <a:r>
              <a:rPr lang="en-ZA" dirty="0"/>
              <a:t>Introduction to taxation slides by Mlayezeli Mangena </a:t>
            </a:r>
          </a:p>
        </p:txBody>
      </p:sp>
      <p:sp>
        <p:nvSpPr>
          <p:cNvPr id="6" name="Slide Number Placeholder 5"/>
          <p:cNvSpPr>
            <a:spLocks noGrp="1"/>
          </p:cNvSpPr>
          <p:nvPr>
            <p:ph type="sldNum" sz="quarter" idx="12"/>
          </p:nvPr>
        </p:nvSpPr>
        <p:spPr/>
        <p:txBody>
          <a:bodyPr/>
          <a:lstStyle/>
          <a:p>
            <a:fld id="{C903984B-86B5-4225-B51B-8B1806765823}" type="slidenum">
              <a:rPr lang="en-ZA" smtClean="0"/>
              <a:t>‹#›</a:t>
            </a:fld>
            <a:endParaRPr lang="en-ZA" dirty="0"/>
          </a:p>
        </p:txBody>
      </p:sp>
    </p:spTree>
    <p:extLst>
      <p:ext uri="{BB962C8B-B14F-4D97-AF65-F5344CB8AC3E}">
        <p14:creationId xmlns:p14="http://schemas.microsoft.com/office/powerpoint/2010/main" val="2821290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50B68D5-B70F-4997-A6DE-AF458AC92219}" type="datetime1">
              <a:rPr lang="en-ZA" smtClean="0"/>
              <a:t>2023/09/29</a:t>
            </a:fld>
            <a:endParaRPr lang="en-ZA"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ZA" dirty="0"/>
              <a:t>Introduction to taxation slides by Mlayezeli Mangena </a:t>
            </a:r>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903984B-86B5-4225-B51B-8B1806765823}" type="slidenum">
              <a:rPr lang="en-ZA" smtClean="0"/>
              <a:t>‹#›</a:t>
            </a:fld>
            <a:endParaRPr lang="en-ZA" dirty="0"/>
          </a:p>
        </p:txBody>
      </p:sp>
    </p:spTree>
    <p:extLst>
      <p:ext uri="{BB962C8B-B14F-4D97-AF65-F5344CB8AC3E}">
        <p14:creationId xmlns:p14="http://schemas.microsoft.com/office/powerpoint/2010/main" val="3796272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sldNum="0" hd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microsoft.com/office/2018/10/relationships/comments" Target="../comments/modernComment_110_AFCE506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C97FF-DD6E-4CE4-A2F7-C734B7B36321}"/>
              </a:ext>
            </a:extLst>
          </p:cNvPr>
          <p:cNvSpPr>
            <a:spLocks noGrp="1"/>
          </p:cNvSpPr>
          <p:nvPr>
            <p:ph type="ctrTitle"/>
          </p:nvPr>
        </p:nvSpPr>
        <p:spPr>
          <a:xfrm>
            <a:off x="2200275" y="236538"/>
            <a:ext cx="8648700" cy="477837"/>
          </a:xfrm>
        </p:spPr>
        <p:txBody>
          <a:bodyPr>
            <a:normAutofit/>
          </a:bodyPr>
          <a:lstStyle/>
          <a:p>
            <a:pPr algn="l"/>
            <a:r>
              <a:rPr lang="en-ZA" sz="2000" b="1" dirty="0"/>
              <a:t>Introduction to applied Taxation ( Part 4.1-2023)</a:t>
            </a:r>
          </a:p>
        </p:txBody>
      </p:sp>
      <p:sp>
        <p:nvSpPr>
          <p:cNvPr id="3" name="Subtitle 2">
            <a:extLst>
              <a:ext uri="{FF2B5EF4-FFF2-40B4-BE49-F238E27FC236}">
                <a16:creationId xmlns:a16="http://schemas.microsoft.com/office/drawing/2014/main" id="{99091B01-B120-4991-B258-02AD79BD6D66}"/>
              </a:ext>
            </a:extLst>
          </p:cNvPr>
          <p:cNvSpPr>
            <a:spLocks noGrp="1"/>
          </p:cNvSpPr>
          <p:nvPr>
            <p:ph type="subTitle" idx="1"/>
          </p:nvPr>
        </p:nvSpPr>
        <p:spPr>
          <a:xfrm>
            <a:off x="2362200" y="923924"/>
            <a:ext cx="8648700" cy="5592763"/>
          </a:xfrm>
        </p:spPr>
        <p:txBody>
          <a:bodyPr>
            <a:normAutofit/>
          </a:bodyPr>
          <a:lstStyle/>
          <a:p>
            <a:pPr algn="l"/>
            <a:r>
              <a:rPr lang="en-ZA" sz="1600" b="1" dirty="0"/>
              <a:t>Course / Module Outline</a:t>
            </a:r>
          </a:p>
          <a:p>
            <a:pPr marL="342900" indent="-342900" algn="l">
              <a:buFont typeface="+mj-lt"/>
              <a:buAutoNum type="arabicPeriod"/>
            </a:pPr>
            <a:r>
              <a:rPr lang="en-ZA" sz="1600" b="1" dirty="0"/>
              <a:t>Gross Income and the general deductions formulae.</a:t>
            </a:r>
          </a:p>
          <a:p>
            <a:pPr marL="742950" lvl="1" indent="-285750" algn="l">
              <a:buFont typeface="Wingdings" panose="05000000000000000000" pitchFamily="2" charset="2"/>
              <a:buChar char="Ø"/>
            </a:pPr>
            <a:r>
              <a:rPr lang="en-ZA" sz="1500" dirty="0">
                <a:solidFill>
                  <a:schemeClr val="tx1"/>
                </a:solidFill>
              </a:rPr>
              <a:t>Section 8 (1)(a)</a:t>
            </a:r>
          </a:p>
          <a:p>
            <a:pPr marL="742950" lvl="1" indent="-285750" algn="l">
              <a:buFont typeface="Wingdings" panose="05000000000000000000" pitchFamily="2" charset="2"/>
              <a:buChar char="Ø"/>
            </a:pPr>
            <a:r>
              <a:rPr lang="en-ZA" sz="1500" dirty="0">
                <a:solidFill>
                  <a:schemeClr val="tx1"/>
                </a:solidFill>
              </a:rPr>
              <a:t>Section 15 (2) and Section 16( highlights)</a:t>
            </a:r>
            <a:endParaRPr lang="en-ZA" sz="1600" dirty="0">
              <a:solidFill>
                <a:schemeClr val="tx1"/>
              </a:solidFill>
            </a:endParaRPr>
          </a:p>
          <a:p>
            <a:pPr marL="342900" indent="-342900" algn="l">
              <a:buFont typeface="+mj-lt"/>
              <a:buAutoNum type="arabicPeriod"/>
            </a:pPr>
            <a:r>
              <a:rPr lang="en-ZA" sz="1700" b="1" dirty="0"/>
              <a:t>Taxation of corporates </a:t>
            </a:r>
          </a:p>
          <a:p>
            <a:pPr marL="742950" lvl="1" indent="-285750" algn="l">
              <a:buFont typeface="Wingdings" panose="05000000000000000000" pitchFamily="2" charset="2"/>
              <a:buChar char="Ø"/>
            </a:pPr>
            <a:r>
              <a:rPr lang="en-ZA" sz="1600" dirty="0">
                <a:solidFill>
                  <a:schemeClr val="tx1"/>
                </a:solidFill>
              </a:rPr>
              <a:t>Gross income principles revision </a:t>
            </a:r>
          </a:p>
          <a:p>
            <a:pPr marL="742950" lvl="1" indent="-285750" algn="l">
              <a:buFont typeface="Wingdings" panose="05000000000000000000" pitchFamily="2" charset="2"/>
              <a:buChar char="Ø"/>
            </a:pPr>
            <a:r>
              <a:rPr lang="en-ZA" sz="1600" dirty="0">
                <a:solidFill>
                  <a:schemeClr val="tx1"/>
                </a:solidFill>
              </a:rPr>
              <a:t>Specific Inclusions to gross income </a:t>
            </a:r>
          </a:p>
          <a:p>
            <a:pPr marL="742950" lvl="1" indent="-285750" algn="l">
              <a:buFont typeface="Wingdings" panose="05000000000000000000" pitchFamily="2" charset="2"/>
              <a:buChar char="Ø"/>
            </a:pPr>
            <a:r>
              <a:rPr lang="en-ZA" sz="1600" dirty="0">
                <a:solidFill>
                  <a:schemeClr val="tx1"/>
                </a:solidFill>
              </a:rPr>
              <a:t>Exempt income </a:t>
            </a:r>
          </a:p>
          <a:p>
            <a:pPr marL="742950" lvl="1" indent="-285750" algn="l">
              <a:buFont typeface="Wingdings" panose="05000000000000000000" pitchFamily="2" charset="2"/>
              <a:buChar char="Ø"/>
            </a:pPr>
            <a:r>
              <a:rPr lang="en-ZA" sz="1600" dirty="0">
                <a:solidFill>
                  <a:schemeClr val="tx1"/>
                </a:solidFill>
              </a:rPr>
              <a:t>Allowable deductions section 15</a:t>
            </a:r>
          </a:p>
          <a:p>
            <a:pPr marL="742950" lvl="1" indent="-285750" algn="l">
              <a:buFont typeface="Wingdings" panose="05000000000000000000" pitchFamily="2" charset="2"/>
              <a:buChar char="Ø"/>
            </a:pPr>
            <a:r>
              <a:rPr lang="en-ZA" sz="1600" dirty="0">
                <a:solidFill>
                  <a:schemeClr val="tx1"/>
                </a:solidFill>
              </a:rPr>
              <a:t>Section 15(2c) and the 4rth Schedule </a:t>
            </a:r>
          </a:p>
          <a:p>
            <a:pPr marL="742950" lvl="1" indent="-285750" algn="l">
              <a:buFont typeface="Wingdings" panose="05000000000000000000" pitchFamily="2" charset="2"/>
              <a:buChar char="Ø"/>
            </a:pPr>
            <a:r>
              <a:rPr lang="en-ZA" sz="1600" dirty="0">
                <a:solidFill>
                  <a:schemeClr val="tx1"/>
                </a:solidFill>
              </a:rPr>
              <a:t>Recoupment and scrapping allowances </a:t>
            </a:r>
          </a:p>
          <a:p>
            <a:pPr marL="742950" lvl="1" indent="-285750" algn="l">
              <a:buFont typeface="Wingdings" panose="05000000000000000000" pitchFamily="2" charset="2"/>
              <a:buChar char="Ø"/>
            </a:pPr>
            <a:r>
              <a:rPr lang="en-ZA" sz="1600" dirty="0">
                <a:solidFill>
                  <a:schemeClr val="tx1"/>
                </a:solidFill>
              </a:rPr>
              <a:t>Other provisions</a:t>
            </a:r>
          </a:p>
          <a:p>
            <a:pPr lvl="1" algn="l"/>
            <a:endParaRPr lang="en-ZA" sz="1600" dirty="0">
              <a:solidFill>
                <a:schemeClr val="tx1"/>
              </a:solidFill>
            </a:endParaRPr>
          </a:p>
          <a:p>
            <a:pPr lvl="1" algn="l"/>
            <a:endParaRPr lang="en-ZA" sz="1600" dirty="0">
              <a:solidFill>
                <a:schemeClr val="tx1"/>
              </a:solidFill>
            </a:endParaRPr>
          </a:p>
          <a:p>
            <a:pPr marL="742950" lvl="1" indent="-285750" algn="l">
              <a:buFont typeface="Wingdings" panose="05000000000000000000" pitchFamily="2" charset="2"/>
              <a:buChar char="Ø"/>
            </a:pPr>
            <a:endParaRPr lang="en-ZA" sz="1600" b="1" dirty="0"/>
          </a:p>
          <a:p>
            <a:pPr marL="285750" indent="-285750" algn="l">
              <a:buFont typeface="Wingdings" panose="05000000000000000000" pitchFamily="2" charset="2"/>
              <a:buChar char="Ø"/>
            </a:pPr>
            <a:endParaRPr lang="en-ZA" sz="1600" b="1" dirty="0"/>
          </a:p>
        </p:txBody>
      </p:sp>
    </p:spTree>
    <p:extLst>
      <p:ext uri="{BB962C8B-B14F-4D97-AF65-F5344CB8AC3E}">
        <p14:creationId xmlns:p14="http://schemas.microsoft.com/office/powerpoint/2010/main" val="2568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E19DB-751A-4474-975C-19B976D6112F}"/>
              </a:ext>
            </a:extLst>
          </p:cNvPr>
          <p:cNvSpPr>
            <a:spLocks noGrp="1"/>
          </p:cNvSpPr>
          <p:nvPr>
            <p:ph type="title"/>
          </p:nvPr>
        </p:nvSpPr>
        <p:spPr>
          <a:xfrm>
            <a:off x="1484311" y="685801"/>
            <a:ext cx="10018713" cy="381000"/>
          </a:xfrm>
        </p:spPr>
        <p:txBody>
          <a:bodyPr>
            <a:noAutofit/>
          </a:bodyPr>
          <a:lstStyle/>
          <a:p>
            <a:pPr algn="l"/>
            <a:r>
              <a:rPr lang="en-ZA" sz="2000" dirty="0"/>
              <a:t>Recommended Textbooks </a:t>
            </a:r>
          </a:p>
        </p:txBody>
      </p:sp>
      <p:sp>
        <p:nvSpPr>
          <p:cNvPr id="5" name="Content Placeholder 2">
            <a:extLst>
              <a:ext uri="{FF2B5EF4-FFF2-40B4-BE49-F238E27FC236}">
                <a16:creationId xmlns:a16="http://schemas.microsoft.com/office/drawing/2014/main" id="{22711A6E-7A59-46FE-A427-57D3DB389342}"/>
              </a:ext>
            </a:extLst>
          </p:cNvPr>
          <p:cNvSpPr>
            <a:spLocks noGrp="1"/>
          </p:cNvSpPr>
          <p:nvPr>
            <p:ph idx="1"/>
          </p:nvPr>
        </p:nvSpPr>
        <p:spPr>
          <a:xfrm>
            <a:off x="1484310" y="1247775"/>
            <a:ext cx="10018713" cy="4819650"/>
          </a:xfrm>
        </p:spPr>
        <p:txBody>
          <a:bodyPr anchor="t">
            <a:normAutofit/>
          </a:bodyPr>
          <a:lstStyle/>
          <a:p>
            <a:r>
              <a:rPr lang="en-ZA" sz="2000" dirty="0"/>
              <a:t>ICAZ Tax Module by Marvellous Tapera ( All Topics)</a:t>
            </a:r>
          </a:p>
          <a:p>
            <a:r>
              <a:rPr lang="en-ZA" sz="2000" dirty="0"/>
              <a:t>Sabelo Nare ( Mining , Farming and Partnerships)</a:t>
            </a:r>
          </a:p>
          <a:p>
            <a:r>
              <a:rPr lang="en-ZA" sz="2000" dirty="0"/>
              <a:t>Tax Legislation Latest Version. </a:t>
            </a:r>
          </a:p>
          <a:p>
            <a:endParaRPr lang="en-ZA" sz="2000" dirty="0"/>
          </a:p>
          <a:p>
            <a:r>
              <a:rPr lang="en-ZA" sz="2000" b="1" dirty="0"/>
              <a:t>To do Questions</a:t>
            </a:r>
            <a:r>
              <a:rPr lang="en-ZA" sz="2000" dirty="0"/>
              <a:t> </a:t>
            </a:r>
          </a:p>
          <a:p>
            <a:pPr marL="0" indent="0">
              <a:buNone/>
            </a:pPr>
            <a:r>
              <a:rPr lang="en-ZA" sz="2000" dirty="0"/>
              <a:t>2021 4102 Part 4,1 Paper </a:t>
            </a:r>
          </a:p>
          <a:p>
            <a:pPr marL="0" indent="0">
              <a:buNone/>
            </a:pPr>
            <a:r>
              <a:rPr lang="en-ZA" sz="2000" dirty="0"/>
              <a:t>2022 4102 Paper </a:t>
            </a:r>
          </a:p>
          <a:p>
            <a:pPr marL="0" indent="0">
              <a:buNone/>
            </a:pPr>
            <a:r>
              <a:rPr lang="en-ZA" sz="2000" dirty="0"/>
              <a:t>2023 4102 Paper </a:t>
            </a:r>
          </a:p>
          <a:p>
            <a:pPr marL="0" indent="0">
              <a:buNone/>
            </a:pPr>
            <a:r>
              <a:rPr lang="en-ZA" sz="2000" dirty="0"/>
              <a:t>Other modular examples from various sources </a:t>
            </a:r>
          </a:p>
          <a:p>
            <a:endParaRPr lang="en-ZA" sz="2000" dirty="0"/>
          </a:p>
          <a:p>
            <a:endParaRPr lang="en-ZA" sz="2000" dirty="0"/>
          </a:p>
        </p:txBody>
      </p:sp>
      <p:sp>
        <p:nvSpPr>
          <p:cNvPr id="3" name="Footer Placeholder 2">
            <a:extLst>
              <a:ext uri="{FF2B5EF4-FFF2-40B4-BE49-F238E27FC236}">
                <a16:creationId xmlns:a16="http://schemas.microsoft.com/office/drawing/2014/main" id="{6A732A95-8B00-468D-851F-8E47888936AE}"/>
              </a:ext>
            </a:extLst>
          </p:cNvPr>
          <p:cNvSpPr>
            <a:spLocks noGrp="1"/>
          </p:cNvSpPr>
          <p:nvPr>
            <p:ph type="ftr" sz="quarter" idx="11"/>
          </p:nvPr>
        </p:nvSpPr>
        <p:spPr/>
        <p:txBody>
          <a:bodyPr/>
          <a:lstStyle/>
          <a:p>
            <a:r>
              <a:rPr lang="en-ZA" sz="1400" b="1" i="1" dirty="0">
                <a:solidFill>
                  <a:srgbClr val="002060"/>
                </a:solidFill>
              </a:rPr>
              <a:t>Introduction to taxation slides by Mlayezeli Mangena –Accounting Simplified </a:t>
            </a:r>
          </a:p>
          <a:p>
            <a:endParaRPr lang="en-ZA" sz="1400" dirty="0"/>
          </a:p>
        </p:txBody>
      </p:sp>
    </p:spTree>
    <p:extLst>
      <p:ext uri="{BB962C8B-B14F-4D97-AF65-F5344CB8AC3E}">
        <p14:creationId xmlns:p14="http://schemas.microsoft.com/office/powerpoint/2010/main" val="3028290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0BBBA-8147-4E77-A03E-692BCC5013FA}"/>
              </a:ext>
            </a:extLst>
          </p:cNvPr>
          <p:cNvSpPr>
            <a:spLocks noGrp="1"/>
          </p:cNvSpPr>
          <p:nvPr>
            <p:ph type="title"/>
          </p:nvPr>
        </p:nvSpPr>
        <p:spPr>
          <a:xfrm>
            <a:off x="1484311" y="685801"/>
            <a:ext cx="10018713" cy="381000"/>
          </a:xfrm>
        </p:spPr>
        <p:txBody>
          <a:bodyPr>
            <a:noAutofit/>
          </a:bodyPr>
          <a:lstStyle/>
          <a:p>
            <a:pPr algn="l"/>
            <a:r>
              <a:rPr lang="en-ZA" sz="2000" b="1" dirty="0"/>
              <a:t>Gross Income (Definition Section 8)</a:t>
            </a:r>
          </a:p>
        </p:txBody>
      </p:sp>
      <p:sp>
        <p:nvSpPr>
          <p:cNvPr id="3" name="Content Placeholder 2">
            <a:extLst>
              <a:ext uri="{FF2B5EF4-FFF2-40B4-BE49-F238E27FC236}">
                <a16:creationId xmlns:a16="http://schemas.microsoft.com/office/drawing/2014/main" id="{3C825F47-4E1A-428B-B877-FF1E29F8C049}"/>
              </a:ext>
            </a:extLst>
          </p:cNvPr>
          <p:cNvSpPr>
            <a:spLocks noGrp="1"/>
          </p:cNvSpPr>
          <p:nvPr>
            <p:ph idx="1"/>
          </p:nvPr>
        </p:nvSpPr>
        <p:spPr>
          <a:xfrm>
            <a:off x="1571625" y="1209675"/>
            <a:ext cx="9931398" cy="4581525"/>
          </a:xfrm>
        </p:spPr>
        <p:txBody>
          <a:bodyPr anchor="t">
            <a:normAutofit lnSpcReduction="10000"/>
          </a:bodyPr>
          <a:lstStyle/>
          <a:p>
            <a:pPr marR="34925" algn="just">
              <a:lnSpc>
                <a:spcPct val="118000"/>
              </a:lnSpc>
              <a:spcAft>
                <a:spcPts val="800"/>
              </a:spcAft>
            </a:pPr>
            <a:r>
              <a:rPr lang="en-ZA"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a:t>
            </a:r>
            <a:r>
              <a:rPr lang="en-ZA"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total amount</a:t>
            </a:r>
            <a:r>
              <a:rPr lang="en-ZA"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ZA" sz="1800" dirty="0">
                <a:solidFill>
                  <a:srgbClr val="00B0F0"/>
                </a:solidFill>
                <a:effectLst/>
                <a:latin typeface="Times New Roman" panose="02020603050405020304" pitchFamily="18" charset="0"/>
                <a:ea typeface="Calibri" panose="020F0502020204030204" pitchFamily="34" charset="0"/>
                <a:cs typeface="Times New Roman" panose="02020603050405020304" pitchFamily="18" charset="0"/>
              </a:rPr>
              <a:t>received by</a:t>
            </a:r>
            <a:r>
              <a:rPr lang="en-ZA"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ZA" sz="1800" dirty="0">
                <a:solidFill>
                  <a:srgbClr val="00B0F0"/>
                </a:solidFill>
                <a:effectLst/>
                <a:latin typeface="Times New Roman" panose="02020603050405020304" pitchFamily="18" charset="0"/>
                <a:ea typeface="Calibri" panose="020F0502020204030204" pitchFamily="34" charset="0"/>
                <a:cs typeface="Times New Roman" panose="02020603050405020304" pitchFamily="18" charset="0"/>
              </a:rPr>
              <a:t>or accrued to, </a:t>
            </a:r>
            <a:r>
              <a:rPr lang="en-ZA"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 in favour of, a person or </a:t>
            </a:r>
            <a:r>
              <a:rPr lang="en-ZA" sz="1800" dirty="0">
                <a:solidFill>
                  <a:srgbClr val="00B0F0"/>
                </a:solidFill>
                <a:effectLst/>
                <a:latin typeface="Times New Roman" panose="02020603050405020304" pitchFamily="18" charset="0"/>
                <a:ea typeface="Calibri" panose="020F0502020204030204" pitchFamily="34" charset="0"/>
                <a:cs typeface="Times New Roman" panose="02020603050405020304" pitchFamily="18" charset="0"/>
              </a:rPr>
              <a:t>deemed to have been received </a:t>
            </a:r>
            <a:r>
              <a:rPr lang="en-ZA"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 accrued in any </a:t>
            </a:r>
            <a:r>
              <a:rPr lang="en-ZA" sz="1800" dirty="0">
                <a:solidFill>
                  <a:srgbClr val="00B0F0"/>
                </a:solidFill>
                <a:effectLst/>
                <a:latin typeface="Times New Roman" panose="02020603050405020304" pitchFamily="18" charset="0"/>
                <a:ea typeface="Calibri" panose="020F0502020204030204" pitchFamily="34" charset="0"/>
                <a:cs typeface="Times New Roman" panose="02020603050405020304" pitchFamily="18" charset="0"/>
              </a:rPr>
              <a:t>year of assessment</a:t>
            </a:r>
            <a:r>
              <a:rPr lang="en-ZA"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from a </a:t>
            </a:r>
            <a:r>
              <a:rPr lang="en-ZA" sz="18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source within or deemed to be within Zimbabwe</a:t>
            </a:r>
            <a:r>
              <a:rPr lang="en-ZA"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excluding amounts proved by the taxpayer to be </a:t>
            </a:r>
            <a:r>
              <a:rPr lang="en-ZA" sz="18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capital in nature</a:t>
            </a:r>
            <a:r>
              <a:rPr lang="en-ZA"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ZA" sz="1800" dirty="0">
                <a:latin typeface="Calibri" panose="020F0502020204030204" pitchFamily="34" charset="0"/>
                <a:ea typeface="Calibri" panose="020F0502020204030204" pitchFamily="34" charset="0"/>
                <a:cs typeface="Times New Roman" panose="02020603050405020304" pitchFamily="18" charset="0"/>
              </a:rPr>
              <a:t> </a:t>
            </a:r>
            <a:r>
              <a:rPr lang="en-ZA" sz="1800" b="1" dirty="0">
                <a:latin typeface="Calibri" panose="020F0502020204030204" pitchFamily="34" charset="0"/>
                <a:ea typeface="Calibri" panose="020F0502020204030204" pitchFamily="34" charset="0"/>
                <a:cs typeface="Times New Roman" panose="02020603050405020304" pitchFamily="18" charset="0"/>
              </a:rPr>
              <a:t>Amount</a:t>
            </a:r>
            <a:endParaRPr lang="en-ZA" sz="1800" b="1"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ZA" sz="1800" dirty="0">
                <a:effectLst/>
                <a:latin typeface="Calibri" panose="020F0502020204030204" pitchFamily="34" charset="0"/>
                <a:ea typeface="Calibri" panose="020F0502020204030204" pitchFamily="34" charset="0"/>
                <a:cs typeface="Times New Roman" panose="02020603050405020304" pitchFamily="18" charset="0"/>
              </a:rPr>
              <a:t>Amount means money or anything whether corporeal or incorporeal with an ascertainable monetary value ( CIR vs People). </a:t>
            </a:r>
          </a:p>
          <a:p>
            <a:pPr>
              <a:lnSpc>
                <a:spcPct val="107000"/>
              </a:lnSpc>
              <a:spcAft>
                <a:spcPts val="800"/>
              </a:spcAft>
            </a:pPr>
            <a:r>
              <a:rPr lang="en-ZA" sz="1800" dirty="0">
                <a:effectLst/>
                <a:latin typeface="Calibri" panose="020F0502020204030204" pitchFamily="34" charset="0"/>
                <a:ea typeface="Calibri" panose="020F0502020204030204" pitchFamily="34" charset="0"/>
                <a:cs typeface="Times New Roman" panose="02020603050405020304" pitchFamily="18" charset="0"/>
              </a:rPr>
              <a:t>What this means is even compensation in kind can be taxed if value can be placed on it  </a:t>
            </a:r>
          </a:p>
          <a:p>
            <a:pPr marL="0" indent="0">
              <a:lnSpc>
                <a:spcPct val="107000"/>
              </a:lnSpc>
              <a:spcAft>
                <a:spcPts val="800"/>
              </a:spcAft>
              <a:buNone/>
            </a:pPr>
            <a:r>
              <a:rPr lang="en-ZA" sz="1800" b="1" dirty="0">
                <a:effectLst/>
                <a:latin typeface="Calibri" panose="020F0502020204030204" pitchFamily="34" charset="0"/>
                <a:ea typeface="Calibri" panose="020F0502020204030204" pitchFamily="34" charset="0"/>
                <a:cs typeface="Times New Roman" panose="02020603050405020304" pitchFamily="18" charset="0"/>
              </a:rPr>
              <a:t>Example 1</a:t>
            </a:r>
          </a:p>
          <a:p>
            <a:pPr>
              <a:lnSpc>
                <a:spcPct val="107000"/>
              </a:lnSpc>
              <a:spcAft>
                <a:spcPts val="800"/>
              </a:spcAft>
            </a:pPr>
            <a:r>
              <a:rPr lang="en-ZA" sz="1800" dirty="0">
                <a:effectLst/>
                <a:latin typeface="Calibri" panose="020F0502020204030204" pitchFamily="34" charset="0"/>
                <a:ea typeface="Calibri" panose="020F0502020204030204" pitchFamily="34" charset="0"/>
                <a:cs typeface="Times New Roman" panose="02020603050405020304" pitchFamily="18" charset="0"/>
              </a:rPr>
              <a:t>  A is in the farming business and decided to acquire a tractor from B Limited , however A is facing Cashflow challenges there decided to offer 30 cows and a standard value of  250 each as agreed with the commissioner. </a:t>
            </a:r>
          </a:p>
          <a:p>
            <a:pPr>
              <a:lnSpc>
                <a:spcPct val="107000"/>
              </a:lnSpc>
              <a:spcAft>
                <a:spcPts val="800"/>
              </a:spcAft>
            </a:pPr>
            <a:r>
              <a:rPr lang="en-ZA" sz="1800" dirty="0">
                <a:effectLst/>
                <a:latin typeface="Calibri" panose="020F0502020204030204" pitchFamily="34" charset="0"/>
                <a:ea typeface="Calibri" panose="020F0502020204030204" pitchFamily="34" charset="0"/>
                <a:cs typeface="Times New Roman" panose="02020603050405020304" pitchFamily="18" charset="0"/>
              </a:rPr>
              <a:t>Discuss the tax implications of the transaction below.</a:t>
            </a:r>
          </a:p>
          <a:p>
            <a:pPr marL="0" indent="0">
              <a:buNone/>
            </a:pPr>
            <a:endParaRPr lang="en-ZA" sz="1800" dirty="0"/>
          </a:p>
        </p:txBody>
      </p:sp>
      <p:sp>
        <p:nvSpPr>
          <p:cNvPr id="4" name="Footer Placeholder 3">
            <a:extLst>
              <a:ext uri="{FF2B5EF4-FFF2-40B4-BE49-F238E27FC236}">
                <a16:creationId xmlns:a16="http://schemas.microsoft.com/office/drawing/2014/main" id="{5277C4B6-07A2-42D7-B5ED-8419E8A9A027}"/>
              </a:ext>
            </a:extLst>
          </p:cNvPr>
          <p:cNvSpPr>
            <a:spLocks noGrp="1"/>
          </p:cNvSpPr>
          <p:nvPr>
            <p:ph type="ftr" sz="quarter" idx="11"/>
          </p:nvPr>
        </p:nvSpPr>
        <p:spPr/>
        <p:txBody>
          <a:bodyPr/>
          <a:lstStyle/>
          <a:p>
            <a:r>
              <a:rPr lang="en-ZA" sz="1400" b="1" i="1" dirty="0">
                <a:solidFill>
                  <a:srgbClr val="002060"/>
                </a:solidFill>
              </a:rPr>
              <a:t>Introduction to taxation slides by Mlayezeli Mangena –Accounting Simplified </a:t>
            </a:r>
          </a:p>
        </p:txBody>
      </p:sp>
    </p:spTree>
    <p:extLst>
      <p:ext uri="{BB962C8B-B14F-4D97-AF65-F5344CB8AC3E}">
        <p14:creationId xmlns:p14="http://schemas.microsoft.com/office/powerpoint/2010/main" val="2357483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BEB15-733B-4DC0-ABEF-2E9A4F0F4168}"/>
              </a:ext>
            </a:extLst>
          </p:cNvPr>
          <p:cNvSpPr>
            <a:spLocks noGrp="1"/>
          </p:cNvSpPr>
          <p:nvPr>
            <p:ph type="title"/>
          </p:nvPr>
        </p:nvSpPr>
        <p:spPr>
          <a:xfrm>
            <a:off x="1484311" y="685801"/>
            <a:ext cx="10018713" cy="381000"/>
          </a:xfrm>
        </p:spPr>
        <p:txBody>
          <a:bodyPr>
            <a:normAutofit/>
          </a:bodyPr>
          <a:lstStyle/>
          <a:p>
            <a:pPr algn="l"/>
            <a:r>
              <a:rPr lang="en-ZA" sz="1800" b="1" dirty="0"/>
              <a:t>Received by </a:t>
            </a:r>
          </a:p>
        </p:txBody>
      </p:sp>
      <p:sp>
        <p:nvSpPr>
          <p:cNvPr id="3" name="Content Placeholder 2">
            <a:extLst>
              <a:ext uri="{FF2B5EF4-FFF2-40B4-BE49-F238E27FC236}">
                <a16:creationId xmlns:a16="http://schemas.microsoft.com/office/drawing/2014/main" id="{9607CCFF-050A-4440-A676-7778F4507D67}"/>
              </a:ext>
            </a:extLst>
          </p:cNvPr>
          <p:cNvSpPr>
            <a:spLocks noGrp="1"/>
          </p:cNvSpPr>
          <p:nvPr>
            <p:ph idx="1"/>
          </p:nvPr>
        </p:nvSpPr>
        <p:spPr>
          <a:xfrm>
            <a:off x="1484310" y="1419226"/>
            <a:ext cx="10018713" cy="4286250"/>
          </a:xfrm>
        </p:spPr>
        <p:txBody>
          <a:bodyPr anchor="t">
            <a:normAutofit/>
          </a:bodyPr>
          <a:lstStyle/>
          <a:p>
            <a:pPr marL="0" indent="0">
              <a:buNone/>
            </a:pPr>
            <a:r>
              <a:rPr lang="en-ZA" sz="1600" dirty="0"/>
              <a:t>An amount is received by the tax payer when  received by the tax  payer for his won benefit.  </a:t>
            </a:r>
            <a:r>
              <a:rPr lang="en-ZA" sz="1600" dirty="0">
                <a:solidFill>
                  <a:srgbClr val="C00000"/>
                </a:solidFill>
              </a:rPr>
              <a:t>( Geldenhuys Vs CIR</a:t>
            </a:r>
            <a:r>
              <a:rPr lang="en-ZA" sz="1600" dirty="0"/>
              <a:t>)</a:t>
            </a:r>
          </a:p>
          <a:p>
            <a:pPr marL="342900" indent="-342900">
              <a:buAutoNum type="arabicPeriod"/>
            </a:pPr>
            <a:r>
              <a:rPr lang="en-ZA" sz="1600" dirty="0"/>
              <a:t>What this means is the tax payer can do what he wants with the income so received. From this we can then conclude that an agent is not entitled to the income received on behalf of the principal </a:t>
            </a:r>
          </a:p>
          <a:p>
            <a:pPr marL="342900" indent="-342900">
              <a:buAutoNum type="arabicPeriod"/>
            </a:pPr>
            <a:r>
              <a:rPr lang="en-ZA" sz="1600" dirty="0"/>
              <a:t>If an amount is received but its to be repaid then its not gross income </a:t>
            </a:r>
            <a:r>
              <a:rPr lang="en-ZA" sz="1600" b="1" dirty="0"/>
              <a:t>CIR vs Genn</a:t>
            </a:r>
          </a:p>
          <a:p>
            <a:pPr marL="0" indent="0">
              <a:buNone/>
            </a:pPr>
            <a:r>
              <a:rPr lang="en-ZA" sz="1600" dirty="0"/>
              <a:t>Example Received by.</a:t>
            </a:r>
          </a:p>
          <a:p>
            <a:pPr marL="0" indent="0">
              <a:buNone/>
            </a:pPr>
            <a:r>
              <a:rPr lang="en-ZA" sz="1800" dirty="0">
                <a:effectLst/>
                <a:latin typeface="Calibri" panose="020F0502020204030204" pitchFamily="34" charset="0"/>
                <a:ea typeface="Calibri" panose="020F0502020204030204" pitchFamily="34" charset="0"/>
                <a:cs typeface="Times New Roman" panose="02020603050405020304" pitchFamily="18" charset="0"/>
              </a:rPr>
              <a:t>The accountant at TSUN is pretty old and graduated 40 yrs. ago and is not quite conversant with the current tax matters and they consulted </a:t>
            </a:r>
            <a:r>
              <a:rPr lang="en-ZA" sz="1800" dirty="0">
                <a:latin typeface="Calibri" panose="020F0502020204030204" pitchFamily="34" charset="0"/>
                <a:ea typeface="Calibri" panose="020F0502020204030204" pitchFamily="34" charset="0"/>
                <a:cs typeface="Times New Roman" panose="02020603050405020304" pitchFamily="18" charset="0"/>
              </a:rPr>
              <a:t>E</a:t>
            </a:r>
            <a:r>
              <a:rPr lang="en-ZA" sz="1800" dirty="0">
                <a:effectLst/>
                <a:latin typeface="Calibri" panose="020F0502020204030204" pitchFamily="34" charset="0"/>
                <a:ea typeface="Calibri" panose="020F0502020204030204" pitchFamily="34" charset="0"/>
                <a:cs typeface="Times New Roman" panose="02020603050405020304" pitchFamily="18" charset="0"/>
              </a:rPr>
              <a:t>rnst and Old Chatered Accountants</a:t>
            </a:r>
            <a:endParaRPr lang="en-ZA" sz="1600" dirty="0"/>
          </a:p>
          <a:p>
            <a:pPr marL="342900" indent="-342900">
              <a:buAutoNum type="arabicPeriod"/>
            </a:pPr>
            <a:r>
              <a:rPr lang="en-ZA" sz="1600" dirty="0"/>
              <a:t>Students @ TSUN Private Limited pay registration fees when then are applying for a degree placement, this deposit is non refundable</a:t>
            </a:r>
          </a:p>
          <a:p>
            <a:pPr marL="342900" indent="-342900">
              <a:buAutoNum type="arabicPeriod"/>
            </a:pPr>
            <a:r>
              <a:rPr lang="en-ZA" sz="1600" dirty="0"/>
              <a:t>They obtained a loan during the current year from First Mutual holdings from 100 million with an interest of 10% per annum (</a:t>
            </a:r>
            <a:r>
              <a:rPr lang="en-ZA" sz="1600" b="1" dirty="0"/>
              <a:t>Refer to Further Discussion on Capital Nature</a:t>
            </a:r>
            <a:r>
              <a:rPr lang="en-ZA" sz="1600" dirty="0"/>
              <a:t>) </a:t>
            </a:r>
          </a:p>
          <a:p>
            <a:pPr marL="0" indent="0">
              <a:buNone/>
            </a:pPr>
            <a:endParaRPr lang="en-ZA" sz="1600" b="1" dirty="0"/>
          </a:p>
        </p:txBody>
      </p:sp>
      <p:sp>
        <p:nvSpPr>
          <p:cNvPr id="4" name="Footer Placeholder 3">
            <a:extLst>
              <a:ext uri="{FF2B5EF4-FFF2-40B4-BE49-F238E27FC236}">
                <a16:creationId xmlns:a16="http://schemas.microsoft.com/office/drawing/2014/main" id="{AC7BF543-50C8-4D86-B7F8-77F2ABEB7F7E}"/>
              </a:ext>
            </a:extLst>
          </p:cNvPr>
          <p:cNvSpPr>
            <a:spLocks noGrp="1"/>
          </p:cNvSpPr>
          <p:nvPr>
            <p:ph type="ftr" sz="quarter" idx="11"/>
          </p:nvPr>
        </p:nvSpPr>
        <p:spPr/>
        <p:txBody>
          <a:bodyPr/>
          <a:lstStyle/>
          <a:p>
            <a:r>
              <a:rPr lang="en-ZA" sz="1400" b="1" i="1" dirty="0">
                <a:solidFill>
                  <a:srgbClr val="002060"/>
                </a:solidFill>
              </a:rPr>
              <a:t>Introduction to taxation slides by Mlayezeli Mangena –Accounting Simplified </a:t>
            </a:r>
          </a:p>
          <a:p>
            <a:endParaRPr lang="en-ZA" sz="1400" dirty="0"/>
          </a:p>
          <a:p>
            <a:endParaRPr lang="en-ZA" sz="1400" dirty="0"/>
          </a:p>
        </p:txBody>
      </p:sp>
    </p:spTree>
    <p:extLst>
      <p:ext uri="{BB962C8B-B14F-4D97-AF65-F5344CB8AC3E}">
        <p14:creationId xmlns:p14="http://schemas.microsoft.com/office/powerpoint/2010/main" val="1458803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9DFF6-1E07-4B68-B6B5-937B3FCD14E5}"/>
              </a:ext>
            </a:extLst>
          </p:cNvPr>
          <p:cNvSpPr>
            <a:spLocks noGrp="1"/>
          </p:cNvSpPr>
          <p:nvPr>
            <p:ph type="title"/>
          </p:nvPr>
        </p:nvSpPr>
        <p:spPr>
          <a:xfrm>
            <a:off x="1484311" y="685800"/>
            <a:ext cx="10018713" cy="447675"/>
          </a:xfrm>
        </p:spPr>
        <p:txBody>
          <a:bodyPr>
            <a:normAutofit/>
          </a:bodyPr>
          <a:lstStyle/>
          <a:p>
            <a:pPr algn="l"/>
            <a:r>
              <a:rPr lang="en-ZA" sz="2000" b="1" dirty="0"/>
              <a:t>Accrued to or deemed to accrue to</a:t>
            </a:r>
          </a:p>
        </p:txBody>
      </p:sp>
      <p:sp>
        <p:nvSpPr>
          <p:cNvPr id="3" name="Content Placeholder 2">
            <a:extLst>
              <a:ext uri="{FF2B5EF4-FFF2-40B4-BE49-F238E27FC236}">
                <a16:creationId xmlns:a16="http://schemas.microsoft.com/office/drawing/2014/main" id="{FCE02912-0D0A-4134-A974-7F1EA1F023FA}"/>
              </a:ext>
            </a:extLst>
          </p:cNvPr>
          <p:cNvSpPr>
            <a:spLocks noGrp="1"/>
          </p:cNvSpPr>
          <p:nvPr>
            <p:ph idx="1"/>
          </p:nvPr>
        </p:nvSpPr>
        <p:spPr>
          <a:xfrm>
            <a:off x="1484310" y="1276351"/>
            <a:ext cx="10018713" cy="4514850"/>
          </a:xfrm>
        </p:spPr>
        <p:txBody>
          <a:bodyPr anchor="t">
            <a:normAutofit/>
          </a:bodyPr>
          <a:lstStyle/>
          <a:p>
            <a:pPr marL="0" indent="0">
              <a:buNone/>
            </a:pPr>
            <a:r>
              <a:rPr lang="en-ZA" sz="1800" dirty="0"/>
              <a:t>Accrued to means due and payable to </a:t>
            </a:r>
            <a:r>
              <a:rPr lang="en-ZA" sz="1800" b="1" dirty="0"/>
              <a:t>Lategan Vs CR</a:t>
            </a:r>
          </a:p>
          <a:p>
            <a:pPr marL="0" indent="0">
              <a:buNone/>
            </a:pPr>
            <a:r>
              <a:rPr lang="en-ZA" sz="1800" dirty="0"/>
              <a:t>Accrued to also mean entitled as per </a:t>
            </a:r>
            <a:r>
              <a:rPr lang="en-ZA" sz="1800" b="1" dirty="0"/>
              <a:t>Hesorv Estate Case</a:t>
            </a:r>
            <a:r>
              <a:rPr lang="en-ZA" sz="1800" dirty="0"/>
              <a:t>, The principles of accrual are more or less similar to our accounting principles,.</a:t>
            </a:r>
          </a:p>
          <a:p>
            <a:pPr marL="0" indent="0">
              <a:buNone/>
            </a:pPr>
            <a:r>
              <a:rPr lang="en-ZA" sz="1800" dirty="0"/>
              <a:t>In its generality something is  payable to you if there is a obliging event on either of the parties that creates an enforceable obligation that you have no realistic alternative to avoid but rather settle.</a:t>
            </a:r>
          </a:p>
          <a:p>
            <a:pPr marL="0" indent="0">
              <a:buNone/>
            </a:pPr>
            <a:r>
              <a:rPr lang="en-ZA" sz="1800" dirty="0"/>
              <a:t>e.g. Unpaid fees at Nust </a:t>
            </a:r>
          </a:p>
          <a:p>
            <a:pPr marL="0" indent="0">
              <a:buNone/>
            </a:pPr>
            <a:r>
              <a:rPr lang="en-ZA" sz="1800" b="1" dirty="0"/>
              <a:t>Deemed accruals: This are not actual accruals but the commissioner feels like making then accruals </a:t>
            </a:r>
          </a:p>
          <a:p>
            <a:pPr marL="0" indent="0">
              <a:buNone/>
            </a:pPr>
            <a:r>
              <a:rPr lang="en-ZA" sz="1800" dirty="0"/>
              <a:t>1. Partnership income accrues on the date of accounting </a:t>
            </a:r>
          </a:p>
          <a:p>
            <a:pPr marL="0" indent="0">
              <a:buNone/>
            </a:pPr>
            <a:r>
              <a:rPr lang="en-ZA" sz="1800" dirty="0"/>
              <a:t>2. Donations are deemed accruals  Refer to section 10(3)</a:t>
            </a:r>
          </a:p>
          <a:p>
            <a:pPr marL="0" indent="0">
              <a:buNone/>
            </a:pPr>
            <a:r>
              <a:rPr lang="en-ZA" sz="1800" dirty="0"/>
              <a:t>3.</a:t>
            </a:r>
            <a:r>
              <a:rPr lang="en-ZA" sz="1800" b="0" i="0" u="none" strike="noStrike" baseline="0" dirty="0">
                <a:solidFill>
                  <a:srgbClr val="000000"/>
                </a:solidFill>
                <a:latin typeface="Times New Roman" panose="02020603050405020304" pitchFamily="18" charset="0"/>
              </a:rPr>
              <a:t> </a:t>
            </a:r>
            <a:r>
              <a:rPr lang="en-ZA" sz="1800" b="0" i="0" u="none" strike="noStrike" baseline="0" dirty="0">
                <a:solidFill>
                  <a:srgbClr val="000000"/>
                </a:solidFill>
                <a:latin typeface="+mj-lt"/>
              </a:rPr>
              <a:t>Section 10 (4) counteracts tax avoidance schemes. If a minor child becomes entitled to income in pursuance of   a donation, etc. made by a third party</a:t>
            </a:r>
            <a:endParaRPr lang="en-ZA" sz="1800" dirty="0">
              <a:latin typeface="+mj-lt"/>
            </a:endParaRPr>
          </a:p>
          <a:p>
            <a:pPr marL="0" indent="0">
              <a:buNone/>
            </a:pPr>
            <a:endParaRPr lang="en-ZA" sz="1800" dirty="0"/>
          </a:p>
        </p:txBody>
      </p:sp>
      <p:sp>
        <p:nvSpPr>
          <p:cNvPr id="4" name="Footer Placeholder 3">
            <a:extLst>
              <a:ext uri="{FF2B5EF4-FFF2-40B4-BE49-F238E27FC236}">
                <a16:creationId xmlns:a16="http://schemas.microsoft.com/office/drawing/2014/main" id="{5142D27E-38E6-4F51-B3B0-010914D18AB9}"/>
              </a:ext>
            </a:extLst>
          </p:cNvPr>
          <p:cNvSpPr>
            <a:spLocks noGrp="1"/>
          </p:cNvSpPr>
          <p:nvPr>
            <p:ph type="ftr" sz="quarter" idx="11"/>
          </p:nvPr>
        </p:nvSpPr>
        <p:spPr/>
        <p:txBody>
          <a:bodyPr/>
          <a:lstStyle/>
          <a:p>
            <a:r>
              <a:rPr lang="en-ZA" sz="1400" b="1" i="1" dirty="0">
                <a:solidFill>
                  <a:srgbClr val="002060"/>
                </a:solidFill>
              </a:rPr>
              <a:t>Introduction to taxation slides by Mlayezeli Mangena –Accounting Simplified </a:t>
            </a:r>
          </a:p>
          <a:p>
            <a:endParaRPr lang="en-ZA" sz="1400" dirty="0"/>
          </a:p>
          <a:p>
            <a:endParaRPr lang="en-ZA" sz="1400" dirty="0"/>
          </a:p>
        </p:txBody>
      </p:sp>
    </p:spTree>
    <p:extLst>
      <p:ext uri="{BB962C8B-B14F-4D97-AF65-F5344CB8AC3E}">
        <p14:creationId xmlns:p14="http://schemas.microsoft.com/office/powerpoint/2010/main" val="3066369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F5495-0200-4C28-B92B-CE2BB3CBA9FB}"/>
              </a:ext>
            </a:extLst>
          </p:cNvPr>
          <p:cNvSpPr>
            <a:spLocks noGrp="1"/>
          </p:cNvSpPr>
          <p:nvPr>
            <p:ph type="title"/>
          </p:nvPr>
        </p:nvSpPr>
        <p:spPr>
          <a:xfrm>
            <a:off x="1484311" y="685800"/>
            <a:ext cx="10018713" cy="523875"/>
          </a:xfrm>
        </p:spPr>
        <p:txBody>
          <a:bodyPr>
            <a:normAutofit/>
          </a:bodyPr>
          <a:lstStyle/>
          <a:p>
            <a:pPr algn="l"/>
            <a:r>
              <a:rPr lang="en-ZA" sz="1800" b="1" dirty="0"/>
              <a:t>Source and Deemed source</a:t>
            </a:r>
          </a:p>
        </p:txBody>
      </p:sp>
      <p:sp>
        <p:nvSpPr>
          <p:cNvPr id="3" name="Content Placeholder 2">
            <a:extLst>
              <a:ext uri="{FF2B5EF4-FFF2-40B4-BE49-F238E27FC236}">
                <a16:creationId xmlns:a16="http://schemas.microsoft.com/office/drawing/2014/main" id="{D7B97820-7BDA-402C-9F50-BE88AA923161}"/>
              </a:ext>
            </a:extLst>
          </p:cNvPr>
          <p:cNvSpPr>
            <a:spLocks noGrp="1"/>
          </p:cNvSpPr>
          <p:nvPr>
            <p:ph idx="1"/>
          </p:nvPr>
        </p:nvSpPr>
        <p:spPr>
          <a:xfrm>
            <a:off x="1484310" y="1295400"/>
            <a:ext cx="10018713" cy="5429249"/>
          </a:xfrm>
        </p:spPr>
        <p:txBody>
          <a:bodyPr anchor="t">
            <a:normAutofit fontScale="92500" lnSpcReduction="20000"/>
          </a:bodyPr>
          <a:lstStyle/>
          <a:p>
            <a:pPr marL="0" indent="0">
              <a:buNone/>
            </a:pPr>
            <a:r>
              <a:rPr lang="en-ZA" sz="1800" dirty="0"/>
              <a:t>The source of income is the location of the originating cause of income (CIR vs Lever Bros). The originating course is that act that gives rise to income. </a:t>
            </a:r>
          </a:p>
          <a:p>
            <a:pPr marL="0" indent="0">
              <a:buNone/>
            </a:pPr>
            <a:r>
              <a:rPr lang="en-ZA" sz="1800" dirty="0"/>
              <a:t>The source of income is mainly determined with reference to case laws then section 12 , were the commissioner feels like taxing someone. </a:t>
            </a:r>
          </a:p>
          <a:p>
            <a:pPr marL="0" indent="0">
              <a:buNone/>
            </a:pPr>
            <a:r>
              <a:rPr lang="en-ZA" sz="1800" b="1" dirty="0"/>
              <a:t>Sources of different incomes. </a:t>
            </a:r>
          </a:p>
          <a:p>
            <a:pPr marL="0" indent="0">
              <a:buNone/>
            </a:pPr>
            <a:r>
              <a:rPr lang="en-ZA" sz="1800" dirty="0"/>
              <a:t>1. Leases , it is dependent on whether the asset is immovable or not , for immovable asset then its where  the asset is located for immovable assets then we consider the length of the lease </a:t>
            </a:r>
          </a:p>
          <a:p>
            <a:pPr marL="0" indent="0">
              <a:buNone/>
            </a:pPr>
            <a:r>
              <a:rPr lang="en-ZA" sz="1800" dirty="0"/>
              <a:t>   short term (less than 5 yrs.) –its where the lessor conducts his operations </a:t>
            </a:r>
          </a:p>
          <a:p>
            <a:pPr marL="0" indent="0">
              <a:buNone/>
            </a:pPr>
            <a:r>
              <a:rPr lang="en-ZA" sz="1800" dirty="0"/>
              <a:t>   Long term ( greater than 5yrs) its where the asset is located </a:t>
            </a:r>
          </a:p>
          <a:p>
            <a:pPr marL="0" indent="0">
              <a:buNone/>
            </a:pPr>
            <a:r>
              <a:rPr lang="en-ZA" sz="1800" dirty="0"/>
              <a:t>2. Credit – its is the provision of credit , thus where the credit is offered CIR vs Lever Bros </a:t>
            </a:r>
          </a:p>
          <a:p>
            <a:pPr marL="0" indent="0">
              <a:buNone/>
            </a:pPr>
            <a:r>
              <a:rPr lang="en-ZA" sz="1800" dirty="0"/>
              <a:t>4. Intellectual property –its where the owner exercised his wit and labour  Marlin Case </a:t>
            </a:r>
          </a:p>
          <a:p>
            <a:pPr marL="0" indent="0">
              <a:buNone/>
            </a:pPr>
            <a:r>
              <a:rPr lang="en-ZA" sz="1800" dirty="0"/>
              <a:t>5.Dividends – the country where the share registry is located </a:t>
            </a:r>
          </a:p>
          <a:p>
            <a:pPr marL="0" indent="0">
              <a:buNone/>
            </a:pPr>
            <a:r>
              <a:rPr lang="en-ZA" sz="1800" dirty="0"/>
              <a:t>6. Directors fees –ITC235 where the director can exercise his power as a director </a:t>
            </a:r>
          </a:p>
          <a:p>
            <a:pPr marL="0" indent="0">
              <a:buNone/>
            </a:pPr>
            <a:r>
              <a:rPr lang="en-ZA" sz="1800" dirty="0"/>
              <a:t>7. A company into international trade e.g. Mining companies that send out their or for further processing in export countries and the ore is processed and sold there the true source is the dominant activity which is mining ( Transvaal association Skin )</a:t>
            </a:r>
          </a:p>
          <a:p>
            <a:pPr marL="0" indent="0">
              <a:buNone/>
            </a:pPr>
            <a:r>
              <a:rPr lang="en-ZA" sz="1800" dirty="0"/>
              <a:t>8. Annuity – is where the annuity fund is located </a:t>
            </a:r>
          </a:p>
        </p:txBody>
      </p:sp>
      <p:sp>
        <p:nvSpPr>
          <p:cNvPr id="4" name="Footer Placeholder 3">
            <a:extLst>
              <a:ext uri="{FF2B5EF4-FFF2-40B4-BE49-F238E27FC236}">
                <a16:creationId xmlns:a16="http://schemas.microsoft.com/office/drawing/2014/main" id="{90F746EE-C082-4CDF-91CA-A55FFE44F18F}"/>
              </a:ext>
            </a:extLst>
          </p:cNvPr>
          <p:cNvSpPr>
            <a:spLocks noGrp="1"/>
          </p:cNvSpPr>
          <p:nvPr>
            <p:ph type="ftr" sz="quarter" idx="11"/>
          </p:nvPr>
        </p:nvSpPr>
        <p:spPr>
          <a:xfrm>
            <a:off x="2553911" y="6627811"/>
            <a:ext cx="7084177" cy="365125"/>
          </a:xfrm>
        </p:spPr>
        <p:txBody>
          <a:bodyPr/>
          <a:lstStyle/>
          <a:p>
            <a:r>
              <a:rPr lang="en-ZA" sz="1400" b="1" i="1" dirty="0">
                <a:solidFill>
                  <a:srgbClr val="002060"/>
                </a:solidFill>
              </a:rPr>
              <a:t>Introduction to taxation slides by Mlayezeli Mangena –Accounting Simplified </a:t>
            </a:r>
          </a:p>
          <a:p>
            <a:endParaRPr lang="en-ZA" sz="1400" dirty="0"/>
          </a:p>
          <a:p>
            <a:endParaRPr lang="en-ZA" sz="1400" dirty="0"/>
          </a:p>
        </p:txBody>
      </p:sp>
    </p:spTree>
    <p:extLst>
      <p:ext uri="{BB962C8B-B14F-4D97-AF65-F5344CB8AC3E}">
        <p14:creationId xmlns:p14="http://schemas.microsoft.com/office/powerpoint/2010/main" val="4062073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AADB4-2F7F-4146-8010-C527C56D3292}"/>
              </a:ext>
            </a:extLst>
          </p:cNvPr>
          <p:cNvSpPr>
            <a:spLocks noGrp="1"/>
          </p:cNvSpPr>
          <p:nvPr>
            <p:ph type="title"/>
          </p:nvPr>
        </p:nvSpPr>
        <p:spPr>
          <a:xfrm>
            <a:off x="1484311" y="657226"/>
            <a:ext cx="10018713" cy="466724"/>
          </a:xfrm>
        </p:spPr>
        <p:txBody>
          <a:bodyPr>
            <a:normAutofit/>
          </a:bodyPr>
          <a:lstStyle/>
          <a:p>
            <a:pPr algn="l"/>
            <a:r>
              <a:rPr lang="en-ZA" sz="2000" b="1" dirty="0"/>
              <a:t>Deemed source section 12</a:t>
            </a:r>
          </a:p>
        </p:txBody>
      </p:sp>
      <p:sp>
        <p:nvSpPr>
          <p:cNvPr id="3" name="Content Placeholder 2">
            <a:extLst>
              <a:ext uri="{FF2B5EF4-FFF2-40B4-BE49-F238E27FC236}">
                <a16:creationId xmlns:a16="http://schemas.microsoft.com/office/drawing/2014/main" id="{73820CB6-C6AE-4B75-847F-47AB0AA8F0B9}"/>
              </a:ext>
            </a:extLst>
          </p:cNvPr>
          <p:cNvSpPr>
            <a:spLocks noGrp="1"/>
          </p:cNvSpPr>
          <p:nvPr>
            <p:ph idx="1"/>
          </p:nvPr>
        </p:nvSpPr>
        <p:spPr>
          <a:xfrm>
            <a:off x="1484310" y="1285875"/>
            <a:ext cx="10018713" cy="4505325"/>
          </a:xfrm>
        </p:spPr>
        <p:txBody>
          <a:bodyPr anchor="t">
            <a:normAutofit lnSpcReduction="10000"/>
          </a:bodyPr>
          <a:lstStyle/>
          <a:p>
            <a:pPr marL="0" indent="0">
              <a:buNone/>
            </a:pPr>
            <a:r>
              <a:rPr lang="en-ZA" sz="1800" b="0" i="0" u="none" strike="noStrike" baseline="0" dirty="0">
                <a:solidFill>
                  <a:srgbClr val="000000"/>
                </a:solidFill>
                <a:latin typeface="Times New Roman" panose="02020603050405020304" pitchFamily="18" charset="0"/>
              </a:rPr>
              <a:t>12 (1) (a) – Sale of goods by a person conducting business operations - The proceeds of any contract made in Zimbabwe for the sale of goods are deemed to be from a source within Zimbabwe</a:t>
            </a:r>
          </a:p>
          <a:p>
            <a:pPr marL="0" indent="0">
              <a:buNone/>
            </a:pPr>
            <a:r>
              <a:rPr lang="en-ZA" sz="1800" b="0" i="0" u="none" strike="noStrike" baseline="0" dirty="0">
                <a:solidFill>
                  <a:srgbClr val="000000"/>
                </a:solidFill>
                <a:latin typeface="Times New Roman" panose="02020603050405020304" pitchFamily="18" charset="0"/>
              </a:rPr>
              <a:t>12 (1) (b) – Income from services rendered</a:t>
            </a:r>
          </a:p>
          <a:p>
            <a:pPr marL="0" indent="0">
              <a:buNone/>
            </a:pPr>
            <a:r>
              <a:rPr lang="en-ZA" sz="1800" dirty="0">
                <a:solidFill>
                  <a:srgbClr val="000000"/>
                </a:solidFill>
                <a:latin typeface="Times New Roman" panose="02020603050405020304" pitchFamily="18" charset="0"/>
              </a:rPr>
              <a:t> &gt; Payments are made outside Zim ,still taxed in Zimbabwe </a:t>
            </a:r>
          </a:p>
          <a:p>
            <a:pPr marL="0" indent="0">
              <a:buNone/>
            </a:pPr>
            <a:r>
              <a:rPr lang="en-ZA" sz="1800" b="0" i="0" u="none" strike="noStrike" baseline="0" dirty="0">
                <a:solidFill>
                  <a:srgbClr val="000000"/>
                </a:solidFill>
                <a:latin typeface="Times New Roman" panose="02020603050405020304" pitchFamily="18" charset="0"/>
              </a:rPr>
              <a:t>&gt;During a period of temporary Absence in </a:t>
            </a:r>
            <a:r>
              <a:rPr lang="en-ZA" sz="1800" dirty="0">
                <a:solidFill>
                  <a:srgbClr val="000000"/>
                </a:solidFill>
                <a:latin typeface="Times New Roman" panose="02020603050405020304" pitchFamily="18" charset="0"/>
              </a:rPr>
              <a:t>Z</a:t>
            </a:r>
            <a:r>
              <a:rPr lang="en-ZA" sz="1800" b="0" i="0" u="none" strike="noStrike" baseline="0" dirty="0">
                <a:solidFill>
                  <a:srgbClr val="000000"/>
                </a:solidFill>
                <a:latin typeface="Times New Roman" panose="02020603050405020304" pitchFamily="18" charset="0"/>
              </a:rPr>
              <a:t>im e.g. secondments your are taxed in zip </a:t>
            </a:r>
          </a:p>
          <a:p>
            <a:pPr marL="0" indent="0">
              <a:buNone/>
            </a:pPr>
            <a:r>
              <a:rPr lang="en-ZA" sz="1800" dirty="0">
                <a:solidFill>
                  <a:srgbClr val="000000"/>
                </a:solidFill>
                <a:latin typeface="Times New Roman" panose="02020603050405020304" pitchFamily="18" charset="0"/>
              </a:rPr>
              <a:t>&gt;When your services to the Zim government , you are taxed in Zimbabwe.</a:t>
            </a:r>
          </a:p>
          <a:p>
            <a:pPr marL="0" indent="0">
              <a:buNone/>
            </a:pPr>
            <a:r>
              <a:rPr lang="en-ZA" sz="1800" b="0" i="0" u="none" strike="noStrike" baseline="0" dirty="0">
                <a:solidFill>
                  <a:srgbClr val="000000"/>
                </a:solidFill>
                <a:latin typeface="Times New Roman" panose="02020603050405020304" pitchFamily="18" charset="0"/>
              </a:rPr>
              <a:t>12 (2) </a:t>
            </a:r>
            <a:r>
              <a:rPr lang="en-ZA" sz="1800" dirty="0">
                <a:solidFill>
                  <a:srgbClr val="000000"/>
                </a:solidFill>
                <a:latin typeface="Times New Roman" panose="02020603050405020304" pitchFamily="18" charset="0"/>
              </a:rPr>
              <a:t>Foreign interest and dividend income is taxed in Zimbabwe @ 20%</a:t>
            </a:r>
          </a:p>
          <a:p>
            <a:pPr marL="0" indent="0">
              <a:buNone/>
            </a:pPr>
            <a:r>
              <a:rPr lang="en-ZA" sz="1800" b="0" i="0" u="none" strike="noStrike" baseline="0" dirty="0">
                <a:solidFill>
                  <a:srgbClr val="000000"/>
                </a:solidFill>
                <a:latin typeface="Times New Roman" panose="02020603050405020304" pitchFamily="18" charset="0"/>
              </a:rPr>
              <a:t>12(3) Foreign annuities when the right to the annuity was acquired while the annuitant was ordinary resident in Zimbabwe.</a:t>
            </a:r>
          </a:p>
          <a:p>
            <a:pPr marL="0" indent="0">
              <a:buNone/>
            </a:pPr>
            <a:r>
              <a:rPr lang="en-ZA" sz="1800" dirty="0">
                <a:solidFill>
                  <a:srgbClr val="000000"/>
                </a:solidFill>
                <a:latin typeface="Times New Roman" panose="02020603050405020304" pitchFamily="18" charset="0"/>
              </a:rPr>
              <a:t>12(4) use of intellectual property ( refer to the Mirlin Case from the previous Slide)</a:t>
            </a:r>
          </a:p>
          <a:p>
            <a:pPr marL="0" indent="0">
              <a:buNone/>
            </a:pPr>
            <a:r>
              <a:rPr lang="en-ZA" sz="1800" b="0" i="0" u="none" strike="noStrike" baseline="0" dirty="0">
                <a:solidFill>
                  <a:srgbClr val="000000"/>
                </a:solidFill>
                <a:latin typeface="Times New Roman" panose="02020603050405020304" pitchFamily="18" charset="0"/>
              </a:rPr>
              <a:t>12(5) Recoupment </a:t>
            </a:r>
            <a:r>
              <a:rPr lang="en-ZA" sz="1800" dirty="0">
                <a:solidFill>
                  <a:srgbClr val="000000"/>
                </a:solidFill>
                <a:latin typeface="Times New Roman" panose="02020603050405020304" pitchFamily="18" charset="0"/>
              </a:rPr>
              <a:t>from a foreign  country – </a:t>
            </a:r>
            <a:r>
              <a:rPr lang="en-ZA" sz="1800" b="1" dirty="0">
                <a:solidFill>
                  <a:srgbClr val="000000"/>
                </a:solidFill>
                <a:latin typeface="Times New Roman" panose="02020603050405020304" pitchFamily="18" charset="0"/>
              </a:rPr>
              <a:t>refer to section 8(1)(i) and (8)(1)(j) discussion under specific inclusions</a:t>
            </a:r>
            <a:endParaRPr lang="en-ZA" sz="1800" b="1" i="0" u="none" strike="noStrike" baseline="0" dirty="0">
              <a:solidFill>
                <a:srgbClr val="000000"/>
              </a:solidFill>
              <a:latin typeface="Times New Roman" panose="02020603050405020304" pitchFamily="18" charset="0"/>
            </a:endParaRPr>
          </a:p>
          <a:p>
            <a:pPr marL="0" indent="0">
              <a:buNone/>
            </a:pPr>
            <a:endParaRPr lang="en-ZA" dirty="0"/>
          </a:p>
        </p:txBody>
      </p:sp>
      <p:sp>
        <p:nvSpPr>
          <p:cNvPr id="4" name="Footer Placeholder 3">
            <a:extLst>
              <a:ext uri="{FF2B5EF4-FFF2-40B4-BE49-F238E27FC236}">
                <a16:creationId xmlns:a16="http://schemas.microsoft.com/office/drawing/2014/main" id="{65B2F542-7C5D-409B-A8EF-B089D31E7681}"/>
              </a:ext>
            </a:extLst>
          </p:cNvPr>
          <p:cNvSpPr>
            <a:spLocks noGrp="1"/>
          </p:cNvSpPr>
          <p:nvPr>
            <p:ph type="ftr" sz="quarter" idx="11"/>
          </p:nvPr>
        </p:nvSpPr>
        <p:spPr>
          <a:xfrm>
            <a:off x="2553911" y="6492875"/>
            <a:ext cx="7084177" cy="365125"/>
          </a:xfrm>
        </p:spPr>
        <p:txBody>
          <a:bodyPr/>
          <a:lstStyle/>
          <a:p>
            <a:r>
              <a:rPr lang="en-ZA" sz="1400" b="1" i="1" dirty="0">
                <a:solidFill>
                  <a:srgbClr val="002060"/>
                </a:solidFill>
              </a:rPr>
              <a:t>Introduction to taxation slides by Mlayezeli Mangena –Accounting Simplified </a:t>
            </a:r>
          </a:p>
          <a:p>
            <a:endParaRPr lang="en-ZA" sz="1400" dirty="0"/>
          </a:p>
          <a:p>
            <a:endParaRPr lang="en-ZA" sz="1400" dirty="0"/>
          </a:p>
          <a:p>
            <a:endParaRPr lang="en-ZA" sz="1400" dirty="0"/>
          </a:p>
        </p:txBody>
      </p:sp>
    </p:spTree>
    <p:extLst>
      <p:ext uri="{BB962C8B-B14F-4D97-AF65-F5344CB8AC3E}">
        <p14:creationId xmlns:p14="http://schemas.microsoft.com/office/powerpoint/2010/main" val="778309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3F5F-ACAE-46A5-A3A3-4F74EB5C4073}"/>
              </a:ext>
            </a:extLst>
          </p:cNvPr>
          <p:cNvSpPr>
            <a:spLocks noGrp="1"/>
          </p:cNvSpPr>
          <p:nvPr>
            <p:ph type="title"/>
          </p:nvPr>
        </p:nvSpPr>
        <p:spPr>
          <a:xfrm>
            <a:off x="1484311" y="685801"/>
            <a:ext cx="10018713" cy="552450"/>
          </a:xfrm>
        </p:spPr>
        <p:txBody>
          <a:bodyPr>
            <a:normAutofit/>
          </a:bodyPr>
          <a:lstStyle/>
          <a:p>
            <a:pPr algn="l"/>
            <a:r>
              <a:rPr lang="en-ZA" sz="2000" b="1" dirty="0"/>
              <a:t>Capital in nature</a:t>
            </a:r>
          </a:p>
        </p:txBody>
      </p:sp>
      <p:sp>
        <p:nvSpPr>
          <p:cNvPr id="3" name="Content Placeholder 2">
            <a:extLst>
              <a:ext uri="{FF2B5EF4-FFF2-40B4-BE49-F238E27FC236}">
                <a16:creationId xmlns:a16="http://schemas.microsoft.com/office/drawing/2014/main" id="{5E9F4AC3-C5C6-49AB-B4FF-6032FA05E043}"/>
              </a:ext>
            </a:extLst>
          </p:cNvPr>
          <p:cNvSpPr>
            <a:spLocks noGrp="1"/>
          </p:cNvSpPr>
          <p:nvPr>
            <p:ph idx="1"/>
          </p:nvPr>
        </p:nvSpPr>
        <p:spPr>
          <a:xfrm>
            <a:off x="1484310" y="1238251"/>
            <a:ext cx="10018713" cy="4552949"/>
          </a:xfrm>
        </p:spPr>
        <p:txBody>
          <a:bodyPr anchor="t">
            <a:normAutofit/>
          </a:bodyPr>
          <a:lstStyle/>
          <a:p>
            <a:pPr marL="0" indent="0">
              <a:buNone/>
            </a:pPr>
            <a:r>
              <a:rPr lang="en-ZA" sz="1800" dirty="0"/>
              <a:t>The determination of whether income is capital in nature or note is dependent on the nature of the receipt and the intentions of the tax payer </a:t>
            </a:r>
          </a:p>
          <a:p>
            <a:pPr marL="0" indent="0">
              <a:buNone/>
            </a:pPr>
            <a:r>
              <a:rPr lang="en-ZA" sz="1800" dirty="0"/>
              <a:t>Income arising from the disposal of the income generating body ( the tree) is capital in nature </a:t>
            </a:r>
            <a:r>
              <a:rPr lang="en-ZA" sz="1800" b="1" dirty="0"/>
              <a:t>( Visser Case and African Steel vs CIR</a:t>
            </a:r>
            <a:r>
              <a:rPr lang="en-ZA" sz="1800" dirty="0"/>
              <a:t>)</a:t>
            </a:r>
          </a:p>
          <a:p>
            <a:pPr marL="0" indent="0">
              <a:buNone/>
            </a:pPr>
            <a:r>
              <a:rPr lang="en-ZA" sz="1800" dirty="0"/>
              <a:t>Some times we consider the original and the change in the intentions of the tax payer, If the tax payer had originally bought the asset to earn income then its disposal is capital in nature (Lace Property Mines )</a:t>
            </a:r>
          </a:p>
          <a:p>
            <a:pPr marL="0" indent="0">
              <a:buNone/>
            </a:pPr>
            <a:r>
              <a:rPr lang="en-ZA" sz="1800" dirty="0"/>
              <a:t>If however the intentions changed e.g. the asset is now held to have capital gains once the fair value increases, the change in intention warranted that the asset is held to earn income through capital gains hence the intent is to dispose of the asset when prices rise  then the disposal will be revenue in nature. </a:t>
            </a:r>
          </a:p>
          <a:p>
            <a:pPr marL="0" indent="0">
              <a:buNone/>
            </a:pPr>
            <a:endParaRPr lang="en-ZA" sz="1800" dirty="0"/>
          </a:p>
          <a:p>
            <a:pPr marL="0" indent="0">
              <a:buNone/>
            </a:pPr>
            <a:r>
              <a:rPr lang="en-ZA" sz="1800" b="1" dirty="0"/>
              <a:t>Remember the loan receipt discussion we had in the previous slides lets tackle it in the next slide</a:t>
            </a:r>
            <a:r>
              <a:rPr lang="en-ZA" sz="1800" dirty="0"/>
              <a:t> </a:t>
            </a:r>
          </a:p>
          <a:p>
            <a:pPr marL="0" indent="0">
              <a:buNone/>
            </a:pPr>
            <a:r>
              <a:rPr lang="en-ZA" sz="1800" dirty="0"/>
              <a:t> </a:t>
            </a:r>
          </a:p>
        </p:txBody>
      </p:sp>
      <p:sp>
        <p:nvSpPr>
          <p:cNvPr id="5" name="Footer Placeholder 4">
            <a:extLst>
              <a:ext uri="{FF2B5EF4-FFF2-40B4-BE49-F238E27FC236}">
                <a16:creationId xmlns:a16="http://schemas.microsoft.com/office/drawing/2014/main" id="{532B310E-0869-4696-B548-0253F7348C35}"/>
              </a:ext>
            </a:extLst>
          </p:cNvPr>
          <p:cNvSpPr>
            <a:spLocks noGrp="1"/>
          </p:cNvSpPr>
          <p:nvPr>
            <p:ph type="ftr" sz="quarter" idx="11"/>
          </p:nvPr>
        </p:nvSpPr>
        <p:spPr>
          <a:xfrm>
            <a:off x="1753129" y="6464301"/>
            <a:ext cx="7695671" cy="193674"/>
          </a:xfrm>
        </p:spPr>
        <p:txBody>
          <a:bodyPr/>
          <a:lstStyle/>
          <a:p>
            <a:r>
              <a:rPr lang="en-ZA" sz="1400" b="1" i="1" dirty="0">
                <a:solidFill>
                  <a:srgbClr val="002060"/>
                </a:solidFill>
              </a:rPr>
              <a:t>Introduction to taxation slides by Mlayezeli Mangena –Accounting Simplified </a:t>
            </a:r>
          </a:p>
          <a:p>
            <a:endParaRPr lang="en-ZA" sz="1400" dirty="0"/>
          </a:p>
          <a:p>
            <a:endParaRPr lang="en-ZA" sz="1400" dirty="0"/>
          </a:p>
          <a:p>
            <a:endParaRPr lang="en-ZA" sz="1400" b="1" dirty="0">
              <a:solidFill>
                <a:srgbClr val="0070C0"/>
              </a:solidFill>
            </a:endParaRPr>
          </a:p>
        </p:txBody>
      </p:sp>
    </p:spTree>
    <p:extLst>
      <p:ext uri="{BB962C8B-B14F-4D97-AF65-F5344CB8AC3E}">
        <p14:creationId xmlns:p14="http://schemas.microsoft.com/office/powerpoint/2010/main" val="3589138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A14A7-DBE5-4D11-A484-A54F4AF5D692}"/>
              </a:ext>
            </a:extLst>
          </p:cNvPr>
          <p:cNvSpPr>
            <a:spLocks noGrp="1"/>
          </p:cNvSpPr>
          <p:nvPr>
            <p:ph type="title"/>
          </p:nvPr>
        </p:nvSpPr>
        <p:spPr>
          <a:xfrm>
            <a:off x="1484311" y="685801"/>
            <a:ext cx="10018713" cy="495300"/>
          </a:xfrm>
        </p:spPr>
        <p:txBody>
          <a:bodyPr>
            <a:normAutofit/>
          </a:bodyPr>
          <a:lstStyle/>
          <a:p>
            <a:pPr algn="l"/>
            <a:r>
              <a:rPr lang="en-ZA" sz="2000" b="1" dirty="0"/>
              <a:t>Example of Capital Nature Receipts</a:t>
            </a:r>
          </a:p>
        </p:txBody>
      </p:sp>
      <p:sp>
        <p:nvSpPr>
          <p:cNvPr id="3" name="Content Placeholder 2">
            <a:extLst>
              <a:ext uri="{FF2B5EF4-FFF2-40B4-BE49-F238E27FC236}">
                <a16:creationId xmlns:a16="http://schemas.microsoft.com/office/drawing/2014/main" id="{01E63C59-58AF-49F3-83A7-00CD21801207}"/>
              </a:ext>
            </a:extLst>
          </p:cNvPr>
          <p:cNvSpPr>
            <a:spLocks noGrp="1"/>
          </p:cNvSpPr>
          <p:nvPr>
            <p:ph idx="1"/>
          </p:nvPr>
        </p:nvSpPr>
        <p:spPr>
          <a:xfrm>
            <a:off x="1484310" y="1181101"/>
            <a:ext cx="10018713" cy="4610099"/>
          </a:xfrm>
        </p:spPr>
        <p:txBody>
          <a:bodyPr anchor="t">
            <a:normAutofit/>
          </a:bodyPr>
          <a:lstStyle/>
          <a:p>
            <a:pPr marL="0" indent="0">
              <a:buNone/>
            </a:pPr>
            <a:r>
              <a:rPr lang="en-ZA" sz="1800" b="1" dirty="0"/>
              <a:t>Loan Interest </a:t>
            </a:r>
          </a:p>
          <a:p>
            <a:pPr marL="0" indent="0">
              <a:buNone/>
            </a:pPr>
            <a:r>
              <a:rPr lang="en-ZA" sz="1800" dirty="0"/>
              <a:t>The treatment of the loan takes the form of the use the loan was put to ( IAS 23 borrowing costs), If a loan is used to service working capital the interest on loan in revenue in nature , </a:t>
            </a:r>
          </a:p>
          <a:p>
            <a:pPr marL="0" indent="0">
              <a:buNone/>
            </a:pPr>
            <a:r>
              <a:rPr lang="en-ZA" sz="1800" dirty="0"/>
              <a:t>if the loan is used in the construction or purchase of specified assets then the interest is capital in nature hence will also be deductible through capital allowance ( </a:t>
            </a:r>
            <a:r>
              <a:rPr lang="en-ZA" sz="1800" b="1" dirty="0"/>
              <a:t>hold on to this we shall use it later </a:t>
            </a:r>
            <a:r>
              <a:rPr lang="en-ZA" sz="1800" dirty="0"/>
              <a:t>)</a:t>
            </a:r>
          </a:p>
          <a:p>
            <a:pPr marL="0" indent="0">
              <a:buNone/>
            </a:pPr>
            <a:r>
              <a:rPr lang="en-ZA" sz="1800" b="1" dirty="0"/>
              <a:t>Insurance receipt </a:t>
            </a:r>
          </a:p>
          <a:p>
            <a:pPr marL="0" indent="0">
              <a:buNone/>
            </a:pPr>
            <a:r>
              <a:rPr lang="en-ZA" sz="1800" dirty="0"/>
              <a:t>An indemnity from an insurance company that is used to fill a hole in the capital assets its capital in nature ( Glenoid Vs CIR ) and when it is used to cover a hole in profits e.g. working capital then its revenue in nature ( Burman Steamship vs CIR)</a:t>
            </a:r>
          </a:p>
          <a:p>
            <a:pPr marL="0" indent="0">
              <a:buNone/>
            </a:pPr>
            <a:r>
              <a:rPr lang="en-ZA" sz="1800" b="1" dirty="0"/>
              <a:t>Restraint of trade</a:t>
            </a:r>
            <a:r>
              <a:rPr lang="en-ZA" sz="1800" dirty="0"/>
              <a:t> </a:t>
            </a:r>
          </a:p>
          <a:p>
            <a:pPr marL="0" indent="0">
              <a:buNone/>
            </a:pPr>
            <a:r>
              <a:rPr lang="en-ZA" sz="1800" dirty="0"/>
              <a:t>As a natural person your are your own asset (you are the fruit) if your are then restricted to use your tree to produce fruits in a form or compensation is as good as you sold your tree , then the receipt is capital in nature</a:t>
            </a:r>
          </a:p>
          <a:p>
            <a:pPr marL="0" indent="0">
              <a:buNone/>
            </a:pPr>
            <a:endParaRPr lang="en-ZA" sz="1800" dirty="0"/>
          </a:p>
          <a:p>
            <a:pPr marL="0" indent="0">
              <a:buNone/>
            </a:pPr>
            <a:endParaRPr lang="en-ZA" sz="1800" dirty="0"/>
          </a:p>
          <a:p>
            <a:pPr marL="0" indent="0">
              <a:buNone/>
            </a:pPr>
            <a:endParaRPr lang="en-ZA" sz="1800" dirty="0"/>
          </a:p>
        </p:txBody>
      </p:sp>
      <p:sp>
        <p:nvSpPr>
          <p:cNvPr id="5" name="Footer Placeholder 4">
            <a:extLst>
              <a:ext uri="{FF2B5EF4-FFF2-40B4-BE49-F238E27FC236}">
                <a16:creationId xmlns:a16="http://schemas.microsoft.com/office/drawing/2014/main" id="{4472FD22-D307-45FF-95AC-7876C1240E57}"/>
              </a:ext>
            </a:extLst>
          </p:cNvPr>
          <p:cNvSpPr txBox="1">
            <a:spLocks noGrp="1"/>
          </p:cNvSpPr>
          <p:nvPr>
            <p:ph type="ftr" sz="quarter" idx="11"/>
          </p:nvPr>
        </p:nvSpPr>
        <p:spPr>
          <a:xfrm>
            <a:off x="2657475" y="6569075"/>
            <a:ext cx="7085013" cy="365125"/>
          </a:xfrm>
          <a:prstGeom prst="rect">
            <a:avLst/>
          </a:prstGeom>
        </p:spPr>
        <p:txBody>
          <a:bodyPr vert="horz" lIns="91440" tIns="45720" rIns="91440" bIns="45720" rtlCol="0" anchor="ctr"/>
          <a:lstStyle/>
          <a:p>
            <a:r>
              <a:rPr lang="en-ZA" sz="1400" b="1" i="1" dirty="0">
                <a:solidFill>
                  <a:srgbClr val="002060"/>
                </a:solidFill>
              </a:rPr>
              <a:t>Introduction to taxation slides by Mlayezeli Mangena –Accounting Simplified </a:t>
            </a:r>
          </a:p>
          <a:p>
            <a:endParaRPr lang="en-ZA" sz="1400" dirty="0"/>
          </a:p>
          <a:p>
            <a:endParaRPr lang="en-ZA" sz="1400" dirty="0"/>
          </a:p>
          <a:p>
            <a:endParaRPr lang="en-ZA" sz="1400" b="1" dirty="0">
              <a:solidFill>
                <a:srgbClr val="0070C0"/>
              </a:solidFill>
            </a:endParaRPr>
          </a:p>
          <a:p>
            <a:endParaRPr lang="en-ZA" sz="1400" dirty="0"/>
          </a:p>
        </p:txBody>
      </p:sp>
    </p:spTree>
    <p:extLst>
      <p:ext uri="{BB962C8B-B14F-4D97-AF65-F5344CB8AC3E}">
        <p14:creationId xmlns:p14="http://schemas.microsoft.com/office/powerpoint/2010/main" val="25453784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C5244-74C8-4DF7-AC63-680ACC952350}"/>
              </a:ext>
            </a:extLst>
          </p:cNvPr>
          <p:cNvSpPr>
            <a:spLocks noGrp="1"/>
          </p:cNvSpPr>
          <p:nvPr>
            <p:ph type="title"/>
          </p:nvPr>
        </p:nvSpPr>
        <p:spPr>
          <a:xfrm>
            <a:off x="1484311" y="685800"/>
            <a:ext cx="10018713" cy="380999"/>
          </a:xfrm>
        </p:spPr>
        <p:txBody>
          <a:bodyPr>
            <a:noAutofit/>
          </a:bodyPr>
          <a:lstStyle/>
          <a:p>
            <a:pPr algn="l"/>
            <a:r>
              <a:rPr lang="en-ZA" sz="2000" b="1" dirty="0"/>
              <a:t>Allowable deductions </a:t>
            </a:r>
          </a:p>
        </p:txBody>
      </p:sp>
      <p:sp>
        <p:nvSpPr>
          <p:cNvPr id="3" name="Content Placeholder 2">
            <a:extLst>
              <a:ext uri="{FF2B5EF4-FFF2-40B4-BE49-F238E27FC236}">
                <a16:creationId xmlns:a16="http://schemas.microsoft.com/office/drawing/2014/main" id="{D6C742DD-C64C-41D3-AB39-F61570D6E19A}"/>
              </a:ext>
            </a:extLst>
          </p:cNvPr>
          <p:cNvSpPr>
            <a:spLocks noGrp="1"/>
          </p:cNvSpPr>
          <p:nvPr>
            <p:ph idx="1"/>
          </p:nvPr>
        </p:nvSpPr>
        <p:spPr>
          <a:xfrm>
            <a:off x="1484310" y="1390650"/>
            <a:ext cx="10018713" cy="4400551"/>
          </a:xfrm>
        </p:spPr>
        <p:txBody>
          <a:bodyPr anchor="t">
            <a:normAutofit fontScale="92500" lnSpcReduction="10000"/>
          </a:bodyPr>
          <a:lstStyle/>
          <a:p>
            <a:pPr marL="0" indent="0">
              <a:buNone/>
            </a:pPr>
            <a:r>
              <a:rPr lang="en-ZA" sz="1800" b="0" i="0" u="none" strike="noStrike" baseline="0" dirty="0">
                <a:solidFill>
                  <a:srgbClr val="000000"/>
                </a:solidFill>
                <a:latin typeface="Times New Roman" panose="02020603050405020304" pitchFamily="18" charset="0"/>
              </a:rPr>
              <a:t>Deductions allowable shall be </a:t>
            </a:r>
            <a:r>
              <a:rPr lang="en-ZA" sz="1800" b="1" i="0" u="none" strike="noStrike" baseline="0" dirty="0">
                <a:solidFill>
                  <a:srgbClr val="000000"/>
                </a:solidFill>
                <a:latin typeface="Times New Roman" panose="02020603050405020304" pitchFamily="18" charset="0"/>
              </a:rPr>
              <a:t>expenditure and losses </a:t>
            </a:r>
            <a:r>
              <a:rPr lang="en-ZA" sz="1800" b="0" i="0" u="none" strike="noStrike" baseline="0" dirty="0">
                <a:solidFill>
                  <a:srgbClr val="000000"/>
                </a:solidFill>
                <a:latin typeface="Times New Roman" panose="02020603050405020304" pitchFamily="18" charset="0"/>
              </a:rPr>
              <a:t>to </a:t>
            </a:r>
            <a:r>
              <a:rPr lang="en-ZA" sz="1800" b="0" i="0" u="none" strike="noStrike" baseline="0" dirty="0">
                <a:solidFill>
                  <a:schemeClr val="accent1">
                    <a:lumMod val="50000"/>
                  </a:schemeClr>
                </a:solidFill>
                <a:latin typeface="Times New Roman" panose="02020603050405020304" pitchFamily="18" charset="0"/>
              </a:rPr>
              <a:t>the extent to </a:t>
            </a:r>
            <a:r>
              <a:rPr lang="en-ZA" sz="1800" b="0" i="0" u="none" strike="noStrike" baseline="0" dirty="0">
                <a:solidFill>
                  <a:srgbClr val="000000"/>
                </a:solidFill>
                <a:latin typeface="Times New Roman" panose="02020603050405020304" pitchFamily="18" charset="0"/>
              </a:rPr>
              <a:t>which they are </a:t>
            </a:r>
            <a:r>
              <a:rPr lang="en-ZA" sz="1800" b="1" i="0" u="none" strike="noStrike" baseline="0" dirty="0">
                <a:solidFill>
                  <a:srgbClr val="000000"/>
                </a:solidFill>
                <a:latin typeface="Times New Roman" panose="02020603050405020304" pitchFamily="18" charset="0"/>
              </a:rPr>
              <a:t>incurred for the purposes of trade or in the production of income </a:t>
            </a:r>
            <a:r>
              <a:rPr lang="en-ZA" sz="1800" b="0" i="0" u="none" strike="noStrike" baseline="0" dirty="0">
                <a:solidFill>
                  <a:srgbClr val="000000"/>
                </a:solidFill>
                <a:latin typeface="Times New Roman" panose="02020603050405020304" pitchFamily="18" charset="0"/>
              </a:rPr>
              <a:t>except to the extent to which they are expenditure or losses of a </a:t>
            </a:r>
            <a:r>
              <a:rPr lang="en-ZA" sz="1800" b="1" i="0" u="none" strike="noStrike" baseline="0" dirty="0">
                <a:solidFill>
                  <a:srgbClr val="000000"/>
                </a:solidFill>
                <a:latin typeface="Times New Roman" panose="02020603050405020304" pitchFamily="18" charset="0"/>
              </a:rPr>
              <a:t>capital nature. (Sect 15 2 (a))</a:t>
            </a:r>
          </a:p>
          <a:p>
            <a:pPr marL="342900" indent="-342900">
              <a:buAutoNum type="arabicPeriod"/>
            </a:pPr>
            <a:r>
              <a:rPr lang="en-ZA" sz="1800" dirty="0"/>
              <a:t>Expenditure and losses- expenditure is voluntary and losses are involuntary </a:t>
            </a:r>
          </a:p>
          <a:p>
            <a:pPr marL="0" indent="0">
              <a:buNone/>
            </a:pPr>
            <a:r>
              <a:rPr lang="en-ZA" sz="1800" dirty="0"/>
              <a:t>         expenditure involves creating a liability else were and payment to someone (</a:t>
            </a:r>
          </a:p>
          <a:p>
            <a:pPr marL="457200" lvl="1" indent="0">
              <a:buNone/>
            </a:pPr>
            <a:r>
              <a:rPr lang="en-ZA" sz="1800" dirty="0"/>
              <a:t>losses can happen because of a misfortune e.g. theft and such can be deductible however if theft   is done by someone who is deemed to be a proprietor then its not deductible ( Locke Brothers case)</a:t>
            </a:r>
          </a:p>
          <a:p>
            <a:pPr marL="0" indent="0">
              <a:buNone/>
            </a:pPr>
            <a:r>
              <a:rPr lang="en-ZA" sz="1800" dirty="0"/>
              <a:t>2. For the purpose of trade – there need to be a close link between the expenditure and the tax payers trade , it should be a necessary concomitant of </a:t>
            </a:r>
            <a:r>
              <a:rPr lang="en-ZA" sz="1800" b="1" dirty="0"/>
              <a:t>trade  ( Joffe and Co and Port Elizabeth tramway case </a:t>
            </a:r>
            <a:r>
              <a:rPr lang="en-ZA" sz="1800" dirty="0"/>
              <a:t>).</a:t>
            </a:r>
          </a:p>
          <a:p>
            <a:pPr marL="0" indent="0">
              <a:buNone/>
            </a:pPr>
            <a:r>
              <a:rPr lang="en-ZA" sz="1800" dirty="0"/>
              <a:t>3. To the extent – thus is an expenditure is incurred party for personal and partly for business then we have to apportion the expenditure </a:t>
            </a:r>
          </a:p>
          <a:p>
            <a:pPr marL="0" indent="0">
              <a:buNone/>
            </a:pPr>
            <a:r>
              <a:rPr lang="en-ZA" sz="1800" dirty="0"/>
              <a:t>4 . Capital in nature – the determination of capital in nature expenditure is similar to what we discussed back then </a:t>
            </a:r>
            <a:r>
              <a:rPr lang="en-ZA" sz="1800" b="1" dirty="0"/>
              <a:t>( Fruit vs tree) Visser Case </a:t>
            </a:r>
            <a:r>
              <a:rPr lang="en-ZA" sz="1800" dirty="0"/>
              <a:t>. An expenditure is capital in nature if it creates and enduring benefit as per George Forester Timber</a:t>
            </a:r>
          </a:p>
          <a:p>
            <a:pPr marL="457200" lvl="1" indent="0">
              <a:buNone/>
            </a:pPr>
            <a:endParaRPr lang="en-ZA" sz="1800" b="1" dirty="0"/>
          </a:p>
        </p:txBody>
      </p:sp>
      <p:sp>
        <p:nvSpPr>
          <p:cNvPr id="4" name="Footer Placeholder 3">
            <a:extLst>
              <a:ext uri="{FF2B5EF4-FFF2-40B4-BE49-F238E27FC236}">
                <a16:creationId xmlns:a16="http://schemas.microsoft.com/office/drawing/2014/main" id="{AAF442F2-4A92-4F2C-8D05-61619090BDB0}"/>
              </a:ext>
            </a:extLst>
          </p:cNvPr>
          <p:cNvSpPr>
            <a:spLocks noGrp="1"/>
          </p:cNvSpPr>
          <p:nvPr>
            <p:ph type="ftr" sz="quarter" idx="11"/>
          </p:nvPr>
        </p:nvSpPr>
        <p:spPr>
          <a:xfrm>
            <a:off x="2553911" y="6172200"/>
            <a:ext cx="7084177" cy="365125"/>
          </a:xfrm>
        </p:spPr>
        <p:txBody>
          <a:bodyPr/>
          <a:lstStyle/>
          <a:p>
            <a:r>
              <a:rPr lang="en-ZA" sz="1400" b="1" i="1" dirty="0">
                <a:solidFill>
                  <a:srgbClr val="002060"/>
                </a:solidFill>
              </a:rPr>
              <a:t>Introduction to taxation slides by Mlayezeli Mangena –Accounting Simplified </a:t>
            </a:r>
          </a:p>
          <a:p>
            <a:endParaRPr lang="en-ZA" sz="1400" dirty="0"/>
          </a:p>
          <a:p>
            <a:endParaRPr lang="en-ZA" sz="1400" dirty="0"/>
          </a:p>
          <a:p>
            <a:endParaRPr lang="en-ZA" sz="1400" b="1" dirty="0">
              <a:solidFill>
                <a:srgbClr val="0070C0"/>
              </a:solidFill>
            </a:endParaRPr>
          </a:p>
        </p:txBody>
      </p:sp>
    </p:spTree>
    <p:extLst>
      <p:ext uri="{BB962C8B-B14F-4D97-AF65-F5344CB8AC3E}">
        <p14:creationId xmlns:p14="http://schemas.microsoft.com/office/powerpoint/2010/main" val="340069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DFA7F-A702-4850-8E40-3FE789883869}"/>
              </a:ext>
            </a:extLst>
          </p:cNvPr>
          <p:cNvSpPr>
            <a:spLocks noGrp="1"/>
          </p:cNvSpPr>
          <p:nvPr>
            <p:ph type="title"/>
          </p:nvPr>
        </p:nvSpPr>
        <p:spPr>
          <a:xfrm>
            <a:off x="1484311" y="685801"/>
            <a:ext cx="10018713" cy="552449"/>
          </a:xfrm>
        </p:spPr>
        <p:txBody>
          <a:bodyPr>
            <a:normAutofit/>
          </a:bodyPr>
          <a:lstStyle/>
          <a:p>
            <a:pPr algn="l"/>
            <a:r>
              <a:rPr lang="en-ZA" sz="2000" b="1" dirty="0"/>
              <a:t>Applicable case laws </a:t>
            </a:r>
          </a:p>
        </p:txBody>
      </p:sp>
      <p:pic>
        <p:nvPicPr>
          <p:cNvPr id="5" name="Content Placeholder 4">
            <a:extLst>
              <a:ext uri="{FF2B5EF4-FFF2-40B4-BE49-F238E27FC236}">
                <a16:creationId xmlns:a16="http://schemas.microsoft.com/office/drawing/2014/main" id="{8A483B35-7E5D-4E25-95E2-AE5EA269644A}"/>
              </a:ext>
            </a:extLst>
          </p:cNvPr>
          <p:cNvPicPr>
            <a:picLocks noGrp="1" noChangeAspect="1"/>
          </p:cNvPicPr>
          <p:nvPr>
            <p:ph idx="1"/>
          </p:nvPr>
        </p:nvPicPr>
        <p:blipFill>
          <a:blip r:embed="rId2"/>
          <a:stretch>
            <a:fillRect/>
          </a:stretch>
        </p:blipFill>
        <p:spPr>
          <a:xfrm>
            <a:off x="1590675" y="1266709"/>
            <a:ext cx="8506804" cy="4496031"/>
          </a:xfrm>
        </p:spPr>
      </p:pic>
      <p:sp>
        <p:nvSpPr>
          <p:cNvPr id="3" name="Footer Placeholder 2">
            <a:extLst>
              <a:ext uri="{FF2B5EF4-FFF2-40B4-BE49-F238E27FC236}">
                <a16:creationId xmlns:a16="http://schemas.microsoft.com/office/drawing/2014/main" id="{D5A70121-65D9-4ED6-B455-201928E5E1DB}"/>
              </a:ext>
            </a:extLst>
          </p:cNvPr>
          <p:cNvSpPr>
            <a:spLocks noGrp="1"/>
          </p:cNvSpPr>
          <p:nvPr>
            <p:ph type="ftr" sz="quarter" idx="11"/>
          </p:nvPr>
        </p:nvSpPr>
        <p:spPr>
          <a:xfrm>
            <a:off x="2553911" y="6492875"/>
            <a:ext cx="7084177" cy="365125"/>
          </a:xfrm>
        </p:spPr>
        <p:txBody>
          <a:bodyPr/>
          <a:lstStyle/>
          <a:p>
            <a:r>
              <a:rPr lang="en-ZA" sz="1400" b="1" i="1" dirty="0">
                <a:solidFill>
                  <a:srgbClr val="002060"/>
                </a:solidFill>
              </a:rPr>
              <a:t>Introduction to taxation slides by Mlayezeli Mangena –Accounting Simplified </a:t>
            </a:r>
          </a:p>
          <a:p>
            <a:endParaRPr lang="en-ZA" sz="1400" dirty="0"/>
          </a:p>
          <a:p>
            <a:endParaRPr lang="en-ZA" sz="1400" dirty="0"/>
          </a:p>
          <a:p>
            <a:endParaRPr lang="en-ZA" sz="1400" b="1" dirty="0">
              <a:solidFill>
                <a:srgbClr val="0070C0"/>
              </a:solidFill>
            </a:endParaRPr>
          </a:p>
          <a:p>
            <a:endParaRPr lang="en-ZA" sz="1400" dirty="0"/>
          </a:p>
        </p:txBody>
      </p:sp>
    </p:spTree>
    <p:extLst>
      <p:ext uri="{BB962C8B-B14F-4D97-AF65-F5344CB8AC3E}">
        <p14:creationId xmlns:p14="http://schemas.microsoft.com/office/powerpoint/2010/main" val="815468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79154-1E62-4FD4-8A75-EDB2F66C0B45}"/>
              </a:ext>
            </a:extLst>
          </p:cNvPr>
          <p:cNvSpPr>
            <a:spLocks noGrp="1"/>
          </p:cNvSpPr>
          <p:nvPr>
            <p:ph type="title"/>
          </p:nvPr>
        </p:nvSpPr>
        <p:spPr>
          <a:xfrm>
            <a:off x="1484310" y="685800"/>
            <a:ext cx="10018713" cy="542925"/>
          </a:xfrm>
        </p:spPr>
        <p:txBody>
          <a:bodyPr>
            <a:normAutofit/>
          </a:bodyPr>
          <a:lstStyle/>
          <a:p>
            <a:pPr algn="l"/>
            <a:r>
              <a:rPr lang="en-ZA" sz="2000" b="1" dirty="0"/>
              <a:t>Taxation of business Income </a:t>
            </a:r>
          </a:p>
        </p:txBody>
      </p:sp>
      <p:sp>
        <p:nvSpPr>
          <p:cNvPr id="3" name="Content Placeholder 2">
            <a:extLst>
              <a:ext uri="{FF2B5EF4-FFF2-40B4-BE49-F238E27FC236}">
                <a16:creationId xmlns:a16="http://schemas.microsoft.com/office/drawing/2014/main" id="{B146F798-18C7-4721-A945-33E6F8E8578D}"/>
              </a:ext>
            </a:extLst>
          </p:cNvPr>
          <p:cNvSpPr>
            <a:spLocks noGrp="1"/>
          </p:cNvSpPr>
          <p:nvPr>
            <p:ph idx="1"/>
          </p:nvPr>
        </p:nvSpPr>
        <p:spPr>
          <a:xfrm>
            <a:off x="1581150" y="1228725"/>
            <a:ext cx="9921873" cy="4562475"/>
          </a:xfrm>
        </p:spPr>
        <p:txBody>
          <a:bodyPr anchor="t">
            <a:normAutofit/>
          </a:bodyPr>
          <a:lstStyle/>
          <a:p>
            <a:pPr marL="0" indent="0">
              <a:buNone/>
            </a:pPr>
            <a:r>
              <a:rPr lang="en-ZA" sz="1600" dirty="0">
                <a:latin typeface="+mj-lt"/>
              </a:rPr>
              <a:t>Businesses as juristic personas are also subject to taxes and the source based provisions as per our previous discussions. Business are taxed at a rate of 24,72 which is 24+3% aids levy </a:t>
            </a:r>
          </a:p>
          <a:p>
            <a:pPr marL="0" indent="0">
              <a:buNone/>
            </a:pPr>
            <a:r>
              <a:rPr lang="en-ZA" sz="1600" b="0" i="0" u="none" strike="noStrike" baseline="0" dirty="0">
                <a:solidFill>
                  <a:srgbClr val="000000"/>
                </a:solidFill>
                <a:latin typeface="+mj-lt"/>
              </a:rPr>
              <a:t>Income tax is paid on quarterly basis in advance of year end on 25 March, 25 June, 25 September and 20 December at 10%, 25%, 30% and 35% respectively of estimated annual tax liability.</a:t>
            </a:r>
            <a:endParaRPr lang="en-ZA" sz="1600" dirty="0">
              <a:solidFill>
                <a:srgbClr val="000000"/>
              </a:solidFill>
              <a:latin typeface="+mj-lt"/>
            </a:endParaRPr>
          </a:p>
          <a:p>
            <a:pPr marL="0" indent="0">
              <a:buNone/>
            </a:pPr>
            <a:r>
              <a:rPr lang="en-ZA" sz="1600" b="1" i="0" u="none" strike="noStrike" baseline="0" dirty="0">
                <a:solidFill>
                  <a:srgbClr val="000000"/>
                </a:solidFill>
                <a:latin typeface="+mj-lt"/>
              </a:rPr>
              <a:t>Examination Layout for your solutions </a:t>
            </a:r>
          </a:p>
          <a:p>
            <a:pPr marL="0" indent="0">
              <a:buNone/>
            </a:pPr>
            <a:endParaRPr lang="en-ZA" sz="1600" b="1" i="0" u="none" strike="noStrike" baseline="0" dirty="0">
              <a:solidFill>
                <a:srgbClr val="000000"/>
              </a:solidFill>
              <a:latin typeface="+mj-lt"/>
            </a:endParaRPr>
          </a:p>
          <a:p>
            <a:pPr marL="0" indent="0">
              <a:buNone/>
            </a:pPr>
            <a:endParaRPr lang="en-ZA" sz="1600" dirty="0"/>
          </a:p>
        </p:txBody>
      </p:sp>
      <p:sp>
        <p:nvSpPr>
          <p:cNvPr id="4" name="Footer Placeholder 3">
            <a:extLst>
              <a:ext uri="{FF2B5EF4-FFF2-40B4-BE49-F238E27FC236}">
                <a16:creationId xmlns:a16="http://schemas.microsoft.com/office/drawing/2014/main" id="{8074ABFE-F29E-4078-A168-55519CA5D905}"/>
              </a:ext>
            </a:extLst>
          </p:cNvPr>
          <p:cNvSpPr>
            <a:spLocks noGrp="1"/>
          </p:cNvSpPr>
          <p:nvPr>
            <p:ph type="ftr" sz="quarter" idx="11"/>
          </p:nvPr>
        </p:nvSpPr>
        <p:spPr>
          <a:xfrm>
            <a:off x="2237543" y="6985364"/>
            <a:ext cx="7084177" cy="365125"/>
          </a:xfrm>
        </p:spPr>
        <p:txBody>
          <a:bodyPr/>
          <a:lstStyle/>
          <a:p>
            <a:r>
              <a:rPr lang="en-ZA" sz="1600" b="1" i="1" dirty="0">
                <a:solidFill>
                  <a:srgbClr val="002060"/>
                </a:solidFill>
              </a:rPr>
              <a:t>Introduction to taxation slides by Mlayezeli Mangena –Accounting Simplified </a:t>
            </a:r>
          </a:p>
          <a:p>
            <a:endParaRPr lang="en-ZA" sz="1600" dirty="0"/>
          </a:p>
          <a:p>
            <a:endParaRPr lang="en-ZA" sz="1600" dirty="0"/>
          </a:p>
          <a:p>
            <a:endParaRPr lang="en-ZA" sz="1600" b="1" dirty="0">
              <a:solidFill>
                <a:srgbClr val="0070C0"/>
              </a:solidFill>
            </a:endParaRPr>
          </a:p>
          <a:p>
            <a:endParaRPr lang="en-ZA" sz="1600" b="1" i="1" dirty="0">
              <a:solidFill>
                <a:srgbClr val="002060"/>
              </a:solidFill>
            </a:endParaRPr>
          </a:p>
        </p:txBody>
      </p:sp>
      <p:graphicFrame>
        <p:nvGraphicFramePr>
          <p:cNvPr id="5" name="Table 4">
            <a:extLst>
              <a:ext uri="{FF2B5EF4-FFF2-40B4-BE49-F238E27FC236}">
                <a16:creationId xmlns:a16="http://schemas.microsoft.com/office/drawing/2014/main" id="{C8F411F2-15EB-44CC-B416-C7A00956AB18}"/>
              </a:ext>
            </a:extLst>
          </p:cNvPr>
          <p:cNvGraphicFramePr>
            <a:graphicFrameLocks noGrp="1"/>
          </p:cNvGraphicFramePr>
          <p:nvPr>
            <p:extLst>
              <p:ext uri="{D42A27DB-BD31-4B8C-83A1-F6EECF244321}">
                <p14:modId xmlns:p14="http://schemas.microsoft.com/office/powerpoint/2010/main" val="131279439"/>
              </p:ext>
            </p:extLst>
          </p:nvPr>
        </p:nvGraphicFramePr>
        <p:xfrm>
          <a:off x="1687285" y="2829379"/>
          <a:ext cx="6873762" cy="3595370"/>
        </p:xfrm>
        <a:graphic>
          <a:graphicData uri="http://schemas.openxmlformats.org/drawingml/2006/table">
            <a:tbl>
              <a:tblPr>
                <a:tableStyleId>{5C22544A-7EE6-4342-B048-85BDC9FD1C3A}</a:tableStyleId>
              </a:tblPr>
              <a:tblGrid>
                <a:gridCol w="3976840">
                  <a:extLst>
                    <a:ext uri="{9D8B030D-6E8A-4147-A177-3AD203B41FA5}">
                      <a16:colId xmlns:a16="http://schemas.microsoft.com/office/drawing/2014/main" val="3878297268"/>
                    </a:ext>
                  </a:extLst>
                </a:gridCol>
                <a:gridCol w="1508456">
                  <a:extLst>
                    <a:ext uri="{9D8B030D-6E8A-4147-A177-3AD203B41FA5}">
                      <a16:colId xmlns:a16="http://schemas.microsoft.com/office/drawing/2014/main" val="2093820771"/>
                    </a:ext>
                  </a:extLst>
                </a:gridCol>
                <a:gridCol w="1388466">
                  <a:extLst>
                    <a:ext uri="{9D8B030D-6E8A-4147-A177-3AD203B41FA5}">
                      <a16:colId xmlns:a16="http://schemas.microsoft.com/office/drawing/2014/main" val="1842914545"/>
                    </a:ext>
                  </a:extLst>
                </a:gridCol>
              </a:tblGrid>
              <a:tr h="173229">
                <a:tc>
                  <a:txBody>
                    <a:bodyPr/>
                    <a:lstStyle/>
                    <a:p>
                      <a:pPr algn="l" fontAlgn="b"/>
                      <a:r>
                        <a:rPr lang="en-ZA" sz="1200" u="none" strike="noStrike" dirty="0">
                          <a:effectLst/>
                        </a:rPr>
                        <a:t>Computation of taxable Income </a:t>
                      </a:r>
                      <a:endParaRPr lang="en-ZA" sz="1200" b="1" i="0" u="none" strike="noStrike" dirty="0">
                        <a:solidFill>
                          <a:srgbClr val="000000"/>
                        </a:solidFill>
                        <a:effectLst/>
                        <a:latin typeface="EYInterstate" panose="02000503020000020004" pitchFamily="2" charset="0"/>
                      </a:endParaRPr>
                    </a:p>
                  </a:txBody>
                  <a:tcPr marL="6350" marR="6350" marT="6350" marB="0" anchor="b"/>
                </a:tc>
                <a:tc>
                  <a:txBody>
                    <a:bodyPr/>
                    <a:lstStyle/>
                    <a:p>
                      <a:pPr algn="l" fontAlgn="b"/>
                      <a:r>
                        <a:rPr lang="en-ZA" sz="1200" u="none" strike="noStrike" dirty="0">
                          <a:effectLst/>
                        </a:rPr>
                        <a:t>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l" fontAlgn="b"/>
                      <a:r>
                        <a:rPr lang="en-ZA" sz="1200" u="none" strike="noStrike" dirty="0">
                          <a:effectLst/>
                        </a:rPr>
                        <a:t> </a:t>
                      </a:r>
                      <a:endParaRPr lang="en-ZA" sz="1200" b="0" i="0" u="none" strike="noStrike" dirty="0">
                        <a:solidFill>
                          <a:srgbClr val="000000"/>
                        </a:solidFill>
                        <a:effectLst/>
                        <a:latin typeface="EYInterstate" panose="02000503020000020004" pitchFamily="2" charset="0"/>
                      </a:endParaRPr>
                    </a:p>
                  </a:txBody>
                  <a:tcPr marL="6350" marR="6350" marT="6350" marB="0" anchor="b"/>
                </a:tc>
                <a:extLst>
                  <a:ext uri="{0D108BD9-81ED-4DB2-BD59-A6C34878D82A}">
                    <a16:rowId xmlns:a16="http://schemas.microsoft.com/office/drawing/2014/main" val="3103684950"/>
                  </a:ext>
                </a:extLst>
              </a:tr>
              <a:tr h="160397">
                <a:tc>
                  <a:txBody>
                    <a:bodyPr/>
                    <a:lstStyle/>
                    <a:p>
                      <a:pPr algn="l" fontAlgn="b"/>
                      <a:r>
                        <a:rPr lang="en-ZA" sz="1200" u="none" strike="noStrike" dirty="0">
                          <a:effectLst/>
                        </a:rPr>
                        <a:t>Details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ctr" fontAlgn="b"/>
                      <a:r>
                        <a:rPr lang="en-ZA" sz="1200" u="none" strike="noStrike" dirty="0">
                          <a:effectLst/>
                        </a:rPr>
                        <a:t>Reason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ctr" fontAlgn="b"/>
                      <a:r>
                        <a:rPr lang="en-ZA" sz="1200" u="none" strike="noStrike" dirty="0">
                          <a:effectLst/>
                        </a:rPr>
                        <a:t>Amount </a:t>
                      </a:r>
                      <a:endParaRPr lang="en-ZA" sz="1200" b="0" i="0" u="none" strike="noStrike" dirty="0">
                        <a:solidFill>
                          <a:srgbClr val="000000"/>
                        </a:solidFill>
                        <a:effectLst/>
                        <a:latin typeface="EYInterstate" panose="02000503020000020004" pitchFamily="2" charset="0"/>
                      </a:endParaRPr>
                    </a:p>
                  </a:txBody>
                  <a:tcPr marL="6350" marR="6350" marT="6350" marB="0" anchor="b"/>
                </a:tc>
                <a:extLst>
                  <a:ext uri="{0D108BD9-81ED-4DB2-BD59-A6C34878D82A}">
                    <a16:rowId xmlns:a16="http://schemas.microsoft.com/office/drawing/2014/main" val="3702476715"/>
                  </a:ext>
                </a:extLst>
              </a:tr>
              <a:tr h="160397">
                <a:tc>
                  <a:txBody>
                    <a:bodyPr/>
                    <a:lstStyle/>
                    <a:p>
                      <a:pPr algn="ctr" fontAlgn="b"/>
                      <a:r>
                        <a:rPr lang="en-ZA" sz="1200" u="none" strike="noStrike" dirty="0">
                          <a:effectLst/>
                        </a:rPr>
                        <a:t>Net profit</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ctr" fontAlgn="b"/>
                      <a:r>
                        <a:rPr lang="en-ZA" sz="1200" u="none" strike="noStrike" dirty="0">
                          <a:effectLst/>
                        </a:rPr>
                        <a:t>given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ctr" fontAlgn="b"/>
                      <a:r>
                        <a:rPr lang="en-ZA" sz="1200" u="none" strike="noStrike" dirty="0">
                          <a:effectLst/>
                        </a:rPr>
                        <a:t>xxx</a:t>
                      </a:r>
                      <a:endParaRPr lang="en-ZA" sz="1200" b="0" i="0" u="none" strike="noStrike" dirty="0">
                        <a:solidFill>
                          <a:srgbClr val="000000"/>
                        </a:solidFill>
                        <a:effectLst/>
                        <a:latin typeface="EYInterstate" panose="02000503020000020004" pitchFamily="2" charset="0"/>
                      </a:endParaRPr>
                    </a:p>
                  </a:txBody>
                  <a:tcPr marL="6350" marR="6350" marT="6350" marB="0" anchor="b"/>
                </a:tc>
                <a:extLst>
                  <a:ext uri="{0D108BD9-81ED-4DB2-BD59-A6C34878D82A}">
                    <a16:rowId xmlns:a16="http://schemas.microsoft.com/office/drawing/2014/main" val="2280078917"/>
                  </a:ext>
                </a:extLst>
              </a:tr>
              <a:tr h="173229">
                <a:tc>
                  <a:txBody>
                    <a:bodyPr/>
                    <a:lstStyle/>
                    <a:p>
                      <a:pPr algn="l" fontAlgn="b"/>
                      <a:r>
                        <a:rPr lang="en-ZA" sz="1200" u="none" strike="noStrike" dirty="0">
                          <a:effectLst/>
                        </a:rPr>
                        <a:t>Adjust for non taxable items </a:t>
                      </a:r>
                      <a:endParaRPr lang="en-ZA" sz="1200" b="1" i="0" u="none" strike="noStrike" dirty="0">
                        <a:solidFill>
                          <a:srgbClr val="000000"/>
                        </a:solidFill>
                        <a:effectLst/>
                        <a:latin typeface="EYInterstate" panose="02000503020000020004" pitchFamily="2" charset="0"/>
                      </a:endParaRPr>
                    </a:p>
                  </a:txBody>
                  <a:tcPr marL="6350" marR="6350" marT="6350" marB="0" anchor="b"/>
                </a:tc>
                <a:tc>
                  <a:txBody>
                    <a:bodyPr/>
                    <a:lstStyle/>
                    <a:p>
                      <a:pPr algn="l" fontAlgn="b"/>
                      <a:r>
                        <a:rPr lang="en-ZA" sz="1200" u="none" strike="noStrike" dirty="0">
                          <a:effectLst/>
                        </a:rPr>
                        <a:t>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l" fontAlgn="b"/>
                      <a:r>
                        <a:rPr lang="en-ZA" sz="1200" u="none" strike="noStrike" dirty="0">
                          <a:effectLst/>
                        </a:rPr>
                        <a:t> </a:t>
                      </a:r>
                      <a:endParaRPr lang="en-ZA" sz="1200" b="0" i="0" u="none" strike="noStrike" dirty="0">
                        <a:solidFill>
                          <a:srgbClr val="000000"/>
                        </a:solidFill>
                        <a:effectLst/>
                        <a:latin typeface="EYInterstate" panose="02000503020000020004" pitchFamily="2" charset="0"/>
                      </a:endParaRPr>
                    </a:p>
                  </a:txBody>
                  <a:tcPr marL="6350" marR="6350" marT="6350" marB="0" anchor="b"/>
                </a:tc>
                <a:extLst>
                  <a:ext uri="{0D108BD9-81ED-4DB2-BD59-A6C34878D82A}">
                    <a16:rowId xmlns:a16="http://schemas.microsoft.com/office/drawing/2014/main" val="348489163"/>
                  </a:ext>
                </a:extLst>
              </a:tr>
              <a:tr h="160397">
                <a:tc>
                  <a:txBody>
                    <a:bodyPr/>
                    <a:lstStyle/>
                    <a:p>
                      <a:pPr algn="l" fontAlgn="b"/>
                      <a:r>
                        <a:rPr lang="en-ZA" sz="1200" u="none" strike="noStrike" dirty="0">
                          <a:effectLst/>
                        </a:rPr>
                        <a:t>Dividend income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l" fontAlgn="b"/>
                      <a:r>
                        <a:rPr lang="en-ZA" sz="1200" u="none" strike="noStrike" dirty="0">
                          <a:effectLst/>
                        </a:rPr>
                        <a:t>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ctr" fontAlgn="b"/>
                      <a:r>
                        <a:rPr lang="en-ZA" sz="1200" u="none" strike="noStrike" dirty="0">
                          <a:effectLst/>
                        </a:rPr>
                        <a:t>xxx</a:t>
                      </a:r>
                      <a:endParaRPr lang="en-ZA" sz="1200" b="0" i="0" u="none" strike="noStrike" dirty="0">
                        <a:solidFill>
                          <a:srgbClr val="000000"/>
                        </a:solidFill>
                        <a:effectLst/>
                        <a:latin typeface="EYInterstate" panose="02000503020000020004" pitchFamily="2" charset="0"/>
                      </a:endParaRPr>
                    </a:p>
                  </a:txBody>
                  <a:tcPr marL="6350" marR="6350" marT="6350" marB="0" anchor="b"/>
                </a:tc>
                <a:extLst>
                  <a:ext uri="{0D108BD9-81ED-4DB2-BD59-A6C34878D82A}">
                    <a16:rowId xmlns:a16="http://schemas.microsoft.com/office/drawing/2014/main" val="710397889"/>
                  </a:ext>
                </a:extLst>
              </a:tr>
              <a:tr h="160397">
                <a:tc>
                  <a:txBody>
                    <a:bodyPr/>
                    <a:lstStyle/>
                    <a:p>
                      <a:pPr algn="l" fontAlgn="b"/>
                      <a:r>
                        <a:rPr lang="en-ZA" sz="1200" u="none" strike="noStrike" dirty="0">
                          <a:effectLst/>
                        </a:rPr>
                        <a:t>profit on disposal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l" fontAlgn="b"/>
                      <a:r>
                        <a:rPr lang="en-ZA" sz="1200" u="none" strike="noStrike" dirty="0">
                          <a:effectLst/>
                        </a:rPr>
                        <a:t>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ctr" fontAlgn="b"/>
                      <a:r>
                        <a:rPr lang="en-ZA" sz="1200" u="none" strike="noStrike" dirty="0">
                          <a:effectLst/>
                        </a:rPr>
                        <a:t>xxx</a:t>
                      </a:r>
                      <a:endParaRPr lang="en-ZA" sz="1200" b="0" i="0" u="none" strike="noStrike" dirty="0">
                        <a:solidFill>
                          <a:srgbClr val="000000"/>
                        </a:solidFill>
                        <a:effectLst/>
                        <a:latin typeface="EYInterstate" panose="02000503020000020004" pitchFamily="2" charset="0"/>
                      </a:endParaRPr>
                    </a:p>
                  </a:txBody>
                  <a:tcPr marL="6350" marR="6350" marT="6350" marB="0" anchor="b"/>
                </a:tc>
                <a:extLst>
                  <a:ext uri="{0D108BD9-81ED-4DB2-BD59-A6C34878D82A}">
                    <a16:rowId xmlns:a16="http://schemas.microsoft.com/office/drawing/2014/main" val="197540677"/>
                  </a:ext>
                </a:extLst>
              </a:tr>
              <a:tr h="160397">
                <a:tc>
                  <a:txBody>
                    <a:bodyPr/>
                    <a:lstStyle/>
                    <a:p>
                      <a:pPr algn="l" fontAlgn="b"/>
                      <a:r>
                        <a:rPr lang="en-ZA" sz="1200" u="none" strike="noStrike" dirty="0">
                          <a:effectLst/>
                        </a:rPr>
                        <a:t>Capital Receipts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l" fontAlgn="b"/>
                      <a:r>
                        <a:rPr lang="en-ZA" sz="1200" u="none" strike="noStrike" dirty="0">
                          <a:effectLst/>
                        </a:rPr>
                        <a:t>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ctr" fontAlgn="b"/>
                      <a:r>
                        <a:rPr lang="en-ZA" sz="1200" u="none" strike="noStrike" dirty="0">
                          <a:effectLst/>
                        </a:rPr>
                        <a:t>xxx</a:t>
                      </a:r>
                      <a:endParaRPr lang="en-ZA" sz="1200" b="0" i="0" u="none" strike="noStrike" dirty="0">
                        <a:solidFill>
                          <a:srgbClr val="000000"/>
                        </a:solidFill>
                        <a:effectLst/>
                        <a:latin typeface="EYInterstate" panose="02000503020000020004" pitchFamily="2" charset="0"/>
                      </a:endParaRPr>
                    </a:p>
                  </a:txBody>
                  <a:tcPr marL="6350" marR="6350" marT="6350" marB="0" anchor="b"/>
                </a:tc>
                <a:extLst>
                  <a:ext uri="{0D108BD9-81ED-4DB2-BD59-A6C34878D82A}">
                    <a16:rowId xmlns:a16="http://schemas.microsoft.com/office/drawing/2014/main" val="74286432"/>
                  </a:ext>
                </a:extLst>
              </a:tr>
              <a:tr h="160397">
                <a:tc>
                  <a:txBody>
                    <a:bodyPr/>
                    <a:lstStyle/>
                    <a:p>
                      <a:pPr algn="l" fontAlgn="b"/>
                      <a:r>
                        <a:rPr lang="en-ZA" sz="1200" u="none" strike="noStrike" dirty="0">
                          <a:effectLst/>
                        </a:rPr>
                        <a:t>local interest income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l" fontAlgn="b"/>
                      <a:r>
                        <a:rPr lang="en-ZA" sz="1200" u="none" strike="noStrike" dirty="0">
                          <a:effectLst/>
                        </a:rPr>
                        <a:t>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ctr" fontAlgn="b"/>
                      <a:r>
                        <a:rPr lang="en-ZA" sz="1200" u="none" strike="noStrike" dirty="0">
                          <a:effectLst/>
                        </a:rPr>
                        <a:t>xxx</a:t>
                      </a:r>
                      <a:endParaRPr lang="en-ZA" sz="1200" b="0" i="0" u="none" strike="noStrike" dirty="0">
                        <a:solidFill>
                          <a:srgbClr val="000000"/>
                        </a:solidFill>
                        <a:effectLst/>
                        <a:latin typeface="EYInterstate" panose="02000503020000020004" pitchFamily="2" charset="0"/>
                      </a:endParaRPr>
                    </a:p>
                  </a:txBody>
                  <a:tcPr marL="6350" marR="6350" marT="6350" marB="0" anchor="b"/>
                </a:tc>
                <a:extLst>
                  <a:ext uri="{0D108BD9-81ED-4DB2-BD59-A6C34878D82A}">
                    <a16:rowId xmlns:a16="http://schemas.microsoft.com/office/drawing/2014/main" val="1518917275"/>
                  </a:ext>
                </a:extLst>
              </a:tr>
              <a:tr h="160397">
                <a:tc>
                  <a:txBody>
                    <a:bodyPr/>
                    <a:lstStyle/>
                    <a:p>
                      <a:pPr algn="l" fontAlgn="b"/>
                      <a:r>
                        <a:rPr lang="en-ZA" sz="1200" u="none" strike="noStrike" dirty="0">
                          <a:effectLst/>
                        </a:rPr>
                        <a:t>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l" fontAlgn="b"/>
                      <a:r>
                        <a:rPr lang="en-ZA" sz="1200" u="none" strike="noStrike" dirty="0">
                          <a:effectLst/>
                        </a:rPr>
                        <a:t>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l" fontAlgn="b"/>
                      <a:r>
                        <a:rPr lang="en-ZA" sz="1200" u="none" strike="noStrike" dirty="0">
                          <a:effectLst/>
                        </a:rPr>
                        <a:t> </a:t>
                      </a:r>
                      <a:endParaRPr lang="en-ZA" sz="1200" b="0" i="0" u="none" strike="noStrike" dirty="0">
                        <a:solidFill>
                          <a:srgbClr val="000000"/>
                        </a:solidFill>
                        <a:effectLst/>
                        <a:latin typeface="EYInterstate" panose="02000503020000020004" pitchFamily="2" charset="0"/>
                      </a:endParaRPr>
                    </a:p>
                  </a:txBody>
                  <a:tcPr marL="6350" marR="6350" marT="6350" marB="0" anchor="b"/>
                </a:tc>
                <a:extLst>
                  <a:ext uri="{0D108BD9-81ED-4DB2-BD59-A6C34878D82A}">
                    <a16:rowId xmlns:a16="http://schemas.microsoft.com/office/drawing/2014/main" val="3924443410"/>
                  </a:ext>
                </a:extLst>
              </a:tr>
              <a:tr h="173229">
                <a:tc>
                  <a:txBody>
                    <a:bodyPr/>
                    <a:lstStyle/>
                    <a:p>
                      <a:pPr algn="l" fontAlgn="b"/>
                      <a:r>
                        <a:rPr lang="en-ZA" sz="1200" u="none" strike="noStrike" dirty="0">
                          <a:effectLst/>
                        </a:rPr>
                        <a:t>Adjust for non deductible expenditure </a:t>
                      </a:r>
                      <a:endParaRPr lang="en-ZA" sz="1200" b="1" i="0" u="none" strike="noStrike" dirty="0">
                        <a:solidFill>
                          <a:srgbClr val="000000"/>
                        </a:solidFill>
                        <a:effectLst/>
                        <a:latin typeface="EYInterstate" panose="02000503020000020004" pitchFamily="2" charset="0"/>
                      </a:endParaRPr>
                    </a:p>
                  </a:txBody>
                  <a:tcPr marL="6350" marR="6350" marT="6350" marB="0" anchor="b"/>
                </a:tc>
                <a:tc>
                  <a:txBody>
                    <a:bodyPr/>
                    <a:lstStyle/>
                    <a:p>
                      <a:pPr algn="l" fontAlgn="b"/>
                      <a:r>
                        <a:rPr lang="en-ZA" sz="1200" u="none" strike="noStrike" dirty="0">
                          <a:effectLst/>
                        </a:rPr>
                        <a:t>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ctr" fontAlgn="b"/>
                      <a:r>
                        <a:rPr lang="en-ZA" sz="1200" u="none" strike="noStrike" dirty="0">
                          <a:effectLst/>
                        </a:rPr>
                        <a:t>xxx</a:t>
                      </a:r>
                      <a:endParaRPr lang="en-ZA" sz="1200" b="0" i="0" u="none" strike="noStrike" dirty="0">
                        <a:solidFill>
                          <a:srgbClr val="000000"/>
                        </a:solidFill>
                        <a:effectLst/>
                        <a:latin typeface="EYInterstate" panose="02000503020000020004" pitchFamily="2" charset="0"/>
                      </a:endParaRPr>
                    </a:p>
                  </a:txBody>
                  <a:tcPr marL="6350" marR="6350" marT="6350" marB="0" anchor="b"/>
                </a:tc>
                <a:extLst>
                  <a:ext uri="{0D108BD9-81ED-4DB2-BD59-A6C34878D82A}">
                    <a16:rowId xmlns:a16="http://schemas.microsoft.com/office/drawing/2014/main" val="1118821354"/>
                  </a:ext>
                </a:extLst>
              </a:tr>
              <a:tr h="160397">
                <a:tc>
                  <a:txBody>
                    <a:bodyPr/>
                    <a:lstStyle/>
                    <a:p>
                      <a:pPr algn="l" fontAlgn="b"/>
                      <a:r>
                        <a:rPr lang="en-ZA" sz="1200" u="none" strike="noStrike" dirty="0">
                          <a:effectLst/>
                        </a:rPr>
                        <a:t>Payments for restraint of trade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l" fontAlgn="b"/>
                      <a:r>
                        <a:rPr lang="en-ZA" sz="1200" u="none" strike="noStrike" dirty="0">
                          <a:effectLst/>
                        </a:rPr>
                        <a:t>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ctr" fontAlgn="b"/>
                      <a:r>
                        <a:rPr lang="en-ZA" sz="1200" u="none" strike="noStrike" dirty="0">
                          <a:effectLst/>
                        </a:rPr>
                        <a:t>xxx</a:t>
                      </a:r>
                      <a:endParaRPr lang="en-ZA" sz="1200" b="0" i="0" u="none" strike="noStrike" dirty="0">
                        <a:solidFill>
                          <a:srgbClr val="000000"/>
                        </a:solidFill>
                        <a:effectLst/>
                        <a:latin typeface="EYInterstate" panose="02000503020000020004" pitchFamily="2" charset="0"/>
                      </a:endParaRPr>
                    </a:p>
                  </a:txBody>
                  <a:tcPr marL="6350" marR="6350" marT="6350" marB="0" anchor="b"/>
                </a:tc>
                <a:extLst>
                  <a:ext uri="{0D108BD9-81ED-4DB2-BD59-A6C34878D82A}">
                    <a16:rowId xmlns:a16="http://schemas.microsoft.com/office/drawing/2014/main" val="1418012551"/>
                  </a:ext>
                </a:extLst>
              </a:tr>
              <a:tr h="160397">
                <a:tc>
                  <a:txBody>
                    <a:bodyPr/>
                    <a:lstStyle/>
                    <a:p>
                      <a:pPr algn="l" fontAlgn="b"/>
                      <a:r>
                        <a:rPr lang="en-ZA" sz="1200" u="none" strike="noStrike" dirty="0">
                          <a:effectLst/>
                        </a:rPr>
                        <a:t>Underpinning costs, relocation costs , licencing costs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l" fontAlgn="b"/>
                      <a:r>
                        <a:rPr lang="en-ZA" sz="1200" u="none" strike="noStrike" dirty="0">
                          <a:effectLst/>
                        </a:rPr>
                        <a:t>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ctr" fontAlgn="b"/>
                      <a:r>
                        <a:rPr lang="en-ZA" sz="1200" u="none" strike="noStrike" dirty="0">
                          <a:effectLst/>
                        </a:rPr>
                        <a:t>xxx</a:t>
                      </a:r>
                      <a:endParaRPr lang="en-ZA" sz="1200" b="0" i="0" u="none" strike="noStrike" dirty="0">
                        <a:solidFill>
                          <a:srgbClr val="000000"/>
                        </a:solidFill>
                        <a:effectLst/>
                        <a:latin typeface="EYInterstate" panose="02000503020000020004" pitchFamily="2" charset="0"/>
                      </a:endParaRPr>
                    </a:p>
                  </a:txBody>
                  <a:tcPr marL="6350" marR="6350" marT="6350" marB="0" anchor="b"/>
                </a:tc>
                <a:extLst>
                  <a:ext uri="{0D108BD9-81ED-4DB2-BD59-A6C34878D82A}">
                    <a16:rowId xmlns:a16="http://schemas.microsoft.com/office/drawing/2014/main" val="980684316"/>
                  </a:ext>
                </a:extLst>
              </a:tr>
              <a:tr h="160397">
                <a:tc>
                  <a:txBody>
                    <a:bodyPr/>
                    <a:lstStyle/>
                    <a:p>
                      <a:pPr algn="l" fontAlgn="b"/>
                      <a:r>
                        <a:rPr lang="en-ZA" sz="1200" u="none" strike="noStrike" dirty="0">
                          <a:effectLst/>
                        </a:rPr>
                        <a:t>Entertainment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l" fontAlgn="b"/>
                      <a:r>
                        <a:rPr lang="en-ZA" sz="1200" u="none" strike="noStrike" dirty="0">
                          <a:effectLst/>
                        </a:rPr>
                        <a:t>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ctr" fontAlgn="b"/>
                      <a:r>
                        <a:rPr lang="en-ZA" sz="1200" u="none" strike="noStrike" dirty="0">
                          <a:effectLst/>
                        </a:rPr>
                        <a:t>xxx</a:t>
                      </a:r>
                      <a:endParaRPr lang="en-ZA" sz="1200" b="0" i="0" u="none" strike="noStrike" dirty="0">
                        <a:solidFill>
                          <a:srgbClr val="000000"/>
                        </a:solidFill>
                        <a:effectLst/>
                        <a:latin typeface="EYInterstate" panose="02000503020000020004" pitchFamily="2" charset="0"/>
                      </a:endParaRPr>
                    </a:p>
                  </a:txBody>
                  <a:tcPr marL="6350" marR="6350" marT="6350" marB="0" anchor="b"/>
                </a:tc>
                <a:extLst>
                  <a:ext uri="{0D108BD9-81ED-4DB2-BD59-A6C34878D82A}">
                    <a16:rowId xmlns:a16="http://schemas.microsoft.com/office/drawing/2014/main" val="3517568386"/>
                  </a:ext>
                </a:extLst>
              </a:tr>
              <a:tr h="160397">
                <a:tc>
                  <a:txBody>
                    <a:bodyPr/>
                    <a:lstStyle/>
                    <a:p>
                      <a:pPr algn="l" fontAlgn="b"/>
                      <a:r>
                        <a:rPr lang="en-ZA" sz="1200" u="none" strike="noStrike" dirty="0">
                          <a:effectLst/>
                        </a:rPr>
                        <a:t>Fine for bribes and illegal expenditure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l" fontAlgn="b"/>
                      <a:r>
                        <a:rPr lang="en-ZA" sz="1200" u="none" strike="noStrike" dirty="0">
                          <a:effectLst/>
                        </a:rPr>
                        <a:t>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ctr" fontAlgn="b"/>
                      <a:r>
                        <a:rPr lang="en-ZA" sz="1200" u="none" strike="noStrike" dirty="0">
                          <a:effectLst/>
                        </a:rPr>
                        <a:t>xxx</a:t>
                      </a:r>
                      <a:endParaRPr lang="en-ZA" sz="1200" b="0" i="0" u="none" strike="noStrike" dirty="0">
                        <a:solidFill>
                          <a:srgbClr val="000000"/>
                        </a:solidFill>
                        <a:effectLst/>
                        <a:latin typeface="EYInterstate" panose="02000503020000020004" pitchFamily="2" charset="0"/>
                      </a:endParaRPr>
                    </a:p>
                  </a:txBody>
                  <a:tcPr marL="6350" marR="6350" marT="6350" marB="0" anchor="b"/>
                </a:tc>
                <a:extLst>
                  <a:ext uri="{0D108BD9-81ED-4DB2-BD59-A6C34878D82A}">
                    <a16:rowId xmlns:a16="http://schemas.microsoft.com/office/drawing/2014/main" val="1006291084"/>
                  </a:ext>
                </a:extLst>
              </a:tr>
              <a:tr h="160397">
                <a:tc>
                  <a:txBody>
                    <a:bodyPr/>
                    <a:lstStyle/>
                    <a:p>
                      <a:pPr algn="l" fontAlgn="b"/>
                      <a:r>
                        <a:rPr lang="en-ZA" sz="1200" u="none" strike="noStrike" dirty="0">
                          <a:effectLst/>
                        </a:rPr>
                        <a:t>Loss from theft by owners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l" fontAlgn="b"/>
                      <a:r>
                        <a:rPr lang="en-ZA" sz="1200" u="none" strike="noStrike" dirty="0">
                          <a:effectLst/>
                        </a:rPr>
                        <a:t>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ctr" fontAlgn="b"/>
                      <a:r>
                        <a:rPr lang="en-ZA" sz="1200" u="none" strike="noStrike" dirty="0">
                          <a:effectLst/>
                        </a:rPr>
                        <a:t>xxx</a:t>
                      </a:r>
                      <a:endParaRPr lang="en-ZA" sz="1200" b="0" i="0" u="none" strike="noStrike" dirty="0">
                        <a:solidFill>
                          <a:srgbClr val="000000"/>
                        </a:solidFill>
                        <a:effectLst/>
                        <a:latin typeface="EYInterstate" panose="02000503020000020004" pitchFamily="2" charset="0"/>
                      </a:endParaRPr>
                    </a:p>
                  </a:txBody>
                  <a:tcPr marL="6350" marR="6350" marT="6350" marB="0" anchor="b"/>
                </a:tc>
                <a:extLst>
                  <a:ext uri="{0D108BD9-81ED-4DB2-BD59-A6C34878D82A}">
                    <a16:rowId xmlns:a16="http://schemas.microsoft.com/office/drawing/2014/main" val="2466160336"/>
                  </a:ext>
                </a:extLst>
              </a:tr>
              <a:tr h="160397">
                <a:tc>
                  <a:txBody>
                    <a:bodyPr/>
                    <a:lstStyle/>
                    <a:p>
                      <a:pPr algn="l" fontAlgn="b"/>
                      <a:r>
                        <a:rPr lang="en-ZA" sz="1200" u="none" strike="noStrike" dirty="0">
                          <a:effectLst/>
                        </a:rPr>
                        <a:t>Theft from show flow employees which is insured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l" fontAlgn="b"/>
                      <a:r>
                        <a:rPr lang="en-ZA" sz="1200" u="none" strike="noStrike" dirty="0">
                          <a:effectLst/>
                        </a:rPr>
                        <a:t>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ctr" fontAlgn="b"/>
                      <a:r>
                        <a:rPr lang="en-ZA" sz="1200" u="none" strike="noStrike" dirty="0">
                          <a:effectLst/>
                        </a:rPr>
                        <a:t>xxx</a:t>
                      </a:r>
                      <a:endParaRPr lang="en-ZA" sz="1200" b="0" i="0" u="none" strike="noStrike" dirty="0">
                        <a:solidFill>
                          <a:srgbClr val="000000"/>
                        </a:solidFill>
                        <a:effectLst/>
                        <a:latin typeface="EYInterstate" panose="02000503020000020004" pitchFamily="2" charset="0"/>
                      </a:endParaRPr>
                    </a:p>
                  </a:txBody>
                  <a:tcPr marL="6350" marR="6350" marT="6350" marB="0" anchor="b"/>
                </a:tc>
                <a:extLst>
                  <a:ext uri="{0D108BD9-81ED-4DB2-BD59-A6C34878D82A}">
                    <a16:rowId xmlns:a16="http://schemas.microsoft.com/office/drawing/2014/main" val="3728556691"/>
                  </a:ext>
                </a:extLst>
              </a:tr>
              <a:tr h="160397">
                <a:tc>
                  <a:txBody>
                    <a:bodyPr/>
                    <a:lstStyle/>
                    <a:p>
                      <a:pPr algn="l" fontAlgn="b"/>
                      <a:r>
                        <a:rPr lang="en-ZA" sz="1200" u="none" strike="noStrike" dirty="0">
                          <a:effectLst/>
                        </a:rPr>
                        <a:t>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l" fontAlgn="b"/>
                      <a:r>
                        <a:rPr lang="en-ZA" sz="1200" u="none" strike="noStrike" dirty="0">
                          <a:effectLst/>
                        </a:rPr>
                        <a:t>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l" fontAlgn="b"/>
                      <a:r>
                        <a:rPr lang="en-ZA" sz="1200" u="none" strike="noStrike" dirty="0">
                          <a:effectLst/>
                        </a:rPr>
                        <a:t> </a:t>
                      </a:r>
                      <a:endParaRPr lang="en-ZA" sz="1200" b="0" i="0" u="none" strike="noStrike" dirty="0">
                        <a:solidFill>
                          <a:srgbClr val="000000"/>
                        </a:solidFill>
                        <a:effectLst/>
                        <a:latin typeface="EYInterstate" panose="02000503020000020004" pitchFamily="2" charset="0"/>
                      </a:endParaRPr>
                    </a:p>
                  </a:txBody>
                  <a:tcPr marL="6350" marR="6350" marT="6350" marB="0" anchor="b"/>
                </a:tc>
                <a:extLst>
                  <a:ext uri="{0D108BD9-81ED-4DB2-BD59-A6C34878D82A}">
                    <a16:rowId xmlns:a16="http://schemas.microsoft.com/office/drawing/2014/main" val="1463626721"/>
                  </a:ext>
                </a:extLst>
              </a:tr>
              <a:tr h="160397">
                <a:tc>
                  <a:txBody>
                    <a:bodyPr/>
                    <a:lstStyle/>
                    <a:p>
                      <a:pPr algn="l" fontAlgn="b"/>
                      <a:r>
                        <a:rPr lang="en-ZA" sz="1200" u="none" strike="noStrike" dirty="0">
                          <a:effectLst/>
                        </a:rPr>
                        <a:t>Taxable Income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l" fontAlgn="b"/>
                      <a:r>
                        <a:rPr lang="en-ZA" sz="1200" u="none" strike="noStrike" dirty="0">
                          <a:effectLst/>
                        </a:rPr>
                        <a:t>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ctr" fontAlgn="b"/>
                      <a:r>
                        <a:rPr lang="en-ZA" sz="1200" u="none" strike="noStrike" dirty="0">
                          <a:effectLst/>
                        </a:rPr>
                        <a:t>xxx</a:t>
                      </a:r>
                      <a:endParaRPr lang="en-ZA" sz="1200" b="0" i="0" u="none" strike="noStrike" dirty="0">
                        <a:solidFill>
                          <a:srgbClr val="000000"/>
                        </a:solidFill>
                        <a:effectLst/>
                        <a:latin typeface="EYInterstate" panose="02000503020000020004" pitchFamily="2" charset="0"/>
                      </a:endParaRPr>
                    </a:p>
                  </a:txBody>
                  <a:tcPr marL="6350" marR="6350" marT="6350" marB="0" anchor="b"/>
                </a:tc>
                <a:extLst>
                  <a:ext uri="{0D108BD9-81ED-4DB2-BD59-A6C34878D82A}">
                    <a16:rowId xmlns:a16="http://schemas.microsoft.com/office/drawing/2014/main" val="3246910934"/>
                  </a:ext>
                </a:extLst>
              </a:tr>
              <a:tr h="166813">
                <a:tc>
                  <a:txBody>
                    <a:bodyPr/>
                    <a:lstStyle/>
                    <a:p>
                      <a:pPr algn="l" fontAlgn="b"/>
                      <a:r>
                        <a:rPr lang="en-ZA" sz="1200" u="none" strike="noStrike" dirty="0">
                          <a:effectLst/>
                        </a:rPr>
                        <a:t>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l" fontAlgn="b"/>
                      <a:r>
                        <a:rPr lang="en-ZA" sz="1200" u="none" strike="noStrike" dirty="0">
                          <a:effectLst/>
                        </a:rPr>
                        <a:t> </a:t>
                      </a:r>
                      <a:endParaRPr lang="en-ZA" sz="12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l" fontAlgn="b"/>
                      <a:r>
                        <a:rPr lang="en-ZA" sz="1200" u="none" strike="noStrike" dirty="0">
                          <a:effectLst/>
                        </a:rPr>
                        <a:t> </a:t>
                      </a:r>
                      <a:endParaRPr lang="en-ZA" sz="1200" b="0" i="0" u="none" strike="noStrike" dirty="0">
                        <a:solidFill>
                          <a:srgbClr val="000000"/>
                        </a:solidFill>
                        <a:effectLst/>
                        <a:latin typeface="EYInterstate" panose="02000503020000020004" pitchFamily="2" charset="0"/>
                      </a:endParaRPr>
                    </a:p>
                  </a:txBody>
                  <a:tcPr marL="6350" marR="6350" marT="6350" marB="0" anchor="b"/>
                </a:tc>
                <a:extLst>
                  <a:ext uri="{0D108BD9-81ED-4DB2-BD59-A6C34878D82A}">
                    <a16:rowId xmlns:a16="http://schemas.microsoft.com/office/drawing/2014/main" val="3626617348"/>
                  </a:ext>
                </a:extLst>
              </a:tr>
            </a:tbl>
          </a:graphicData>
        </a:graphic>
      </p:graphicFrame>
    </p:spTree>
    <p:extLst>
      <p:ext uri="{BB962C8B-B14F-4D97-AF65-F5344CB8AC3E}">
        <p14:creationId xmlns:p14="http://schemas.microsoft.com/office/powerpoint/2010/main" val="137940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B0C12-E208-45CF-AE4B-5EAE5722925C}"/>
              </a:ext>
            </a:extLst>
          </p:cNvPr>
          <p:cNvSpPr>
            <a:spLocks noGrp="1"/>
          </p:cNvSpPr>
          <p:nvPr>
            <p:ph type="title"/>
          </p:nvPr>
        </p:nvSpPr>
        <p:spPr>
          <a:xfrm>
            <a:off x="1484311" y="685800"/>
            <a:ext cx="10018713" cy="561975"/>
          </a:xfrm>
        </p:spPr>
        <p:txBody>
          <a:bodyPr>
            <a:normAutofit/>
          </a:bodyPr>
          <a:lstStyle/>
          <a:p>
            <a:pPr algn="l"/>
            <a:r>
              <a:rPr lang="en-ZA" sz="2000" b="1" dirty="0"/>
              <a:t>Specific Inclusions into gross income </a:t>
            </a:r>
          </a:p>
        </p:txBody>
      </p:sp>
      <p:sp>
        <p:nvSpPr>
          <p:cNvPr id="3" name="Content Placeholder 2">
            <a:extLst>
              <a:ext uri="{FF2B5EF4-FFF2-40B4-BE49-F238E27FC236}">
                <a16:creationId xmlns:a16="http://schemas.microsoft.com/office/drawing/2014/main" id="{3A3D3103-4392-4834-8E47-B7D0C03E78CE}"/>
              </a:ext>
            </a:extLst>
          </p:cNvPr>
          <p:cNvSpPr>
            <a:spLocks noGrp="1"/>
          </p:cNvSpPr>
          <p:nvPr>
            <p:ph idx="1"/>
          </p:nvPr>
        </p:nvSpPr>
        <p:spPr>
          <a:xfrm>
            <a:off x="1484310" y="1247775"/>
            <a:ext cx="10018713" cy="4552950"/>
          </a:xfrm>
        </p:spPr>
        <p:txBody>
          <a:bodyPr anchor="t">
            <a:noAutofit/>
          </a:bodyPr>
          <a:lstStyle/>
          <a:p>
            <a:pPr marL="0" indent="0">
              <a:buNone/>
            </a:pPr>
            <a:r>
              <a:rPr lang="en-ZA" sz="1050" dirty="0"/>
              <a:t>8(2</a:t>
            </a:r>
            <a:r>
              <a:rPr lang="en-ZA" sz="1050" b="1" dirty="0"/>
              <a:t>)-Exchange gains and losses- </a:t>
            </a:r>
            <a:r>
              <a:rPr lang="en-ZA" sz="1050" dirty="0"/>
              <a:t>they are included in the gross income when they are realised this means that book adjustment's are not gross income and you will have to remove them from such </a:t>
            </a:r>
          </a:p>
          <a:p>
            <a:pPr marL="0" indent="0">
              <a:buNone/>
            </a:pPr>
            <a:r>
              <a:rPr lang="en-ZA" sz="1050" b="1" u="sng" dirty="0"/>
              <a:t>8(1)(a) Annuities </a:t>
            </a:r>
          </a:p>
          <a:p>
            <a:pPr marL="0" indent="0">
              <a:buNone/>
            </a:pPr>
            <a:r>
              <a:rPr lang="en-ZA" sz="1050" dirty="0"/>
              <a:t>We need to consider the source of this annuity , as per our discussion the source of a purchased annuity is where the fund is located , through its also deemed in terms of section 12(3) that the source is Zim if the right was purchased in Zimbabwe </a:t>
            </a:r>
          </a:p>
          <a:p>
            <a:pPr marL="0" indent="0">
              <a:buNone/>
            </a:pPr>
            <a:r>
              <a:rPr lang="en-ZA" sz="1050" dirty="0"/>
              <a:t>There are different types of annuities </a:t>
            </a:r>
          </a:p>
          <a:p>
            <a:pPr marL="0" indent="0">
              <a:buNone/>
            </a:pPr>
            <a:r>
              <a:rPr lang="en-ZA" sz="1050" b="1" u="sng" dirty="0"/>
              <a:t>1.Purchased annuity</a:t>
            </a:r>
            <a:r>
              <a:rPr lang="en-ZA" sz="1050" u="sng" dirty="0"/>
              <a:t> </a:t>
            </a:r>
          </a:p>
          <a:p>
            <a:pPr marL="0" indent="0">
              <a:buNone/>
            </a:pPr>
            <a:r>
              <a:rPr lang="en-ZA" sz="1050" dirty="0"/>
              <a:t>A purchased  annuity is taxed to the extent of the interest component , what do we mean remember the received by provisions when he was paying or contributing to the annuity this contributions were actual capital in nature however the interest benefit then is the taxable benefit. </a:t>
            </a:r>
          </a:p>
          <a:p>
            <a:pPr marL="0" indent="0">
              <a:buNone/>
            </a:pPr>
            <a:r>
              <a:rPr lang="en-ZA" sz="1050" b="1" u="sng" dirty="0"/>
              <a:t>How do we then compute the benefit</a:t>
            </a:r>
          </a:p>
          <a:p>
            <a:pPr marL="0" indent="0">
              <a:buNone/>
            </a:pPr>
            <a:r>
              <a:rPr lang="en-ZA" sz="1050" dirty="0"/>
              <a:t>=(P(N)-A)/N</a:t>
            </a:r>
          </a:p>
          <a:p>
            <a:pPr marL="0" indent="0">
              <a:buNone/>
            </a:pPr>
            <a:r>
              <a:rPr lang="en-ZA" sz="1050" dirty="0"/>
              <a:t>Where  P = annuity receipt on a annual basis </a:t>
            </a:r>
          </a:p>
          <a:p>
            <a:pPr marL="0" indent="0">
              <a:buNone/>
            </a:pPr>
            <a:r>
              <a:rPr lang="en-ZA" sz="1050" dirty="0"/>
              <a:t>Where  N= years of expected receipts </a:t>
            </a:r>
          </a:p>
          <a:p>
            <a:pPr marL="0" indent="0">
              <a:buNone/>
            </a:pPr>
            <a:r>
              <a:rPr lang="en-ZA" sz="1050" dirty="0"/>
              <a:t>Where  A = Amount expected on purchasing the annuity.</a:t>
            </a:r>
          </a:p>
          <a:p>
            <a:pPr marL="0" indent="0">
              <a:buNone/>
            </a:pPr>
            <a:r>
              <a:rPr lang="en-ZA" sz="1050" b="1" dirty="0"/>
              <a:t>2. Annuity from inheritance- </a:t>
            </a:r>
            <a:r>
              <a:rPr lang="en-ZA" sz="1050" b="0" i="0" u="none" strike="noStrike" baseline="0" dirty="0">
                <a:solidFill>
                  <a:srgbClr val="000000"/>
                </a:solidFill>
                <a:latin typeface="Times New Roman" panose="02020603050405020304" pitchFamily="18" charset="0"/>
              </a:rPr>
              <a:t>This type of an annuity is either taxable in full or not taxable in full depending on where the fund is situated. A widow ‘s pension, which is one example of this type of an annuity, is not taxable in Zimbabwe if it is situated outside Zimbabwe even though her late husband may have rendered services in this country in the past</a:t>
            </a:r>
          </a:p>
          <a:p>
            <a:pPr marL="0" indent="0">
              <a:buNone/>
            </a:pPr>
            <a:endParaRPr lang="en-ZA" sz="1050" b="1" dirty="0"/>
          </a:p>
          <a:p>
            <a:pPr marL="0" indent="0">
              <a:buNone/>
            </a:pPr>
            <a:r>
              <a:rPr lang="en-ZA" sz="1050" dirty="0"/>
              <a:t>3. Annuity from sale of capital assets –treatment is the same as the purchased annuity</a:t>
            </a:r>
            <a:endParaRPr lang="en-ZA" sz="1050" b="1" dirty="0">
              <a:solidFill>
                <a:srgbClr val="C00000"/>
              </a:solidFill>
            </a:endParaRPr>
          </a:p>
          <a:p>
            <a:pPr marL="0" indent="0">
              <a:buNone/>
            </a:pPr>
            <a:endParaRPr lang="en-ZA" sz="1050" dirty="0"/>
          </a:p>
        </p:txBody>
      </p:sp>
      <p:sp>
        <p:nvSpPr>
          <p:cNvPr id="4" name="Footer Placeholder 3">
            <a:extLst>
              <a:ext uri="{FF2B5EF4-FFF2-40B4-BE49-F238E27FC236}">
                <a16:creationId xmlns:a16="http://schemas.microsoft.com/office/drawing/2014/main" id="{A4CA17FC-FE52-4D47-AD15-E9A74A80CE57}"/>
              </a:ext>
            </a:extLst>
          </p:cNvPr>
          <p:cNvSpPr>
            <a:spLocks noGrp="1"/>
          </p:cNvSpPr>
          <p:nvPr>
            <p:ph type="ftr" sz="quarter" idx="11"/>
          </p:nvPr>
        </p:nvSpPr>
        <p:spPr>
          <a:xfrm>
            <a:off x="2029354" y="6492875"/>
            <a:ext cx="7084177" cy="365125"/>
          </a:xfrm>
        </p:spPr>
        <p:txBody>
          <a:bodyPr/>
          <a:lstStyle/>
          <a:p>
            <a:r>
              <a:rPr lang="en-ZA" sz="1400" b="1" i="1" dirty="0">
                <a:solidFill>
                  <a:srgbClr val="002060"/>
                </a:solidFill>
              </a:rPr>
              <a:t>Introduction to taxation slides by Mlayezeli Mangena –Accounting Simplified </a:t>
            </a:r>
          </a:p>
          <a:p>
            <a:endParaRPr lang="en-ZA" sz="1400" dirty="0"/>
          </a:p>
          <a:p>
            <a:endParaRPr lang="en-ZA" sz="1400" dirty="0"/>
          </a:p>
          <a:p>
            <a:endParaRPr lang="en-ZA" sz="1400" b="1" dirty="0">
              <a:solidFill>
                <a:srgbClr val="0070C0"/>
              </a:solidFill>
            </a:endParaRPr>
          </a:p>
          <a:p>
            <a:endParaRPr lang="en-ZA" sz="1400" dirty="0"/>
          </a:p>
        </p:txBody>
      </p:sp>
    </p:spTree>
    <p:extLst>
      <p:ext uri="{BB962C8B-B14F-4D97-AF65-F5344CB8AC3E}">
        <p14:creationId xmlns:p14="http://schemas.microsoft.com/office/powerpoint/2010/main" val="11584700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841EC-FFC2-42BE-A972-47633E24C8F6}"/>
              </a:ext>
            </a:extLst>
          </p:cNvPr>
          <p:cNvSpPr>
            <a:spLocks noGrp="1"/>
          </p:cNvSpPr>
          <p:nvPr>
            <p:ph type="title"/>
          </p:nvPr>
        </p:nvSpPr>
        <p:spPr>
          <a:xfrm>
            <a:off x="1484311" y="685801"/>
            <a:ext cx="10018713" cy="476250"/>
          </a:xfrm>
        </p:spPr>
        <p:txBody>
          <a:bodyPr>
            <a:normAutofit/>
          </a:bodyPr>
          <a:lstStyle/>
          <a:p>
            <a:pPr algn="l"/>
            <a:r>
              <a:rPr lang="en-ZA" sz="2000" b="1" dirty="0">
                <a:solidFill>
                  <a:srgbClr val="002060"/>
                </a:solidFill>
              </a:rPr>
              <a:t>Section 81d and 152d Lease premiums </a:t>
            </a:r>
          </a:p>
        </p:txBody>
      </p:sp>
      <p:sp>
        <p:nvSpPr>
          <p:cNvPr id="3" name="Content Placeholder 2">
            <a:extLst>
              <a:ext uri="{FF2B5EF4-FFF2-40B4-BE49-F238E27FC236}">
                <a16:creationId xmlns:a16="http://schemas.microsoft.com/office/drawing/2014/main" id="{AB43D0E1-C492-4189-B0F5-F9746D2EADAE}"/>
              </a:ext>
            </a:extLst>
          </p:cNvPr>
          <p:cNvSpPr>
            <a:spLocks noGrp="1"/>
          </p:cNvSpPr>
          <p:nvPr>
            <p:ph idx="1"/>
          </p:nvPr>
        </p:nvSpPr>
        <p:spPr>
          <a:xfrm>
            <a:off x="1484310" y="1419225"/>
            <a:ext cx="10018713" cy="4371975"/>
          </a:xfrm>
        </p:spPr>
        <p:txBody>
          <a:bodyPr anchor="t">
            <a:normAutofit/>
          </a:bodyPr>
          <a:lstStyle/>
          <a:p>
            <a:pPr marL="0" indent="0">
              <a:buNone/>
            </a:pPr>
            <a:r>
              <a:rPr lang="en-ZA" sz="1800" dirty="0"/>
              <a:t>Included are lease premiums which are paid by the lessor to the lesser. Please not to the lessor they are normal revenue since he is in the trade of renting our properties.</a:t>
            </a:r>
          </a:p>
          <a:p>
            <a:pPr marL="0" indent="0">
              <a:buNone/>
            </a:pPr>
            <a:r>
              <a:rPr lang="en-ZA" sz="1800" dirty="0"/>
              <a:t>However from the hands of the lessee they represents a substantial expenditure hence the commissioner allowed the tax payer to spread the  amount over the lower of the lease term (15 2d).</a:t>
            </a:r>
          </a:p>
          <a:p>
            <a:pPr marL="0" indent="0">
              <a:buNone/>
            </a:pPr>
            <a:endParaRPr lang="en-ZA" sz="1800" dirty="0"/>
          </a:p>
        </p:txBody>
      </p:sp>
      <p:sp>
        <p:nvSpPr>
          <p:cNvPr id="4" name="Footer Placeholder 3">
            <a:extLst>
              <a:ext uri="{FF2B5EF4-FFF2-40B4-BE49-F238E27FC236}">
                <a16:creationId xmlns:a16="http://schemas.microsoft.com/office/drawing/2014/main" id="{75E26B83-2230-4FB7-9460-771CE0809F0C}"/>
              </a:ext>
            </a:extLst>
          </p:cNvPr>
          <p:cNvSpPr>
            <a:spLocks noGrp="1"/>
          </p:cNvSpPr>
          <p:nvPr>
            <p:ph type="ftr" sz="quarter" idx="11"/>
          </p:nvPr>
        </p:nvSpPr>
        <p:spPr/>
        <p:txBody>
          <a:bodyPr/>
          <a:lstStyle/>
          <a:p>
            <a:r>
              <a:rPr lang="en-ZA" sz="1600" b="1" i="1" dirty="0">
                <a:solidFill>
                  <a:srgbClr val="002060"/>
                </a:solidFill>
              </a:rPr>
              <a:t>Introduction to taxation slides by Mlayezeli Mangena –Accounting Simplified </a:t>
            </a:r>
          </a:p>
          <a:p>
            <a:endParaRPr lang="en-ZA" sz="1600" dirty="0"/>
          </a:p>
          <a:p>
            <a:endParaRPr lang="en-ZA" sz="1600" dirty="0"/>
          </a:p>
          <a:p>
            <a:endParaRPr lang="en-ZA" sz="1600" b="1" dirty="0">
              <a:solidFill>
                <a:srgbClr val="0070C0"/>
              </a:solidFill>
            </a:endParaRPr>
          </a:p>
          <a:p>
            <a:endParaRPr lang="en-ZA" sz="1600" dirty="0"/>
          </a:p>
          <a:p>
            <a:endParaRPr lang="en-ZA" sz="1600" b="1" i="1" dirty="0"/>
          </a:p>
        </p:txBody>
      </p:sp>
      <p:graphicFrame>
        <p:nvGraphicFramePr>
          <p:cNvPr id="5" name="Table 4">
            <a:extLst>
              <a:ext uri="{FF2B5EF4-FFF2-40B4-BE49-F238E27FC236}">
                <a16:creationId xmlns:a16="http://schemas.microsoft.com/office/drawing/2014/main" id="{C3214B34-380E-42EA-BE79-0B5242C3F592}"/>
              </a:ext>
            </a:extLst>
          </p:cNvPr>
          <p:cNvGraphicFramePr>
            <a:graphicFrameLocks noGrp="1"/>
          </p:cNvGraphicFramePr>
          <p:nvPr>
            <p:extLst>
              <p:ext uri="{D42A27DB-BD31-4B8C-83A1-F6EECF244321}">
                <p14:modId xmlns:p14="http://schemas.microsoft.com/office/powerpoint/2010/main" val="1551941622"/>
              </p:ext>
            </p:extLst>
          </p:nvPr>
        </p:nvGraphicFramePr>
        <p:xfrm>
          <a:off x="1484310" y="3396343"/>
          <a:ext cx="8490857" cy="1371600"/>
        </p:xfrm>
        <a:graphic>
          <a:graphicData uri="http://schemas.openxmlformats.org/drawingml/2006/table">
            <a:tbl>
              <a:tblPr>
                <a:tableStyleId>{5C22544A-7EE6-4342-B048-85BDC9FD1C3A}</a:tableStyleId>
              </a:tblPr>
              <a:tblGrid>
                <a:gridCol w="4421831">
                  <a:extLst>
                    <a:ext uri="{9D8B030D-6E8A-4147-A177-3AD203B41FA5}">
                      <a16:colId xmlns:a16="http://schemas.microsoft.com/office/drawing/2014/main" val="466989303"/>
                    </a:ext>
                  </a:extLst>
                </a:gridCol>
                <a:gridCol w="4069026">
                  <a:extLst>
                    <a:ext uri="{9D8B030D-6E8A-4147-A177-3AD203B41FA5}">
                      <a16:colId xmlns:a16="http://schemas.microsoft.com/office/drawing/2014/main" val="3074690594"/>
                    </a:ext>
                  </a:extLst>
                </a:gridCol>
              </a:tblGrid>
              <a:tr h="495520">
                <a:tc>
                  <a:txBody>
                    <a:bodyPr/>
                    <a:lstStyle/>
                    <a:p>
                      <a:pPr algn="l" fontAlgn="b"/>
                      <a:r>
                        <a:rPr lang="en-ZA" sz="1800" u="none" strike="noStrike" dirty="0">
                          <a:effectLst/>
                        </a:rPr>
                        <a:t>Lessor </a:t>
                      </a:r>
                      <a:endParaRPr lang="en-ZA" sz="18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l" fontAlgn="b"/>
                      <a:r>
                        <a:rPr lang="en-ZA" sz="1800" u="none" strike="noStrike" dirty="0">
                          <a:effectLst/>
                        </a:rPr>
                        <a:t>Lessee</a:t>
                      </a:r>
                      <a:endParaRPr lang="en-ZA" sz="1800" b="0" i="0" u="none" strike="noStrike" dirty="0">
                        <a:solidFill>
                          <a:srgbClr val="000000"/>
                        </a:solidFill>
                        <a:effectLst/>
                        <a:latin typeface="EYInterstate" panose="02000503020000020004" pitchFamily="2" charset="0"/>
                      </a:endParaRPr>
                    </a:p>
                  </a:txBody>
                  <a:tcPr marL="6350" marR="6350" marT="6350" marB="0" anchor="b"/>
                </a:tc>
                <a:extLst>
                  <a:ext uri="{0D108BD9-81ED-4DB2-BD59-A6C34878D82A}">
                    <a16:rowId xmlns:a16="http://schemas.microsoft.com/office/drawing/2014/main" val="3301938810"/>
                  </a:ext>
                </a:extLst>
              </a:tr>
              <a:tr h="876080">
                <a:tc>
                  <a:txBody>
                    <a:bodyPr/>
                    <a:lstStyle/>
                    <a:p>
                      <a:pPr algn="l" fontAlgn="ctr"/>
                      <a:r>
                        <a:rPr lang="en-ZA" sz="1800" u="none" strike="noStrike" dirty="0">
                          <a:effectLst/>
                        </a:rPr>
                        <a:t>Gross income (taxable in full)</a:t>
                      </a:r>
                      <a:endParaRPr lang="en-ZA" sz="1800" b="0" i="0" u="none" strike="noStrike" dirty="0">
                        <a:solidFill>
                          <a:srgbClr val="000000"/>
                        </a:solidFill>
                        <a:effectLst/>
                        <a:latin typeface="EYInterstate" panose="02000503020000020004" pitchFamily="2" charset="0"/>
                      </a:endParaRPr>
                    </a:p>
                  </a:txBody>
                  <a:tcPr marL="6350" marR="6350" marT="6350" marB="0" anchor="ctr"/>
                </a:tc>
                <a:tc>
                  <a:txBody>
                    <a:bodyPr/>
                    <a:lstStyle/>
                    <a:p>
                      <a:pPr algn="l" fontAlgn="b"/>
                      <a:r>
                        <a:rPr lang="en-ZA" sz="1800" u="none" strike="noStrike" dirty="0">
                          <a:effectLst/>
                        </a:rPr>
                        <a:t>Deductible expenditure spread over the lower of the lease term and 10 yrs. </a:t>
                      </a:r>
                      <a:endParaRPr lang="en-ZA" sz="1800" b="0" i="0" u="none" strike="noStrike" dirty="0">
                        <a:solidFill>
                          <a:srgbClr val="000000"/>
                        </a:solidFill>
                        <a:effectLst/>
                        <a:latin typeface="EYInterstate" panose="02000503020000020004" pitchFamily="2" charset="0"/>
                      </a:endParaRPr>
                    </a:p>
                  </a:txBody>
                  <a:tcPr marL="6350" marR="6350" marT="6350" marB="0" anchor="b"/>
                </a:tc>
                <a:extLst>
                  <a:ext uri="{0D108BD9-81ED-4DB2-BD59-A6C34878D82A}">
                    <a16:rowId xmlns:a16="http://schemas.microsoft.com/office/drawing/2014/main" val="2645265969"/>
                  </a:ext>
                </a:extLst>
              </a:tr>
            </a:tbl>
          </a:graphicData>
        </a:graphic>
      </p:graphicFrame>
    </p:spTree>
    <p:extLst>
      <p:ext uri="{BB962C8B-B14F-4D97-AF65-F5344CB8AC3E}">
        <p14:creationId xmlns:p14="http://schemas.microsoft.com/office/powerpoint/2010/main" val="1742721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C5F34-436F-425B-BB13-A529EB740E4D}"/>
              </a:ext>
            </a:extLst>
          </p:cNvPr>
          <p:cNvSpPr>
            <a:spLocks noGrp="1"/>
          </p:cNvSpPr>
          <p:nvPr>
            <p:ph type="title"/>
          </p:nvPr>
        </p:nvSpPr>
        <p:spPr>
          <a:xfrm>
            <a:off x="1484311" y="685801"/>
            <a:ext cx="10018713" cy="495300"/>
          </a:xfrm>
        </p:spPr>
        <p:txBody>
          <a:bodyPr>
            <a:normAutofit/>
          </a:bodyPr>
          <a:lstStyle/>
          <a:p>
            <a:pPr algn="l"/>
            <a:r>
              <a:rPr lang="en-ZA" sz="2000" b="1" dirty="0">
                <a:solidFill>
                  <a:srgbClr val="002060"/>
                </a:solidFill>
              </a:rPr>
              <a:t>81(e) and 152(e) Lease Improvements </a:t>
            </a:r>
          </a:p>
        </p:txBody>
      </p:sp>
      <p:sp>
        <p:nvSpPr>
          <p:cNvPr id="3" name="Content Placeholder 2">
            <a:extLst>
              <a:ext uri="{FF2B5EF4-FFF2-40B4-BE49-F238E27FC236}">
                <a16:creationId xmlns:a16="http://schemas.microsoft.com/office/drawing/2014/main" id="{C3C8F4E0-25D3-46AA-BDDD-C42B0D167CFA}"/>
              </a:ext>
            </a:extLst>
          </p:cNvPr>
          <p:cNvSpPr>
            <a:spLocks noGrp="1"/>
          </p:cNvSpPr>
          <p:nvPr>
            <p:ph idx="1"/>
          </p:nvPr>
        </p:nvSpPr>
        <p:spPr>
          <a:xfrm>
            <a:off x="1484310" y="1415143"/>
            <a:ext cx="10018713" cy="4376057"/>
          </a:xfrm>
        </p:spPr>
        <p:txBody>
          <a:bodyPr anchor="t">
            <a:normAutofit/>
          </a:bodyPr>
          <a:lstStyle/>
          <a:p>
            <a:pPr marL="0" indent="0">
              <a:buNone/>
            </a:pPr>
            <a:r>
              <a:rPr lang="en-ZA" sz="1600" dirty="0"/>
              <a:t>Its is normal business that a lessee effect improvements on the leased assets, this is usually to adjust the asset to meet the trading need of the lessor. </a:t>
            </a:r>
          </a:p>
          <a:p>
            <a:pPr marL="0" indent="0">
              <a:buNone/>
            </a:pPr>
            <a:r>
              <a:rPr lang="en-ZA" sz="1600" dirty="0"/>
              <a:t>This is capital income in the hands of the lessor and more or less of capital expenditure in the hands of the lessee since it creates an enduring benefit. However the commissioner has made special treatment of the capital receipts </a:t>
            </a:r>
          </a:p>
          <a:p>
            <a:pPr marL="0" indent="0">
              <a:buNone/>
            </a:pPr>
            <a:endParaRPr lang="en-ZA" sz="1600" dirty="0"/>
          </a:p>
          <a:p>
            <a:pPr marL="0" indent="0">
              <a:buNone/>
            </a:pPr>
            <a:endParaRPr lang="en-ZA" sz="1600" dirty="0"/>
          </a:p>
        </p:txBody>
      </p:sp>
      <p:sp>
        <p:nvSpPr>
          <p:cNvPr id="4" name="Footer Placeholder 3">
            <a:extLst>
              <a:ext uri="{FF2B5EF4-FFF2-40B4-BE49-F238E27FC236}">
                <a16:creationId xmlns:a16="http://schemas.microsoft.com/office/drawing/2014/main" id="{4714C555-7D9B-4DB9-8E21-E657B65B7C76}"/>
              </a:ext>
            </a:extLst>
          </p:cNvPr>
          <p:cNvSpPr>
            <a:spLocks noGrp="1"/>
          </p:cNvSpPr>
          <p:nvPr>
            <p:ph type="ftr" sz="quarter" idx="11"/>
          </p:nvPr>
        </p:nvSpPr>
        <p:spPr>
          <a:xfrm>
            <a:off x="1924579" y="6675437"/>
            <a:ext cx="7084177" cy="365125"/>
          </a:xfrm>
        </p:spPr>
        <p:txBody>
          <a:bodyPr/>
          <a:lstStyle/>
          <a:p>
            <a:r>
              <a:rPr lang="en-ZA" sz="1400" b="1" i="1" dirty="0">
                <a:solidFill>
                  <a:srgbClr val="002060"/>
                </a:solidFill>
              </a:rPr>
              <a:t>Introduction to taxation slides by Mlayezeli Mangena –Accounting Simplified </a:t>
            </a:r>
          </a:p>
          <a:p>
            <a:endParaRPr lang="en-ZA" sz="1400" dirty="0"/>
          </a:p>
          <a:p>
            <a:endParaRPr lang="en-ZA" sz="1400" dirty="0"/>
          </a:p>
          <a:p>
            <a:endParaRPr lang="en-ZA" sz="1400" b="1" dirty="0">
              <a:solidFill>
                <a:srgbClr val="0070C0"/>
              </a:solidFill>
            </a:endParaRPr>
          </a:p>
          <a:p>
            <a:endParaRPr lang="en-ZA" sz="1400" dirty="0"/>
          </a:p>
          <a:p>
            <a:endParaRPr lang="en-ZA" sz="1400" b="1" i="1" dirty="0"/>
          </a:p>
          <a:p>
            <a:endParaRPr lang="en-ZA" sz="1400" dirty="0"/>
          </a:p>
        </p:txBody>
      </p:sp>
      <p:graphicFrame>
        <p:nvGraphicFramePr>
          <p:cNvPr id="5" name="Table 4">
            <a:extLst>
              <a:ext uri="{FF2B5EF4-FFF2-40B4-BE49-F238E27FC236}">
                <a16:creationId xmlns:a16="http://schemas.microsoft.com/office/drawing/2014/main" id="{44165F0E-9786-4F29-AC42-B4680A601029}"/>
              </a:ext>
            </a:extLst>
          </p:cNvPr>
          <p:cNvGraphicFramePr>
            <a:graphicFrameLocks noGrp="1"/>
          </p:cNvGraphicFramePr>
          <p:nvPr>
            <p:extLst>
              <p:ext uri="{D42A27DB-BD31-4B8C-83A1-F6EECF244321}">
                <p14:modId xmlns:p14="http://schemas.microsoft.com/office/powerpoint/2010/main" val="4076460166"/>
              </p:ext>
            </p:extLst>
          </p:nvPr>
        </p:nvGraphicFramePr>
        <p:xfrm>
          <a:off x="1574455" y="2883807"/>
          <a:ext cx="9515366" cy="2907393"/>
        </p:xfrm>
        <a:graphic>
          <a:graphicData uri="http://schemas.openxmlformats.org/drawingml/2006/table">
            <a:tbl>
              <a:tblPr>
                <a:tableStyleId>{5C22544A-7EE6-4342-B048-85BDC9FD1C3A}</a:tableStyleId>
              </a:tblPr>
              <a:tblGrid>
                <a:gridCol w="4955371">
                  <a:extLst>
                    <a:ext uri="{9D8B030D-6E8A-4147-A177-3AD203B41FA5}">
                      <a16:colId xmlns:a16="http://schemas.microsoft.com/office/drawing/2014/main" val="1132148981"/>
                    </a:ext>
                  </a:extLst>
                </a:gridCol>
                <a:gridCol w="4559995">
                  <a:extLst>
                    <a:ext uri="{9D8B030D-6E8A-4147-A177-3AD203B41FA5}">
                      <a16:colId xmlns:a16="http://schemas.microsoft.com/office/drawing/2014/main" val="1066142964"/>
                    </a:ext>
                  </a:extLst>
                </a:gridCol>
              </a:tblGrid>
              <a:tr h="270972">
                <a:tc>
                  <a:txBody>
                    <a:bodyPr/>
                    <a:lstStyle/>
                    <a:p>
                      <a:pPr algn="l" fontAlgn="b"/>
                      <a:r>
                        <a:rPr lang="en-ZA" sz="1200" u="none" strike="noStrike" dirty="0">
                          <a:solidFill>
                            <a:srgbClr val="002060"/>
                          </a:solidFill>
                          <a:effectLst/>
                        </a:rPr>
                        <a:t>Lessor </a:t>
                      </a:r>
                      <a:endParaRPr lang="en-ZA" sz="1200" b="0" i="0" u="none" strike="noStrike" dirty="0">
                        <a:solidFill>
                          <a:srgbClr val="002060"/>
                        </a:solidFill>
                        <a:effectLst/>
                        <a:latin typeface="EYInterstate" panose="02000503020000020004" pitchFamily="2" charset="0"/>
                      </a:endParaRPr>
                    </a:p>
                  </a:txBody>
                  <a:tcPr marL="6350" marR="6350" marT="6350" marB="0" anchor="b">
                    <a:solidFill>
                      <a:schemeClr val="bg1">
                        <a:lumMod val="85000"/>
                      </a:schemeClr>
                    </a:solidFill>
                  </a:tcPr>
                </a:tc>
                <a:tc>
                  <a:txBody>
                    <a:bodyPr/>
                    <a:lstStyle/>
                    <a:p>
                      <a:pPr algn="l" fontAlgn="b"/>
                      <a:r>
                        <a:rPr lang="en-ZA" sz="1200" u="none" strike="noStrike" dirty="0">
                          <a:solidFill>
                            <a:srgbClr val="002060"/>
                          </a:solidFill>
                          <a:effectLst/>
                        </a:rPr>
                        <a:t>Lessee</a:t>
                      </a:r>
                      <a:endParaRPr lang="en-ZA" sz="1200" b="0" i="0" u="none" strike="noStrike" dirty="0">
                        <a:solidFill>
                          <a:srgbClr val="002060"/>
                        </a:solidFill>
                        <a:effectLst/>
                        <a:latin typeface="EYInterstate" panose="02000503020000020004" pitchFamily="2" charset="0"/>
                      </a:endParaRPr>
                    </a:p>
                  </a:txBody>
                  <a:tcPr marL="6350" marR="6350" marT="6350" marB="0" anchor="b">
                    <a:solidFill>
                      <a:schemeClr val="bg1">
                        <a:lumMod val="85000"/>
                      </a:schemeClr>
                    </a:solidFill>
                  </a:tcPr>
                </a:tc>
                <a:extLst>
                  <a:ext uri="{0D108BD9-81ED-4DB2-BD59-A6C34878D82A}">
                    <a16:rowId xmlns:a16="http://schemas.microsoft.com/office/drawing/2014/main" val="984014836"/>
                  </a:ext>
                </a:extLst>
              </a:tr>
              <a:tr h="2636421">
                <a:tc>
                  <a:txBody>
                    <a:bodyPr/>
                    <a:lstStyle/>
                    <a:p>
                      <a:pPr algn="l" fontAlgn="t"/>
                      <a:r>
                        <a:rPr lang="en-ZA" sz="1400" u="none" strike="noStrike" dirty="0">
                          <a:solidFill>
                            <a:schemeClr val="tx1"/>
                          </a:solidFill>
                          <a:effectLst/>
                        </a:rPr>
                        <a:t>&gt;Improvement are gross income to the extent of the contractual  </a:t>
                      </a:r>
                      <a:br>
                        <a:rPr lang="en-ZA" sz="1400" u="none" strike="noStrike" dirty="0">
                          <a:solidFill>
                            <a:schemeClr val="tx1"/>
                          </a:solidFill>
                          <a:effectLst/>
                        </a:rPr>
                      </a:br>
                      <a:r>
                        <a:rPr lang="en-ZA" sz="1400" u="none" strike="noStrike" dirty="0">
                          <a:solidFill>
                            <a:schemeClr val="tx1"/>
                          </a:solidFill>
                          <a:effectLst/>
                        </a:rPr>
                        <a:t>&gt;improvements( thus excess improvements are </a:t>
                      </a:r>
                      <a:r>
                        <a:rPr lang="en-ZA" sz="1400" b="1" u="none" strike="noStrike" dirty="0">
                          <a:solidFill>
                            <a:srgbClr val="C00000"/>
                          </a:solidFill>
                          <a:effectLst/>
                        </a:rPr>
                        <a:t>not taxable</a:t>
                      </a:r>
                      <a:r>
                        <a:rPr lang="en-ZA" sz="1400" u="none" strike="noStrike" dirty="0">
                          <a:solidFill>
                            <a:schemeClr val="tx1"/>
                          </a:solidFill>
                          <a:effectLst/>
                        </a:rPr>
                        <a:t>)</a:t>
                      </a:r>
                      <a:br>
                        <a:rPr lang="en-ZA" sz="1400" u="none" strike="noStrike" dirty="0">
                          <a:solidFill>
                            <a:schemeClr val="tx1"/>
                          </a:solidFill>
                          <a:effectLst/>
                        </a:rPr>
                      </a:br>
                      <a:br>
                        <a:rPr lang="en-ZA" sz="1400" u="none" strike="noStrike" dirty="0">
                          <a:solidFill>
                            <a:schemeClr val="tx1"/>
                          </a:solidFill>
                          <a:effectLst/>
                        </a:rPr>
                      </a:br>
                      <a:r>
                        <a:rPr lang="en-ZA" sz="1400" u="none" strike="noStrike" dirty="0">
                          <a:solidFill>
                            <a:schemeClr val="tx1"/>
                          </a:solidFill>
                          <a:effectLst/>
                        </a:rPr>
                        <a:t>Improvements are spread over the lesser of 10 years and the unexpired lease period (the unexpired is measured from the date of completion of the improvements to end of the lease term)</a:t>
                      </a:r>
                      <a:br>
                        <a:rPr lang="en-ZA" sz="1400" u="none" strike="noStrike" dirty="0">
                          <a:solidFill>
                            <a:schemeClr val="tx1"/>
                          </a:solidFill>
                          <a:effectLst/>
                        </a:rPr>
                      </a:br>
                      <a:br>
                        <a:rPr lang="en-ZA" sz="1400" u="none" strike="noStrike" dirty="0">
                          <a:solidFill>
                            <a:schemeClr val="tx1"/>
                          </a:solidFill>
                          <a:effectLst/>
                        </a:rPr>
                      </a:br>
                      <a:r>
                        <a:rPr lang="en-ZA" sz="1400" b="1" u="none" strike="noStrike" dirty="0">
                          <a:solidFill>
                            <a:schemeClr val="tx1"/>
                          </a:solidFill>
                          <a:effectLst/>
                        </a:rPr>
                        <a:t>Capital Allowances </a:t>
                      </a:r>
                      <a:br>
                        <a:rPr lang="en-ZA" sz="1400" u="none" strike="noStrike" dirty="0">
                          <a:solidFill>
                            <a:schemeClr val="tx1"/>
                          </a:solidFill>
                          <a:effectLst/>
                        </a:rPr>
                      </a:br>
                      <a:r>
                        <a:rPr lang="en-ZA" sz="1400" u="none" strike="noStrike" dirty="0">
                          <a:solidFill>
                            <a:schemeClr val="tx1"/>
                          </a:solidFill>
                          <a:effectLst/>
                        </a:rPr>
                        <a:t>Can claim wear and team on the improvements</a:t>
                      </a:r>
                      <a:endParaRPr lang="en-ZA" sz="1400" b="0" i="0" u="none" strike="noStrike" dirty="0">
                        <a:solidFill>
                          <a:schemeClr val="tx1"/>
                        </a:solidFill>
                        <a:effectLst/>
                        <a:latin typeface="EYInterstate" panose="02000503020000020004" pitchFamily="2" charset="0"/>
                      </a:endParaRPr>
                    </a:p>
                  </a:txBody>
                  <a:tcPr marL="6350" marR="6350" marT="6350" marB="0"/>
                </a:tc>
                <a:tc>
                  <a:txBody>
                    <a:bodyPr/>
                    <a:lstStyle/>
                    <a:p>
                      <a:pPr algn="l" fontAlgn="t"/>
                      <a:r>
                        <a:rPr lang="en-ZA" sz="1400" u="none" strike="noStrike" dirty="0">
                          <a:solidFill>
                            <a:schemeClr val="tx1"/>
                          </a:solidFill>
                          <a:effectLst/>
                        </a:rPr>
                        <a:t>Contractually Improvements are allowable as a deduction in the hands of the lease. </a:t>
                      </a:r>
                      <a:br>
                        <a:rPr lang="en-ZA" sz="1400" u="none" strike="noStrike" dirty="0">
                          <a:solidFill>
                            <a:schemeClr val="tx1"/>
                          </a:solidFill>
                          <a:effectLst/>
                        </a:rPr>
                      </a:br>
                      <a:r>
                        <a:rPr lang="en-ZA" sz="1400" u="none" strike="noStrike" dirty="0">
                          <a:solidFill>
                            <a:schemeClr val="tx1"/>
                          </a:solidFill>
                          <a:effectLst/>
                        </a:rPr>
                        <a:t>The deduction is spread over the lower of the  10yrs and the unexpired lease period ( where the unexpired lease period starts from the date of the date of use  to the end of the lease term)</a:t>
                      </a:r>
                      <a:br>
                        <a:rPr lang="en-ZA" sz="1400" u="none" strike="noStrike" dirty="0">
                          <a:solidFill>
                            <a:schemeClr val="tx1"/>
                          </a:solidFill>
                          <a:effectLst/>
                        </a:rPr>
                      </a:br>
                      <a:br>
                        <a:rPr lang="en-ZA" sz="1400" u="none" strike="noStrike" dirty="0">
                          <a:solidFill>
                            <a:schemeClr val="tx1"/>
                          </a:solidFill>
                          <a:effectLst/>
                        </a:rPr>
                      </a:br>
                      <a:r>
                        <a:rPr lang="en-ZA" sz="1400" b="1" u="none" strike="noStrike" dirty="0">
                          <a:solidFill>
                            <a:schemeClr val="tx1"/>
                          </a:solidFill>
                          <a:effectLst/>
                        </a:rPr>
                        <a:t>Voluntary Improvements </a:t>
                      </a:r>
                      <a:br>
                        <a:rPr lang="en-ZA" sz="1400" u="none" strike="noStrike" dirty="0">
                          <a:solidFill>
                            <a:schemeClr val="tx1"/>
                          </a:solidFill>
                          <a:effectLst/>
                        </a:rPr>
                      </a:br>
                      <a:r>
                        <a:rPr lang="en-ZA" sz="1400" u="none" strike="noStrike" dirty="0">
                          <a:solidFill>
                            <a:schemeClr val="tx1"/>
                          </a:solidFill>
                          <a:effectLst/>
                        </a:rPr>
                        <a:t>These are deemed to create an enduring benefit hence subject to 152c and the tax payer can elect for SIA </a:t>
                      </a:r>
                      <a:endParaRPr lang="en-ZA" sz="1400" b="0" i="0" u="none" strike="noStrike" dirty="0">
                        <a:solidFill>
                          <a:schemeClr val="tx1"/>
                        </a:solidFill>
                        <a:effectLst/>
                        <a:latin typeface="EYInterstate" panose="02000503020000020004" pitchFamily="2" charset="0"/>
                      </a:endParaRPr>
                    </a:p>
                  </a:txBody>
                  <a:tcPr marL="6350" marR="6350" marT="6350" marB="0"/>
                </a:tc>
                <a:extLst>
                  <a:ext uri="{0D108BD9-81ED-4DB2-BD59-A6C34878D82A}">
                    <a16:rowId xmlns:a16="http://schemas.microsoft.com/office/drawing/2014/main" val="400972307"/>
                  </a:ext>
                </a:extLst>
              </a:tr>
            </a:tbl>
          </a:graphicData>
        </a:graphic>
      </p:graphicFrame>
    </p:spTree>
    <p:extLst>
      <p:ext uri="{BB962C8B-B14F-4D97-AF65-F5344CB8AC3E}">
        <p14:creationId xmlns:p14="http://schemas.microsoft.com/office/powerpoint/2010/main" val="1966322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842F6-C9C2-4EC1-A214-E459B2285EA3}"/>
              </a:ext>
            </a:extLst>
          </p:cNvPr>
          <p:cNvSpPr>
            <a:spLocks noGrp="1"/>
          </p:cNvSpPr>
          <p:nvPr>
            <p:ph type="title"/>
          </p:nvPr>
        </p:nvSpPr>
        <p:spPr>
          <a:xfrm>
            <a:off x="1484311" y="685801"/>
            <a:ext cx="10018713" cy="533400"/>
          </a:xfrm>
        </p:spPr>
        <p:txBody>
          <a:bodyPr>
            <a:normAutofit/>
          </a:bodyPr>
          <a:lstStyle/>
          <a:p>
            <a:pPr algn="l"/>
            <a:r>
              <a:rPr lang="en-ZA" sz="1800" b="1" dirty="0">
                <a:solidFill>
                  <a:srgbClr val="002060"/>
                </a:solidFill>
              </a:rPr>
              <a:t>81k and 81H Cessation of credit and closing stock</a:t>
            </a:r>
          </a:p>
        </p:txBody>
      </p:sp>
      <p:sp>
        <p:nvSpPr>
          <p:cNvPr id="3" name="Content Placeholder 2">
            <a:extLst>
              <a:ext uri="{FF2B5EF4-FFF2-40B4-BE49-F238E27FC236}">
                <a16:creationId xmlns:a16="http://schemas.microsoft.com/office/drawing/2014/main" id="{DF470EC9-5C15-4DBF-BAE7-A1E72361988D}"/>
              </a:ext>
            </a:extLst>
          </p:cNvPr>
          <p:cNvSpPr>
            <a:spLocks noGrp="1"/>
          </p:cNvSpPr>
          <p:nvPr>
            <p:ph idx="1"/>
          </p:nvPr>
        </p:nvSpPr>
        <p:spPr>
          <a:xfrm>
            <a:off x="1484310" y="1533525"/>
            <a:ext cx="10018713" cy="4257675"/>
          </a:xfrm>
        </p:spPr>
        <p:txBody>
          <a:bodyPr anchor="t">
            <a:normAutofit/>
          </a:bodyPr>
          <a:lstStyle/>
          <a:p>
            <a:pPr marL="0" indent="0">
              <a:buNone/>
            </a:pPr>
            <a:r>
              <a:rPr lang="en-ZA" sz="1400" dirty="0"/>
              <a:t>Cessation of credit on deductible expenditure is gross income , the tax payer is simple saying I gave you’re a benefit before from deducting but now that you are no longer paying I have to benefit as well.</a:t>
            </a:r>
          </a:p>
          <a:p>
            <a:pPr marL="0" indent="0">
              <a:buNone/>
            </a:pPr>
            <a:r>
              <a:rPr lang="en-ZA" sz="1400" b="1" u="sng" dirty="0"/>
              <a:t>Conditions </a:t>
            </a:r>
          </a:p>
          <a:p>
            <a:pPr marL="0" indent="0">
              <a:buNone/>
            </a:pPr>
            <a:r>
              <a:rPr lang="en-ZA" sz="1400" dirty="0"/>
              <a:t>-the expenditure should have been allowable as a deduction </a:t>
            </a:r>
          </a:p>
          <a:p>
            <a:pPr marL="0" indent="0">
              <a:buNone/>
            </a:pPr>
            <a:r>
              <a:rPr lang="en-ZA" sz="1400" dirty="0"/>
              <a:t>-the deduction should have been done in the current period or in any year of assessment )</a:t>
            </a:r>
          </a:p>
          <a:p>
            <a:pPr marL="0" indent="0">
              <a:buNone/>
            </a:pPr>
            <a:r>
              <a:rPr lang="en-ZA" sz="1400" dirty="0"/>
              <a:t>-</a:t>
            </a:r>
            <a:r>
              <a:rPr lang="en-ZA" sz="1400" b="1" i="1" dirty="0">
                <a:solidFill>
                  <a:srgbClr val="002060"/>
                </a:solidFill>
              </a:rPr>
              <a:t>Funny Fact -oppose this conditions you meet the conditions to deduct bad debts (152g) lol</a:t>
            </a:r>
          </a:p>
          <a:p>
            <a:pPr marL="0" indent="0">
              <a:buNone/>
            </a:pPr>
            <a:r>
              <a:rPr lang="en-ZA" sz="1400" i="1" dirty="0"/>
              <a:t>8(1)(h) -Closing stock- closing stock is gross income </a:t>
            </a:r>
          </a:p>
          <a:p>
            <a:pPr marL="0" indent="0">
              <a:buNone/>
            </a:pPr>
            <a:endParaRPr lang="en-ZA" sz="1400" b="1" i="1" u="sng" dirty="0"/>
          </a:p>
        </p:txBody>
      </p:sp>
      <p:sp>
        <p:nvSpPr>
          <p:cNvPr id="4" name="Footer Placeholder 3">
            <a:extLst>
              <a:ext uri="{FF2B5EF4-FFF2-40B4-BE49-F238E27FC236}">
                <a16:creationId xmlns:a16="http://schemas.microsoft.com/office/drawing/2014/main" id="{4018D56E-12B4-48B2-A8CC-50C4B2E1FE22}"/>
              </a:ext>
            </a:extLst>
          </p:cNvPr>
          <p:cNvSpPr>
            <a:spLocks noGrp="1"/>
          </p:cNvSpPr>
          <p:nvPr>
            <p:ph type="ftr" sz="quarter" idx="11"/>
          </p:nvPr>
        </p:nvSpPr>
        <p:spPr/>
        <p:txBody>
          <a:bodyPr/>
          <a:lstStyle/>
          <a:p>
            <a:r>
              <a:rPr lang="en-ZA" dirty="0"/>
              <a:t>Introduction to taxation slides by Mlayezeli Mangena </a:t>
            </a:r>
          </a:p>
        </p:txBody>
      </p:sp>
      <p:pic>
        <p:nvPicPr>
          <p:cNvPr id="5" name="Picture 4">
            <a:extLst>
              <a:ext uri="{FF2B5EF4-FFF2-40B4-BE49-F238E27FC236}">
                <a16:creationId xmlns:a16="http://schemas.microsoft.com/office/drawing/2014/main" id="{B8A662DE-9B8D-4900-9F15-C6B5A49A545E}"/>
              </a:ext>
            </a:extLst>
          </p:cNvPr>
          <p:cNvPicPr>
            <a:picLocks noChangeAspect="1"/>
          </p:cNvPicPr>
          <p:nvPr/>
        </p:nvPicPr>
        <p:blipFill rotWithShape="1">
          <a:blip r:embed="rId2"/>
          <a:srcRect l="1085" t="878" r="1210" b="2198"/>
          <a:stretch/>
        </p:blipFill>
        <p:spPr>
          <a:xfrm>
            <a:off x="1552575" y="3810000"/>
            <a:ext cx="6153150" cy="2800350"/>
          </a:xfrm>
          <a:prstGeom prst="rect">
            <a:avLst/>
          </a:prstGeom>
        </p:spPr>
      </p:pic>
    </p:spTree>
    <p:extLst>
      <p:ext uri="{BB962C8B-B14F-4D97-AF65-F5344CB8AC3E}">
        <p14:creationId xmlns:p14="http://schemas.microsoft.com/office/powerpoint/2010/main" val="90733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51763-370F-44CF-BE69-EDDA2AF372F0}"/>
              </a:ext>
            </a:extLst>
          </p:cNvPr>
          <p:cNvSpPr>
            <a:spLocks noGrp="1"/>
          </p:cNvSpPr>
          <p:nvPr>
            <p:ph type="title"/>
          </p:nvPr>
        </p:nvSpPr>
        <p:spPr>
          <a:xfrm>
            <a:off x="1484311" y="685800"/>
            <a:ext cx="10018713" cy="561975"/>
          </a:xfrm>
        </p:spPr>
        <p:txBody>
          <a:bodyPr>
            <a:normAutofit/>
          </a:bodyPr>
          <a:lstStyle/>
          <a:p>
            <a:pPr algn="l"/>
            <a:r>
              <a:rPr lang="en-ZA" sz="1800" dirty="0">
                <a:solidFill>
                  <a:srgbClr val="002060"/>
                </a:solidFill>
              </a:rPr>
              <a:t>Exemptions Para 14 and 13</a:t>
            </a:r>
            <a:r>
              <a:rPr lang="en-ZA" sz="1800" baseline="30000" dirty="0">
                <a:solidFill>
                  <a:srgbClr val="002060"/>
                </a:solidFill>
              </a:rPr>
              <a:t>th</a:t>
            </a:r>
            <a:r>
              <a:rPr lang="en-ZA" sz="1800" dirty="0">
                <a:solidFill>
                  <a:srgbClr val="002060"/>
                </a:solidFill>
              </a:rPr>
              <a:t> Schedule </a:t>
            </a:r>
          </a:p>
        </p:txBody>
      </p:sp>
      <p:sp>
        <p:nvSpPr>
          <p:cNvPr id="3" name="Content Placeholder 2">
            <a:extLst>
              <a:ext uri="{FF2B5EF4-FFF2-40B4-BE49-F238E27FC236}">
                <a16:creationId xmlns:a16="http://schemas.microsoft.com/office/drawing/2014/main" id="{3D2A98B2-7690-403F-A8D9-665371A422A1}"/>
              </a:ext>
            </a:extLst>
          </p:cNvPr>
          <p:cNvSpPr>
            <a:spLocks noGrp="1"/>
          </p:cNvSpPr>
          <p:nvPr>
            <p:ph idx="1"/>
          </p:nvPr>
        </p:nvSpPr>
        <p:spPr>
          <a:xfrm>
            <a:off x="1484310" y="1247775"/>
            <a:ext cx="10018713" cy="4543425"/>
          </a:xfrm>
        </p:spPr>
        <p:txBody>
          <a:bodyPr anchor="t">
            <a:normAutofit/>
          </a:bodyPr>
          <a:lstStyle/>
          <a:p>
            <a:pPr marL="0" indent="0">
              <a:buNone/>
            </a:pPr>
            <a:r>
              <a:rPr lang="en-ZA" sz="1800" dirty="0"/>
              <a:t>Elderly exemptions</a:t>
            </a:r>
          </a:p>
          <a:p>
            <a:pPr marL="0" indent="0">
              <a:buNone/>
            </a:pPr>
            <a:r>
              <a:rPr lang="en-ZA" sz="1800" dirty="0"/>
              <a:t>The first $390,000 p.a of interest earned on any deposit with a financial institution.</a:t>
            </a:r>
          </a:p>
          <a:p>
            <a:pPr marL="0" indent="0">
              <a:buNone/>
            </a:pPr>
            <a:r>
              <a:rPr lang="en-ZA" sz="1800" dirty="0"/>
              <a:t>The first $390,000 p.a of interest on a banker’s acceptances and other discounted instruments traded by financial institutions</a:t>
            </a:r>
          </a:p>
          <a:p>
            <a:pPr marL="0" indent="0">
              <a:buNone/>
            </a:pPr>
            <a:r>
              <a:rPr lang="en-ZA" sz="1800" dirty="0"/>
              <a:t>The first $195,000 p.a of rental income accruing to the taxpayer in the year of assessment</a:t>
            </a:r>
          </a:p>
          <a:p>
            <a:pPr marL="0" indent="0">
              <a:buNone/>
            </a:pPr>
            <a:r>
              <a:rPr lang="en-ZA" sz="1800" dirty="0"/>
              <a:t>Para 9 of the 3rd schedule exempts tax from dividend income from companies that pay tax on profit , the dividend company is not subject to such then dividend income is taxable </a:t>
            </a:r>
          </a:p>
          <a:p>
            <a:pPr marL="0" indent="0">
              <a:buNone/>
            </a:pPr>
            <a:r>
              <a:rPr lang="en-ZA" sz="1800" dirty="0">
                <a:solidFill>
                  <a:srgbClr val="C00000"/>
                </a:solidFill>
              </a:rPr>
              <a:t>This means that the deemed dividend i.e. interest computed on a debit exceeding debit to equity ratio 3:1or excess fees, management or administration (section 16(1) (r) and 16(1) (q) respectively) is taxable income in the hands of recipient company. (to discuss under prohibited deductions </a:t>
            </a:r>
          </a:p>
          <a:p>
            <a:pPr marL="0" indent="0">
              <a:buNone/>
            </a:pPr>
            <a:endParaRPr lang="en-ZA" sz="1800" dirty="0">
              <a:solidFill>
                <a:srgbClr val="C00000"/>
              </a:solidFill>
            </a:endParaRPr>
          </a:p>
        </p:txBody>
      </p:sp>
      <p:sp>
        <p:nvSpPr>
          <p:cNvPr id="4" name="Footer Placeholder 3">
            <a:extLst>
              <a:ext uri="{FF2B5EF4-FFF2-40B4-BE49-F238E27FC236}">
                <a16:creationId xmlns:a16="http://schemas.microsoft.com/office/drawing/2014/main" id="{33B6F02C-B08B-47A6-A6F2-3F581B9E10D5}"/>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2949533799"/>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AF00B-ECDC-4069-9A2E-5398D9E09EE1}"/>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E46CDD3E-165A-4C25-83E2-1CAAB61009E8}"/>
              </a:ext>
            </a:extLst>
          </p:cNvPr>
          <p:cNvSpPr>
            <a:spLocks noGrp="1"/>
          </p:cNvSpPr>
          <p:nvPr>
            <p:ph idx="1"/>
          </p:nvPr>
        </p:nvSpPr>
        <p:spPr/>
        <p:txBody>
          <a:bodyPr/>
          <a:lstStyle/>
          <a:p>
            <a:endParaRPr lang="en-ZA"/>
          </a:p>
        </p:txBody>
      </p:sp>
      <p:sp>
        <p:nvSpPr>
          <p:cNvPr id="4" name="Footer Placeholder 3">
            <a:extLst>
              <a:ext uri="{FF2B5EF4-FFF2-40B4-BE49-F238E27FC236}">
                <a16:creationId xmlns:a16="http://schemas.microsoft.com/office/drawing/2014/main" id="{03B28FA3-9613-4D72-8A02-2E8F98E47C61}"/>
              </a:ext>
            </a:extLst>
          </p:cNvPr>
          <p:cNvSpPr>
            <a:spLocks noGrp="1"/>
          </p:cNvSpPr>
          <p:nvPr>
            <p:ph type="ftr" sz="quarter" idx="11"/>
          </p:nvPr>
        </p:nvSpPr>
        <p:spPr/>
        <p:txBody>
          <a:bodyPr/>
          <a:lstStyle/>
          <a:p>
            <a:r>
              <a:rPr lang="en-ZA"/>
              <a:t>Introduction to taxation slides by Mlayezeli Mangena </a:t>
            </a:r>
            <a:endParaRPr lang="en-ZA" dirty="0"/>
          </a:p>
        </p:txBody>
      </p:sp>
    </p:spTree>
    <p:extLst>
      <p:ext uri="{BB962C8B-B14F-4D97-AF65-F5344CB8AC3E}">
        <p14:creationId xmlns:p14="http://schemas.microsoft.com/office/powerpoint/2010/main" val="17196044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C4A78-DADC-4FD3-A724-4E1E4985CEFF}"/>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44FB1878-2783-4B0D-BAB1-6963EBD38D4C}"/>
              </a:ext>
            </a:extLst>
          </p:cNvPr>
          <p:cNvSpPr>
            <a:spLocks noGrp="1"/>
          </p:cNvSpPr>
          <p:nvPr>
            <p:ph idx="1"/>
          </p:nvPr>
        </p:nvSpPr>
        <p:spPr/>
        <p:txBody>
          <a:bodyPr/>
          <a:lstStyle/>
          <a:p>
            <a:endParaRPr lang="en-ZA"/>
          </a:p>
        </p:txBody>
      </p:sp>
      <p:sp>
        <p:nvSpPr>
          <p:cNvPr id="4" name="Footer Placeholder 3">
            <a:extLst>
              <a:ext uri="{FF2B5EF4-FFF2-40B4-BE49-F238E27FC236}">
                <a16:creationId xmlns:a16="http://schemas.microsoft.com/office/drawing/2014/main" id="{874C4F07-8892-4942-A1B8-63F81823F327}"/>
              </a:ext>
            </a:extLst>
          </p:cNvPr>
          <p:cNvSpPr>
            <a:spLocks noGrp="1"/>
          </p:cNvSpPr>
          <p:nvPr>
            <p:ph type="ftr" sz="quarter" idx="11"/>
          </p:nvPr>
        </p:nvSpPr>
        <p:spPr/>
        <p:txBody>
          <a:bodyPr/>
          <a:lstStyle/>
          <a:p>
            <a:r>
              <a:rPr lang="en-ZA"/>
              <a:t>Introduction to taxation slides by Mlayezeli Mangena </a:t>
            </a:r>
            <a:endParaRPr lang="en-ZA" dirty="0"/>
          </a:p>
        </p:txBody>
      </p:sp>
    </p:spTree>
    <p:extLst>
      <p:ext uri="{BB962C8B-B14F-4D97-AF65-F5344CB8AC3E}">
        <p14:creationId xmlns:p14="http://schemas.microsoft.com/office/powerpoint/2010/main" val="35932334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36160-0DA2-4C9D-BDF9-882C578D8A97}"/>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8DEF2AF7-F26A-479C-9B7A-FDD50D24FD81}"/>
              </a:ext>
            </a:extLst>
          </p:cNvPr>
          <p:cNvSpPr>
            <a:spLocks noGrp="1"/>
          </p:cNvSpPr>
          <p:nvPr>
            <p:ph idx="1"/>
          </p:nvPr>
        </p:nvSpPr>
        <p:spPr/>
        <p:txBody>
          <a:bodyPr/>
          <a:lstStyle/>
          <a:p>
            <a:endParaRPr lang="en-ZA"/>
          </a:p>
        </p:txBody>
      </p:sp>
      <p:sp>
        <p:nvSpPr>
          <p:cNvPr id="4" name="Footer Placeholder 3">
            <a:extLst>
              <a:ext uri="{FF2B5EF4-FFF2-40B4-BE49-F238E27FC236}">
                <a16:creationId xmlns:a16="http://schemas.microsoft.com/office/drawing/2014/main" id="{F64569F4-1780-49AE-9928-A254F0414BFD}"/>
              </a:ext>
            </a:extLst>
          </p:cNvPr>
          <p:cNvSpPr>
            <a:spLocks noGrp="1"/>
          </p:cNvSpPr>
          <p:nvPr>
            <p:ph type="ftr" sz="quarter" idx="11"/>
          </p:nvPr>
        </p:nvSpPr>
        <p:spPr/>
        <p:txBody>
          <a:bodyPr/>
          <a:lstStyle/>
          <a:p>
            <a:r>
              <a:rPr lang="en-ZA"/>
              <a:t>Introduction to taxation slides by Mlayezeli Mangena </a:t>
            </a:r>
            <a:endParaRPr lang="en-ZA" dirty="0"/>
          </a:p>
        </p:txBody>
      </p:sp>
    </p:spTree>
    <p:extLst>
      <p:ext uri="{BB962C8B-B14F-4D97-AF65-F5344CB8AC3E}">
        <p14:creationId xmlns:p14="http://schemas.microsoft.com/office/powerpoint/2010/main" val="41774894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5F859-240A-438B-9F6F-FF48204EF17E}"/>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7818E29D-6EA3-412C-8F93-224884645170}"/>
              </a:ext>
            </a:extLst>
          </p:cNvPr>
          <p:cNvSpPr>
            <a:spLocks noGrp="1"/>
          </p:cNvSpPr>
          <p:nvPr>
            <p:ph idx="1"/>
          </p:nvPr>
        </p:nvSpPr>
        <p:spPr/>
        <p:txBody>
          <a:bodyPr/>
          <a:lstStyle/>
          <a:p>
            <a:endParaRPr lang="en-ZA"/>
          </a:p>
        </p:txBody>
      </p:sp>
      <p:sp>
        <p:nvSpPr>
          <p:cNvPr id="4" name="Footer Placeholder 3">
            <a:extLst>
              <a:ext uri="{FF2B5EF4-FFF2-40B4-BE49-F238E27FC236}">
                <a16:creationId xmlns:a16="http://schemas.microsoft.com/office/drawing/2014/main" id="{33DBE159-3BFB-4CF3-8018-C36C499D5C86}"/>
              </a:ext>
            </a:extLst>
          </p:cNvPr>
          <p:cNvSpPr>
            <a:spLocks noGrp="1"/>
          </p:cNvSpPr>
          <p:nvPr>
            <p:ph type="ftr" sz="quarter" idx="11"/>
          </p:nvPr>
        </p:nvSpPr>
        <p:spPr/>
        <p:txBody>
          <a:bodyPr/>
          <a:lstStyle/>
          <a:p>
            <a:r>
              <a:rPr lang="en-ZA"/>
              <a:t>Introduction to taxation slides by Mlayezeli Mangena </a:t>
            </a:r>
            <a:endParaRPr lang="en-ZA" dirty="0"/>
          </a:p>
        </p:txBody>
      </p:sp>
    </p:spTree>
    <p:extLst>
      <p:ext uri="{BB962C8B-B14F-4D97-AF65-F5344CB8AC3E}">
        <p14:creationId xmlns:p14="http://schemas.microsoft.com/office/powerpoint/2010/main" val="1594095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B004A-5366-458F-8F64-799D5562DA8A}"/>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1C18F249-EB15-4D87-A5C4-0D79984EF6BA}"/>
              </a:ext>
            </a:extLst>
          </p:cNvPr>
          <p:cNvSpPr>
            <a:spLocks noGrp="1"/>
          </p:cNvSpPr>
          <p:nvPr>
            <p:ph idx="1"/>
          </p:nvPr>
        </p:nvSpPr>
        <p:spPr/>
        <p:txBody>
          <a:bodyPr/>
          <a:lstStyle/>
          <a:p>
            <a:endParaRPr lang="en-ZA"/>
          </a:p>
        </p:txBody>
      </p:sp>
      <p:sp>
        <p:nvSpPr>
          <p:cNvPr id="4" name="Footer Placeholder 3">
            <a:extLst>
              <a:ext uri="{FF2B5EF4-FFF2-40B4-BE49-F238E27FC236}">
                <a16:creationId xmlns:a16="http://schemas.microsoft.com/office/drawing/2014/main" id="{A82A8256-DAD5-4797-8C2D-C52106B35CB5}"/>
              </a:ext>
            </a:extLst>
          </p:cNvPr>
          <p:cNvSpPr>
            <a:spLocks noGrp="1"/>
          </p:cNvSpPr>
          <p:nvPr>
            <p:ph type="ftr" sz="quarter" idx="11"/>
          </p:nvPr>
        </p:nvSpPr>
        <p:spPr/>
        <p:txBody>
          <a:bodyPr/>
          <a:lstStyle/>
          <a:p>
            <a:r>
              <a:rPr lang="en-ZA"/>
              <a:t>Introduction to taxation slides by Mlayezeli Mangena </a:t>
            </a:r>
            <a:endParaRPr lang="en-ZA" dirty="0"/>
          </a:p>
        </p:txBody>
      </p:sp>
    </p:spTree>
    <p:extLst>
      <p:ext uri="{BB962C8B-B14F-4D97-AF65-F5344CB8AC3E}">
        <p14:creationId xmlns:p14="http://schemas.microsoft.com/office/powerpoint/2010/main" val="41969464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69707-A3E9-4938-861F-43BDEC1F1C3B}"/>
              </a:ext>
            </a:extLst>
          </p:cNvPr>
          <p:cNvSpPr>
            <a:spLocks noGrp="1"/>
          </p:cNvSpPr>
          <p:nvPr>
            <p:ph type="title"/>
          </p:nvPr>
        </p:nvSpPr>
        <p:spPr>
          <a:xfrm>
            <a:off x="1484311" y="685800"/>
            <a:ext cx="10018713" cy="485775"/>
          </a:xfrm>
        </p:spPr>
        <p:txBody>
          <a:bodyPr>
            <a:normAutofit/>
          </a:bodyPr>
          <a:lstStyle/>
          <a:p>
            <a:pPr algn="l"/>
            <a:r>
              <a:rPr lang="en-ZA" sz="1800" b="1" dirty="0">
                <a:solidFill>
                  <a:srgbClr val="002060"/>
                </a:solidFill>
              </a:rPr>
              <a:t>Section 152c and 4</a:t>
            </a:r>
            <a:r>
              <a:rPr lang="en-ZA" sz="1800" b="1" baseline="30000" dirty="0">
                <a:solidFill>
                  <a:srgbClr val="002060"/>
                </a:solidFill>
              </a:rPr>
              <a:t>th</a:t>
            </a:r>
            <a:r>
              <a:rPr lang="en-ZA" sz="1800" b="1" dirty="0">
                <a:solidFill>
                  <a:srgbClr val="002060"/>
                </a:solidFill>
              </a:rPr>
              <a:t> Schedule</a:t>
            </a:r>
          </a:p>
        </p:txBody>
      </p:sp>
      <p:sp>
        <p:nvSpPr>
          <p:cNvPr id="3" name="Content Placeholder 2">
            <a:extLst>
              <a:ext uri="{FF2B5EF4-FFF2-40B4-BE49-F238E27FC236}">
                <a16:creationId xmlns:a16="http://schemas.microsoft.com/office/drawing/2014/main" id="{9AFAD6CF-5384-4348-A95E-0E9C42081F54}"/>
              </a:ext>
            </a:extLst>
          </p:cNvPr>
          <p:cNvSpPr>
            <a:spLocks noGrp="1"/>
          </p:cNvSpPr>
          <p:nvPr>
            <p:ph idx="1"/>
          </p:nvPr>
        </p:nvSpPr>
        <p:spPr>
          <a:xfrm>
            <a:off x="1484310" y="1609725"/>
            <a:ext cx="10018713" cy="4219575"/>
          </a:xfrm>
        </p:spPr>
        <p:txBody>
          <a:bodyPr anchor="t">
            <a:normAutofit/>
          </a:bodyPr>
          <a:lstStyle/>
          <a:p>
            <a:pPr marL="0" indent="0">
              <a:buNone/>
            </a:pPr>
            <a:r>
              <a:rPr lang="en-ZA" sz="1800" dirty="0"/>
              <a:t>Take a step back to the expenditure that we disallowed as a deduction due to being capital in nature ( refer to general deduction formulae</a:t>
            </a:r>
          </a:p>
          <a:p>
            <a:pPr marL="0" indent="0" algn="l">
              <a:buNone/>
            </a:pPr>
            <a:r>
              <a:rPr lang="en-ZA" sz="1800" b="0" i="0" u="none" strike="noStrike" baseline="0" dirty="0">
                <a:solidFill>
                  <a:srgbClr val="000000"/>
                </a:solidFill>
                <a:latin typeface="Calibri" panose="020F0502020204030204" pitchFamily="34" charset="0"/>
              </a:rPr>
              <a:t>The cost of acquiring assets used in trading is an expenditure of a capital nature, which is not allowable as a deduction.</a:t>
            </a:r>
          </a:p>
          <a:p>
            <a:pPr marL="0" indent="0" algn="l">
              <a:buNone/>
            </a:pPr>
            <a:r>
              <a:rPr lang="en-ZA" sz="1800" b="0" i="0" u="none" strike="noStrike" baseline="0" dirty="0">
                <a:solidFill>
                  <a:srgbClr val="000000"/>
                </a:solidFill>
                <a:latin typeface="Calibri" panose="020F0502020204030204" pitchFamily="34" charset="0"/>
              </a:rPr>
              <a:t>Depreciation also is not an expense to the taxman. It is replaced by the following capital allowances:</a:t>
            </a:r>
          </a:p>
          <a:p>
            <a:pPr marL="0" indent="0" algn="l">
              <a:buNone/>
            </a:pPr>
            <a:r>
              <a:rPr lang="en-ZA" sz="1800" b="0" i="0" u="none" strike="noStrike" baseline="0" dirty="0">
                <a:solidFill>
                  <a:srgbClr val="000000"/>
                </a:solidFill>
                <a:latin typeface="Calibri" panose="020F0502020204030204" pitchFamily="34" charset="0"/>
              </a:rPr>
              <a:t>1. Special initial</a:t>
            </a:r>
          </a:p>
          <a:p>
            <a:pPr marL="0" indent="0" algn="l">
              <a:buNone/>
            </a:pPr>
            <a:r>
              <a:rPr lang="en-ZA" sz="1800" dirty="0">
                <a:solidFill>
                  <a:srgbClr val="000000"/>
                </a:solidFill>
                <a:latin typeface="Calibri" panose="020F0502020204030204" pitchFamily="34" charset="0"/>
              </a:rPr>
              <a:t>2. </a:t>
            </a:r>
            <a:r>
              <a:rPr lang="en-ZA" sz="1800" b="0" i="0" u="none" strike="noStrike" baseline="0" dirty="0">
                <a:solidFill>
                  <a:srgbClr val="000000"/>
                </a:solidFill>
                <a:latin typeface="Calibri" panose="020F0502020204030204" pitchFamily="34" charset="0"/>
              </a:rPr>
              <a:t>Wear and tear </a:t>
            </a:r>
          </a:p>
          <a:p>
            <a:pPr marL="0" indent="0" algn="l">
              <a:buNone/>
            </a:pPr>
            <a:r>
              <a:rPr lang="en-ZA" sz="1800" dirty="0">
                <a:solidFill>
                  <a:srgbClr val="000000"/>
                </a:solidFill>
                <a:latin typeface="Calibri" panose="020F0502020204030204" pitchFamily="34" charset="0"/>
              </a:rPr>
              <a:t>3. </a:t>
            </a:r>
            <a:r>
              <a:rPr lang="en-ZA" sz="1800" b="0" i="0" u="none" strike="noStrike" baseline="0" dirty="0">
                <a:solidFill>
                  <a:srgbClr val="000000"/>
                </a:solidFill>
                <a:latin typeface="Calibri" panose="020F0502020204030204" pitchFamily="34" charset="0"/>
              </a:rPr>
              <a:t>Scrapping</a:t>
            </a:r>
          </a:p>
          <a:p>
            <a:pPr marL="0" indent="0" algn="l">
              <a:buNone/>
            </a:pPr>
            <a:r>
              <a:rPr lang="en-ZA" sz="1800" b="0" i="0" u="none" strike="noStrike" baseline="0" dirty="0">
                <a:solidFill>
                  <a:srgbClr val="000000"/>
                </a:solidFill>
                <a:latin typeface="Calibri" panose="020F0502020204030204" pitchFamily="34" charset="0"/>
              </a:rPr>
              <a:t>To qualify for allowances an asset must be used for purposes of trade. Land generally does not qualify for either depreciation or capital allowances.</a:t>
            </a:r>
          </a:p>
          <a:p>
            <a:pPr algn="l"/>
            <a:endParaRPr lang="en-ZA" sz="1800" b="0" i="0" u="none" strike="noStrike" baseline="0" dirty="0">
              <a:solidFill>
                <a:srgbClr val="000000"/>
              </a:solidFill>
              <a:latin typeface="Calibri" panose="020F0502020204030204" pitchFamily="34" charset="0"/>
            </a:endParaRPr>
          </a:p>
          <a:p>
            <a:pPr marL="0" indent="0">
              <a:buNone/>
            </a:pPr>
            <a:endParaRPr lang="en-ZA" sz="1800" dirty="0"/>
          </a:p>
          <a:p>
            <a:pPr marL="0" indent="0">
              <a:buNone/>
            </a:pPr>
            <a:endParaRPr lang="en-ZA" sz="1800" dirty="0"/>
          </a:p>
        </p:txBody>
      </p:sp>
      <p:sp>
        <p:nvSpPr>
          <p:cNvPr id="4" name="Footer Placeholder 3">
            <a:extLst>
              <a:ext uri="{FF2B5EF4-FFF2-40B4-BE49-F238E27FC236}">
                <a16:creationId xmlns:a16="http://schemas.microsoft.com/office/drawing/2014/main" id="{5A172B4F-6278-4728-AF55-9F9E739B6D6E}"/>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1583022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3DCC9-890C-4C40-B1D8-DAA5AB0DDC76}"/>
              </a:ext>
            </a:extLst>
          </p:cNvPr>
          <p:cNvSpPr>
            <a:spLocks noGrp="1"/>
          </p:cNvSpPr>
          <p:nvPr>
            <p:ph type="title"/>
          </p:nvPr>
        </p:nvSpPr>
        <p:spPr>
          <a:xfrm>
            <a:off x="1484311" y="685801"/>
            <a:ext cx="10018713" cy="380999"/>
          </a:xfrm>
        </p:spPr>
        <p:txBody>
          <a:bodyPr>
            <a:normAutofit/>
          </a:bodyPr>
          <a:lstStyle/>
          <a:p>
            <a:pPr algn="l"/>
            <a:r>
              <a:rPr lang="en-ZA" sz="1800" dirty="0">
                <a:solidFill>
                  <a:srgbClr val="002060"/>
                </a:solidFill>
              </a:rPr>
              <a:t>SIA and wear and tear rules </a:t>
            </a:r>
          </a:p>
        </p:txBody>
      </p:sp>
      <p:sp>
        <p:nvSpPr>
          <p:cNvPr id="3" name="Content Placeholder 2">
            <a:extLst>
              <a:ext uri="{FF2B5EF4-FFF2-40B4-BE49-F238E27FC236}">
                <a16:creationId xmlns:a16="http://schemas.microsoft.com/office/drawing/2014/main" id="{205661C4-6C32-4E68-96DC-3270781EBB44}"/>
              </a:ext>
            </a:extLst>
          </p:cNvPr>
          <p:cNvSpPr>
            <a:spLocks noGrp="1"/>
          </p:cNvSpPr>
          <p:nvPr>
            <p:ph idx="1"/>
          </p:nvPr>
        </p:nvSpPr>
        <p:spPr>
          <a:xfrm>
            <a:off x="1484310" y="1152525"/>
            <a:ext cx="10018713" cy="4638675"/>
          </a:xfrm>
        </p:spPr>
        <p:txBody>
          <a:bodyPr anchor="t">
            <a:normAutofit/>
          </a:bodyPr>
          <a:lstStyle/>
          <a:p>
            <a:pPr marL="0" indent="0">
              <a:buNone/>
            </a:pPr>
            <a:r>
              <a:rPr lang="en-ZA" sz="1600" dirty="0">
                <a:latin typeface="+mj-lt"/>
              </a:rPr>
              <a:t>Special initial allowance is only claimable when:</a:t>
            </a:r>
          </a:p>
          <a:p>
            <a:pPr marL="457200" indent="-457200">
              <a:buAutoNum type="arabicPeriod"/>
            </a:pPr>
            <a:r>
              <a:rPr lang="en-ZA" sz="1600" dirty="0">
                <a:latin typeface="+mj-lt"/>
              </a:rPr>
              <a:t>An immovable is constructed by the taxpayer </a:t>
            </a:r>
          </a:p>
          <a:p>
            <a:pPr marL="457200" indent="-457200">
              <a:buAutoNum type="arabicPeriod"/>
            </a:pPr>
            <a:r>
              <a:rPr lang="en-ZA" sz="1600" dirty="0">
                <a:latin typeface="+mj-lt"/>
              </a:rPr>
              <a:t>On immovable assets the taxpayer should be the one who purchased the assets</a:t>
            </a:r>
          </a:p>
          <a:p>
            <a:pPr marL="457200" indent="-457200">
              <a:buAutoNum type="arabicPeriod"/>
            </a:pPr>
            <a:r>
              <a:rPr lang="en-ZA" sz="1600" dirty="0">
                <a:latin typeface="+mj-lt"/>
              </a:rPr>
              <a:t>The asset should be put to use in the first year of purchase </a:t>
            </a:r>
          </a:p>
          <a:p>
            <a:pPr marL="457200" indent="-457200">
              <a:buAutoNum type="arabicPeriod"/>
            </a:pPr>
            <a:r>
              <a:rPr lang="en-ZA" sz="1600" dirty="0">
                <a:latin typeface="+mj-lt"/>
              </a:rPr>
              <a:t>The asset should be used 90% or more for the purpose of trade </a:t>
            </a:r>
          </a:p>
          <a:p>
            <a:pPr marL="0" indent="0">
              <a:buNone/>
            </a:pPr>
            <a:r>
              <a:rPr lang="en-ZA" sz="1600" dirty="0">
                <a:latin typeface="+mj-lt"/>
              </a:rPr>
              <a:t>If the conditions above are not met then you can claim wear and tear,</a:t>
            </a:r>
          </a:p>
          <a:p>
            <a:pPr marL="0" indent="0">
              <a:buNone/>
            </a:pPr>
            <a:r>
              <a:rPr lang="en-ZA" sz="1600" dirty="0">
                <a:latin typeface="+mj-lt"/>
              </a:rPr>
              <a:t>SIA is not time apportioned and it’s chargeable in the assets in ownership of the taxpayer at the end of the tax year ( if the asset is not there then it is not taxable)</a:t>
            </a:r>
          </a:p>
          <a:p>
            <a:pPr marL="0" indent="0">
              <a:buNone/>
            </a:pPr>
            <a:r>
              <a:rPr lang="en-ZA" sz="1600" dirty="0">
                <a:solidFill>
                  <a:srgbClr val="002060"/>
                </a:solidFill>
                <a:latin typeface="+mj-lt"/>
              </a:rPr>
              <a:t>Wear and tear </a:t>
            </a:r>
          </a:p>
          <a:p>
            <a:pPr marL="0" indent="0" algn="l">
              <a:buNone/>
            </a:pPr>
            <a:r>
              <a:rPr lang="en-ZA" sz="1600" b="0" i="0" u="none" strike="noStrike" baseline="0" dirty="0">
                <a:solidFill>
                  <a:srgbClr val="000000"/>
                </a:solidFill>
                <a:latin typeface="+mj-lt"/>
              </a:rPr>
              <a:t>Granted where no S.I.A. has been elected.</a:t>
            </a:r>
          </a:p>
          <a:p>
            <a:pPr marL="0" indent="0" algn="l">
              <a:buNone/>
            </a:pPr>
            <a:r>
              <a:rPr lang="en-ZA" sz="1600" b="1" dirty="0">
                <a:solidFill>
                  <a:srgbClr val="000000"/>
                </a:solidFill>
                <a:latin typeface="+mj-lt"/>
              </a:rPr>
              <a:t> </a:t>
            </a:r>
            <a:r>
              <a:rPr lang="en-ZA" sz="1600" dirty="0">
                <a:solidFill>
                  <a:srgbClr val="000000"/>
                </a:solidFill>
                <a:latin typeface="+mj-lt"/>
              </a:rPr>
              <a:t>It’s</a:t>
            </a:r>
            <a:r>
              <a:rPr lang="en-ZA" sz="1600" b="0" i="0" u="none" strike="noStrike" baseline="0" dirty="0">
                <a:solidFill>
                  <a:srgbClr val="000000"/>
                </a:solidFill>
                <a:latin typeface="+mj-lt"/>
              </a:rPr>
              <a:t> calculated on a straight-line basis if the asset is immovable thus it’s computed on the cost, </a:t>
            </a:r>
          </a:p>
          <a:p>
            <a:pPr marL="0" indent="0" algn="l">
              <a:buNone/>
            </a:pPr>
            <a:r>
              <a:rPr lang="en-ZA" sz="1600" dirty="0">
                <a:solidFill>
                  <a:srgbClr val="000000"/>
                </a:solidFill>
                <a:latin typeface="+mj-lt"/>
              </a:rPr>
              <a:t>On purchased movable assets it computed on a reducing balance bases </a:t>
            </a:r>
            <a:endParaRPr lang="en-ZA" sz="1600" dirty="0">
              <a:solidFill>
                <a:srgbClr val="002060"/>
              </a:solidFill>
              <a:latin typeface="+mj-lt"/>
            </a:endParaRPr>
          </a:p>
        </p:txBody>
      </p:sp>
      <p:sp>
        <p:nvSpPr>
          <p:cNvPr id="4" name="Footer Placeholder 3">
            <a:extLst>
              <a:ext uri="{FF2B5EF4-FFF2-40B4-BE49-F238E27FC236}">
                <a16:creationId xmlns:a16="http://schemas.microsoft.com/office/drawing/2014/main" id="{ABE1FF15-3403-4D6D-82DB-91358A00903A}"/>
              </a:ext>
            </a:extLst>
          </p:cNvPr>
          <p:cNvSpPr>
            <a:spLocks noGrp="1"/>
          </p:cNvSpPr>
          <p:nvPr>
            <p:ph type="ftr" sz="quarter" idx="11"/>
          </p:nvPr>
        </p:nvSpPr>
        <p:spPr/>
        <p:txBody>
          <a:bodyPr/>
          <a:lstStyle/>
          <a:p>
            <a:r>
              <a:rPr lang="en-ZA"/>
              <a:t>Introduction to taxation slides by Mlayezeli Mangena </a:t>
            </a:r>
            <a:endParaRPr lang="en-ZA" dirty="0"/>
          </a:p>
        </p:txBody>
      </p:sp>
    </p:spTree>
    <p:extLst>
      <p:ext uri="{BB962C8B-B14F-4D97-AF65-F5344CB8AC3E}">
        <p14:creationId xmlns:p14="http://schemas.microsoft.com/office/powerpoint/2010/main" val="5029287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F9FCC-8CFC-431B-B930-05CD346A4460}"/>
              </a:ext>
            </a:extLst>
          </p:cNvPr>
          <p:cNvSpPr>
            <a:spLocks noGrp="1"/>
          </p:cNvSpPr>
          <p:nvPr>
            <p:ph type="title"/>
          </p:nvPr>
        </p:nvSpPr>
        <p:spPr>
          <a:xfrm>
            <a:off x="1484311" y="685801"/>
            <a:ext cx="10018713" cy="495300"/>
          </a:xfrm>
        </p:spPr>
        <p:txBody>
          <a:bodyPr>
            <a:normAutofit/>
          </a:bodyPr>
          <a:lstStyle/>
          <a:p>
            <a:pPr algn="l"/>
            <a:r>
              <a:rPr lang="en-ZA" sz="1800" dirty="0">
                <a:solidFill>
                  <a:srgbClr val="002060"/>
                </a:solidFill>
              </a:rPr>
              <a:t>Deemed cost for Various Assets</a:t>
            </a:r>
          </a:p>
        </p:txBody>
      </p:sp>
      <p:sp>
        <p:nvSpPr>
          <p:cNvPr id="3" name="Content Placeholder 2">
            <a:extLst>
              <a:ext uri="{FF2B5EF4-FFF2-40B4-BE49-F238E27FC236}">
                <a16:creationId xmlns:a16="http://schemas.microsoft.com/office/drawing/2014/main" id="{509F85FA-8162-4CED-9341-9DA873609DB3}"/>
              </a:ext>
            </a:extLst>
          </p:cNvPr>
          <p:cNvSpPr>
            <a:spLocks noGrp="1"/>
          </p:cNvSpPr>
          <p:nvPr>
            <p:ph idx="1"/>
          </p:nvPr>
        </p:nvSpPr>
        <p:spPr>
          <a:xfrm>
            <a:off x="1484310" y="1438275"/>
            <a:ext cx="10018713" cy="4352925"/>
          </a:xfrm>
        </p:spPr>
        <p:txBody>
          <a:bodyPr anchor="t">
            <a:normAutofit/>
          </a:bodyPr>
          <a:lstStyle/>
          <a:p>
            <a:pPr marL="0" indent="0">
              <a:buNone/>
            </a:pPr>
            <a:endParaRPr lang="en-ZA" sz="1800" dirty="0"/>
          </a:p>
        </p:txBody>
      </p:sp>
      <p:sp>
        <p:nvSpPr>
          <p:cNvPr id="4" name="Footer Placeholder 3">
            <a:extLst>
              <a:ext uri="{FF2B5EF4-FFF2-40B4-BE49-F238E27FC236}">
                <a16:creationId xmlns:a16="http://schemas.microsoft.com/office/drawing/2014/main" id="{DFFFEE40-8263-478B-A8B4-A7243F9C61B6}"/>
              </a:ext>
            </a:extLst>
          </p:cNvPr>
          <p:cNvSpPr>
            <a:spLocks noGrp="1"/>
          </p:cNvSpPr>
          <p:nvPr>
            <p:ph type="ftr" sz="quarter" idx="11"/>
          </p:nvPr>
        </p:nvSpPr>
        <p:spPr/>
        <p:txBody>
          <a:bodyPr/>
          <a:lstStyle/>
          <a:p>
            <a:r>
              <a:rPr lang="en-ZA"/>
              <a:t>Introduction to taxation slides by Mlayezeli Mangena </a:t>
            </a:r>
            <a:endParaRPr lang="en-ZA" dirty="0"/>
          </a:p>
        </p:txBody>
      </p:sp>
    </p:spTree>
    <p:extLst>
      <p:ext uri="{BB962C8B-B14F-4D97-AF65-F5344CB8AC3E}">
        <p14:creationId xmlns:p14="http://schemas.microsoft.com/office/powerpoint/2010/main" val="1361161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230F3-5566-45D0-B5F3-3FBDF26FE285}"/>
              </a:ext>
            </a:extLst>
          </p:cNvPr>
          <p:cNvSpPr>
            <a:spLocks noGrp="1"/>
          </p:cNvSpPr>
          <p:nvPr>
            <p:ph type="title"/>
          </p:nvPr>
        </p:nvSpPr>
        <p:spPr>
          <a:xfrm>
            <a:off x="1484311" y="685801"/>
            <a:ext cx="10018713" cy="571500"/>
          </a:xfrm>
        </p:spPr>
        <p:txBody>
          <a:bodyPr>
            <a:normAutofit/>
          </a:bodyPr>
          <a:lstStyle/>
          <a:p>
            <a:pPr algn="l"/>
            <a:r>
              <a:rPr lang="en-ZA" sz="2000" dirty="0">
                <a:solidFill>
                  <a:srgbClr val="002060"/>
                </a:solidFill>
              </a:rPr>
              <a:t>Recoupment ( 8)(1)(1) and 81j</a:t>
            </a:r>
          </a:p>
        </p:txBody>
      </p:sp>
      <p:sp>
        <p:nvSpPr>
          <p:cNvPr id="3" name="Content Placeholder 2">
            <a:extLst>
              <a:ext uri="{FF2B5EF4-FFF2-40B4-BE49-F238E27FC236}">
                <a16:creationId xmlns:a16="http://schemas.microsoft.com/office/drawing/2014/main" id="{FA6A7A0C-806B-4149-BE45-DC6AA006BBFC}"/>
              </a:ext>
            </a:extLst>
          </p:cNvPr>
          <p:cNvSpPr>
            <a:spLocks noGrp="1"/>
          </p:cNvSpPr>
          <p:nvPr>
            <p:ph idx="1"/>
          </p:nvPr>
        </p:nvSpPr>
        <p:spPr>
          <a:xfrm>
            <a:off x="1484310" y="1362075"/>
            <a:ext cx="10018713" cy="4429125"/>
          </a:xfrm>
        </p:spPr>
        <p:txBody>
          <a:bodyPr anchor="t"/>
          <a:lstStyle/>
          <a:p>
            <a:pPr marL="0" indent="0">
              <a:buNone/>
            </a:pPr>
            <a:endParaRPr lang="en-ZA" sz="1800" b="0" i="0" u="none" strike="noStrike" baseline="0" dirty="0">
              <a:solidFill>
                <a:srgbClr val="000000"/>
              </a:solidFill>
              <a:latin typeface="Calibri" panose="020F0502020204030204" pitchFamily="34" charset="0"/>
            </a:endParaRPr>
          </a:p>
          <a:p>
            <a:pPr marL="0" indent="0">
              <a:buNone/>
            </a:pPr>
            <a:endParaRPr lang="en-ZA" dirty="0"/>
          </a:p>
        </p:txBody>
      </p:sp>
      <p:sp>
        <p:nvSpPr>
          <p:cNvPr id="4" name="Footer Placeholder 3">
            <a:extLst>
              <a:ext uri="{FF2B5EF4-FFF2-40B4-BE49-F238E27FC236}">
                <a16:creationId xmlns:a16="http://schemas.microsoft.com/office/drawing/2014/main" id="{FE98E564-E4D8-4DCE-866F-B523A64D44EE}"/>
              </a:ext>
            </a:extLst>
          </p:cNvPr>
          <p:cNvSpPr>
            <a:spLocks noGrp="1"/>
          </p:cNvSpPr>
          <p:nvPr>
            <p:ph type="ftr" sz="quarter" idx="11"/>
          </p:nvPr>
        </p:nvSpPr>
        <p:spPr/>
        <p:txBody>
          <a:bodyPr/>
          <a:lstStyle/>
          <a:p>
            <a:r>
              <a:rPr lang="en-ZA"/>
              <a:t>Introduction to taxation slides by Mlayezeli Mangena </a:t>
            </a:r>
            <a:endParaRPr lang="en-ZA" dirty="0"/>
          </a:p>
        </p:txBody>
      </p:sp>
      <p:pic>
        <p:nvPicPr>
          <p:cNvPr id="8" name="Picture 7">
            <a:extLst>
              <a:ext uri="{FF2B5EF4-FFF2-40B4-BE49-F238E27FC236}">
                <a16:creationId xmlns:a16="http://schemas.microsoft.com/office/drawing/2014/main" id="{92CE3D23-E486-4B59-9256-B6124323A485}"/>
              </a:ext>
            </a:extLst>
          </p:cNvPr>
          <p:cNvPicPr>
            <a:picLocks noChangeAspect="1"/>
          </p:cNvPicPr>
          <p:nvPr/>
        </p:nvPicPr>
        <p:blipFill>
          <a:blip r:embed="rId2"/>
          <a:stretch>
            <a:fillRect/>
          </a:stretch>
        </p:blipFill>
        <p:spPr>
          <a:xfrm>
            <a:off x="1484310" y="1257301"/>
            <a:ext cx="7156599" cy="4334719"/>
          </a:xfrm>
          <a:prstGeom prst="rect">
            <a:avLst/>
          </a:prstGeom>
        </p:spPr>
      </p:pic>
    </p:spTree>
    <p:extLst>
      <p:ext uri="{BB962C8B-B14F-4D97-AF65-F5344CB8AC3E}">
        <p14:creationId xmlns:p14="http://schemas.microsoft.com/office/powerpoint/2010/main" val="18669450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0906B-50DE-48A7-893F-5F38FD4674C2}"/>
              </a:ext>
            </a:extLst>
          </p:cNvPr>
          <p:cNvSpPr>
            <a:spLocks noGrp="1"/>
          </p:cNvSpPr>
          <p:nvPr>
            <p:ph type="title"/>
          </p:nvPr>
        </p:nvSpPr>
        <p:spPr>
          <a:xfrm>
            <a:off x="1484311" y="685800"/>
            <a:ext cx="10018713" cy="676275"/>
          </a:xfrm>
        </p:spPr>
        <p:txBody>
          <a:bodyPr>
            <a:normAutofit/>
          </a:bodyPr>
          <a:lstStyle/>
          <a:p>
            <a:pPr algn="l"/>
            <a:r>
              <a:rPr lang="en-ZA" sz="1800" dirty="0"/>
              <a:t>Recoupment Example</a:t>
            </a:r>
          </a:p>
        </p:txBody>
      </p:sp>
      <p:sp>
        <p:nvSpPr>
          <p:cNvPr id="3" name="Content Placeholder 2">
            <a:extLst>
              <a:ext uri="{FF2B5EF4-FFF2-40B4-BE49-F238E27FC236}">
                <a16:creationId xmlns:a16="http://schemas.microsoft.com/office/drawing/2014/main" id="{562C44FE-E395-4091-B286-7B3AF42A7113}"/>
              </a:ext>
            </a:extLst>
          </p:cNvPr>
          <p:cNvSpPr>
            <a:spLocks noGrp="1"/>
          </p:cNvSpPr>
          <p:nvPr>
            <p:ph idx="1"/>
          </p:nvPr>
        </p:nvSpPr>
        <p:spPr>
          <a:xfrm>
            <a:off x="1484310" y="1495425"/>
            <a:ext cx="10018713" cy="4295775"/>
          </a:xfrm>
        </p:spPr>
        <p:txBody>
          <a:bodyPr anchor="t">
            <a:normAutofit lnSpcReduction="10000"/>
          </a:bodyPr>
          <a:lstStyle/>
          <a:p>
            <a:pPr marL="0" marR="540" indent="0" algn="just">
              <a:buNone/>
            </a:pPr>
            <a:r>
              <a:rPr lang="en-ZA" sz="1800" b="0" i="0" u="none" strike="noStrike" baseline="0" dirty="0">
                <a:solidFill>
                  <a:srgbClr val="000000"/>
                </a:solidFill>
                <a:latin typeface="Calibri" panose="020F0502020204030204" pitchFamily="34" charset="0"/>
              </a:rPr>
              <a:t>A taxpayer purchased the following assets in the 2010 tax year, a passenger motor vehicle for $15,000 and machinery for $40,000.  During the 2013 tax year he sold them for $9,000 and $30,000 respectively.</a:t>
            </a:r>
          </a:p>
          <a:p>
            <a:pPr marL="0" indent="0" algn="l">
              <a:buNone/>
            </a:pPr>
            <a:r>
              <a:rPr lang="en-ZA" sz="1800" b="0" i="0" u="none" strike="noStrike" baseline="0" dirty="0">
                <a:solidFill>
                  <a:srgbClr val="000000"/>
                </a:solidFill>
                <a:latin typeface="Calibri" panose="020F0502020204030204" pitchFamily="34" charset="0"/>
              </a:rPr>
              <a:t>Required: To calculate his recoupment in the current. Assume SIA was claimed.</a:t>
            </a:r>
          </a:p>
          <a:p>
            <a:pPr marL="0" indent="0" algn="l">
              <a:buNone/>
            </a:pPr>
            <a:endParaRPr lang="en-ZA" sz="1800" dirty="0">
              <a:solidFill>
                <a:srgbClr val="000000"/>
              </a:solidFill>
              <a:latin typeface="Calibri" panose="020F0502020204030204" pitchFamily="34" charset="0"/>
            </a:endParaRPr>
          </a:p>
          <a:p>
            <a:pPr marL="0" indent="0" algn="l">
              <a:buNone/>
            </a:pPr>
            <a:r>
              <a:rPr lang="en-ZA" sz="1800" b="0" i="0" u="none" strike="noStrike" baseline="0" dirty="0">
                <a:solidFill>
                  <a:srgbClr val="000000"/>
                </a:solidFill>
                <a:latin typeface="Calibri" panose="020F0502020204030204" pitchFamily="34" charset="0"/>
              </a:rPr>
              <a:t>Recoupment on damaged assets </a:t>
            </a:r>
          </a:p>
          <a:p>
            <a:pPr marL="0" marR="540" indent="0" algn="just">
              <a:buNone/>
            </a:pPr>
            <a:r>
              <a:rPr lang="en-ZA" sz="1800" b="0" i="0" u="none" strike="noStrike" baseline="0" dirty="0">
                <a:solidFill>
                  <a:srgbClr val="000000"/>
                </a:solidFill>
                <a:latin typeface="Calibri" panose="020F0502020204030204" pitchFamily="34" charset="0"/>
              </a:rPr>
              <a:t>Where recoupment arises on damage of an asset, and the sale proceeds are receivable through an insurance policy, the whole amount will not be taxable provided the tax payer satisfies the commissioner that:</a:t>
            </a:r>
          </a:p>
          <a:p>
            <a:pPr marL="0" marR="540" indent="0" algn="just">
              <a:buNone/>
            </a:pPr>
            <a:r>
              <a:rPr lang="en-ZA" sz="1800" b="0" i="0" u="none" strike="noStrike" baseline="0" dirty="0">
                <a:solidFill>
                  <a:srgbClr val="000000"/>
                </a:solidFill>
                <a:latin typeface="Calibri" panose="020F0502020204030204" pitchFamily="34" charset="0"/>
              </a:rPr>
              <a:t>1. Within a period of 18 months from the date of damage or destruction he has</a:t>
            </a:r>
          </a:p>
          <a:p>
            <a:pPr marL="0" indent="0" algn="l">
              <a:buNone/>
            </a:pPr>
            <a:r>
              <a:rPr lang="en-ZA" sz="1800" b="0" i="0" u="none" strike="noStrike" baseline="0" dirty="0">
                <a:solidFill>
                  <a:srgbClr val="000000"/>
                </a:solidFill>
                <a:latin typeface="Calibri" panose="020F0502020204030204" pitchFamily="34" charset="0"/>
              </a:rPr>
              <a:t>2. Purchased or construct a similar asset thereof and that;</a:t>
            </a:r>
          </a:p>
          <a:p>
            <a:pPr marL="0" indent="0" algn="l">
              <a:buNone/>
            </a:pPr>
            <a:r>
              <a:rPr lang="en-ZA" sz="1800" dirty="0">
                <a:solidFill>
                  <a:srgbClr val="000000"/>
                </a:solidFill>
                <a:latin typeface="Calibri" panose="020F0502020204030204" pitchFamily="34" charset="0"/>
              </a:rPr>
              <a:t>3. </a:t>
            </a:r>
            <a:r>
              <a:rPr lang="en-ZA" sz="1800" b="0" i="0" u="none" strike="noStrike" baseline="0" dirty="0">
                <a:solidFill>
                  <a:srgbClr val="000000"/>
                </a:solidFill>
                <a:latin typeface="Calibri" panose="020F0502020204030204" pitchFamily="34" charset="0"/>
              </a:rPr>
              <a:t>Such asset has been or will be brought into use within a period of 3 years from the date the original asset was damaged or destroyed.</a:t>
            </a:r>
          </a:p>
          <a:p>
            <a:pPr marL="0" indent="0" algn="l">
              <a:buNone/>
            </a:pPr>
            <a:endParaRPr lang="en-ZA" sz="1800" b="0" i="0" u="none" strike="noStrike" baseline="0" dirty="0">
              <a:solidFill>
                <a:srgbClr val="000000"/>
              </a:solidFill>
              <a:latin typeface="Calibri" panose="020F0502020204030204" pitchFamily="34" charset="0"/>
            </a:endParaRPr>
          </a:p>
          <a:p>
            <a:pPr marL="0" indent="0">
              <a:buNone/>
            </a:pPr>
            <a:endParaRPr lang="en-ZA" dirty="0"/>
          </a:p>
        </p:txBody>
      </p:sp>
      <p:sp>
        <p:nvSpPr>
          <p:cNvPr id="4" name="Footer Placeholder 3">
            <a:extLst>
              <a:ext uri="{FF2B5EF4-FFF2-40B4-BE49-F238E27FC236}">
                <a16:creationId xmlns:a16="http://schemas.microsoft.com/office/drawing/2014/main" id="{FBD5AE30-1878-491D-A70B-23D54E584A8C}"/>
              </a:ext>
            </a:extLst>
          </p:cNvPr>
          <p:cNvSpPr>
            <a:spLocks noGrp="1"/>
          </p:cNvSpPr>
          <p:nvPr>
            <p:ph type="ftr" sz="quarter" idx="11"/>
          </p:nvPr>
        </p:nvSpPr>
        <p:spPr/>
        <p:txBody>
          <a:bodyPr/>
          <a:lstStyle/>
          <a:p>
            <a:r>
              <a:rPr lang="en-ZA"/>
              <a:t>Introduction to taxation slides by Mlayezeli Mangena </a:t>
            </a:r>
            <a:endParaRPr lang="en-ZA" dirty="0"/>
          </a:p>
        </p:txBody>
      </p:sp>
    </p:spTree>
    <p:extLst>
      <p:ext uri="{BB962C8B-B14F-4D97-AF65-F5344CB8AC3E}">
        <p14:creationId xmlns:p14="http://schemas.microsoft.com/office/powerpoint/2010/main" val="23448470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A1CF4-92BC-454C-B33D-650D80AF26F7}"/>
              </a:ext>
            </a:extLst>
          </p:cNvPr>
          <p:cNvSpPr>
            <a:spLocks noGrp="1"/>
          </p:cNvSpPr>
          <p:nvPr>
            <p:ph type="title"/>
          </p:nvPr>
        </p:nvSpPr>
        <p:spPr>
          <a:xfrm>
            <a:off x="1484311" y="685801"/>
            <a:ext cx="10018713" cy="609600"/>
          </a:xfrm>
        </p:spPr>
        <p:txBody>
          <a:bodyPr>
            <a:normAutofit/>
          </a:bodyPr>
          <a:lstStyle/>
          <a:p>
            <a:pPr algn="l"/>
            <a:r>
              <a:rPr lang="en-ZA" sz="1800" dirty="0">
                <a:solidFill>
                  <a:srgbClr val="002060"/>
                </a:solidFill>
              </a:rPr>
              <a:t>Scrapping Allowance Para 4 of the 4</a:t>
            </a:r>
            <a:r>
              <a:rPr lang="en-ZA" sz="1800" baseline="30000" dirty="0">
                <a:solidFill>
                  <a:srgbClr val="002060"/>
                </a:solidFill>
              </a:rPr>
              <a:t>th</a:t>
            </a:r>
            <a:r>
              <a:rPr lang="en-ZA" sz="1800" dirty="0">
                <a:solidFill>
                  <a:srgbClr val="002060"/>
                </a:solidFill>
              </a:rPr>
              <a:t> Schedule</a:t>
            </a:r>
          </a:p>
        </p:txBody>
      </p:sp>
      <p:sp>
        <p:nvSpPr>
          <p:cNvPr id="3" name="Content Placeholder 2">
            <a:extLst>
              <a:ext uri="{FF2B5EF4-FFF2-40B4-BE49-F238E27FC236}">
                <a16:creationId xmlns:a16="http://schemas.microsoft.com/office/drawing/2014/main" id="{C7E77694-A849-4578-8D5C-2901E45CEA04}"/>
              </a:ext>
            </a:extLst>
          </p:cNvPr>
          <p:cNvSpPr>
            <a:spLocks noGrp="1"/>
          </p:cNvSpPr>
          <p:nvPr>
            <p:ph idx="1"/>
          </p:nvPr>
        </p:nvSpPr>
        <p:spPr>
          <a:xfrm>
            <a:off x="1484310" y="1457325"/>
            <a:ext cx="10018713" cy="4333875"/>
          </a:xfrm>
        </p:spPr>
        <p:txBody>
          <a:bodyPr anchor="t">
            <a:normAutofit lnSpcReduction="10000"/>
          </a:bodyPr>
          <a:lstStyle/>
          <a:p>
            <a:pPr marL="0" indent="0">
              <a:buNone/>
            </a:pPr>
            <a:r>
              <a:rPr lang="en-ZA" sz="1800" b="0" i="0" u="none" strike="noStrike" baseline="0" dirty="0">
                <a:solidFill>
                  <a:srgbClr val="000000"/>
                </a:solidFill>
                <a:latin typeface="Calibri" panose="020F0502020204030204" pitchFamily="34" charset="0"/>
              </a:rPr>
              <a:t>Scrapping allowances are the equivalent of losses on the disposal of fixed assets used for trade. It arises when a scrapped asset is disposed of for proceeds that are less than the income tax value. Scrapping allowance is deducted in the determination of the taxpayer’s taxable income.</a:t>
            </a:r>
          </a:p>
          <a:p>
            <a:pPr marR="590" algn="just"/>
            <a:r>
              <a:rPr lang="en-ZA" sz="1800" b="0" i="0" u="none" strike="noStrike" baseline="0" dirty="0">
                <a:solidFill>
                  <a:srgbClr val="000000"/>
                </a:solidFill>
                <a:latin typeface="Calibri" panose="020F0502020204030204" pitchFamily="34" charset="0"/>
              </a:rPr>
              <a:t>In a case where the asset has not been sold, the allowance can only be granted where the commissioner is satisfied that the asset has become useless for business purposes or has been discarded with no intention to use it again in the future.</a:t>
            </a:r>
          </a:p>
          <a:p>
            <a:pPr marR="610" algn="just"/>
            <a:r>
              <a:rPr lang="en-ZA" sz="1800" b="0" i="0" u="none" strike="noStrike" baseline="0" dirty="0">
                <a:solidFill>
                  <a:srgbClr val="000000"/>
                </a:solidFill>
                <a:latin typeface="Arial" panose="020B0604020202020204" pitchFamily="34" charset="0"/>
              </a:rPr>
              <a:t> </a:t>
            </a:r>
            <a:r>
              <a:rPr lang="en-ZA" sz="1800" b="0" i="0" u="none" strike="noStrike" baseline="0" dirty="0">
                <a:solidFill>
                  <a:srgbClr val="000000"/>
                </a:solidFill>
                <a:latin typeface="Calibri" panose="020F0502020204030204" pitchFamily="34" charset="0"/>
              </a:rPr>
              <a:t>When business organizations wind up operations, scrapping allowances will be allowed to the extent that it does not exceed the recoupment arising from the business closure</a:t>
            </a:r>
          </a:p>
          <a:p>
            <a:pPr marL="0" indent="0" algn="l">
              <a:buNone/>
            </a:pPr>
            <a:r>
              <a:rPr lang="en-ZA" sz="1800" b="1" i="1" u="none" strike="noStrike" baseline="0" dirty="0">
                <a:solidFill>
                  <a:srgbClr val="000000"/>
                </a:solidFill>
                <a:latin typeface="Calibri" panose="020F0502020204030204" pitchFamily="34" charset="0"/>
              </a:rPr>
              <a:t>Example: Scrapping allowance</a:t>
            </a:r>
            <a:endParaRPr lang="en-ZA" sz="1800" b="0" i="0" u="none" strike="noStrike" baseline="0" dirty="0">
              <a:solidFill>
                <a:srgbClr val="000000"/>
              </a:solidFill>
              <a:latin typeface="Calibri" panose="020F0502020204030204" pitchFamily="34" charset="0"/>
            </a:endParaRPr>
          </a:p>
          <a:p>
            <a:pPr marL="0" marR="560" indent="0" algn="just">
              <a:buNone/>
            </a:pPr>
            <a:r>
              <a:rPr lang="en-ZA" sz="1800" b="0" i="1" u="none" strike="noStrike" baseline="0" dirty="0">
                <a:solidFill>
                  <a:srgbClr val="000000"/>
                </a:solidFill>
                <a:latin typeface="Calibri" panose="020F0502020204030204" pitchFamily="34" charset="0"/>
              </a:rPr>
              <a:t>In January 2012 a taxpayer acquired a lorry for $16k which was to be used for the purpose of trade. The taxpayer elected to claim the maximum allowances available in terms of the 4th schedule. In June 2014 the lorry was scrapped as it had been involved in an accident and was damaged beyond repair. The taxpayer sold the scrap to a local garage for an amount of $2k. Required: Calculate the scrapping allowance available to the taxpayer.</a:t>
            </a:r>
            <a:endParaRPr lang="en-ZA" sz="1800" b="0" i="0" u="none" strike="noStrike" baseline="0" dirty="0">
              <a:solidFill>
                <a:srgbClr val="000000"/>
              </a:solidFill>
              <a:latin typeface="Calibri" panose="020F0502020204030204" pitchFamily="34" charset="0"/>
            </a:endParaRPr>
          </a:p>
          <a:p>
            <a:pPr marR="610" algn="just"/>
            <a:endParaRPr lang="en-ZA" sz="1800" b="0" i="0" u="none" strike="noStrike" baseline="0" dirty="0">
              <a:solidFill>
                <a:srgbClr val="000000"/>
              </a:solidFill>
              <a:latin typeface="Calibri" panose="020F0502020204030204" pitchFamily="34" charset="0"/>
            </a:endParaRPr>
          </a:p>
        </p:txBody>
      </p:sp>
      <p:sp>
        <p:nvSpPr>
          <p:cNvPr id="4" name="Footer Placeholder 3">
            <a:extLst>
              <a:ext uri="{FF2B5EF4-FFF2-40B4-BE49-F238E27FC236}">
                <a16:creationId xmlns:a16="http://schemas.microsoft.com/office/drawing/2014/main" id="{0A251D63-94BC-4B41-9F84-F4BC35FDDD68}"/>
              </a:ext>
            </a:extLst>
          </p:cNvPr>
          <p:cNvSpPr>
            <a:spLocks noGrp="1"/>
          </p:cNvSpPr>
          <p:nvPr>
            <p:ph type="ftr" sz="quarter" idx="11"/>
          </p:nvPr>
        </p:nvSpPr>
        <p:spPr/>
        <p:txBody>
          <a:bodyPr/>
          <a:lstStyle/>
          <a:p>
            <a:r>
              <a:rPr lang="en-ZA"/>
              <a:t>Introduction to taxation slides by Mlayezeli Mangena </a:t>
            </a:r>
            <a:endParaRPr lang="en-ZA" dirty="0"/>
          </a:p>
        </p:txBody>
      </p:sp>
    </p:spTree>
    <p:extLst>
      <p:ext uri="{BB962C8B-B14F-4D97-AF65-F5344CB8AC3E}">
        <p14:creationId xmlns:p14="http://schemas.microsoft.com/office/powerpoint/2010/main" val="26459762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8F10C-201D-48F1-9AB6-A18C065355F1}"/>
              </a:ext>
            </a:extLst>
          </p:cNvPr>
          <p:cNvSpPr>
            <a:spLocks noGrp="1"/>
          </p:cNvSpPr>
          <p:nvPr>
            <p:ph type="title"/>
          </p:nvPr>
        </p:nvSpPr>
        <p:spPr>
          <a:xfrm>
            <a:off x="1484311" y="685801"/>
            <a:ext cx="10018713" cy="476250"/>
          </a:xfrm>
        </p:spPr>
        <p:txBody>
          <a:bodyPr>
            <a:normAutofit/>
          </a:bodyPr>
          <a:lstStyle/>
          <a:p>
            <a:pPr algn="l"/>
            <a:r>
              <a:rPr lang="en-ZA" sz="2000" dirty="0">
                <a:solidFill>
                  <a:srgbClr val="002060"/>
                </a:solidFill>
              </a:rPr>
              <a:t>Prohibited deductions s16</a:t>
            </a:r>
          </a:p>
        </p:txBody>
      </p:sp>
      <p:sp>
        <p:nvSpPr>
          <p:cNvPr id="3" name="Content Placeholder 2">
            <a:extLst>
              <a:ext uri="{FF2B5EF4-FFF2-40B4-BE49-F238E27FC236}">
                <a16:creationId xmlns:a16="http://schemas.microsoft.com/office/drawing/2014/main" id="{FE4639CA-2BE3-4702-B68B-76B5242E65FB}"/>
              </a:ext>
            </a:extLst>
          </p:cNvPr>
          <p:cNvSpPr>
            <a:spLocks noGrp="1"/>
          </p:cNvSpPr>
          <p:nvPr>
            <p:ph idx="1"/>
          </p:nvPr>
        </p:nvSpPr>
        <p:spPr>
          <a:xfrm>
            <a:off x="1484310" y="1162051"/>
            <a:ext cx="10018713" cy="4629149"/>
          </a:xfrm>
        </p:spPr>
        <p:txBody>
          <a:bodyPr anchor="t">
            <a:normAutofit/>
          </a:bodyPr>
          <a:lstStyle/>
          <a:p>
            <a:pPr marL="342900" indent="-342900">
              <a:buAutoNum type="arabicPeriod"/>
            </a:pPr>
            <a:r>
              <a:rPr lang="en-ZA" sz="1800" dirty="0"/>
              <a:t>Private expenses are prohibited as a deduction </a:t>
            </a:r>
          </a:p>
          <a:p>
            <a:pPr marL="342900" indent="-342900">
              <a:buAutoNum type="arabicPeriod"/>
            </a:pPr>
            <a:r>
              <a:rPr lang="en-ZA" sz="1800" dirty="0"/>
              <a:t>16(1) (c)- Any losses or expenses  which are recoverable under any insurance indemnity e.g. insured stock that got rotten </a:t>
            </a:r>
          </a:p>
          <a:p>
            <a:pPr marL="342900" indent="-342900">
              <a:buAutoNum type="arabicPeriod"/>
            </a:pPr>
            <a:r>
              <a:rPr lang="en-ZA" sz="1800" dirty="0"/>
              <a:t>Tax expense is disallowed as a deduction</a:t>
            </a:r>
          </a:p>
          <a:p>
            <a:pPr marL="342900" indent="-342900">
              <a:buAutoNum type="arabicPeriod"/>
            </a:pPr>
            <a:r>
              <a:rPr lang="en-ZA" sz="1800" dirty="0"/>
              <a:t>Expenditure incurred on the production of exempt income – thus when you the splitting if there is a potion of exempt income </a:t>
            </a:r>
          </a:p>
          <a:p>
            <a:pPr marL="342900" indent="-342900">
              <a:buAutoNum type="arabicPeriod"/>
            </a:pPr>
            <a:r>
              <a:rPr lang="en-ZA" sz="1800" dirty="0"/>
              <a:t>Interest on any capital employed </a:t>
            </a:r>
          </a:p>
          <a:p>
            <a:pPr marL="342900" indent="-342900">
              <a:buAutoNum type="arabicPeriod"/>
            </a:pPr>
            <a:r>
              <a:rPr lang="en-ZA" sz="1800" dirty="0"/>
              <a:t>16(1)(i) -</a:t>
            </a:r>
            <a:r>
              <a:rPr lang="en-ZA" sz="1800" b="0" i="0" u="none" strike="noStrike" baseline="0" dirty="0">
                <a:solidFill>
                  <a:srgbClr val="000000"/>
                </a:solidFill>
                <a:latin typeface="Calibri" panose="020F0502020204030204" pitchFamily="34" charset="0"/>
              </a:rPr>
              <a:t>The rent of, or cost of repairs to, or expenses incurred on, any premises not occupied for trade, or of any dwelling or domestic premises except in respect of such part as may be occupied for the purposes of trade.</a:t>
            </a:r>
          </a:p>
          <a:p>
            <a:pPr marL="342900" indent="-342900">
              <a:buFont typeface="Arial"/>
              <a:buAutoNum type="arabicPeriod"/>
            </a:pPr>
            <a:r>
              <a:rPr lang="en-ZA" sz="1800" dirty="0">
                <a:solidFill>
                  <a:srgbClr val="000000"/>
                </a:solidFill>
                <a:latin typeface="Calibri" panose="020F0502020204030204" pitchFamily="34" charset="0"/>
              </a:rPr>
              <a:t>16(1)(L)-</a:t>
            </a:r>
            <a:r>
              <a:rPr lang="en-ZA" sz="1800" b="0" i="0" u="none" strike="noStrike" baseline="0" dirty="0">
                <a:solidFill>
                  <a:srgbClr val="000000"/>
                </a:solidFill>
                <a:latin typeface="Calibri" panose="020F0502020204030204" pitchFamily="34" charset="0"/>
              </a:rPr>
              <a:t>The </a:t>
            </a:r>
            <a:r>
              <a:rPr lang="en-ZA" sz="1800" b="1" i="0" u="none" strike="noStrike" baseline="0" dirty="0">
                <a:solidFill>
                  <a:srgbClr val="000000"/>
                </a:solidFill>
                <a:latin typeface="Calibri" panose="020F0502020204030204" pitchFamily="34" charset="0"/>
              </a:rPr>
              <a:t>cost of any shares</a:t>
            </a:r>
            <a:r>
              <a:rPr lang="en-ZA" sz="1800" b="0" i="0" u="none" strike="noStrike" baseline="0" dirty="0">
                <a:solidFill>
                  <a:srgbClr val="000000"/>
                </a:solidFill>
                <a:latin typeface="Calibri" panose="020F0502020204030204" pitchFamily="34" charset="0"/>
              </a:rPr>
              <a:t> awarded by the company to an employee or director. This prohibition would counter any claim for a deduction by a company in respect of either an issue of its own</a:t>
            </a:r>
          </a:p>
          <a:p>
            <a:pPr marL="342900" indent="-342900">
              <a:buAutoNum type="arabicPeriod"/>
            </a:pPr>
            <a:endParaRPr lang="en-ZA" sz="1800" b="0" i="0" u="none" strike="noStrike" baseline="0" dirty="0">
              <a:solidFill>
                <a:srgbClr val="000000"/>
              </a:solidFill>
              <a:latin typeface="Calibri" panose="020F0502020204030204" pitchFamily="34" charset="0"/>
            </a:endParaRPr>
          </a:p>
          <a:p>
            <a:pPr marL="342900" indent="-342900">
              <a:buAutoNum type="arabicPeriod"/>
            </a:pPr>
            <a:endParaRPr lang="en-ZA" sz="1800" dirty="0"/>
          </a:p>
        </p:txBody>
      </p:sp>
      <p:sp>
        <p:nvSpPr>
          <p:cNvPr id="4" name="Footer Placeholder 3">
            <a:extLst>
              <a:ext uri="{FF2B5EF4-FFF2-40B4-BE49-F238E27FC236}">
                <a16:creationId xmlns:a16="http://schemas.microsoft.com/office/drawing/2014/main" id="{6E6A55ED-4746-41EB-B95A-CB82F97830D1}"/>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33917667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60C3F-CC44-4988-A94E-EEE89ACA728A}"/>
              </a:ext>
            </a:extLst>
          </p:cNvPr>
          <p:cNvSpPr>
            <a:spLocks noGrp="1"/>
          </p:cNvSpPr>
          <p:nvPr>
            <p:ph type="title"/>
          </p:nvPr>
        </p:nvSpPr>
        <p:spPr>
          <a:xfrm>
            <a:off x="1484311" y="685801"/>
            <a:ext cx="10018713" cy="552450"/>
          </a:xfrm>
        </p:spPr>
        <p:txBody>
          <a:bodyPr>
            <a:normAutofit/>
          </a:bodyPr>
          <a:lstStyle/>
          <a:p>
            <a:pPr algn="l"/>
            <a:r>
              <a:rPr lang="en-ZA" sz="1800" dirty="0">
                <a:solidFill>
                  <a:srgbClr val="002060"/>
                </a:solidFill>
              </a:rPr>
              <a:t>Prohibited deductions s16</a:t>
            </a:r>
            <a:endParaRPr lang="en-ZA" sz="1800" dirty="0"/>
          </a:p>
        </p:txBody>
      </p:sp>
      <p:sp>
        <p:nvSpPr>
          <p:cNvPr id="3" name="Content Placeholder 2">
            <a:extLst>
              <a:ext uri="{FF2B5EF4-FFF2-40B4-BE49-F238E27FC236}">
                <a16:creationId xmlns:a16="http://schemas.microsoft.com/office/drawing/2014/main" id="{1A153A82-DF09-42F2-B881-1C6380986830}"/>
              </a:ext>
            </a:extLst>
          </p:cNvPr>
          <p:cNvSpPr>
            <a:spLocks noGrp="1"/>
          </p:cNvSpPr>
          <p:nvPr>
            <p:ph idx="1"/>
          </p:nvPr>
        </p:nvSpPr>
        <p:spPr>
          <a:xfrm>
            <a:off x="1484310" y="1419225"/>
            <a:ext cx="10018713" cy="4371975"/>
          </a:xfrm>
        </p:spPr>
        <p:txBody>
          <a:bodyPr anchor="t">
            <a:normAutofit/>
          </a:bodyPr>
          <a:lstStyle/>
          <a:p>
            <a:pPr marL="0" indent="0">
              <a:buNone/>
            </a:pPr>
            <a:r>
              <a:rPr lang="en-ZA" sz="1600" dirty="0">
                <a:latin typeface="+mj-lt"/>
              </a:rPr>
              <a:t>8. 16(1)(m) </a:t>
            </a:r>
            <a:r>
              <a:rPr lang="en-ZA" sz="1600" b="0" i="0" u="none" strike="noStrike" baseline="0" dirty="0">
                <a:solidFill>
                  <a:srgbClr val="000000"/>
                </a:solidFill>
                <a:latin typeface="+mj-lt"/>
              </a:rPr>
              <a:t>Expenditure incurred on entertainment, whether directly or by the provision of an allowance to any employee, including a director. “Entertainment” is defined as including “hospitality in any form”.</a:t>
            </a:r>
          </a:p>
          <a:p>
            <a:pPr marL="0" indent="0">
              <a:buNone/>
            </a:pPr>
            <a:r>
              <a:rPr lang="en-ZA" sz="1600" dirty="0">
                <a:solidFill>
                  <a:srgbClr val="000000"/>
                </a:solidFill>
                <a:latin typeface="+mj-lt"/>
              </a:rPr>
              <a:t>Except to the extent that it’s incurred for business,</a:t>
            </a:r>
          </a:p>
          <a:p>
            <a:pPr marL="0" indent="0">
              <a:buNone/>
            </a:pPr>
            <a:r>
              <a:rPr lang="en-ZA" sz="1600" b="0" i="0" u="none" strike="noStrike" baseline="0" dirty="0">
                <a:solidFill>
                  <a:srgbClr val="000000"/>
                </a:solidFill>
                <a:latin typeface="+mj-lt"/>
              </a:rPr>
              <a:t>9.  16(1)(o) Expenditure incurred in the production of interest on any loan or deposit with a local financial institution.</a:t>
            </a:r>
          </a:p>
          <a:p>
            <a:pPr marL="0" indent="0">
              <a:buNone/>
            </a:pPr>
            <a:r>
              <a:rPr lang="en-ZA" sz="1600" i="1" u="sng" dirty="0">
                <a:solidFill>
                  <a:srgbClr val="002060"/>
                </a:solidFill>
                <a:latin typeface="+mj-lt"/>
              </a:rPr>
              <a:t>Thin Capitalization rules </a:t>
            </a:r>
          </a:p>
          <a:p>
            <a:pPr marL="0" indent="0">
              <a:buNone/>
            </a:pPr>
            <a:r>
              <a:rPr lang="en-ZA" sz="1600" dirty="0">
                <a:solidFill>
                  <a:srgbClr val="000000"/>
                </a:solidFill>
                <a:latin typeface="+mj-lt"/>
              </a:rPr>
              <a:t>Taxpayers are privy to the tax deductibility of interest, however, sometimes taxpayers overdo it and use this to evade tax hence:</a:t>
            </a:r>
          </a:p>
          <a:p>
            <a:pPr marL="0" indent="0">
              <a:buNone/>
            </a:pPr>
            <a:r>
              <a:rPr lang="en-ZA" sz="1600" b="0" i="0" u="none" strike="noStrike" baseline="0" dirty="0">
                <a:solidFill>
                  <a:srgbClr val="000000"/>
                </a:solidFill>
                <a:latin typeface="+mj-lt"/>
              </a:rPr>
              <a:t>16(1)(</a:t>
            </a:r>
            <a:r>
              <a:rPr lang="en-ZA" sz="1600" dirty="0">
                <a:solidFill>
                  <a:srgbClr val="000000"/>
                </a:solidFill>
                <a:latin typeface="+mj-lt"/>
              </a:rPr>
              <a:t>q)-</a:t>
            </a:r>
            <a:r>
              <a:rPr lang="en-ZA" sz="1600" b="0" i="0" u="none" strike="noStrike" baseline="0" dirty="0">
                <a:solidFill>
                  <a:srgbClr val="000000"/>
                </a:solidFill>
                <a:latin typeface="+mj-lt"/>
              </a:rPr>
              <a:t>Any expenditure incurred by a local branch or subsidiary of a foreign company, or by a local company or subsidiary of a local company, in servicing any debt or debts contracted in connection with the production of income to the extent that such debt or debts cause the person to exceed a debt to </a:t>
            </a:r>
            <a:r>
              <a:rPr lang="en-ZA" sz="1600" b="1" i="0" u="none" strike="noStrike" baseline="0" dirty="0">
                <a:solidFill>
                  <a:srgbClr val="000000"/>
                </a:solidFill>
                <a:latin typeface="+mj-lt"/>
              </a:rPr>
              <a:t>equity ratio 3:1</a:t>
            </a:r>
            <a:endParaRPr lang="en-ZA" sz="1600" b="0" i="0" u="none" strike="noStrike" baseline="0" dirty="0">
              <a:solidFill>
                <a:srgbClr val="000000"/>
              </a:solidFill>
              <a:latin typeface="+mj-lt"/>
            </a:endParaRPr>
          </a:p>
          <a:p>
            <a:pPr marL="0" indent="0">
              <a:buNone/>
            </a:pPr>
            <a:r>
              <a:rPr lang="en-ZA" sz="1600" b="0" i="0" u="none" strike="noStrike" baseline="0" dirty="0">
                <a:solidFill>
                  <a:srgbClr val="000000"/>
                </a:solidFill>
                <a:latin typeface="+mj-lt"/>
              </a:rPr>
              <a:t>&gt; The prohibited portion of the dividend is treated as dividend distribution in terms of the Company Act (COBE) hence it’s subject to withholding tax as per section 26(2) and 28(2)</a:t>
            </a:r>
          </a:p>
          <a:p>
            <a:pPr marL="0" indent="0">
              <a:buNone/>
            </a:pPr>
            <a:endParaRPr lang="en-ZA" sz="1600" b="0" i="0" u="none" strike="noStrike" baseline="0" dirty="0">
              <a:solidFill>
                <a:srgbClr val="000000"/>
              </a:solidFill>
              <a:latin typeface="+mj-lt"/>
            </a:endParaRPr>
          </a:p>
          <a:p>
            <a:pPr marL="0" indent="0">
              <a:buNone/>
            </a:pPr>
            <a:endParaRPr lang="en-ZA" sz="1600" b="0" i="0" u="none" strike="noStrike" baseline="0" dirty="0">
              <a:solidFill>
                <a:srgbClr val="000000"/>
              </a:solidFill>
              <a:latin typeface="+mj-lt"/>
            </a:endParaRPr>
          </a:p>
          <a:p>
            <a:pPr marL="0" indent="0">
              <a:buNone/>
            </a:pPr>
            <a:endParaRPr lang="en-ZA" sz="1600" dirty="0">
              <a:latin typeface="+mj-lt"/>
            </a:endParaRPr>
          </a:p>
          <a:p>
            <a:pPr marL="0" indent="0">
              <a:buNone/>
            </a:pPr>
            <a:endParaRPr lang="en-ZA" sz="1600" dirty="0">
              <a:latin typeface="+mj-lt"/>
            </a:endParaRPr>
          </a:p>
        </p:txBody>
      </p:sp>
      <p:sp>
        <p:nvSpPr>
          <p:cNvPr id="4" name="Footer Placeholder 3">
            <a:extLst>
              <a:ext uri="{FF2B5EF4-FFF2-40B4-BE49-F238E27FC236}">
                <a16:creationId xmlns:a16="http://schemas.microsoft.com/office/drawing/2014/main" id="{F8F117C0-1E6F-4EA2-9636-475589BA8AFC}"/>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30654888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EBD19-A722-4AFF-9AD8-A6B1C8A976AE}"/>
              </a:ext>
            </a:extLst>
          </p:cNvPr>
          <p:cNvSpPr>
            <a:spLocks noGrp="1"/>
          </p:cNvSpPr>
          <p:nvPr>
            <p:ph type="title"/>
          </p:nvPr>
        </p:nvSpPr>
        <p:spPr>
          <a:xfrm>
            <a:off x="1484311" y="685801"/>
            <a:ext cx="10018713" cy="466724"/>
          </a:xfrm>
        </p:spPr>
        <p:txBody>
          <a:bodyPr>
            <a:normAutofit/>
          </a:bodyPr>
          <a:lstStyle/>
          <a:p>
            <a:pPr algn="l"/>
            <a:r>
              <a:rPr lang="en-ZA" sz="2000" dirty="0">
                <a:solidFill>
                  <a:srgbClr val="002060"/>
                </a:solidFill>
              </a:rPr>
              <a:t>Prohibited deductions s16</a:t>
            </a:r>
            <a:endParaRPr lang="en-ZA" sz="2000" dirty="0"/>
          </a:p>
        </p:txBody>
      </p:sp>
      <p:sp>
        <p:nvSpPr>
          <p:cNvPr id="3" name="Content Placeholder 2">
            <a:extLst>
              <a:ext uri="{FF2B5EF4-FFF2-40B4-BE49-F238E27FC236}">
                <a16:creationId xmlns:a16="http://schemas.microsoft.com/office/drawing/2014/main" id="{86B3E311-F579-426B-9DDF-65562E687B37}"/>
              </a:ext>
            </a:extLst>
          </p:cNvPr>
          <p:cNvSpPr>
            <a:spLocks noGrp="1"/>
          </p:cNvSpPr>
          <p:nvPr>
            <p:ph idx="1"/>
          </p:nvPr>
        </p:nvSpPr>
        <p:spPr>
          <a:xfrm>
            <a:off x="1484310" y="1228725"/>
            <a:ext cx="10018713" cy="4562475"/>
          </a:xfrm>
        </p:spPr>
        <p:txBody>
          <a:bodyPr anchor="t">
            <a:normAutofit/>
          </a:bodyPr>
          <a:lstStyle/>
          <a:p>
            <a:pPr marL="0" indent="0">
              <a:buNone/>
            </a:pPr>
            <a:r>
              <a:rPr lang="en-ZA" sz="1400" b="1" dirty="0">
                <a:latin typeface="+mj-lt"/>
              </a:rPr>
              <a:t>Example</a:t>
            </a:r>
          </a:p>
          <a:p>
            <a:pPr marL="0" indent="0">
              <a:buNone/>
            </a:pPr>
            <a:r>
              <a:rPr lang="en-ZA" sz="1400" b="0" i="1" u="none" strike="noStrike" baseline="0" dirty="0">
                <a:solidFill>
                  <a:srgbClr val="000000"/>
                </a:solidFill>
                <a:latin typeface="+mj-lt"/>
              </a:rPr>
              <a:t>D Ltd is the Zimbabwe subsidiary of A Ltd, a company listed in India. During the year ending 31st December 2013, D Ltd borrowed $2 million from A Ltd to fund capital expenditure.  Interest of $ 200,000 was paid on the loan. The statement of financial position of D Limited reflected that it had equity of $500,000 and long-term debt of $2,5million</a:t>
            </a:r>
          </a:p>
          <a:p>
            <a:pPr marL="0" indent="0">
              <a:buNone/>
            </a:pPr>
            <a:r>
              <a:rPr lang="en-ZA" sz="1400" b="1" i="1" dirty="0">
                <a:solidFill>
                  <a:srgbClr val="000000"/>
                </a:solidFill>
                <a:latin typeface="+mj-lt"/>
              </a:rPr>
              <a:t>Step 1- Compute the debt-to-equity ratio</a:t>
            </a:r>
          </a:p>
          <a:p>
            <a:pPr>
              <a:buFont typeface="Wingdings" panose="05000000000000000000" pitchFamily="2" charset="2"/>
              <a:buChar char="Ø"/>
            </a:pPr>
            <a:r>
              <a:rPr lang="en-ZA" sz="1400" i="1" u="none" strike="noStrike" baseline="0" dirty="0">
                <a:solidFill>
                  <a:srgbClr val="000000"/>
                </a:solidFill>
                <a:latin typeface="+mj-lt"/>
              </a:rPr>
              <a:t>DE Ratio</a:t>
            </a:r>
            <a:r>
              <a:rPr lang="en-ZA" sz="1400" i="1" dirty="0">
                <a:solidFill>
                  <a:srgbClr val="000000"/>
                </a:solidFill>
                <a:latin typeface="+mj-lt"/>
              </a:rPr>
              <a:t> = 2,5m/0,5m=5:1</a:t>
            </a:r>
          </a:p>
          <a:p>
            <a:pPr marL="0" indent="0">
              <a:buNone/>
            </a:pPr>
            <a:r>
              <a:rPr lang="en-ZA" sz="1400" b="1" i="1" u="none" strike="noStrike" baseline="0" dirty="0">
                <a:solidFill>
                  <a:srgbClr val="000000"/>
                </a:solidFill>
                <a:latin typeface="+mj-lt"/>
              </a:rPr>
              <a:t>Step 2 –</a:t>
            </a:r>
            <a:r>
              <a:rPr lang="en-ZA" sz="1400" b="1" i="1" dirty="0">
                <a:solidFill>
                  <a:srgbClr val="000000"/>
                </a:solidFill>
                <a:latin typeface="+mj-lt"/>
              </a:rPr>
              <a:t> Compute or check for the current interest paid </a:t>
            </a:r>
          </a:p>
          <a:p>
            <a:pPr>
              <a:buFont typeface="Wingdings" panose="05000000000000000000" pitchFamily="2" charset="2"/>
              <a:buChar char="Ø"/>
            </a:pPr>
            <a:r>
              <a:rPr lang="en-ZA" sz="1400" i="1" dirty="0">
                <a:solidFill>
                  <a:srgbClr val="000000"/>
                </a:solidFill>
                <a:latin typeface="+mj-lt"/>
              </a:rPr>
              <a:t>In this case the interest paid was $200 000</a:t>
            </a:r>
          </a:p>
          <a:p>
            <a:pPr marL="0" indent="0">
              <a:buNone/>
            </a:pPr>
            <a:r>
              <a:rPr lang="en-ZA" sz="1400" b="1" i="1" dirty="0">
                <a:solidFill>
                  <a:srgbClr val="000000"/>
                </a:solidFill>
                <a:latin typeface="+mj-lt"/>
              </a:rPr>
              <a:t>Step 3- Computed the allowable deduction potion as below </a:t>
            </a:r>
          </a:p>
          <a:p>
            <a:pPr marL="0" indent="0">
              <a:buNone/>
            </a:pPr>
            <a:r>
              <a:rPr lang="en-ZA" sz="1400" b="1" i="1" dirty="0">
                <a:solidFill>
                  <a:srgbClr val="000000"/>
                </a:solidFill>
                <a:latin typeface="+mj-lt"/>
              </a:rPr>
              <a:t>&gt; </a:t>
            </a:r>
            <a:r>
              <a:rPr lang="en-ZA" sz="1400" i="1" dirty="0">
                <a:solidFill>
                  <a:srgbClr val="000000"/>
                </a:solidFill>
                <a:latin typeface="+mj-lt"/>
              </a:rPr>
              <a:t>Its is computed as = (limit debt to equity ratio /current D/E ratio as computed in step 1)*interest in step 2 </a:t>
            </a:r>
          </a:p>
          <a:p>
            <a:pPr marL="0" indent="0">
              <a:buNone/>
            </a:pPr>
            <a:r>
              <a:rPr lang="en-ZA" sz="1400" b="1" i="1" u="none" strike="noStrike" baseline="0" dirty="0">
                <a:solidFill>
                  <a:srgbClr val="000000"/>
                </a:solidFill>
                <a:latin typeface="+mj-lt"/>
              </a:rPr>
              <a:t> </a:t>
            </a:r>
            <a:endParaRPr lang="en-ZA" sz="1400" b="1" i="0" u="none" strike="noStrike" baseline="0" dirty="0">
              <a:solidFill>
                <a:srgbClr val="000000"/>
              </a:solidFill>
              <a:latin typeface="+mj-lt"/>
            </a:endParaRPr>
          </a:p>
          <a:p>
            <a:pPr marL="0" indent="0">
              <a:buNone/>
            </a:pPr>
            <a:endParaRPr lang="en-ZA" sz="1400" b="1" dirty="0">
              <a:latin typeface="+mj-lt"/>
            </a:endParaRPr>
          </a:p>
        </p:txBody>
      </p:sp>
      <p:sp>
        <p:nvSpPr>
          <p:cNvPr id="4" name="Footer Placeholder 3">
            <a:extLst>
              <a:ext uri="{FF2B5EF4-FFF2-40B4-BE49-F238E27FC236}">
                <a16:creationId xmlns:a16="http://schemas.microsoft.com/office/drawing/2014/main" id="{B53967F8-CE46-406A-B4FA-16B9009765B3}"/>
              </a:ext>
            </a:extLst>
          </p:cNvPr>
          <p:cNvSpPr>
            <a:spLocks noGrp="1"/>
          </p:cNvSpPr>
          <p:nvPr>
            <p:ph type="ftr" sz="quarter" idx="11"/>
          </p:nvPr>
        </p:nvSpPr>
        <p:spPr/>
        <p:txBody>
          <a:bodyPr/>
          <a:lstStyle/>
          <a:p>
            <a:r>
              <a:rPr lang="en-ZA"/>
              <a:t>Introduction to taxation slides by Mlayezeli Mangena </a:t>
            </a:r>
            <a:endParaRPr lang="en-ZA" dirty="0"/>
          </a:p>
        </p:txBody>
      </p:sp>
      <p:graphicFrame>
        <p:nvGraphicFramePr>
          <p:cNvPr id="5" name="Table 4">
            <a:extLst>
              <a:ext uri="{FF2B5EF4-FFF2-40B4-BE49-F238E27FC236}">
                <a16:creationId xmlns:a16="http://schemas.microsoft.com/office/drawing/2014/main" id="{F056A2E4-32C0-4063-88A9-6A952DE071EE}"/>
              </a:ext>
            </a:extLst>
          </p:cNvPr>
          <p:cNvGraphicFramePr>
            <a:graphicFrameLocks noGrp="1"/>
          </p:cNvGraphicFramePr>
          <p:nvPr>
            <p:extLst>
              <p:ext uri="{D42A27DB-BD31-4B8C-83A1-F6EECF244321}">
                <p14:modId xmlns:p14="http://schemas.microsoft.com/office/powerpoint/2010/main" val="3415710644"/>
              </p:ext>
            </p:extLst>
          </p:nvPr>
        </p:nvGraphicFramePr>
        <p:xfrm>
          <a:off x="1581150" y="4413250"/>
          <a:ext cx="5667375" cy="1377950"/>
        </p:xfrm>
        <a:graphic>
          <a:graphicData uri="http://schemas.openxmlformats.org/drawingml/2006/table">
            <a:tbl>
              <a:tblPr>
                <a:tableStyleId>{5C22544A-7EE6-4342-B048-85BDC9FD1C3A}</a:tableStyleId>
              </a:tblPr>
              <a:tblGrid>
                <a:gridCol w="2513358">
                  <a:extLst>
                    <a:ext uri="{9D8B030D-6E8A-4147-A177-3AD203B41FA5}">
                      <a16:colId xmlns:a16="http://schemas.microsoft.com/office/drawing/2014/main" val="1129257473"/>
                    </a:ext>
                  </a:extLst>
                </a:gridCol>
                <a:gridCol w="1182756">
                  <a:extLst>
                    <a:ext uri="{9D8B030D-6E8A-4147-A177-3AD203B41FA5}">
                      <a16:colId xmlns:a16="http://schemas.microsoft.com/office/drawing/2014/main" val="3602502994"/>
                    </a:ext>
                  </a:extLst>
                </a:gridCol>
                <a:gridCol w="1971261">
                  <a:extLst>
                    <a:ext uri="{9D8B030D-6E8A-4147-A177-3AD203B41FA5}">
                      <a16:colId xmlns:a16="http://schemas.microsoft.com/office/drawing/2014/main" val="3777004682"/>
                    </a:ext>
                  </a:extLst>
                </a:gridCol>
              </a:tblGrid>
              <a:tr h="275590">
                <a:tc>
                  <a:txBody>
                    <a:bodyPr/>
                    <a:lstStyle/>
                    <a:p>
                      <a:pPr algn="l" fontAlgn="b"/>
                      <a:r>
                        <a:rPr lang="en-ZA" sz="900" u="none" strike="noStrike">
                          <a:effectLst/>
                        </a:rPr>
                        <a:t>Details </a:t>
                      </a:r>
                      <a:endParaRPr lang="en-ZA" sz="900" b="0" i="0" u="none" strike="noStrike">
                        <a:solidFill>
                          <a:srgbClr val="000000"/>
                        </a:solidFill>
                        <a:effectLst/>
                        <a:latin typeface="EYInterstate" panose="02000503020000020004" pitchFamily="2" charset="0"/>
                      </a:endParaRPr>
                    </a:p>
                  </a:txBody>
                  <a:tcPr marL="6350" marR="6350" marT="6350" marB="0" anchor="b"/>
                </a:tc>
                <a:tc>
                  <a:txBody>
                    <a:bodyPr/>
                    <a:lstStyle/>
                    <a:p>
                      <a:pPr algn="l" fontAlgn="b"/>
                      <a:r>
                        <a:rPr lang="en-ZA" sz="900" u="none" strike="noStrike" dirty="0">
                          <a:effectLst/>
                        </a:rPr>
                        <a:t> </a:t>
                      </a:r>
                      <a:endParaRPr lang="en-ZA" sz="900" b="0" i="0" u="none" strike="noStrike" dirty="0">
                        <a:solidFill>
                          <a:srgbClr val="000000"/>
                        </a:solidFill>
                        <a:effectLst/>
                        <a:latin typeface="EYInterstate" panose="02000503020000020004" pitchFamily="2" charset="0"/>
                      </a:endParaRPr>
                    </a:p>
                  </a:txBody>
                  <a:tcPr marL="6350" marR="6350" marT="6350" marB="0" anchor="b"/>
                </a:tc>
                <a:tc>
                  <a:txBody>
                    <a:bodyPr/>
                    <a:lstStyle/>
                    <a:p>
                      <a:pPr algn="l" fontAlgn="b"/>
                      <a:r>
                        <a:rPr lang="en-ZA" sz="900" u="none" strike="noStrike">
                          <a:effectLst/>
                        </a:rPr>
                        <a:t>Amount </a:t>
                      </a:r>
                      <a:endParaRPr lang="en-ZA" sz="900" b="0" i="0" u="none" strike="noStrike">
                        <a:solidFill>
                          <a:srgbClr val="000000"/>
                        </a:solidFill>
                        <a:effectLst/>
                        <a:latin typeface="EYInterstate" panose="02000503020000020004" pitchFamily="2" charset="0"/>
                      </a:endParaRPr>
                    </a:p>
                  </a:txBody>
                  <a:tcPr marL="6350" marR="6350" marT="6350" marB="0" anchor="b"/>
                </a:tc>
                <a:extLst>
                  <a:ext uri="{0D108BD9-81ED-4DB2-BD59-A6C34878D82A}">
                    <a16:rowId xmlns:a16="http://schemas.microsoft.com/office/drawing/2014/main" val="2762833354"/>
                  </a:ext>
                </a:extLst>
              </a:tr>
              <a:tr h="275590">
                <a:tc>
                  <a:txBody>
                    <a:bodyPr/>
                    <a:lstStyle/>
                    <a:p>
                      <a:pPr algn="l" fontAlgn="b"/>
                      <a:r>
                        <a:rPr lang="en-ZA" sz="900" u="none" strike="noStrike">
                          <a:effectLst/>
                        </a:rPr>
                        <a:t>Interest paid </a:t>
                      </a:r>
                      <a:endParaRPr lang="en-ZA" sz="900" b="0" i="0" u="none" strike="noStrike">
                        <a:solidFill>
                          <a:srgbClr val="000000"/>
                        </a:solidFill>
                        <a:effectLst/>
                        <a:latin typeface="EYInterstate" panose="02000503020000020004" pitchFamily="2" charset="0"/>
                      </a:endParaRPr>
                    </a:p>
                  </a:txBody>
                  <a:tcPr marL="6350" marR="6350" marT="6350" marB="0" anchor="b"/>
                </a:tc>
                <a:tc>
                  <a:txBody>
                    <a:bodyPr/>
                    <a:lstStyle/>
                    <a:p>
                      <a:pPr algn="l" fontAlgn="b"/>
                      <a:r>
                        <a:rPr lang="en-ZA" sz="900" u="none" strike="noStrike">
                          <a:effectLst/>
                        </a:rPr>
                        <a:t> </a:t>
                      </a:r>
                      <a:endParaRPr lang="en-ZA" sz="900" b="0" i="0" u="none" strike="noStrike">
                        <a:solidFill>
                          <a:srgbClr val="000000"/>
                        </a:solidFill>
                        <a:effectLst/>
                        <a:latin typeface="EYInterstate" panose="02000503020000020004" pitchFamily="2" charset="0"/>
                      </a:endParaRPr>
                    </a:p>
                  </a:txBody>
                  <a:tcPr marL="6350" marR="6350" marT="6350" marB="0" anchor="b"/>
                </a:tc>
                <a:tc>
                  <a:txBody>
                    <a:bodyPr/>
                    <a:lstStyle/>
                    <a:p>
                      <a:pPr algn="l" fontAlgn="b"/>
                      <a:r>
                        <a:rPr lang="en-ZA" sz="900" u="none" strike="noStrike">
                          <a:effectLst/>
                        </a:rPr>
                        <a:t> $200 000,00 </a:t>
                      </a:r>
                      <a:endParaRPr lang="en-ZA" sz="900" b="0" i="0" u="none" strike="noStrike">
                        <a:solidFill>
                          <a:srgbClr val="000000"/>
                        </a:solidFill>
                        <a:effectLst/>
                        <a:latin typeface="EYInterstate" panose="02000503020000020004" pitchFamily="2" charset="0"/>
                      </a:endParaRPr>
                    </a:p>
                  </a:txBody>
                  <a:tcPr marL="6350" marR="6350" marT="6350" marB="0" anchor="b"/>
                </a:tc>
                <a:extLst>
                  <a:ext uri="{0D108BD9-81ED-4DB2-BD59-A6C34878D82A}">
                    <a16:rowId xmlns:a16="http://schemas.microsoft.com/office/drawing/2014/main" val="3487012020"/>
                  </a:ext>
                </a:extLst>
              </a:tr>
              <a:tr h="275590">
                <a:tc>
                  <a:txBody>
                    <a:bodyPr/>
                    <a:lstStyle/>
                    <a:p>
                      <a:pPr algn="l" fontAlgn="b"/>
                      <a:r>
                        <a:rPr lang="en-ZA" sz="900" u="none" strike="noStrike">
                          <a:effectLst/>
                        </a:rPr>
                        <a:t>Allowable </a:t>
                      </a:r>
                      <a:endParaRPr lang="en-ZA" sz="900" b="0" i="0" u="none" strike="noStrike">
                        <a:solidFill>
                          <a:srgbClr val="000000"/>
                        </a:solidFill>
                        <a:effectLst/>
                        <a:latin typeface="EYInterstate" panose="02000503020000020004" pitchFamily="2" charset="0"/>
                      </a:endParaRPr>
                    </a:p>
                  </a:txBody>
                  <a:tcPr marL="6350" marR="6350" marT="6350" marB="0" anchor="b"/>
                </a:tc>
                <a:tc>
                  <a:txBody>
                    <a:bodyPr/>
                    <a:lstStyle/>
                    <a:p>
                      <a:pPr algn="l" fontAlgn="b"/>
                      <a:r>
                        <a:rPr lang="en-ZA" sz="900" u="none" strike="noStrike">
                          <a:effectLst/>
                        </a:rPr>
                        <a:t> </a:t>
                      </a:r>
                      <a:endParaRPr lang="en-ZA" sz="900" b="0" i="0" u="none" strike="noStrike">
                        <a:solidFill>
                          <a:srgbClr val="000000"/>
                        </a:solidFill>
                        <a:effectLst/>
                        <a:latin typeface="EYInterstate" panose="02000503020000020004" pitchFamily="2" charset="0"/>
                      </a:endParaRPr>
                    </a:p>
                  </a:txBody>
                  <a:tcPr marL="6350" marR="6350" marT="6350" marB="0" anchor="b"/>
                </a:tc>
                <a:tc>
                  <a:txBody>
                    <a:bodyPr/>
                    <a:lstStyle/>
                    <a:p>
                      <a:pPr algn="l" fontAlgn="b"/>
                      <a:r>
                        <a:rPr lang="en-ZA" sz="900" u="none" strike="noStrike">
                          <a:effectLst/>
                        </a:rPr>
                        <a:t> $120000,00 </a:t>
                      </a:r>
                      <a:endParaRPr lang="en-ZA" sz="900" b="0" i="0" u="none" strike="noStrike">
                        <a:solidFill>
                          <a:srgbClr val="000000"/>
                        </a:solidFill>
                        <a:effectLst/>
                        <a:latin typeface="EYInterstate" panose="02000503020000020004" pitchFamily="2" charset="0"/>
                      </a:endParaRPr>
                    </a:p>
                  </a:txBody>
                  <a:tcPr marL="6350" marR="6350" marT="6350" marB="0" anchor="b"/>
                </a:tc>
                <a:extLst>
                  <a:ext uri="{0D108BD9-81ED-4DB2-BD59-A6C34878D82A}">
                    <a16:rowId xmlns:a16="http://schemas.microsoft.com/office/drawing/2014/main" val="1814131108"/>
                  </a:ext>
                </a:extLst>
              </a:tr>
              <a:tr h="275590">
                <a:tc>
                  <a:txBody>
                    <a:bodyPr/>
                    <a:lstStyle/>
                    <a:p>
                      <a:pPr algn="l" fontAlgn="b"/>
                      <a:r>
                        <a:rPr lang="en-ZA" sz="900" u="none" strike="noStrike">
                          <a:effectLst/>
                        </a:rPr>
                        <a:t>Disallowed Portion </a:t>
                      </a:r>
                      <a:endParaRPr lang="en-ZA" sz="900" b="0" i="0" u="none" strike="noStrike">
                        <a:solidFill>
                          <a:srgbClr val="000000"/>
                        </a:solidFill>
                        <a:effectLst/>
                        <a:latin typeface="EYInterstate" panose="02000503020000020004" pitchFamily="2" charset="0"/>
                      </a:endParaRPr>
                    </a:p>
                  </a:txBody>
                  <a:tcPr marL="6350" marR="6350" marT="6350" marB="0" anchor="b"/>
                </a:tc>
                <a:tc>
                  <a:txBody>
                    <a:bodyPr/>
                    <a:lstStyle/>
                    <a:p>
                      <a:pPr algn="l" fontAlgn="b"/>
                      <a:r>
                        <a:rPr lang="en-ZA" sz="900" u="none" strike="noStrike">
                          <a:effectLst/>
                        </a:rPr>
                        <a:t> </a:t>
                      </a:r>
                      <a:endParaRPr lang="en-ZA" sz="900" b="0" i="0" u="none" strike="noStrike">
                        <a:solidFill>
                          <a:srgbClr val="000000"/>
                        </a:solidFill>
                        <a:effectLst/>
                        <a:latin typeface="EYInterstate" panose="02000503020000020004" pitchFamily="2" charset="0"/>
                      </a:endParaRPr>
                    </a:p>
                  </a:txBody>
                  <a:tcPr marL="6350" marR="6350" marT="6350" marB="0" anchor="b"/>
                </a:tc>
                <a:tc>
                  <a:txBody>
                    <a:bodyPr/>
                    <a:lstStyle/>
                    <a:p>
                      <a:pPr algn="l" fontAlgn="b"/>
                      <a:r>
                        <a:rPr lang="en-ZA" sz="900" u="none" strike="noStrike">
                          <a:effectLst/>
                        </a:rPr>
                        <a:t> $80 000,00 </a:t>
                      </a:r>
                      <a:endParaRPr lang="en-ZA" sz="900" b="0" i="0" u="none" strike="noStrike">
                        <a:solidFill>
                          <a:srgbClr val="000000"/>
                        </a:solidFill>
                        <a:effectLst/>
                        <a:latin typeface="EYInterstate" panose="02000503020000020004" pitchFamily="2" charset="0"/>
                      </a:endParaRPr>
                    </a:p>
                  </a:txBody>
                  <a:tcPr marL="6350" marR="6350" marT="6350" marB="0" anchor="b"/>
                </a:tc>
                <a:extLst>
                  <a:ext uri="{0D108BD9-81ED-4DB2-BD59-A6C34878D82A}">
                    <a16:rowId xmlns:a16="http://schemas.microsoft.com/office/drawing/2014/main" val="2558657680"/>
                  </a:ext>
                </a:extLst>
              </a:tr>
              <a:tr h="275590">
                <a:tc>
                  <a:txBody>
                    <a:bodyPr/>
                    <a:lstStyle/>
                    <a:p>
                      <a:pPr algn="l" fontAlgn="b"/>
                      <a:r>
                        <a:rPr lang="en-ZA" sz="900" u="none" strike="noStrike">
                          <a:effectLst/>
                        </a:rPr>
                        <a:t> </a:t>
                      </a:r>
                      <a:endParaRPr lang="en-ZA" sz="900" b="0" i="0" u="none" strike="noStrike">
                        <a:solidFill>
                          <a:srgbClr val="000000"/>
                        </a:solidFill>
                        <a:effectLst/>
                        <a:latin typeface="EYInterstate" panose="02000503020000020004" pitchFamily="2" charset="0"/>
                      </a:endParaRPr>
                    </a:p>
                  </a:txBody>
                  <a:tcPr marL="6350" marR="6350" marT="6350" marB="0" anchor="b"/>
                </a:tc>
                <a:tc>
                  <a:txBody>
                    <a:bodyPr/>
                    <a:lstStyle/>
                    <a:p>
                      <a:pPr algn="l" fontAlgn="b"/>
                      <a:r>
                        <a:rPr lang="en-ZA" sz="900" u="none" strike="noStrike">
                          <a:effectLst/>
                        </a:rPr>
                        <a:t> </a:t>
                      </a:r>
                      <a:endParaRPr lang="en-ZA" sz="900" b="0" i="0" u="none" strike="noStrike">
                        <a:solidFill>
                          <a:srgbClr val="000000"/>
                        </a:solidFill>
                        <a:effectLst/>
                        <a:latin typeface="EYInterstate" panose="02000503020000020004" pitchFamily="2" charset="0"/>
                      </a:endParaRPr>
                    </a:p>
                  </a:txBody>
                  <a:tcPr marL="6350" marR="6350" marT="6350" marB="0" anchor="b"/>
                </a:tc>
                <a:tc>
                  <a:txBody>
                    <a:bodyPr/>
                    <a:lstStyle/>
                    <a:p>
                      <a:pPr algn="l" fontAlgn="b"/>
                      <a:r>
                        <a:rPr lang="en-ZA" sz="900" u="none" strike="noStrike" dirty="0">
                          <a:effectLst/>
                        </a:rPr>
                        <a:t> </a:t>
                      </a:r>
                      <a:endParaRPr lang="en-ZA" sz="900" b="0" i="0" u="none" strike="noStrike" dirty="0">
                        <a:solidFill>
                          <a:srgbClr val="000000"/>
                        </a:solidFill>
                        <a:effectLst/>
                        <a:latin typeface="EYInterstate" panose="02000503020000020004" pitchFamily="2" charset="0"/>
                      </a:endParaRPr>
                    </a:p>
                  </a:txBody>
                  <a:tcPr marL="6350" marR="6350" marT="6350" marB="0" anchor="b"/>
                </a:tc>
                <a:extLst>
                  <a:ext uri="{0D108BD9-81ED-4DB2-BD59-A6C34878D82A}">
                    <a16:rowId xmlns:a16="http://schemas.microsoft.com/office/drawing/2014/main" val="4191068408"/>
                  </a:ext>
                </a:extLst>
              </a:tr>
            </a:tbl>
          </a:graphicData>
        </a:graphic>
      </p:graphicFrame>
    </p:spTree>
    <p:extLst>
      <p:ext uri="{BB962C8B-B14F-4D97-AF65-F5344CB8AC3E}">
        <p14:creationId xmlns:p14="http://schemas.microsoft.com/office/powerpoint/2010/main" val="10769903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533D2-F4CE-45C5-A7E9-DC3AC292D395}"/>
              </a:ext>
            </a:extLst>
          </p:cNvPr>
          <p:cNvSpPr>
            <a:spLocks noGrp="1"/>
          </p:cNvSpPr>
          <p:nvPr>
            <p:ph type="title"/>
          </p:nvPr>
        </p:nvSpPr>
        <p:spPr>
          <a:xfrm>
            <a:off x="1484311" y="685800"/>
            <a:ext cx="10018713" cy="1724025"/>
          </a:xfrm>
        </p:spPr>
        <p:txBody>
          <a:bodyPr/>
          <a:lstStyle/>
          <a:p>
            <a:endParaRPr lang="en-ZA" dirty="0"/>
          </a:p>
        </p:txBody>
      </p:sp>
      <p:sp>
        <p:nvSpPr>
          <p:cNvPr id="3" name="Content Placeholder 2">
            <a:extLst>
              <a:ext uri="{FF2B5EF4-FFF2-40B4-BE49-F238E27FC236}">
                <a16:creationId xmlns:a16="http://schemas.microsoft.com/office/drawing/2014/main" id="{D0ED3FDA-9904-4E34-BAD6-72F1D2B368AC}"/>
              </a:ext>
            </a:extLst>
          </p:cNvPr>
          <p:cNvSpPr>
            <a:spLocks noGrp="1"/>
          </p:cNvSpPr>
          <p:nvPr>
            <p:ph idx="1"/>
          </p:nvPr>
        </p:nvSpPr>
        <p:spPr/>
        <p:txBody>
          <a:bodyPr/>
          <a:lstStyle/>
          <a:p>
            <a:endParaRPr lang="en-ZA"/>
          </a:p>
        </p:txBody>
      </p:sp>
      <p:sp>
        <p:nvSpPr>
          <p:cNvPr id="4" name="Footer Placeholder 3">
            <a:extLst>
              <a:ext uri="{FF2B5EF4-FFF2-40B4-BE49-F238E27FC236}">
                <a16:creationId xmlns:a16="http://schemas.microsoft.com/office/drawing/2014/main" id="{FDFAFA7A-27CE-4467-9456-4090F6260D7C}"/>
              </a:ext>
            </a:extLst>
          </p:cNvPr>
          <p:cNvSpPr>
            <a:spLocks noGrp="1"/>
          </p:cNvSpPr>
          <p:nvPr>
            <p:ph type="ftr" sz="quarter" idx="11"/>
          </p:nvPr>
        </p:nvSpPr>
        <p:spPr/>
        <p:txBody>
          <a:bodyPr/>
          <a:lstStyle/>
          <a:p>
            <a:r>
              <a:rPr lang="en-ZA"/>
              <a:t>Introduction to taxation slides by Mlayezeli Mangena </a:t>
            </a:r>
            <a:endParaRPr lang="en-ZA" dirty="0"/>
          </a:p>
        </p:txBody>
      </p:sp>
    </p:spTree>
    <p:extLst>
      <p:ext uri="{BB962C8B-B14F-4D97-AF65-F5344CB8AC3E}">
        <p14:creationId xmlns:p14="http://schemas.microsoft.com/office/powerpoint/2010/main" val="24311833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2876B-6792-465A-A27D-A98513384758}"/>
              </a:ext>
            </a:extLst>
          </p:cNvPr>
          <p:cNvSpPr>
            <a:spLocks noGrp="1"/>
          </p:cNvSpPr>
          <p:nvPr>
            <p:ph type="title"/>
          </p:nvPr>
        </p:nvSpPr>
        <p:spPr>
          <a:xfrm>
            <a:off x="1484311" y="685800"/>
            <a:ext cx="10018713" cy="600075"/>
          </a:xfrm>
        </p:spPr>
        <p:txBody>
          <a:bodyPr>
            <a:normAutofit/>
          </a:bodyPr>
          <a:lstStyle/>
          <a:p>
            <a:pPr algn="l"/>
            <a:r>
              <a:rPr lang="en-ZA" sz="1800" dirty="0">
                <a:solidFill>
                  <a:srgbClr val="002060"/>
                </a:solidFill>
              </a:rPr>
              <a:t>Suspensive sale Section 17 and 18</a:t>
            </a:r>
          </a:p>
        </p:txBody>
      </p:sp>
      <p:sp>
        <p:nvSpPr>
          <p:cNvPr id="3" name="Content Placeholder 2">
            <a:extLst>
              <a:ext uri="{FF2B5EF4-FFF2-40B4-BE49-F238E27FC236}">
                <a16:creationId xmlns:a16="http://schemas.microsoft.com/office/drawing/2014/main" id="{580FB09E-4A46-44E0-948F-859615B620FD}"/>
              </a:ext>
            </a:extLst>
          </p:cNvPr>
          <p:cNvSpPr>
            <a:spLocks noGrp="1"/>
          </p:cNvSpPr>
          <p:nvPr>
            <p:ph idx="1"/>
          </p:nvPr>
        </p:nvSpPr>
        <p:spPr>
          <a:xfrm>
            <a:off x="1484310" y="1285875"/>
            <a:ext cx="10018713" cy="4505325"/>
          </a:xfrm>
        </p:spPr>
        <p:txBody>
          <a:bodyPr anchor="t">
            <a:normAutofit/>
          </a:bodyPr>
          <a:lstStyle/>
          <a:p>
            <a:pPr marL="0" indent="0">
              <a:buNone/>
            </a:pPr>
            <a:r>
              <a:rPr lang="en-ZA" sz="1600" dirty="0"/>
              <a:t>Sections 17 and 18 applies to the sales of movable or immovable assets where ownership is transferred at either the paying the full consideration promised or when an agreed portion has been settled ,</a:t>
            </a:r>
          </a:p>
          <a:p>
            <a:pPr marL="0" indent="0">
              <a:buNone/>
            </a:pPr>
            <a:r>
              <a:rPr lang="en-ZA" sz="1600" dirty="0"/>
              <a:t>Since income is accrued (gross income 81a-Lategan Vs CIR) it means the taxpayer is will to be taxed on amounts on which he hasn’t received cash consideration, Hence the Commissioner pardons such transactions by granting a relief </a:t>
            </a:r>
          </a:p>
          <a:p>
            <a:pPr marL="0" indent="0">
              <a:buNone/>
            </a:pPr>
            <a:r>
              <a:rPr lang="en-ZA" sz="1600" dirty="0"/>
              <a:t>Please note the relief is computed each year until the sale transaction is settled </a:t>
            </a:r>
          </a:p>
          <a:p>
            <a:pPr marL="0" indent="0">
              <a:buNone/>
            </a:pPr>
            <a:r>
              <a:rPr lang="en-ZA" sz="1600" b="1" dirty="0"/>
              <a:t>Formulae ( this same principle will be covered under CGT)</a:t>
            </a:r>
          </a:p>
          <a:p>
            <a:pPr marL="0" indent="0">
              <a:buNone/>
            </a:pPr>
            <a:r>
              <a:rPr lang="en-ZA" sz="1600" dirty="0"/>
              <a:t> </a:t>
            </a:r>
          </a:p>
          <a:p>
            <a:pPr marL="0" indent="0">
              <a:buNone/>
            </a:pPr>
            <a:endParaRPr lang="en-ZA" sz="1600" dirty="0"/>
          </a:p>
          <a:p>
            <a:pPr marL="0" indent="0">
              <a:buNone/>
            </a:pPr>
            <a:endParaRPr lang="en-ZA" sz="1600" dirty="0"/>
          </a:p>
        </p:txBody>
      </p:sp>
      <p:sp>
        <p:nvSpPr>
          <p:cNvPr id="4" name="Footer Placeholder 3">
            <a:extLst>
              <a:ext uri="{FF2B5EF4-FFF2-40B4-BE49-F238E27FC236}">
                <a16:creationId xmlns:a16="http://schemas.microsoft.com/office/drawing/2014/main" id="{922AB224-BD7A-42EA-A95E-731C79C18389}"/>
              </a:ext>
            </a:extLst>
          </p:cNvPr>
          <p:cNvSpPr>
            <a:spLocks noGrp="1"/>
          </p:cNvSpPr>
          <p:nvPr>
            <p:ph type="ftr" sz="quarter" idx="11"/>
          </p:nvPr>
        </p:nvSpPr>
        <p:spPr/>
        <p:txBody>
          <a:bodyPr/>
          <a:lstStyle/>
          <a:p>
            <a:r>
              <a:rPr lang="en-ZA" dirty="0"/>
              <a:t>Introduction to taxation slides by Mlayezeli Mangena </a:t>
            </a:r>
          </a:p>
        </p:txBody>
      </p:sp>
      <p:pic>
        <p:nvPicPr>
          <p:cNvPr id="11" name="Picture 10">
            <a:extLst>
              <a:ext uri="{FF2B5EF4-FFF2-40B4-BE49-F238E27FC236}">
                <a16:creationId xmlns:a16="http://schemas.microsoft.com/office/drawing/2014/main" id="{A5BC8725-4A4D-4D54-9193-98936E4286ED}"/>
              </a:ext>
            </a:extLst>
          </p:cNvPr>
          <p:cNvPicPr>
            <a:picLocks noChangeAspect="1"/>
          </p:cNvPicPr>
          <p:nvPr/>
        </p:nvPicPr>
        <p:blipFill>
          <a:blip r:embed="rId3"/>
          <a:stretch>
            <a:fillRect/>
          </a:stretch>
        </p:blipFill>
        <p:spPr>
          <a:xfrm>
            <a:off x="1558761" y="3538537"/>
            <a:ext cx="6388428" cy="1657435"/>
          </a:xfrm>
          <a:prstGeom prst="rect">
            <a:avLst/>
          </a:prstGeom>
        </p:spPr>
      </p:pic>
    </p:spTree>
    <p:extLst>
      <p:ext uri="{BB962C8B-B14F-4D97-AF65-F5344CB8AC3E}">
        <p14:creationId xmlns:p14="http://schemas.microsoft.com/office/powerpoint/2010/main" val="13709124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09696-A3FF-4687-9E0C-FE0D3FB73D46}"/>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3EC02223-92B6-4F63-B8C5-4DD43C184C0C}"/>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752B01A5-2EAE-4081-82AB-F7E88CDC3865}"/>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40690073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8FD04-3790-4F8E-A8BD-05FD6F170FF9}"/>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30815F81-F7F5-4FAA-9BC7-572744884782}"/>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646BB495-AA52-455D-AA1F-67D36AFB27BF}"/>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11547698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984D2-923D-476D-91AC-36C4425FDBC3}"/>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325E35F7-4CAF-4EBA-B540-046D72D96E15}"/>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043E7BF2-68CA-4F42-ABC6-E658E51EC83B}"/>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21143440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40B2D-6811-4782-BC49-DA361A2778B1}"/>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6BCFFBB0-F0C7-4202-A352-A10B47652354}"/>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D2D8FE25-35F3-4388-9A81-F89031DBD685}"/>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21685461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FD07E-45F2-4408-9689-8A482FE5030B}"/>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6BB57112-5410-49E3-AF4C-13617DE71747}"/>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A6F50BB7-17E8-4C72-BC52-7CB610289E7E}"/>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13857875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5D3BE-3AD4-4574-B0D3-D991DD8B7471}"/>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ABA1A9AD-6460-4470-A24C-7F2CF64194BB}"/>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DEEB4963-2BF4-4C12-AC82-F7B527CC5CA2}"/>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14952424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07032-FA38-4D5F-B722-96A97BE1031D}"/>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A701522F-83DA-4256-994D-924370064F02}"/>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37ABA1F7-985A-4023-BCD5-E69D4A270332}"/>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30911698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7D891-194B-49C1-93D1-131D25C88C4F}"/>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E6C18C04-AC55-4C0D-A35C-3CB6AF26A7A3}"/>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F2C1F860-2241-4943-8E30-9C051D11902D}"/>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6311488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1C0C0-E5DF-46BB-8D4D-189FC1AEC262}"/>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E821C5BD-3F40-48B9-B0D5-CB8212F25FBB}"/>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7021BDE0-B941-4E77-9997-2C22C4083096}"/>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16328436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380C5-A82B-482E-A188-7010C1F1C301}"/>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322B7ED7-0D63-4769-A246-51C087C27E06}"/>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A48ADD60-D1AB-45F8-B9E8-357A9F98347C}"/>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34061553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2BEBF-2120-4205-9D09-BC20800B03AB}"/>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FEEB26B8-1145-4037-A331-F605AFEE7F02}"/>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096B97E6-3F7F-4791-A78E-5FC2DC5F34E1}"/>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6866315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876E2-B6CA-4C36-B3FC-41B425286822}"/>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01935ED8-DB0C-44B9-9374-1D1519E1759C}"/>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7311DE9C-8D34-443E-B3EB-648AFCC5E0B0}"/>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39530758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744B3-E65D-44F7-8319-ABCAB3F57760}"/>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59BCCACB-F77B-4912-A4EC-9A4DABE0A4A6}"/>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426A3281-5B79-4519-91E0-B70E8B94DDB0}"/>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28640302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DAE84-D316-4E08-9C73-E2C99AD946D3}"/>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74A2D8B7-B967-4B02-A34E-836140738693}"/>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C98D333A-B0FF-4BC3-AA92-590639D869BF}"/>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4401678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02A8E-5766-482F-8B00-8719F44D1BED}"/>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591CF377-1E4F-4B57-867A-A7EBF333EA94}"/>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A102C0FD-9CCC-465D-BA28-2BE61B733819}"/>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5393184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02C35-62F1-44CC-94F2-F788B574773D}"/>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1190A225-C5DA-4116-A0C3-04ECB57DB38A}"/>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723A265F-BCEA-48D0-BC18-444B20F4BD14}"/>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22379527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A38D3-28BA-41CF-8D6F-405DDFEF69C0}"/>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DB7630CF-1789-44B5-962D-F897C7B75A28}"/>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1D080426-7FF4-4876-9A54-D3C0B5D88A7F}"/>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22556247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91F77-EC05-4F77-ABFD-C6CEE6B2FEE3}"/>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C40B6D53-A0AE-4387-8150-8DD4568DD0A2}"/>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12CFBAD3-AA8A-4513-8626-AE414E66C775}"/>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31391619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3E6CF-77A3-4BCF-BDAF-4B3677F96042}"/>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C5A8F1E0-1163-4C63-90E3-9C80512ACB45}"/>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9422ECB5-F4EE-42AB-9747-D87A784CF968}"/>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12149027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4E08D-0C6A-44A3-A175-7B568C8071B9}"/>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BE34044C-9109-4F47-BD54-371AC43D4361}"/>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DCAD6BEB-AF71-4250-8F38-73FFDE9D8EC1}"/>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1175919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FD5EF-5953-49D9-A116-7648A7E16194}"/>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7709765A-E44B-41DE-B484-9E8F93E3B81A}"/>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6701BA15-85C7-41DE-877B-AA00A9725D77}"/>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35131900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65A72-4A09-4A39-82C7-8788C8F34860}"/>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6E0647CF-30FD-471E-AC47-A3E71F0138AA}"/>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8D094FE2-E449-4BC8-AEFD-C52C294E288E}"/>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23369879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64E8D-DB90-4E75-933E-D313A7E723E5}"/>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5D5602B6-F394-472B-9F54-C709112415D5}"/>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7B6CE00C-9348-483E-8391-7B25931B5BC3}"/>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26653897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ABE77-3984-4ADE-B6A1-FF40C6D56AFB}"/>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A9113A39-E2BE-4F26-B8F3-1C1709D31318}"/>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5A6AC5C2-07B5-49C1-B4AA-7F9DFC829184}"/>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20258529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7A883-A459-4DD7-81FD-76985C7B308B}"/>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2AF76BC1-611C-434C-B8FD-10606E41D634}"/>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C421EFC4-7312-410C-994E-008C87513E8E}"/>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9184201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AABDF-38E8-46C2-9A86-D4A0A4AB5F55}"/>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6A0B4EB8-5253-41AC-8802-6A1536665E49}"/>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E731935A-8B6F-4E90-BB9A-62638807958A}"/>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1365838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DCEEA-E7FB-4FD5-B893-60BA6F41FA72}"/>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DE0D4E6D-D748-4007-8F60-2CBD40D3BE88}"/>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17736815-970C-435E-AC2E-D5EFC87EF13A}"/>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23568208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DAF96-61F1-4ED7-8383-225D597FAD6B}"/>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158A93CF-49DB-4EE1-9035-5F522875ADBB}"/>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13FF1C05-349A-432B-81FF-E5CF15C6FC94}"/>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26264154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B4A21-8D5E-4397-AFA7-BE0E905BB275}"/>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1F77336F-DC4E-4A0C-BA9A-5FE2EFAF123D}"/>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8BF564B3-B938-4F82-863D-ED085383E8EE}"/>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39476534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CE313-7541-4294-81CA-8ED2893B4634}"/>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7342B836-C3F0-437D-A9A8-7EFC7A603F93}"/>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7688F7C5-13CD-42E2-9FE6-0AD61E85DE04}"/>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215179602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6AB8A-2E4E-4A72-8A00-C7C5EA9C7833}"/>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00585B9F-B9C8-4040-B306-1C9479CA44F7}"/>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67179468-2FE3-4D31-A070-AFD3A532DBAF}"/>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24030609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C03BB-F1C8-46A5-9AE5-52CF13D45385}"/>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59B69CFE-783C-4488-9086-ADA50BEB55C9}"/>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61595940-DAB2-470C-9E2C-6C08302441EC}"/>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40340597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B43F5-3533-4D7D-914F-E00454E4EC90}"/>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8CBFA83D-1BFB-4573-BE7F-C54CD91E87EC}"/>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EF04FE7C-2C3B-43CD-8FE8-201D6493563C}"/>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33569288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0AF45-3E6D-4BAE-9884-55A63F0E4043}"/>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79368353-4140-4391-9C24-BAE971615A08}"/>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FB865AEA-172E-463C-8173-C38CD0A69ADA}"/>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6982659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CF52E-9211-4B3E-AA22-01EA1CB641ED}"/>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4CB66616-C909-4850-BA7E-FCD95A72BA82}"/>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FA3E96D1-2A6B-4D28-9D1B-D38A59849A95}"/>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103140040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9D899-63D1-42CA-BDE9-655F7C668F32}"/>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34701694-B8F1-4608-9AB7-D9978D488EB2}"/>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A2B8A181-32E7-4C46-9B6B-C0FCCFBF9DAF}"/>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101076935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BBCD9-5131-4FFE-B5E2-C1B553072F65}"/>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BE2D37ED-A151-4855-A212-07B7448AEC8E}"/>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96AE489C-DEF6-40EE-838C-6CF1F81C6867}"/>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137951779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80F4A-3765-4522-8CE0-F13BCE894259}"/>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BB0D07F5-0204-46EC-A083-5811CE0CDDFA}"/>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835CBD22-E129-4991-9100-27634398FE80}"/>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39174844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B4604-101E-4E70-86F1-C3BA54E0D5C0}"/>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363986E4-0B77-43C7-9793-61A8748D8A24}"/>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7449534B-4CEA-43F5-BD30-EE3D528B11EF}"/>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387433617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53810-B47C-47D8-964F-D7D31253F1B5}"/>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2EBCB35C-F6A3-47C8-8E54-FAB863980DE8}"/>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321C38C1-F8FD-4468-9987-B0CE9DE54A1D}"/>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424341362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CB6A9-C2A8-4F5E-9DBF-7C7A251116B8}"/>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F7FB2CF1-9C2A-46BC-B51F-33FDA4CAFAA8}"/>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D7801214-726A-4475-8EDA-D9B8D0FDE323}"/>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178174167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0730B-FE43-420A-8247-6F60C04DECDE}"/>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E811316B-9929-4A6F-8F07-84C035B0AA51}"/>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23321AB8-4B4D-43D9-B4F4-B99EA1BC8C97}"/>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21578157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9F2C8-7591-4421-862A-1763A9935C3D}"/>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8B81D6F7-3A41-4C53-A48A-DB5D904B52E4}"/>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81B2679F-70B3-4CE6-87E0-3EB79ABB790C}"/>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123011947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A019F-22BB-4166-BC28-5BD25EB51646}"/>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E21E2C12-6F22-41EA-8E39-CCFC254F78F5}"/>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7DF89FCA-ED36-422E-AF77-BB77DAB04716}"/>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262807137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10617-F625-48F1-82F4-CC49E288A300}"/>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0F9AAB56-DBCA-4409-9DD0-07A54BA7CA81}"/>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8032166B-05A5-4103-8995-8F68F4183582}"/>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314540577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7DFE1-5326-4228-AB76-081FB0AC9E8D}"/>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FD93EDA7-B91D-4211-96E6-1D036FB52030}"/>
              </a:ext>
            </a:extLst>
          </p:cNvPr>
          <p:cNvSpPr>
            <a:spLocks noGrp="1"/>
          </p:cNvSpPr>
          <p:nvPr>
            <p:ph idx="1"/>
          </p:nvPr>
        </p:nvSpPr>
        <p:spPr/>
        <p:txBody>
          <a:bodyPr/>
          <a:lstStyle/>
          <a:p>
            <a:endParaRPr lang="en-ZA" dirty="0"/>
          </a:p>
        </p:txBody>
      </p:sp>
      <p:sp>
        <p:nvSpPr>
          <p:cNvPr id="4" name="Footer Placeholder 3">
            <a:extLst>
              <a:ext uri="{FF2B5EF4-FFF2-40B4-BE49-F238E27FC236}">
                <a16:creationId xmlns:a16="http://schemas.microsoft.com/office/drawing/2014/main" id="{E9CF5119-38F9-47D4-9F8B-791E125F871E}"/>
              </a:ext>
            </a:extLst>
          </p:cNvPr>
          <p:cNvSpPr>
            <a:spLocks noGrp="1"/>
          </p:cNvSpPr>
          <p:nvPr>
            <p:ph type="ftr" sz="quarter" idx="11"/>
          </p:nvPr>
        </p:nvSpPr>
        <p:spPr/>
        <p:txBody>
          <a:bodyPr/>
          <a:lstStyle/>
          <a:p>
            <a:r>
              <a:rPr lang="en-ZA" dirty="0"/>
              <a:t>Introduction to taxation slides by Mlayezeli Mangena </a:t>
            </a:r>
          </a:p>
        </p:txBody>
      </p:sp>
    </p:spTree>
    <p:extLst>
      <p:ext uri="{BB962C8B-B14F-4D97-AF65-F5344CB8AC3E}">
        <p14:creationId xmlns:p14="http://schemas.microsoft.com/office/powerpoint/2010/main" val="4561256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2773</TotalTime>
  <Words>4587</Words>
  <Application>Microsoft Office PowerPoint</Application>
  <PresentationFormat>Widescreen</PresentationFormat>
  <Paragraphs>386</Paragraphs>
  <Slides>79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79</vt:i4>
      </vt:variant>
    </vt:vector>
  </HeadingPairs>
  <TitlesOfParts>
    <vt:vector size="86" baseType="lpstr">
      <vt:lpstr>Arial</vt:lpstr>
      <vt:lpstr>Calibri</vt:lpstr>
      <vt:lpstr>Corbel</vt:lpstr>
      <vt:lpstr>EYInterstate</vt:lpstr>
      <vt:lpstr>Times New Roman</vt:lpstr>
      <vt:lpstr>Wingdings</vt:lpstr>
      <vt:lpstr>Parallax</vt:lpstr>
      <vt:lpstr>Introduction to applied Taxation ( Part 4.1-2023)</vt:lpstr>
      <vt:lpstr>Recommended Textbooks </vt:lpstr>
      <vt:lpstr>Gross Income (Definition Section 8)</vt:lpstr>
      <vt:lpstr>Received by </vt:lpstr>
      <vt:lpstr>Accrued to or deemed to accrue to</vt:lpstr>
      <vt:lpstr>Source and Deemed source</vt:lpstr>
      <vt:lpstr>Deemed source section 12</vt:lpstr>
      <vt:lpstr>Capital in nature</vt:lpstr>
      <vt:lpstr>Example of Capital Nature Receipts</vt:lpstr>
      <vt:lpstr>Allowable deductions </vt:lpstr>
      <vt:lpstr>Applicable case laws </vt:lpstr>
      <vt:lpstr>Taxation of business Income </vt:lpstr>
      <vt:lpstr>Specific Inclusions into gross income </vt:lpstr>
      <vt:lpstr>Section 81d and 152d Lease premiums </vt:lpstr>
      <vt:lpstr>81(e) and 152(e) Lease Improvements </vt:lpstr>
      <vt:lpstr>81k and 81H Cessation of credit and closing stock</vt:lpstr>
      <vt:lpstr>Exemptions Para 14 and 13th Schedule </vt:lpstr>
      <vt:lpstr>PowerPoint Presentation</vt:lpstr>
      <vt:lpstr>PowerPoint Presentation</vt:lpstr>
      <vt:lpstr>PowerPoint Presentation</vt:lpstr>
      <vt:lpstr>PowerPoint Presentation</vt:lpstr>
      <vt:lpstr>PowerPoint Presentation</vt:lpstr>
      <vt:lpstr>Section 152c and 4th Schedule</vt:lpstr>
      <vt:lpstr>SIA and wear and tear rules </vt:lpstr>
      <vt:lpstr>Deemed cost for Various Assets</vt:lpstr>
      <vt:lpstr>Recoupment ( 8)(1)(1) and 81j</vt:lpstr>
      <vt:lpstr>Recoupment Example</vt:lpstr>
      <vt:lpstr>Scrapping Allowance Para 4 of the 4th Schedule</vt:lpstr>
      <vt:lpstr>Prohibited deductions s16</vt:lpstr>
      <vt:lpstr>Prohibited deductions s16</vt:lpstr>
      <vt:lpstr>Prohibited deductions s16</vt:lpstr>
      <vt:lpstr>PowerPoint Presentation</vt:lpstr>
      <vt:lpstr>Suspensive sale Section 17 and 18</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Gross Income and the General Deductions formulae</dc:title>
  <dc:creator>Mlayezeli Mangena</dc:creator>
  <cp:lastModifiedBy>Mlayezeli Mangena</cp:lastModifiedBy>
  <cp:revision>7</cp:revision>
  <dcterms:created xsi:type="dcterms:W3CDTF">2023-09-26T11:58:36Z</dcterms:created>
  <dcterms:modified xsi:type="dcterms:W3CDTF">2023-09-30T10:41:10Z</dcterms:modified>
</cp:coreProperties>
</file>