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0" r:id="rId3"/>
    <p:sldId id="258" r:id="rId4"/>
    <p:sldId id="261" r:id="rId5"/>
    <p:sldId id="262" r:id="rId6"/>
    <p:sldId id="263" r:id="rId7"/>
    <p:sldId id="264" r:id="rId8"/>
    <p:sldId id="265" r:id="rId9"/>
    <p:sldId id="292" r:id="rId10"/>
    <p:sldId id="266" r:id="rId11"/>
    <p:sldId id="267" r:id="rId12"/>
    <p:sldId id="268" r:id="rId13"/>
    <p:sldId id="290" r:id="rId14"/>
    <p:sldId id="269" r:id="rId15"/>
    <p:sldId id="270" r:id="rId16"/>
    <p:sldId id="271" r:id="rId17"/>
    <p:sldId id="272" r:id="rId18"/>
    <p:sldId id="273" r:id="rId19"/>
    <p:sldId id="297" r:id="rId20"/>
    <p:sldId id="289" r:id="rId21"/>
    <p:sldId id="274" r:id="rId22"/>
    <p:sldId id="275" r:id="rId23"/>
    <p:sldId id="291" r:id="rId24"/>
    <p:sldId id="298" r:id="rId25"/>
    <p:sldId id="299" r:id="rId26"/>
    <p:sldId id="300" r:id="rId27"/>
    <p:sldId id="301" r:id="rId28"/>
    <p:sldId id="276" r:id="rId29"/>
    <p:sldId id="277" r:id="rId30"/>
    <p:sldId id="288" r:id="rId31"/>
    <p:sldId id="278" r:id="rId32"/>
    <p:sldId id="294" r:id="rId33"/>
    <p:sldId id="296" r:id="rId34"/>
    <p:sldId id="279" r:id="rId35"/>
    <p:sldId id="280" r:id="rId36"/>
    <p:sldId id="281" r:id="rId37"/>
    <p:sldId id="282" r:id="rId38"/>
    <p:sldId id="283" r:id="rId39"/>
    <p:sldId id="284" r:id="rId40"/>
    <p:sldId id="285" r:id="rId41"/>
    <p:sldId id="286" r:id="rId42"/>
    <p:sldId id="287"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100" d="100"/>
          <a:sy n="100" d="100"/>
        </p:scale>
        <p:origin x="-504" y="60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ZW"/>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ZW"/>
          </a:p>
        </p:txBody>
      </p:sp>
      <p:sp>
        <p:nvSpPr>
          <p:cNvPr id="4" name="Date Placeholder 3"/>
          <p:cNvSpPr>
            <a:spLocks noGrp="1"/>
          </p:cNvSpPr>
          <p:nvPr>
            <p:ph type="dt" sz="half" idx="10"/>
          </p:nvPr>
        </p:nvSpPr>
        <p:spPr/>
        <p:txBody>
          <a:bodyPr/>
          <a:lstStyle/>
          <a:p>
            <a:fld id="{7C77ED2E-00D8-490D-9421-84F0BC9E65CF}" type="datetimeFigureOut">
              <a:rPr lang="en-US" smtClean="0"/>
              <a:t>2/4/2017</a:t>
            </a:fld>
            <a:endParaRPr lang="en-ZW"/>
          </a:p>
        </p:txBody>
      </p:sp>
      <p:sp>
        <p:nvSpPr>
          <p:cNvPr id="5" name="Footer Placeholder 4"/>
          <p:cNvSpPr>
            <a:spLocks noGrp="1"/>
          </p:cNvSpPr>
          <p:nvPr>
            <p:ph type="ftr" sz="quarter" idx="11"/>
          </p:nvPr>
        </p:nvSpPr>
        <p:spPr/>
        <p:txBody>
          <a:bodyPr/>
          <a:lstStyle/>
          <a:p>
            <a:endParaRPr lang="en-ZW"/>
          </a:p>
        </p:txBody>
      </p:sp>
      <p:sp>
        <p:nvSpPr>
          <p:cNvPr id="6" name="Slide Number Placeholder 5"/>
          <p:cNvSpPr>
            <a:spLocks noGrp="1"/>
          </p:cNvSpPr>
          <p:nvPr>
            <p:ph type="sldNum" sz="quarter" idx="12"/>
          </p:nvPr>
        </p:nvSpPr>
        <p:spPr/>
        <p:txBody>
          <a:bodyPr/>
          <a:lstStyle/>
          <a:p>
            <a:fld id="{F01CB670-9156-4D28-A6BB-B823FB19E508}" type="slidenum">
              <a:rPr lang="en-ZW" smtClean="0"/>
              <a:t>‹#›</a:t>
            </a:fld>
            <a:endParaRPr lang="en-ZW"/>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W"/>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W"/>
          </a:p>
        </p:txBody>
      </p:sp>
      <p:sp>
        <p:nvSpPr>
          <p:cNvPr id="4" name="Date Placeholder 3"/>
          <p:cNvSpPr>
            <a:spLocks noGrp="1"/>
          </p:cNvSpPr>
          <p:nvPr>
            <p:ph type="dt" sz="half" idx="10"/>
          </p:nvPr>
        </p:nvSpPr>
        <p:spPr/>
        <p:txBody>
          <a:bodyPr/>
          <a:lstStyle/>
          <a:p>
            <a:fld id="{7C77ED2E-00D8-490D-9421-84F0BC9E65CF}" type="datetimeFigureOut">
              <a:rPr lang="en-US" smtClean="0"/>
              <a:t>2/4/2017</a:t>
            </a:fld>
            <a:endParaRPr lang="en-ZW"/>
          </a:p>
        </p:txBody>
      </p:sp>
      <p:sp>
        <p:nvSpPr>
          <p:cNvPr id="5" name="Footer Placeholder 4"/>
          <p:cNvSpPr>
            <a:spLocks noGrp="1"/>
          </p:cNvSpPr>
          <p:nvPr>
            <p:ph type="ftr" sz="quarter" idx="11"/>
          </p:nvPr>
        </p:nvSpPr>
        <p:spPr/>
        <p:txBody>
          <a:bodyPr/>
          <a:lstStyle/>
          <a:p>
            <a:endParaRPr lang="en-ZW"/>
          </a:p>
        </p:txBody>
      </p:sp>
      <p:sp>
        <p:nvSpPr>
          <p:cNvPr id="6" name="Slide Number Placeholder 5"/>
          <p:cNvSpPr>
            <a:spLocks noGrp="1"/>
          </p:cNvSpPr>
          <p:nvPr>
            <p:ph type="sldNum" sz="quarter" idx="12"/>
          </p:nvPr>
        </p:nvSpPr>
        <p:spPr/>
        <p:txBody>
          <a:bodyPr/>
          <a:lstStyle/>
          <a:p>
            <a:fld id="{F01CB670-9156-4D28-A6BB-B823FB19E508}" type="slidenum">
              <a:rPr lang="en-ZW" smtClean="0"/>
              <a:t>‹#›</a:t>
            </a:fld>
            <a:endParaRPr lang="en-ZW"/>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ZW"/>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C77ED2E-00D8-490D-9421-84F0BC9E65CF}" type="datetimeFigureOut">
              <a:rPr lang="en-US" smtClean="0"/>
              <a:t>2/4/2017</a:t>
            </a:fld>
            <a:endParaRPr lang="en-ZW"/>
          </a:p>
        </p:txBody>
      </p:sp>
      <p:sp>
        <p:nvSpPr>
          <p:cNvPr id="5" name="Footer Placeholder 4"/>
          <p:cNvSpPr>
            <a:spLocks noGrp="1"/>
          </p:cNvSpPr>
          <p:nvPr>
            <p:ph type="ftr" sz="quarter" idx="11"/>
          </p:nvPr>
        </p:nvSpPr>
        <p:spPr/>
        <p:txBody>
          <a:bodyPr/>
          <a:lstStyle/>
          <a:p>
            <a:endParaRPr lang="en-ZW"/>
          </a:p>
        </p:txBody>
      </p:sp>
      <p:sp>
        <p:nvSpPr>
          <p:cNvPr id="6" name="Slide Number Placeholder 5"/>
          <p:cNvSpPr>
            <a:spLocks noGrp="1"/>
          </p:cNvSpPr>
          <p:nvPr>
            <p:ph type="sldNum" sz="quarter" idx="12"/>
          </p:nvPr>
        </p:nvSpPr>
        <p:spPr/>
        <p:txBody>
          <a:bodyPr/>
          <a:lstStyle/>
          <a:p>
            <a:fld id="{F01CB670-9156-4D28-A6BB-B823FB19E508}" type="slidenum">
              <a:rPr lang="en-ZW" smtClean="0"/>
              <a:t>‹#›</a:t>
            </a:fld>
            <a:endParaRPr lang="en-ZW"/>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W"/>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W"/>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W"/>
          </a:p>
        </p:txBody>
      </p:sp>
      <p:sp>
        <p:nvSpPr>
          <p:cNvPr id="5" name="Date Placeholder 4"/>
          <p:cNvSpPr>
            <a:spLocks noGrp="1"/>
          </p:cNvSpPr>
          <p:nvPr>
            <p:ph type="dt" sz="half" idx="10"/>
          </p:nvPr>
        </p:nvSpPr>
        <p:spPr/>
        <p:txBody>
          <a:bodyPr/>
          <a:lstStyle/>
          <a:p>
            <a:fld id="{7C77ED2E-00D8-490D-9421-84F0BC9E65CF}" type="datetimeFigureOut">
              <a:rPr lang="en-US" smtClean="0"/>
              <a:t>2/4/2017</a:t>
            </a:fld>
            <a:endParaRPr lang="en-ZW"/>
          </a:p>
        </p:txBody>
      </p:sp>
      <p:sp>
        <p:nvSpPr>
          <p:cNvPr id="6" name="Footer Placeholder 5"/>
          <p:cNvSpPr>
            <a:spLocks noGrp="1"/>
          </p:cNvSpPr>
          <p:nvPr>
            <p:ph type="ftr" sz="quarter" idx="11"/>
          </p:nvPr>
        </p:nvSpPr>
        <p:spPr/>
        <p:txBody>
          <a:bodyPr/>
          <a:lstStyle/>
          <a:p>
            <a:endParaRPr lang="en-ZW"/>
          </a:p>
        </p:txBody>
      </p:sp>
      <p:sp>
        <p:nvSpPr>
          <p:cNvPr id="7" name="Slide Number Placeholder 6"/>
          <p:cNvSpPr>
            <a:spLocks noGrp="1"/>
          </p:cNvSpPr>
          <p:nvPr>
            <p:ph type="sldNum" sz="quarter" idx="12"/>
          </p:nvPr>
        </p:nvSpPr>
        <p:spPr/>
        <p:txBody>
          <a:bodyPr/>
          <a:lstStyle/>
          <a:p>
            <a:fld id="{F01CB670-9156-4D28-A6BB-B823FB19E508}" type="slidenum">
              <a:rPr lang="en-ZW" smtClean="0"/>
              <a:t>‹#›</a:t>
            </a:fld>
            <a:endParaRPr lang="en-ZW"/>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ZW"/>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W"/>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W"/>
          </a:p>
        </p:txBody>
      </p:sp>
      <p:sp>
        <p:nvSpPr>
          <p:cNvPr id="7" name="Date Placeholder 6"/>
          <p:cNvSpPr>
            <a:spLocks noGrp="1"/>
          </p:cNvSpPr>
          <p:nvPr>
            <p:ph type="dt" sz="half" idx="10"/>
          </p:nvPr>
        </p:nvSpPr>
        <p:spPr/>
        <p:txBody>
          <a:bodyPr/>
          <a:lstStyle/>
          <a:p>
            <a:fld id="{7C77ED2E-00D8-490D-9421-84F0BC9E65CF}" type="datetimeFigureOut">
              <a:rPr lang="en-US" smtClean="0"/>
              <a:t>2/4/2017</a:t>
            </a:fld>
            <a:endParaRPr lang="en-ZW"/>
          </a:p>
        </p:txBody>
      </p:sp>
      <p:sp>
        <p:nvSpPr>
          <p:cNvPr id="8" name="Footer Placeholder 7"/>
          <p:cNvSpPr>
            <a:spLocks noGrp="1"/>
          </p:cNvSpPr>
          <p:nvPr>
            <p:ph type="ftr" sz="quarter" idx="11"/>
          </p:nvPr>
        </p:nvSpPr>
        <p:spPr/>
        <p:txBody>
          <a:bodyPr/>
          <a:lstStyle/>
          <a:p>
            <a:endParaRPr lang="en-ZW"/>
          </a:p>
        </p:txBody>
      </p:sp>
      <p:sp>
        <p:nvSpPr>
          <p:cNvPr id="9" name="Slide Number Placeholder 8"/>
          <p:cNvSpPr>
            <a:spLocks noGrp="1"/>
          </p:cNvSpPr>
          <p:nvPr>
            <p:ph type="sldNum" sz="quarter" idx="12"/>
          </p:nvPr>
        </p:nvSpPr>
        <p:spPr/>
        <p:txBody>
          <a:bodyPr/>
          <a:lstStyle/>
          <a:p>
            <a:fld id="{F01CB670-9156-4D28-A6BB-B823FB19E508}" type="slidenum">
              <a:rPr lang="en-ZW" smtClean="0"/>
              <a:t>‹#›</a:t>
            </a:fld>
            <a:endParaRPr lang="en-ZW"/>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W"/>
          </a:p>
        </p:txBody>
      </p:sp>
      <p:sp>
        <p:nvSpPr>
          <p:cNvPr id="3" name="Date Placeholder 2"/>
          <p:cNvSpPr>
            <a:spLocks noGrp="1"/>
          </p:cNvSpPr>
          <p:nvPr>
            <p:ph type="dt" sz="half" idx="10"/>
          </p:nvPr>
        </p:nvSpPr>
        <p:spPr/>
        <p:txBody>
          <a:bodyPr/>
          <a:lstStyle/>
          <a:p>
            <a:fld id="{7C77ED2E-00D8-490D-9421-84F0BC9E65CF}" type="datetimeFigureOut">
              <a:rPr lang="en-US" smtClean="0"/>
              <a:t>2/4/2017</a:t>
            </a:fld>
            <a:endParaRPr lang="en-ZW"/>
          </a:p>
        </p:txBody>
      </p:sp>
      <p:sp>
        <p:nvSpPr>
          <p:cNvPr id="4" name="Footer Placeholder 3"/>
          <p:cNvSpPr>
            <a:spLocks noGrp="1"/>
          </p:cNvSpPr>
          <p:nvPr>
            <p:ph type="ftr" sz="quarter" idx="11"/>
          </p:nvPr>
        </p:nvSpPr>
        <p:spPr/>
        <p:txBody>
          <a:bodyPr/>
          <a:lstStyle/>
          <a:p>
            <a:endParaRPr lang="en-ZW"/>
          </a:p>
        </p:txBody>
      </p:sp>
      <p:sp>
        <p:nvSpPr>
          <p:cNvPr id="5" name="Slide Number Placeholder 4"/>
          <p:cNvSpPr>
            <a:spLocks noGrp="1"/>
          </p:cNvSpPr>
          <p:nvPr>
            <p:ph type="sldNum" sz="quarter" idx="12"/>
          </p:nvPr>
        </p:nvSpPr>
        <p:spPr/>
        <p:txBody>
          <a:bodyPr/>
          <a:lstStyle/>
          <a:p>
            <a:fld id="{F01CB670-9156-4D28-A6BB-B823FB19E508}" type="slidenum">
              <a:rPr lang="en-ZW" smtClean="0"/>
              <a:t>‹#›</a:t>
            </a:fld>
            <a:endParaRPr lang="en-ZW"/>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77ED2E-00D8-490D-9421-84F0BC9E65CF}" type="datetimeFigureOut">
              <a:rPr lang="en-US" smtClean="0"/>
              <a:t>2/4/2017</a:t>
            </a:fld>
            <a:endParaRPr lang="en-ZW"/>
          </a:p>
        </p:txBody>
      </p:sp>
      <p:sp>
        <p:nvSpPr>
          <p:cNvPr id="3" name="Footer Placeholder 2"/>
          <p:cNvSpPr>
            <a:spLocks noGrp="1"/>
          </p:cNvSpPr>
          <p:nvPr>
            <p:ph type="ftr" sz="quarter" idx="11"/>
          </p:nvPr>
        </p:nvSpPr>
        <p:spPr/>
        <p:txBody>
          <a:bodyPr/>
          <a:lstStyle/>
          <a:p>
            <a:endParaRPr lang="en-ZW"/>
          </a:p>
        </p:txBody>
      </p:sp>
      <p:sp>
        <p:nvSpPr>
          <p:cNvPr id="4" name="Slide Number Placeholder 3"/>
          <p:cNvSpPr>
            <a:spLocks noGrp="1"/>
          </p:cNvSpPr>
          <p:nvPr>
            <p:ph type="sldNum" sz="quarter" idx="12"/>
          </p:nvPr>
        </p:nvSpPr>
        <p:spPr/>
        <p:txBody>
          <a:bodyPr/>
          <a:lstStyle/>
          <a:p>
            <a:fld id="{F01CB670-9156-4D28-A6BB-B823FB19E508}" type="slidenum">
              <a:rPr lang="en-ZW" smtClean="0"/>
              <a:t>‹#›</a:t>
            </a:fld>
            <a:endParaRPr lang="en-ZW"/>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ZW"/>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W"/>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C77ED2E-00D8-490D-9421-84F0BC9E65CF}" type="datetimeFigureOut">
              <a:rPr lang="en-US" smtClean="0"/>
              <a:t>2/4/2017</a:t>
            </a:fld>
            <a:endParaRPr lang="en-ZW"/>
          </a:p>
        </p:txBody>
      </p:sp>
      <p:sp>
        <p:nvSpPr>
          <p:cNvPr id="6" name="Footer Placeholder 5"/>
          <p:cNvSpPr>
            <a:spLocks noGrp="1"/>
          </p:cNvSpPr>
          <p:nvPr>
            <p:ph type="ftr" sz="quarter" idx="11"/>
          </p:nvPr>
        </p:nvSpPr>
        <p:spPr/>
        <p:txBody>
          <a:bodyPr/>
          <a:lstStyle/>
          <a:p>
            <a:endParaRPr lang="en-ZW"/>
          </a:p>
        </p:txBody>
      </p:sp>
      <p:sp>
        <p:nvSpPr>
          <p:cNvPr id="7" name="Slide Number Placeholder 6"/>
          <p:cNvSpPr>
            <a:spLocks noGrp="1"/>
          </p:cNvSpPr>
          <p:nvPr>
            <p:ph type="sldNum" sz="quarter" idx="12"/>
          </p:nvPr>
        </p:nvSpPr>
        <p:spPr/>
        <p:txBody>
          <a:bodyPr/>
          <a:lstStyle/>
          <a:p>
            <a:fld id="{F01CB670-9156-4D28-A6BB-B823FB19E508}" type="slidenum">
              <a:rPr lang="en-ZW" smtClean="0"/>
              <a:t>‹#›</a:t>
            </a:fld>
            <a:endParaRPr lang="en-ZW"/>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ZW"/>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W"/>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C77ED2E-00D8-490D-9421-84F0BC9E65CF}" type="datetimeFigureOut">
              <a:rPr lang="en-US" smtClean="0"/>
              <a:t>2/4/2017</a:t>
            </a:fld>
            <a:endParaRPr lang="en-ZW"/>
          </a:p>
        </p:txBody>
      </p:sp>
      <p:sp>
        <p:nvSpPr>
          <p:cNvPr id="6" name="Footer Placeholder 5"/>
          <p:cNvSpPr>
            <a:spLocks noGrp="1"/>
          </p:cNvSpPr>
          <p:nvPr>
            <p:ph type="ftr" sz="quarter" idx="11"/>
          </p:nvPr>
        </p:nvSpPr>
        <p:spPr/>
        <p:txBody>
          <a:bodyPr/>
          <a:lstStyle/>
          <a:p>
            <a:endParaRPr lang="en-ZW"/>
          </a:p>
        </p:txBody>
      </p:sp>
      <p:sp>
        <p:nvSpPr>
          <p:cNvPr id="7" name="Slide Number Placeholder 6"/>
          <p:cNvSpPr>
            <a:spLocks noGrp="1"/>
          </p:cNvSpPr>
          <p:nvPr>
            <p:ph type="sldNum" sz="quarter" idx="12"/>
          </p:nvPr>
        </p:nvSpPr>
        <p:spPr/>
        <p:txBody>
          <a:bodyPr/>
          <a:lstStyle/>
          <a:p>
            <a:fld id="{F01CB670-9156-4D28-A6BB-B823FB19E508}" type="slidenum">
              <a:rPr lang="en-ZW" smtClean="0"/>
              <a:t>‹#›</a:t>
            </a:fld>
            <a:endParaRPr lang="en-ZW"/>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W"/>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W"/>
          </a:p>
        </p:txBody>
      </p:sp>
      <p:sp>
        <p:nvSpPr>
          <p:cNvPr id="4" name="Date Placeholder 3"/>
          <p:cNvSpPr>
            <a:spLocks noGrp="1"/>
          </p:cNvSpPr>
          <p:nvPr>
            <p:ph type="dt" sz="half" idx="10"/>
          </p:nvPr>
        </p:nvSpPr>
        <p:spPr/>
        <p:txBody>
          <a:bodyPr/>
          <a:lstStyle/>
          <a:p>
            <a:fld id="{7C77ED2E-00D8-490D-9421-84F0BC9E65CF}" type="datetimeFigureOut">
              <a:rPr lang="en-US" smtClean="0"/>
              <a:t>2/4/2017</a:t>
            </a:fld>
            <a:endParaRPr lang="en-ZW"/>
          </a:p>
        </p:txBody>
      </p:sp>
      <p:sp>
        <p:nvSpPr>
          <p:cNvPr id="5" name="Footer Placeholder 4"/>
          <p:cNvSpPr>
            <a:spLocks noGrp="1"/>
          </p:cNvSpPr>
          <p:nvPr>
            <p:ph type="ftr" sz="quarter" idx="11"/>
          </p:nvPr>
        </p:nvSpPr>
        <p:spPr/>
        <p:txBody>
          <a:bodyPr/>
          <a:lstStyle/>
          <a:p>
            <a:endParaRPr lang="en-ZW"/>
          </a:p>
        </p:txBody>
      </p:sp>
      <p:sp>
        <p:nvSpPr>
          <p:cNvPr id="6" name="Slide Number Placeholder 5"/>
          <p:cNvSpPr>
            <a:spLocks noGrp="1"/>
          </p:cNvSpPr>
          <p:nvPr>
            <p:ph type="sldNum" sz="quarter" idx="12"/>
          </p:nvPr>
        </p:nvSpPr>
        <p:spPr/>
        <p:txBody>
          <a:bodyPr/>
          <a:lstStyle/>
          <a:p>
            <a:fld id="{F01CB670-9156-4D28-A6BB-B823FB19E508}" type="slidenum">
              <a:rPr lang="en-ZW" smtClean="0"/>
              <a:t>‹#›</a:t>
            </a:fld>
            <a:endParaRPr lang="en-ZW"/>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ZW"/>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W"/>
          </a:p>
        </p:txBody>
      </p:sp>
      <p:sp>
        <p:nvSpPr>
          <p:cNvPr id="4" name="Date Placeholder 3"/>
          <p:cNvSpPr>
            <a:spLocks noGrp="1"/>
          </p:cNvSpPr>
          <p:nvPr>
            <p:ph type="dt" sz="half" idx="10"/>
          </p:nvPr>
        </p:nvSpPr>
        <p:spPr/>
        <p:txBody>
          <a:bodyPr/>
          <a:lstStyle/>
          <a:p>
            <a:fld id="{7C77ED2E-00D8-490D-9421-84F0BC9E65CF}" type="datetimeFigureOut">
              <a:rPr lang="en-US" smtClean="0"/>
              <a:t>2/4/2017</a:t>
            </a:fld>
            <a:endParaRPr lang="en-ZW"/>
          </a:p>
        </p:txBody>
      </p:sp>
      <p:sp>
        <p:nvSpPr>
          <p:cNvPr id="5" name="Footer Placeholder 4"/>
          <p:cNvSpPr>
            <a:spLocks noGrp="1"/>
          </p:cNvSpPr>
          <p:nvPr>
            <p:ph type="ftr" sz="quarter" idx="11"/>
          </p:nvPr>
        </p:nvSpPr>
        <p:spPr/>
        <p:txBody>
          <a:bodyPr/>
          <a:lstStyle/>
          <a:p>
            <a:endParaRPr lang="en-ZW"/>
          </a:p>
        </p:txBody>
      </p:sp>
      <p:sp>
        <p:nvSpPr>
          <p:cNvPr id="6" name="Slide Number Placeholder 5"/>
          <p:cNvSpPr>
            <a:spLocks noGrp="1"/>
          </p:cNvSpPr>
          <p:nvPr>
            <p:ph type="sldNum" sz="quarter" idx="12"/>
          </p:nvPr>
        </p:nvSpPr>
        <p:spPr/>
        <p:txBody>
          <a:bodyPr/>
          <a:lstStyle/>
          <a:p>
            <a:fld id="{F01CB670-9156-4D28-A6BB-B823FB19E508}" type="slidenum">
              <a:rPr lang="en-ZW" smtClean="0"/>
              <a:t>‹#›</a:t>
            </a:fld>
            <a:endParaRPr lang="en-ZW"/>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ZW"/>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W"/>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77ED2E-00D8-490D-9421-84F0BC9E65CF}" type="datetimeFigureOut">
              <a:rPr lang="en-US" smtClean="0"/>
              <a:t>2/4/2017</a:t>
            </a:fld>
            <a:endParaRPr lang="en-ZW"/>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W"/>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1CB670-9156-4D28-A6BB-B823FB19E508}" type="slidenum">
              <a:rPr lang="en-ZW" smtClean="0"/>
              <a:t>‹#›</a:t>
            </a:fld>
            <a:endParaRPr lang="en-ZW"/>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W" b="1" dirty="0" smtClean="0"/>
              <a:t>VAT (VALUE ADDED TAX):</a:t>
            </a:r>
            <a:br>
              <a:rPr lang="en-ZW" b="1" dirty="0" smtClean="0"/>
            </a:br>
            <a:r>
              <a:rPr lang="en-ZW" b="1" dirty="0" smtClean="0"/>
              <a:t>VAT ACT 23:12</a:t>
            </a:r>
            <a:endParaRPr lang="en-ZW" b="1" dirty="0"/>
          </a:p>
        </p:txBody>
      </p:sp>
      <p:sp>
        <p:nvSpPr>
          <p:cNvPr id="3" name="Content Placeholder 2"/>
          <p:cNvSpPr>
            <a:spLocks noGrp="1"/>
          </p:cNvSpPr>
          <p:nvPr>
            <p:ph idx="1"/>
          </p:nvPr>
        </p:nvSpPr>
        <p:spPr/>
        <p:txBody>
          <a:bodyPr/>
          <a:lstStyle/>
          <a:p>
            <a:r>
              <a:rPr lang="en-ZW" dirty="0" smtClean="0"/>
              <a:t>Is a form of </a:t>
            </a:r>
            <a:r>
              <a:rPr lang="en-ZW" sz="3600" dirty="0" smtClean="0"/>
              <a:t>indirect tax which is levied on the consumption of goods and services. Does not  consider TP’S earning capacity</a:t>
            </a:r>
          </a:p>
          <a:p>
            <a:r>
              <a:rPr lang="en-ZW" sz="3600" dirty="0" smtClean="0"/>
              <a:t>It is also levied on importation of goods and services(at times)</a:t>
            </a:r>
            <a:endParaRPr lang="en-ZW"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Aspects of VAT</a:t>
            </a:r>
            <a:endParaRPr lang="en-ZA" dirty="0"/>
          </a:p>
        </p:txBody>
      </p:sp>
      <p:sp>
        <p:nvSpPr>
          <p:cNvPr id="3" name="Content Placeholder 2"/>
          <p:cNvSpPr>
            <a:spLocks noGrp="1"/>
          </p:cNvSpPr>
          <p:nvPr>
            <p:ph sz="quarter" idx="1"/>
          </p:nvPr>
        </p:nvSpPr>
        <p:spPr/>
        <p:txBody>
          <a:bodyPr/>
          <a:lstStyle/>
          <a:p>
            <a:r>
              <a:rPr lang="en-ZA" dirty="0">
                <a:solidFill>
                  <a:schemeClr val="tx1"/>
                </a:solidFill>
              </a:rPr>
              <a:t> </a:t>
            </a:r>
            <a:r>
              <a:rPr lang="en-ZA" dirty="0" smtClean="0">
                <a:solidFill>
                  <a:schemeClr val="tx1"/>
                </a:solidFill>
              </a:rPr>
              <a:t>is levied on the supply of goods and services</a:t>
            </a:r>
          </a:p>
          <a:p>
            <a:r>
              <a:rPr lang="en-ZA" dirty="0" smtClean="0">
                <a:solidFill>
                  <a:schemeClr val="tx1"/>
                </a:solidFill>
              </a:rPr>
              <a:t> VAT charged is called output tax and,</a:t>
            </a:r>
          </a:p>
          <a:p>
            <a:r>
              <a:rPr lang="en-ZA" dirty="0" smtClean="0">
                <a:solidFill>
                  <a:schemeClr val="tx1"/>
                </a:solidFill>
              </a:rPr>
              <a:t> the VAT paid is called input tax</a:t>
            </a:r>
          </a:p>
          <a:p>
            <a:r>
              <a:rPr lang="en-ZA" dirty="0" smtClean="0">
                <a:solidFill>
                  <a:schemeClr val="tx1"/>
                </a:solidFill>
              </a:rPr>
              <a:t>  levied mainly by registered operators </a:t>
            </a:r>
            <a:endParaRPr lang="en-ZA" dirty="0">
              <a:solidFill>
                <a:schemeClr val="tx1"/>
              </a:solidFill>
            </a:endParaRPr>
          </a:p>
        </p:txBody>
      </p:sp>
    </p:spTree>
    <p:extLst>
      <p:ext uri="{BB962C8B-B14F-4D97-AF65-F5344CB8AC3E}">
        <p14:creationId xmlns:p14="http://schemas.microsoft.com/office/powerpoint/2010/main" xmlns="" val="2992740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smtClean="0"/>
              <a:t>DEFINITION OF TERMS: sect 2</a:t>
            </a:r>
            <a:endParaRPr lang="en-ZW" dirty="0"/>
          </a:p>
        </p:txBody>
      </p:sp>
      <p:sp>
        <p:nvSpPr>
          <p:cNvPr id="3" name="Content Placeholder 2"/>
          <p:cNvSpPr>
            <a:spLocks noGrp="1"/>
          </p:cNvSpPr>
          <p:nvPr>
            <p:ph idx="1"/>
          </p:nvPr>
        </p:nvSpPr>
        <p:spPr/>
        <p:txBody>
          <a:bodyPr>
            <a:normAutofit fontScale="92500" lnSpcReduction="10000"/>
          </a:bodyPr>
          <a:lstStyle/>
          <a:p>
            <a:r>
              <a:rPr lang="en-ZW" dirty="0" smtClean="0"/>
              <a:t>Trade-Any activity carried on </a:t>
            </a:r>
            <a:r>
              <a:rPr lang="en-ZW" dirty="0" err="1" smtClean="0"/>
              <a:t>continously</a:t>
            </a:r>
            <a:r>
              <a:rPr lang="en-ZW" dirty="0" smtClean="0"/>
              <a:t> by any person in or partly in Zimbabwe in which goods are supplied for a consideration.</a:t>
            </a:r>
          </a:p>
          <a:p>
            <a:r>
              <a:rPr lang="en-ZW" dirty="0" smtClean="0"/>
              <a:t>Consideration-selling price for the supply </a:t>
            </a:r>
            <a:r>
              <a:rPr lang="en-ZW" dirty="0" err="1" smtClean="0"/>
              <a:t>i.e</a:t>
            </a:r>
            <a:r>
              <a:rPr lang="en-ZW" dirty="0" smtClean="0"/>
              <a:t> Value plus VAT.NB excludes a deposit for future supply of goods</a:t>
            </a:r>
          </a:p>
          <a:p>
            <a:r>
              <a:rPr lang="en-ZW" dirty="0" smtClean="0"/>
              <a:t>Open market value- price goods/ services will generally fetch if supplies to any person in an arm’s length deal. Value of similar goods/services are used where value is not available on market.</a:t>
            </a:r>
            <a:endParaRPr lang="en-ZW"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W" dirty="0" smtClean="0"/>
              <a:t>General operational aspects of VAT </a:t>
            </a:r>
            <a:br>
              <a:rPr lang="en-ZW" dirty="0" smtClean="0"/>
            </a:br>
            <a:r>
              <a:rPr lang="en-ZW" dirty="0" smtClean="0"/>
              <a:t>Sect 6</a:t>
            </a:r>
            <a:endParaRPr lang="en-ZW" dirty="0"/>
          </a:p>
        </p:txBody>
      </p:sp>
      <p:sp>
        <p:nvSpPr>
          <p:cNvPr id="3" name="Content Placeholder 2"/>
          <p:cNvSpPr>
            <a:spLocks noGrp="1"/>
          </p:cNvSpPr>
          <p:nvPr>
            <p:ph idx="1"/>
          </p:nvPr>
        </p:nvSpPr>
        <p:spPr/>
        <p:txBody>
          <a:bodyPr>
            <a:normAutofit/>
          </a:bodyPr>
          <a:lstStyle/>
          <a:p>
            <a:r>
              <a:rPr lang="en-ZW" dirty="0" smtClean="0"/>
              <a:t>VAT is chargeable on supply of goods and services at prescribed rates .</a:t>
            </a:r>
          </a:p>
          <a:p>
            <a:r>
              <a:rPr lang="en-ZW" dirty="0" smtClean="0"/>
              <a:t>All supplies  of goods and services made by a registered operator are treated in one of the following ways </a:t>
            </a:r>
          </a:p>
          <a:p>
            <a:r>
              <a:rPr lang="en-ZW" dirty="0" smtClean="0"/>
              <a:t>Exempt-Sect 11</a:t>
            </a:r>
          </a:p>
          <a:p>
            <a:r>
              <a:rPr lang="en-ZW" dirty="0" smtClean="0"/>
              <a:t>Zero rated- 0% (sect 10)</a:t>
            </a:r>
          </a:p>
          <a:p>
            <a:r>
              <a:rPr lang="en-ZW" dirty="0" smtClean="0"/>
              <a:t>Standard rated supplies -15%</a:t>
            </a:r>
            <a:endParaRPr lang="en-ZW"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smtClean="0"/>
              <a:t>Zero rated supplies</a:t>
            </a:r>
            <a:endParaRPr lang="en-ZW" dirty="0"/>
          </a:p>
        </p:txBody>
      </p:sp>
      <p:sp>
        <p:nvSpPr>
          <p:cNvPr id="3" name="Content Placeholder 2"/>
          <p:cNvSpPr>
            <a:spLocks noGrp="1"/>
          </p:cNvSpPr>
          <p:nvPr>
            <p:ph idx="1"/>
          </p:nvPr>
        </p:nvSpPr>
        <p:spPr/>
        <p:txBody>
          <a:bodyPr>
            <a:normAutofit fontScale="92500"/>
          </a:bodyPr>
          <a:lstStyle/>
          <a:p>
            <a:r>
              <a:rPr lang="en-ZW" dirty="0" smtClean="0"/>
              <a:t>The trader is accountable  in the normal manner but the rate of out put tax is 0% and can claim  input tax they incurred when they acquired the taxable supplies.</a:t>
            </a:r>
          </a:p>
          <a:p>
            <a:r>
              <a:rPr lang="en-ZW" dirty="0" smtClean="0"/>
              <a:t>Exports </a:t>
            </a:r>
          </a:p>
          <a:p>
            <a:r>
              <a:rPr lang="en-ZW" dirty="0" smtClean="0"/>
              <a:t>Good supplied to repair goods temporarily imported into </a:t>
            </a:r>
            <a:r>
              <a:rPr lang="en-ZW" dirty="0" err="1" smtClean="0"/>
              <a:t>zimbabwe</a:t>
            </a:r>
            <a:endParaRPr lang="en-ZW" dirty="0" smtClean="0"/>
          </a:p>
          <a:p>
            <a:r>
              <a:rPr lang="en-ZW" dirty="0" smtClean="0"/>
              <a:t>Good supplied under instalment credit agreement and are utilised in an export country</a:t>
            </a:r>
          </a:p>
          <a:p>
            <a:endParaRPr lang="en-ZW" dirty="0"/>
          </a:p>
          <a:p>
            <a:pPr>
              <a:buNone/>
            </a:pPr>
            <a:endParaRPr lang="en-ZW"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smtClean="0"/>
              <a:t>Zero rated supplies  cont....</a:t>
            </a:r>
            <a:endParaRPr lang="en-ZW" dirty="0"/>
          </a:p>
        </p:txBody>
      </p:sp>
      <p:sp>
        <p:nvSpPr>
          <p:cNvPr id="3" name="Content Placeholder 2"/>
          <p:cNvSpPr>
            <a:spLocks noGrp="1"/>
          </p:cNvSpPr>
          <p:nvPr>
            <p:ph idx="1"/>
          </p:nvPr>
        </p:nvSpPr>
        <p:spPr/>
        <p:txBody>
          <a:bodyPr>
            <a:normAutofit fontScale="92500" lnSpcReduction="10000"/>
          </a:bodyPr>
          <a:lstStyle/>
          <a:p>
            <a:r>
              <a:rPr lang="en-ZW" dirty="0" smtClean="0"/>
              <a:t>Good supplied under a rental agreement if paid from an export country</a:t>
            </a:r>
          </a:p>
          <a:p>
            <a:r>
              <a:rPr lang="en-ZW" dirty="0" smtClean="0"/>
              <a:t>Supply of a business as going concern</a:t>
            </a:r>
          </a:p>
          <a:p>
            <a:r>
              <a:rPr lang="en-ZW" dirty="0" smtClean="0"/>
              <a:t>Drugs as prescribed in the Medicines and Allied </a:t>
            </a:r>
            <a:r>
              <a:rPr lang="en-ZW" dirty="0"/>
              <a:t>S</a:t>
            </a:r>
            <a:r>
              <a:rPr lang="en-ZW" dirty="0" smtClean="0"/>
              <a:t>ubstances </a:t>
            </a:r>
            <a:r>
              <a:rPr lang="en-ZW" dirty="0"/>
              <a:t>C</a:t>
            </a:r>
            <a:r>
              <a:rPr lang="en-ZW" dirty="0" smtClean="0"/>
              <a:t>ontrol Act</a:t>
            </a:r>
          </a:p>
          <a:p>
            <a:r>
              <a:rPr lang="en-ZW" dirty="0" smtClean="0"/>
              <a:t>Transportation of goods or passengers to and from an export country</a:t>
            </a:r>
          </a:p>
          <a:p>
            <a:r>
              <a:rPr lang="en-ZW" dirty="0" smtClean="0"/>
              <a:t>Transportation of passengers transiting </a:t>
            </a:r>
            <a:r>
              <a:rPr lang="en-ZW" dirty="0"/>
              <a:t>Z</a:t>
            </a:r>
            <a:r>
              <a:rPr lang="en-ZW" dirty="0" smtClean="0"/>
              <a:t>imbabwe </a:t>
            </a:r>
            <a:r>
              <a:rPr lang="en-ZW" b="1" u="sng" dirty="0" smtClean="0"/>
              <a:t>(for more examples read sect 10</a:t>
            </a:r>
            <a:r>
              <a:rPr lang="en-ZW" b="1" u="sng" dirty="0"/>
              <a:t>)</a:t>
            </a:r>
            <a:endParaRPr lang="en-ZW" b="1" u="sng" dirty="0" smtClean="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smtClean="0"/>
              <a:t>EXEMPT SUPPLIES- SECT 11</a:t>
            </a:r>
            <a:endParaRPr lang="en-ZW" dirty="0"/>
          </a:p>
        </p:txBody>
      </p:sp>
      <p:sp>
        <p:nvSpPr>
          <p:cNvPr id="3" name="Content Placeholder 2"/>
          <p:cNvSpPr>
            <a:spLocks noGrp="1"/>
          </p:cNvSpPr>
          <p:nvPr>
            <p:ph idx="1"/>
          </p:nvPr>
        </p:nvSpPr>
        <p:spPr/>
        <p:txBody>
          <a:bodyPr>
            <a:normAutofit fontScale="85000" lnSpcReduction="20000"/>
          </a:bodyPr>
          <a:lstStyle/>
          <a:p>
            <a:r>
              <a:rPr lang="en-ZW" dirty="0" smtClean="0"/>
              <a:t>Financial services </a:t>
            </a:r>
          </a:p>
          <a:p>
            <a:r>
              <a:rPr lang="en-ZW" dirty="0" smtClean="0"/>
              <a:t>Educational services </a:t>
            </a:r>
          </a:p>
          <a:p>
            <a:r>
              <a:rPr lang="en-ZW" dirty="0" smtClean="0"/>
              <a:t>Supplies by an association not for gain of goods where such goods were manufactured using at least 80% of donated goods </a:t>
            </a:r>
          </a:p>
          <a:p>
            <a:r>
              <a:rPr lang="en-ZW" dirty="0" smtClean="0"/>
              <a:t>Transport services for fare paying passengers </a:t>
            </a:r>
          </a:p>
          <a:p>
            <a:r>
              <a:rPr lang="en-ZW" dirty="0" smtClean="0"/>
              <a:t>Medical services </a:t>
            </a:r>
          </a:p>
          <a:p>
            <a:r>
              <a:rPr lang="en-ZW" dirty="0" smtClean="0"/>
              <a:t>Supply of residential accommodation in a dwelling under a lease or hire agreement</a:t>
            </a:r>
          </a:p>
          <a:p>
            <a:r>
              <a:rPr lang="en-ZW" dirty="0" smtClean="0"/>
              <a:t>Supply of piped water , rates charged by local authorities and domestic electricity</a:t>
            </a:r>
          </a:p>
          <a:p>
            <a:endParaRPr lang="en-ZW"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smtClean="0"/>
              <a:t>Exempt supplies cont.....</a:t>
            </a:r>
            <a:endParaRPr lang="en-ZW" dirty="0"/>
          </a:p>
        </p:txBody>
      </p:sp>
      <p:sp>
        <p:nvSpPr>
          <p:cNvPr id="3" name="Content Placeholder 2"/>
          <p:cNvSpPr>
            <a:spLocks noGrp="1"/>
          </p:cNvSpPr>
          <p:nvPr>
            <p:ph idx="1"/>
          </p:nvPr>
        </p:nvSpPr>
        <p:spPr/>
        <p:txBody>
          <a:bodyPr/>
          <a:lstStyle/>
          <a:p>
            <a:r>
              <a:rPr lang="en-ZW" dirty="0" smtClean="0"/>
              <a:t>Supply of fuel and fuel products </a:t>
            </a:r>
          </a:p>
          <a:p>
            <a:r>
              <a:rPr lang="en-ZW" b="1" u="sng" dirty="0" smtClean="0"/>
              <a:t>NB- read section 11 for more examples</a:t>
            </a:r>
          </a:p>
          <a:p>
            <a:r>
              <a:rPr lang="en-ZW" dirty="0" smtClean="0"/>
              <a:t>QUESTION</a:t>
            </a:r>
          </a:p>
          <a:p>
            <a:r>
              <a:rPr lang="en-ZW" dirty="0" smtClean="0"/>
              <a:t>WHAT IS THE MOTIVE BEHIND ZERO RATED SUPPLIES AND EXEMPT SUPPLIES ?</a:t>
            </a:r>
          </a:p>
          <a:p>
            <a:endParaRPr lang="en-ZW" dirty="0"/>
          </a:p>
          <a:p>
            <a:endParaRPr lang="en-ZW"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b="1" dirty="0" smtClean="0"/>
              <a:t>Exercise </a:t>
            </a:r>
            <a:endParaRPr lang="en-ZW" b="1" dirty="0"/>
          </a:p>
        </p:txBody>
      </p:sp>
      <p:sp>
        <p:nvSpPr>
          <p:cNvPr id="3" name="Content Placeholder 2"/>
          <p:cNvSpPr>
            <a:spLocks noGrp="1"/>
          </p:cNvSpPr>
          <p:nvPr>
            <p:ph idx="1"/>
          </p:nvPr>
        </p:nvSpPr>
        <p:spPr/>
        <p:txBody>
          <a:bodyPr/>
          <a:lstStyle/>
          <a:p>
            <a:r>
              <a:rPr lang="en-US" dirty="0" smtClean="0"/>
              <a:t>Example</a:t>
            </a:r>
          </a:p>
          <a:p>
            <a:r>
              <a:rPr lang="en-US" dirty="0" smtClean="0"/>
              <a:t>A person buys goods for $570 from a registered operator for the purpose of making </a:t>
            </a:r>
          </a:p>
          <a:p>
            <a:r>
              <a:rPr lang="en-US" dirty="0" smtClean="0"/>
              <a:t>exempt supplies of $1 000. how much is the registered operator allowed to claim as input tax.</a:t>
            </a:r>
            <a:endParaRPr lang="en-ZW" dirty="0" smtClean="0"/>
          </a:p>
          <a:p>
            <a:endParaRPr lang="en-ZW"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smtClean="0"/>
              <a:t>STANDARD RATED SUPPLIES</a:t>
            </a:r>
            <a:endParaRPr lang="en-ZW" dirty="0"/>
          </a:p>
        </p:txBody>
      </p:sp>
      <p:sp>
        <p:nvSpPr>
          <p:cNvPr id="3" name="Content Placeholder 2"/>
          <p:cNvSpPr>
            <a:spLocks noGrp="1"/>
          </p:cNvSpPr>
          <p:nvPr>
            <p:ph idx="1"/>
          </p:nvPr>
        </p:nvSpPr>
        <p:spPr>
          <a:xfrm>
            <a:off x="533400" y="1219200"/>
            <a:ext cx="8229600" cy="4525963"/>
          </a:xfrm>
        </p:spPr>
        <p:txBody>
          <a:bodyPr/>
          <a:lstStyle/>
          <a:p>
            <a:r>
              <a:rPr lang="en-ZW" dirty="0" smtClean="0"/>
              <a:t>Standard rated supplies attract VAT at a rate of 15%.</a:t>
            </a:r>
          </a:p>
          <a:p>
            <a:endParaRPr lang="en-ZW" dirty="0" smtClean="0"/>
          </a:p>
          <a:p>
            <a:endParaRPr lang="en-ZW"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smtClean="0"/>
              <a:t>DEEMED SUPPLIES –SEC  7 </a:t>
            </a:r>
            <a:endParaRPr lang="en-ZW" dirty="0"/>
          </a:p>
        </p:txBody>
      </p:sp>
      <p:sp>
        <p:nvSpPr>
          <p:cNvPr id="3" name="Content Placeholder 2"/>
          <p:cNvSpPr>
            <a:spLocks noGrp="1"/>
          </p:cNvSpPr>
          <p:nvPr>
            <p:ph idx="1"/>
          </p:nvPr>
        </p:nvSpPr>
        <p:spPr/>
        <p:txBody>
          <a:bodyPr>
            <a:noAutofit/>
          </a:bodyPr>
          <a:lstStyle/>
          <a:p>
            <a:r>
              <a:rPr lang="en-ZW" sz="2400" dirty="0" smtClean="0"/>
              <a:t>Supplies that do not directly filter in the hands of a vendor but are deemed by the Act to be supplies made in the furtherance of trade </a:t>
            </a:r>
          </a:p>
          <a:p>
            <a:r>
              <a:rPr lang="en-US" sz="2400" dirty="0" smtClean="0"/>
              <a:t>Examples of deemed supplies include the following:</a:t>
            </a:r>
          </a:p>
          <a:p>
            <a:r>
              <a:rPr lang="en-US" sz="2400" dirty="0" smtClean="0"/>
              <a:t>Sale in execution of debt. VAT Act section 7(1)</a:t>
            </a:r>
          </a:p>
          <a:p>
            <a:r>
              <a:rPr lang="en-US" sz="2400" dirty="0" smtClean="0"/>
              <a:t>Cessation of trade by the registered operator. Section 7(2)-RO accounts for  output tax on the valu</a:t>
            </a:r>
            <a:r>
              <a:rPr lang="en-US" sz="2400" dirty="0" smtClean="0"/>
              <a:t>e of assets at hand at the time of cessation. NB- no output tax in respect of assets originally denied input tax Sect 16(2)</a:t>
            </a:r>
            <a:endParaRPr lang="en-US" sz="2400" dirty="0" smtClean="0"/>
          </a:p>
          <a:p>
            <a:r>
              <a:rPr lang="en-US" sz="2400" dirty="0" smtClean="0"/>
              <a:t>Indemnity payments received from an insurance company. Section 7(7).</a:t>
            </a:r>
          </a:p>
          <a:p>
            <a:pPr marL="114300" indent="0">
              <a:buNone/>
            </a:pPr>
            <a:endParaRPr lang="en-US" sz="2400" dirty="0" smtClean="0"/>
          </a:p>
          <a:p>
            <a:endParaRPr lang="en-ZW"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ZW" dirty="0" smtClean="0"/>
              <a:t>Deemed supplies cont</a:t>
            </a:r>
            <a:endParaRPr lang="en-ZW" dirty="0"/>
          </a:p>
        </p:txBody>
      </p:sp>
      <p:sp>
        <p:nvSpPr>
          <p:cNvPr id="3" name="Content Placeholder 2"/>
          <p:cNvSpPr>
            <a:spLocks noGrp="1"/>
          </p:cNvSpPr>
          <p:nvPr>
            <p:ph idx="1"/>
          </p:nvPr>
        </p:nvSpPr>
        <p:spPr/>
        <p:txBody>
          <a:bodyPr/>
          <a:lstStyle/>
          <a:p>
            <a:r>
              <a:rPr lang="en-US" dirty="0" smtClean="0"/>
              <a:t>Repossessions from debtors who are registered operators. Section 7 (9)</a:t>
            </a:r>
          </a:p>
          <a:p>
            <a:r>
              <a:rPr lang="en-US" dirty="0" smtClean="0"/>
              <a:t>Importations by agents acting on behalf of foreign principals. Section 7(17)</a:t>
            </a:r>
          </a:p>
          <a:p>
            <a:r>
              <a:rPr lang="en-ZW" dirty="0" smtClean="0"/>
              <a:t>Disposal of a business as a going concern. Sect 7(6)</a:t>
            </a:r>
          </a:p>
          <a:p>
            <a:r>
              <a:rPr lang="en-ZW" dirty="0" smtClean="0"/>
              <a:t>Application of goods to own use. Sect 17(1)</a:t>
            </a:r>
          </a:p>
          <a:p>
            <a:r>
              <a:rPr lang="en-ZW" dirty="0" smtClean="0"/>
              <a:t>Granting of fringe benefits. Sect 17(3)</a:t>
            </a:r>
            <a:endParaRPr lang="en-ZW"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W"/>
          </a:p>
        </p:txBody>
      </p:sp>
      <p:sp>
        <p:nvSpPr>
          <p:cNvPr id="3" name="Content Placeholder 2"/>
          <p:cNvSpPr>
            <a:spLocks noGrp="1"/>
          </p:cNvSpPr>
          <p:nvPr>
            <p:ph idx="1"/>
          </p:nvPr>
        </p:nvSpPr>
        <p:spPr/>
        <p:txBody>
          <a:bodyPr/>
          <a:lstStyle/>
          <a:p>
            <a:endParaRPr lang="en-ZW"/>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smtClean="0"/>
              <a:t>Deemed supplies cont....</a:t>
            </a:r>
            <a:endParaRPr lang="en-ZW" dirty="0"/>
          </a:p>
        </p:txBody>
      </p:sp>
      <p:sp>
        <p:nvSpPr>
          <p:cNvPr id="3" name="Content Placeholder 2"/>
          <p:cNvSpPr>
            <a:spLocks noGrp="1"/>
          </p:cNvSpPr>
          <p:nvPr>
            <p:ph idx="1"/>
          </p:nvPr>
        </p:nvSpPr>
        <p:spPr/>
        <p:txBody>
          <a:bodyPr/>
          <a:lstStyle/>
          <a:p>
            <a:r>
              <a:rPr lang="en-ZW" dirty="0" smtClean="0"/>
              <a:t>Provision of betting services </a:t>
            </a:r>
          </a:p>
          <a:p>
            <a:r>
              <a:rPr lang="en-ZW" dirty="0" smtClean="0"/>
              <a:t>Where capital goods are acquired to make taxable supplies and the taxable use is subsequently reduced by more than 10%. Sect 17(2)</a:t>
            </a:r>
          </a:p>
          <a:p>
            <a:pPr>
              <a:buNone/>
            </a:pPr>
            <a:endParaRPr lang="en-ZW"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smtClean="0"/>
              <a:t>Time of supply- Sect 8</a:t>
            </a:r>
            <a:endParaRPr lang="en-ZW" dirty="0"/>
          </a:p>
        </p:txBody>
      </p:sp>
      <p:sp>
        <p:nvSpPr>
          <p:cNvPr id="3" name="Content Placeholder 2"/>
          <p:cNvSpPr>
            <a:spLocks noGrp="1"/>
          </p:cNvSpPr>
          <p:nvPr>
            <p:ph idx="1"/>
          </p:nvPr>
        </p:nvSpPr>
        <p:spPr/>
        <p:txBody>
          <a:bodyPr/>
          <a:lstStyle/>
          <a:p>
            <a:r>
              <a:rPr lang="en-ZW" dirty="0" smtClean="0"/>
              <a:t>General rule: the earlier of an invoice being issued or payment being made </a:t>
            </a:r>
          </a:p>
          <a:p>
            <a:r>
              <a:rPr lang="en-ZW" b="1" dirty="0" smtClean="0"/>
              <a:t>Exceptions </a:t>
            </a:r>
          </a:p>
          <a:p>
            <a:r>
              <a:rPr lang="en-ZW" dirty="0" smtClean="0"/>
              <a:t>Good supplied under a rental agreement. Sect 8(3)(a)</a:t>
            </a:r>
          </a:p>
          <a:p>
            <a:r>
              <a:rPr lang="en-ZW" dirty="0" smtClean="0"/>
              <a:t>Cessation of trade Sect 8(5)</a:t>
            </a:r>
          </a:p>
          <a:p>
            <a:r>
              <a:rPr lang="en-ZW" dirty="0" smtClean="0"/>
              <a:t>Repossessions Sect 8(8)</a:t>
            </a:r>
          </a:p>
          <a:p>
            <a:endParaRPr lang="en-ZW"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smtClean="0"/>
              <a:t>Value of supply Sect 9</a:t>
            </a:r>
            <a:endParaRPr lang="en-ZW" dirty="0"/>
          </a:p>
        </p:txBody>
      </p:sp>
      <p:sp>
        <p:nvSpPr>
          <p:cNvPr id="3" name="Content Placeholder 2"/>
          <p:cNvSpPr>
            <a:spLocks noGrp="1"/>
          </p:cNvSpPr>
          <p:nvPr>
            <p:ph idx="1"/>
          </p:nvPr>
        </p:nvSpPr>
        <p:spPr/>
        <p:txBody>
          <a:bodyPr/>
          <a:lstStyle/>
          <a:p>
            <a:r>
              <a:rPr lang="en-ZW" dirty="0" smtClean="0"/>
              <a:t>It is the quoted value for goods and services supplied within Zimbabwe or it is also the value of goods exported to any country or the value of service rendered </a:t>
            </a:r>
          </a:p>
          <a:p>
            <a:r>
              <a:rPr lang="en-ZW" dirty="0" smtClean="0"/>
              <a:t>NB- where the </a:t>
            </a:r>
            <a:r>
              <a:rPr lang="en-ZW" dirty="0" err="1" smtClean="0"/>
              <a:t>consederation</a:t>
            </a:r>
            <a:r>
              <a:rPr lang="en-ZW" dirty="0" smtClean="0"/>
              <a:t> is not money the open market value becomes the value </a:t>
            </a:r>
            <a:r>
              <a:rPr lang="en-ZW" dirty="0" err="1" smtClean="0"/>
              <a:t>fo</a:t>
            </a:r>
            <a:r>
              <a:rPr lang="en-ZW" dirty="0" smtClean="0"/>
              <a:t> supply</a:t>
            </a:r>
          </a:p>
          <a:p>
            <a:pPr>
              <a:buNone/>
            </a:pPr>
            <a:endParaRPr lang="en-ZW"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W" dirty="0" smtClean="0"/>
              <a:t>Special value of supply considerations</a:t>
            </a:r>
            <a:endParaRPr lang="en-ZW" dirty="0"/>
          </a:p>
        </p:txBody>
      </p:sp>
      <p:sp>
        <p:nvSpPr>
          <p:cNvPr id="3" name="Content Placeholder 2"/>
          <p:cNvSpPr>
            <a:spLocks noGrp="1"/>
          </p:cNvSpPr>
          <p:nvPr>
            <p:ph idx="1"/>
          </p:nvPr>
        </p:nvSpPr>
        <p:spPr/>
        <p:txBody>
          <a:bodyPr>
            <a:normAutofit fontScale="92500" lnSpcReduction="10000"/>
          </a:bodyPr>
          <a:lstStyle/>
          <a:p>
            <a:r>
              <a:rPr lang="en-ZW" dirty="0" smtClean="0"/>
              <a:t>Cessation of trade: the lesser of cost and OMV</a:t>
            </a:r>
          </a:p>
          <a:p>
            <a:r>
              <a:rPr lang="en-ZW" dirty="0" smtClean="0"/>
              <a:t>Sales to connected persons: OMV</a:t>
            </a:r>
          </a:p>
          <a:p>
            <a:r>
              <a:rPr lang="en-ZW" dirty="0" smtClean="0"/>
              <a:t>Transfers to independent branches: lesser of cost and OMV</a:t>
            </a:r>
          </a:p>
          <a:p>
            <a:r>
              <a:rPr lang="en-ZW" dirty="0" smtClean="0"/>
              <a:t>Fringe benefits: cash equivalent of the benefit for PAYE purposes</a:t>
            </a:r>
          </a:p>
          <a:p>
            <a:r>
              <a:rPr lang="en-ZW" dirty="0" smtClean="0"/>
              <a:t>Goods applied to own use OMV</a:t>
            </a:r>
          </a:p>
          <a:p>
            <a:r>
              <a:rPr lang="en-ZW" dirty="0" smtClean="0"/>
              <a:t>Goods supplied under an instalment sale credit agreement: cash price for the goods </a:t>
            </a:r>
            <a:endParaRPr lang="en-ZW"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smtClean="0"/>
              <a:t>Accounting for VAT Sect-14</a:t>
            </a:r>
            <a:endParaRPr lang="en-ZW" dirty="0"/>
          </a:p>
        </p:txBody>
      </p:sp>
      <p:sp>
        <p:nvSpPr>
          <p:cNvPr id="3" name="Content Placeholder 2"/>
          <p:cNvSpPr>
            <a:spLocks noGrp="1"/>
          </p:cNvSpPr>
          <p:nvPr>
            <p:ph idx="1"/>
          </p:nvPr>
        </p:nvSpPr>
        <p:spPr/>
        <p:txBody>
          <a:bodyPr/>
          <a:lstStyle/>
          <a:p>
            <a:r>
              <a:rPr lang="en-ZW" dirty="0" smtClean="0"/>
              <a:t>Generally VAT is accounted for on an invoice / accrual basis. </a:t>
            </a:r>
          </a:p>
          <a:p>
            <a:r>
              <a:rPr lang="en-ZW" dirty="0" smtClean="0"/>
              <a:t>VAT may also be accounted for on a cash basis and this basis is only available to local authorities, public entities and associations not for gain</a:t>
            </a:r>
          </a:p>
          <a:p>
            <a:r>
              <a:rPr lang="en-ZW" b="1" dirty="0" smtClean="0"/>
              <a:t>QUESTION: Discuss the advantages and disadvantages of the two methods </a:t>
            </a:r>
            <a:endParaRPr lang="en-ZW" b="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err="1" smtClean="0"/>
              <a:t>Excercise</a:t>
            </a:r>
            <a:r>
              <a:rPr lang="en-ZW" dirty="0" smtClean="0"/>
              <a:t> </a:t>
            </a:r>
            <a:endParaRPr lang="en-ZW" dirty="0"/>
          </a:p>
        </p:txBody>
      </p:sp>
      <p:sp>
        <p:nvSpPr>
          <p:cNvPr id="3" name="Content Placeholder 2"/>
          <p:cNvSpPr>
            <a:spLocks noGrp="1"/>
          </p:cNvSpPr>
          <p:nvPr>
            <p:ph idx="1"/>
          </p:nvPr>
        </p:nvSpPr>
        <p:spPr/>
        <p:txBody>
          <a:bodyPr>
            <a:normAutofit fontScale="92500" lnSpcReduction="10000"/>
          </a:bodyPr>
          <a:lstStyle/>
          <a:p>
            <a:r>
              <a:rPr lang="en-US" b="1" dirty="0" smtClean="0"/>
              <a:t>Example</a:t>
            </a:r>
          </a:p>
          <a:p>
            <a:endParaRPr lang="en-US" b="1" dirty="0" smtClean="0"/>
          </a:p>
          <a:p>
            <a:r>
              <a:rPr lang="en-US" dirty="0" smtClean="0"/>
              <a:t>Gee ltd purchased a fridge for resale on 20 October 2015 and received a tax invoice for $3450( including Vat 15%). It paid the supplier $2300 on 31 October 2015. The fridge was sold for $5750 (including Vat) on 31 October 2015 &amp; issued a tax invoice on the same date. The customer paid  70% deposit on the same date . The balance was paid  on 15 Dec 2015.</a:t>
            </a:r>
          </a:p>
          <a:p>
            <a:endParaRPr lang="en-ZW" dirty="0" smtClean="0"/>
          </a:p>
          <a:p>
            <a:endParaRPr lang="en-ZW"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smtClean="0"/>
              <a:t>INPUT TAX</a:t>
            </a:r>
            <a:endParaRPr lang="en-ZW" dirty="0"/>
          </a:p>
        </p:txBody>
      </p:sp>
      <p:sp>
        <p:nvSpPr>
          <p:cNvPr id="3" name="Content Placeholder 2"/>
          <p:cNvSpPr>
            <a:spLocks noGrp="1"/>
          </p:cNvSpPr>
          <p:nvPr>
            <p:ph idx="1"/>
          </p:nvPr>
        </p:nvSpPr>
        <p:spPr/>
        <p:txBody>
          <a:bodyPr>
            <a:normAutofit fontScale="77500" lnSpcReduction="20000"/>
          </a:bodyPr>
          <a:lstStyle/>
          <a:p>
            <a:r>
              <a:rPr lang="en-US" sz="4000" b="1" dirty="0" smtClean="0"/>
              <a:t>INPUT TAX S 15 (2)</a:t>
            </a:r>
          </a:p>
          <a:p>
            <a:endParaRPr lang="en-US" sz="4000" b="1" dirty="0" smtClean="0"/>
          </a:p>
          <a:p>
            <a:pPr marL="285750" lvl="0" indent="-285750">
              <a:buFont typeface="Wingdings" panose="05000000000000000000" pitchFamily="2" charset="2"/>
              <a:buChar char="v"/>
            </a:pPr>
            <a:r>
              <a:rPr lang="en-US" dirty="0">
                <a:solidFill>
                  <a:prstClr val="black"/>
                </a:solidFill>
              </a:rPr>
              <a:t>The amount claimable depends on whether the registered operator accounts for vat on the invoice or payment basis</a:t>
            </a:r>
          </a:p>
          <a:p>
            <a:pPr>
              <a:buFont typeface="Wingdings" panose="05000000000000000000" pitchFamily="2" charset="2"/>
              <a:buChar char="v"/>
            </a:pPr>
            <a:r>
              <a:rPr lang="en-US" dirty="0" smtClean="0"/>
              <a:t>Input tax is recoverable in respect of registered operators. </a:t>
            </a:r>
          </a:p>
          <a:p>
            <a:pPr marL="285750" indent="-285750">
              <a:buFont typeface="Wingdings" panose="05000000000000000000" pitchFamily="2" charset="2"/>
              <a:buChar char="v"/>
            </a:pPr>
            <a:r>
              <a:rPr lang="en-US" dirty="0" smtClean="0"/>
              <a:t>A deduction of input tax can be made if the registered operator has:</a:t>
            </a:r>
          </a:p>
          <a:p>
            <a:pPr marL="285750" indent="-285750">
              <a:buFont typeface="Wingdings" panose="05000000000000000000" pitchFamily="2" charset="2"/>
              <a:buChar char="v"/>
            </a:pPr>
            <a:r>
              <a:rPr lang="en-US" dirty="0" smtClean="0"/>
              <a:t>A valid tax invoice, </a:t>
            </a:r>
          </a:p>
          <a:p>
            <a:pPr marL="285750" indent="-285750">
              <a:buFont typeface="Wingdings" panose="05000000000000000000" pitchFamily="2" charset="2"/>
              <a:buChar char="v"/>
            </a:pPr>
            <a:r>
              <a:rPr lang="en-US" dirty="0" smtClean="0"/>
              <a:t>debit note or credit note,</a:t>
            </a:r>
          </a:p>
          <a:p>
            <a:pPr marL="285750" indent="-285750">
              <a:buFont typeface="Wingdings" panose="05000000000000000000" pitchFamily="2" charset="2"/>
              <a:buChar char="v"/>
            </a:pPr>
            <a:r>
              <a:rPr lang="en-US" dirty="0" smtClean="0"/>
              <a:t> sufficient records in the case of second hand goods </a:t>
            </a:r>
          </a:p>
          <a:p>
            <a:pPr marL="285750" indent="-285750">
              <a:buFont typeface="Wingdings" panose="05000000000000000000" pitchFamily="2" charset="2"/>
              <a:buChar char="v"/>
            </a:pPr>
            <a:r>
              <a:rPr lang="en-US" dirty="0" smtClean="0"/>
              <a:t>a bill of entry for imported goods.</a:t>
            </a:r>
          </a:p>
          <a:p>
            <a:endParaRPr lang="en-ZW"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smtClean="0"/>
              <a:t>Prohibitions: Input tax Sect 16</a:t>
            </a:r>
            <a:endParaRPr lang="en-ZW" dirty="0"/>
          </a:p>
        </p:txBody>
      </p:sp>
      <p:sp>
        <p:nvSpPr>
          <p:cNvPr id="3" name="Content Placeholder 2"/>
          <p:cNvSpPr>
            <a:spLocks noGrp="1"/>
          </p:cNvSpPr>
          <p:nvPr>
            <p:ph idx="1"/>
          </p:nvPr>
        </p:nvSpPr>
        <p:spPr/>
        <p:txBody>
          <a:bodyPr>
            <a:normAutofit fontScale="32500" lnSpcReduction="20000"/>
          </a:bodyPr>
          <a:lstStyle/>
          <a:p>
            <a:pPr algn="just"/>
            <a:r>
              <a:rPr lang="en-ZW" sz="6000" dirty="0" smtClean="0"/>
              <a:t>This is tax paid by the recipient of the supply of goods and services to the supplier </a:t>
            </a:r>
          </a:p>
          <a:p>
            <a:pPr algn="just"/>
            <a:r>
              <a:rPr lang="en-ZW" sz="6000" dirty="0" smtClean="0"/>
              <a:t>Section 16(1): input tax is generally claimed on goods/services provided they are utilised in the production of taxable supplies </a:t>
            </a:r>
          </a:p>
          <a:p>
            <a:pPr algn="just"/>
            <a:r>
              <a:rPr lang="en-US" sz="6000" b="1" dirty="0" smtClean="0"/>
              <a:t>PROHIBITIONS Section 16 (2)</a:t>
            </a:r>
          </a:p>
          <a:p>
            <a:pPr marL="285750" indent="-285750" algn="just">
              <a:buFont typeface="Wingdings" panose="05000000000000000000" pitchFamily="2" charset="2"/>
              <a:buChar char="v"/>
            </a:pPr>
            <a:r>
              <a:rPr lang="en-US" sz="6000" dirty="0" smtClean="0"/>
              <a:t>Goods or services acquired for purposes of entertainment such as staff refreshments, food or equipment for staff canteens </a:t>
            </a:r>
            <a:r>
              <a:rPr lang="en-US" sz="6000" b="1" dirty="0" smtClean="0"/>
              <a:t>S 16 (2) (a) </a:t>
            </a:r>
          </a:p>
          <a:p>
            <a:pPr marL="285750" indent="-285750" algn="just">
              <a:buFont typeface="Wingdings" panose="05000000000000000000" pitchFamily="2" charset="2"/>
              <a:buChar char="v"/>
            </a:pPr>
            <a:r>
              <a:rPr lang="en-US" sz="6000" dirty="0" smtClean="0"/>
              <a:t>Membership fees or subscription fees of clubs associations or societies of sporting ,social or recreational nature. </a:t>
            </a:r>
            <a:r>
              <a:rPr lang="en-US" sz="6000" b="1" dirty="0" smtClean="0"/>
              <a:t>S 16 (2) (b) this excludes subscriptions of a professional nature</a:t>
            </a:r>
          </a:p>
          <a:p>
            <a:pPr marL="285750" lvl="0" indent="-285750" algn="just">
              <a:buFont typeface="Wingdings" panose="05000000000000000000" pitchFamily="2" charset="2"/>
              <a:buChar char="v"/>
            </a:pPr>
            <a:r>
              <a:rPr lang="en-US" sz="6000" dirty="0" smtClean="0"/>
              <a:t>Medical services provided to persons under medical aid </a:t>
            </a:r>
            <a:r>
              <a:rPr lang="en-US" sz="6000" b="1" dirty="0" smtClean="0"/>
              <a:t>S 16 (2) (c)</a:t>
            </a:r>
          </a:p>
          <a:p>
            <a:pPr marL="285750" lvl="0" indent="-285750" algn="just">
              <a:buFont typeface="Wingdings" panose="05000000000000000000" pitchFamily="2" charset="2"/>
              <a:buChar char="v"/>
            </a:pPr>
            <a:r>
              <a:rPr lang="en-US" sz="6000" dirty="0" smtClean="0"/>
              <a:t> goods or services  acquired for a purpose other than making taxable supplies </a:t>
            </a:r>
          </a:p>
          <a:p>
            <a:pPr marL="285750" indent="-285750" algn="just">
              <a:buFont typeface="Wingdings" panose="05000000000000000000" pitchFamily="2" charset="2"/>
              <a:buChar char="v"/>
            </a:pPr>
            <a:r>
              <a:rPr lang="en-US" sz="6000" dirty="0" smtClean="0"/>
              <a:t> acquisition of a non commercial motor vehicle. </a:t>
            </a:r>
            <a:r>
              <a:rPr lang="en-US" sz="6000" b="1" dirty="0" smtClean="0"/>
              <a:t>S 16 (2) (d)</a:t>
            </a:r>
          </a:p>
          <a:p>
            <a:endParaRPr lang="en-ZW"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smtClean="0"/>
              <a:t>Output tax </a:t>
            </a:r>
            <a:endParaRPr lang="en-ZW" dirty="0"/>
          </a:p>
        </p:txBody>
      </p:sp>
      <p:sp>
        <p:nvSpPr>
          <p:cNvPr id="3" name="Content Placeholder 2"/>
          <p:cNvSpPr>
            <a:spLocks noGrp="1"/>
          </p:cNvSpPr>
          <p:nvPr>
            <p:ph idx="1"/>
          </p:nvPr>
        </p:nvSpPr>
        <p:spPr/>
        <p:txBody>
          <a:bodyPr/>
          <a:lstStyle/>
          <a:p>
            <a:pPr marL="285750" lvl="0" indent="-285750">
              <a:buFont typeface="Wingdings" panose="05000000000000000000" pitchFamily="2" charset="2"/>
              <a:buChar char="v"/>
            </a:pPr>
            <a:r>
              <a:rPr lang="en-US" b="1" dirty="0">
                <a:solidFill>
                  <a:prstClr val="black"/>
                </a:solidFill>
              </a:rPr>
              <a:t>Output tax </a:t>
            </a:r>
            <a:r>
              <a:rPr lang="en-US" dirty="0">
                <a:solidFill>
                  <a:prstClr val="black"/>
                </a:solidFill>
              </a:rPr>
              <a:t>is tax that is charged by the registered operator when he in turn supplies goods and services.</a:t>
            </a:r>
          </a:p>
          <a:p>
            <a:endParaRPr lang="en-ZW" dirty="0" smtClean="0"/>
          </a:p>
          <a:p>
            <a:endParaRPr lang="en-ZW"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smtClean="0"/>
              <a:t>VAT computation</a:t>
            </a:r>
            <a:endParaRPr lang="en-ZW" dirty="0"/>
          </a:p>
        </p:txBody>
      </p:sp>
      <p:sp>
        <p:nvSpPr>
          <p:cNvPr id="3" name="Content Placeholder 2"/>
          <p:cNvSpPr>
            <a:spLocks noGrp="1"/>
          </p:cNvSpPr>
          <p:nvPr>
            <p:ph idx="1"/>
          </p:nvPr>
        </p:nvSpPr>
        <p:spPr/>
        <p:txBody>
          <a:bodyPr>
            <a:normAutofit fontScale="77500" lnSpcReduction="20000"/>
          </a:bodyPr>
          <a:lstStyle/>
          <a:p>
            <a:pPr marL="0" lvl="0" indent="0" eaLnBrk="0" fontAlgn="base" hangingPunct="0">
              <a:spcBef>
                <a:spcPct val="0"/>
              </a:spcBef>
              <a:spcAft>
                <a:spcPct val="0"/>
              </a:spcAft>
              <a:buNone/>
              <a:tabLst>
                <a:tab pos="2743200" algn="ctr"/>
                <a:tab pos="4965700" algn="r"/>
                <a:tab pos="5486400" algn="r"/>
              </a:tabLst>
            </a:pPr>
            <a:r>
              <a:rPr lang="en-AU" altLang="en-US" b="1" dirty="0" smtClean="0">
                <a:latin typeface="Arial" panose="020B0604020202020204" pitchFamily="34" charset="0"/>
                <a:ea typeface="Times New Roman" panose="02020603050405020304" pitchFamily="18" charset="0"/>
              </a:rPr>
              <a:t>Computation of Vat</a:t>
            </a:r>
          </a:p>
          <a:p>
            <a:pPr marL="0" lvl="0" indent="0" eaLnBrk="0" fontAlgn="base" hangingPunct="0">
              <a:spcBef>
                <a:spcPct val="0"/>
              </a:spcBef>
              <a:spcAft>
                <a:spcPct val="0"/>
              </a:spcAft>
              <a:buNone/>
              <a:tabLst>
                <a:tab pos="2743200" algn="ctr"/>
                <a:tab pos="4965700" algn="r"/>
                <a:tab pos="5486400" algn="r"/>
              </a:tabLst>
            </a:pPr>
            <a:endParaRPr lang="en-AU" altLang="en-US" b="1" dirty="0" smtClean="0">
              <a:latin typeface="Arial" panose="020B0604020202020204" pitchFamily="34" charset="0"/>
              <a:ea typeface="Times New Roman" panose="02020603050405020304" pitchFamily="18" charset="0"/>
            </a:endParaRPr>
          </a:p>
          <a:p>
            <a:pPr marL="0" lvl="0" indent="0" eaLnBrk="0" fontAlgn="base" hangingPunct="0">
              <a:spcBef>
                <a:spcPct val="0"/>
              </a:spcBef>
              <a:spcAft>
                <a:spcPct val="0"/>
              </a:spcAft>
              <a:buNone/>
              <a:tabLst>
                <a:tab pos="2743200" algn="ctr"/>
                <a:tab pos="4965700" algn="r"/>
                <a:tab pos="5486400" algn="r"/>
              </a:tabLst>
            </a:pPr>
            <a:r>
              <a:rPr lang="en-AU" altLang="en-US" dirty="0" smtClean="0">
                <a:latin typeface="Arial" panose="020B0604020202020204" pitchFamily="34" charset="0"/>
                <a:ea typeface="Times New Roman" panose="02020603050405020304" pitchFamily="18" charset="0"/>
              </a:rPr>
              <a:t>The tax element of goods    and services supplied will be determined by applying the tax fraction</a:t>
            </a:r>
          </a:p>
          <a:p>
            <a:pPr marL="0" lvl="0" indent="0" eaLnBrk="0" fontAlgn="base" hangingPunct="0">
              <a:spcBef>
                <a:spcPct val="0"/>
              </a:spcBef>
              <a:spcAft>
                <a:spcPct val="0"/>
              </a:spcAft>
              <a:buNone/>
              <a:tabLst>
                <a:tab pos="2743200" algn="ctr"/>
                <a:tab pos="4965700" algn="r"/>
                <a:tab pos="5486400" algn="r"/>
              </a:tabLst>
            </a:pPr>
            <a:endParaRPr lang="en-US" altLang="en-US" dirty="0" smtClean="0">
              <a:latin typeface="Arial" panose="020B0604020202020204" pitchFamily="34" charset="0"/>
            </a:endParaRPr>
          </a:p>
          <a:p>
            <a:pPr lvl="0" indent="0" eaLnBrk="0" fontAlgn="base" hangingPunct="0">
              <a:spcBef>
                <a:spcPct val="0"/>
              </a:spcBef>
              <a:spcAft>
                <a:spcPct val="0"/>
              </a:spcAft>
              <a:buNone/>
              <a:tabLst>
                <a:tab pos="2743200" algn="ctr"/>
                <a:tab pos="4965700" algn="r"/>
                <a:tab pos="5486400" algn="r"/>
              </a:tabLst>
            </a:pPr>
            <a:r>
              <a:rPr lang="en-AU" altLang="en-US" dirty="0" smtClean="0">
                <a:latin typeface="Arial" panose="020B0604020202020204" pitchFamily="34" charset="0"/>
                <a:ea typeface="Times New Roman" panose="02020603050405020304" pitchFamily="18" charset="0"/>
              </a:rPr>
              <a:t>           </a:t>
            </a:r>
            <a:r>
              <a:rPr lang="en-AU" altLang="en-US" b="1" u="sng" dirty="0" smtClean="0">
                <a:latin typeface="Arial" panose="020B0604020202020204" pitchFamily="34" charset="0"/>
                <a:ea typeface="Times New Roman" panose="02020603050405020304" pitchFamily="18" charset="0"/>
              </a:rPr>
              <a:t>Tax fraction</a:t>
            </a:r>
            <a:r>
              <a:rPr lang="en-AU" altLang="en-US" dirty="0" smtClean="0">
                <a:latin typeface="Arial" panose="020B0604020202020204" pitchFamily="34" charset="0"/>
                <a:ea typeface="Times New Roman" panose="02020603050405020304" pitchFamily="18" charset="0"/>
              </a:rPr>
              <a:t>:       </a:t>
            </a:r>
            <a:r>
              <a:rPr lang="en-AU" altLang="en-US" u="sng" dirty="0" smtClean="0">
                <a:latin typeface="Arial" panose="020B0604020202020204" pitchFamily="34" charset="0"/>
                <a:ea typeface="Times New Roman" panose="02020603050405020304" pitchFamily="18" charset="0"/>
              </a:rPr>
              <a:t>  r</a:t>
            </a:r>
            <a:endParaRPr lang="en-US" altLang="en-US" dirty="0" smtClean="0">
              <a:latin typeface="Arial" panose="020B0604020202020204" pitchFamily="34" charset="0"/>
            </a:endParaRPr>
          </a:p>
          <a:p>
            <a:pPr lvl="0" indent="0" eaLnBrk="0" fontAlgn="base" hangingPunct="0">
              <a:spcBef>
                <a:spcPct val="0"/>
              </a:spcBef>
              <a:spcAft>
                <a:spcPct val="0"/>
              </a:spcAft>
              <a:buNone/>
              <a:tabLst>
                <a:tab pos="2743200" algn="ctr"/>
                <a:tab pos="4965700" algn="r"/>
                <a:tab pos="5486400" algn="r"/>
              </a:tabLst>
            </a:pPr>
            <a:r>
              <a:rPr lang="en-AU" altLang="en-US" dirty="0" smtClean="0">
                <a:latin typeface="Arial" panose="020B0604020202020204" pitchFamily="34" charset="0"/>
                <a:ea typeface="Times New Roman" panose="02020603050405020304" pitchFamily="18" charset="0"/>
              </a:rPr>
              <a:t>                                    100+r</a:t>
            </a:r>
            <a:endParaRPr lang="en-US" altLang="en-US" dirty="0" smtClean="0">
              <a:latin typeface="Arial" panose="020B0604020202020204" pitchFamily="34" charset="0"/>
            </a:endParaRPr>
          </a:p>
          <a:p>
            <a:pPr lvl="0" indent="0" eaLnBrk="0" fontAlgn="base" hangingPunct="0">
              <a:spcBef>
                <a:spcPct val="0"/>
              </a:spcBef>
              <a:spcAft>
                <a:spcPct val="0"/>
              </a:spcAft>
              <a:buNone/>
              <a:tabLst>
                <a:tab pos="2743200" algn="ctr"/>
                <a:tab pos="4965700" algn="r"/>
                <a:tab pos="5486400" algn="r"/>
              </a:tabLst>
            </a:pPr>
            <a:r>
              <a:rPr lang="en-AU" altLang="en-US" dirty="0" smtClean="0">
                <a:latin typeface="Arial" panose="020B0604020202020204" pitchFamily="34" charset="0"/>
                <a:ea typeface="Times New Roman" panose="02020603050405020304" pitchFamily="18" charset="0"/>
              </a:rPr>
              <a:t>                                   r = rate of tax</a:t>
            </a:r>
          </a:p>
          <a:p>
            <a:pPr lvl="0" indent="0" eaLnBrk="0" fontAlgn="base" hangingPunct="0">
              <a:spcBef>
                <a:spcPct val="0"/>
              </a:spcBef>
              <a:spcAft>
                <a:spcPct val="0"/>
              </a:spcAft>
              <a:buNone/>
              <a:tabLst>
                <a:tab pos="2743200" algn="ctr"/>
                <a:tab pos="4965700" algn="r"/>
                <a:tab pos="5486400" algn="r"/>
              </a:tabLst>
            </a:pPr>
            <a:r>
              <a:rPr lang="en-AU" altLang="en-US" sz="4400" b="1" dirty="0" smtClean="0">
                <a:latin typeface="Arial" panose="020B0604020202020204" pitchFamily="34" charset="0"/>
                <a:ea typeface="Times New Roman" panose="02020603050405020304" pitchFamily="18" charset="0"/>
              </a:rPr>
              <a:t>15/115 or 3/23</a:t>
            </a:r>
          </a:p>
          <a:p>
            <a:pPr lvl="0" indent="0" eaLnBrk="0" fontAlgn="base" hangingPunct="0">
              <a:spcBef>
                <a:spcPct val="0"/>
              </a:spcBef>
              <a:spcAft>
                <a:spcPct val="0"/>
              </a:spcAft>
              <a:buNone/>
              <a:tabLst>
                <a:tab pos="2743200" algn="ctr"/>
                <a:tab pos="4965700" algn="r"/>
                <a:tab pos="5486400" algn="r"/>
              </a:tabLst>
            </a:pPr>
            <a:r>
              <a:rPr lang="en-AU" altLang="en-US" sz="4400" b="1" dirty="0" smtClean="0">
                <a:latin typeface="Arial" panose="020B0604020202020204" pitchFamily="34" charset="0"/>
                <a:ea typeface="Times New Roman" panose="02020603050405020304" pitchFamily="18" charset="0"/>
              </a:rPr>
              <a:t> </a:t>
            </a:r>
          </a:p>
          <a:p>
            <a:pPr lvl="0" indent="0" eaLnBrk="0" fontAlgn="base" hangingPunct="0">
              <a:spcBef>
                <a:spcPct val="0"/>
              </a:spcBef>
              <a:spcAft>
                <a:spcPct val="0"/>
              </a:spcAft>
              <a:buNone/>
              <a:tabLst>
                <a:tab pos="2743200" algn="ctr"/>
                <a:tab pos="4965700" algn="r"/>
                <a:tab pos="5486400" algn="r"/>
              </a:tabLst>
            </a:pPr>
            <a:r>
              <a:rPr lang="en-AU" altLang="en-US" dirty="0" smtClean="0">
                <a:latin typeface="Arial" panose="020B0604020202020204" pitchFamily="34" charset="0"/>
                <a:ea typeface="Times New Roman" panose="02020603050405020304" pitchFamily="18" charset="0"/>
              </a:rPr>
              <a:t>Output tax                                               xxx                                                    </a:t>
            </a:r>
          </a:p>
          <a:p>
            <a:pPr lvl="0" indent="0" eaLnBrk="0" fontAlgn="base" hangingPunct="0">
              <a:spcBef>
                <a:spcPct val="0"/>
              </a:spcBef>
              <a:spcAft>
                <a:spcPct val="0"/>
              </a:spcAft>
              <a:buNone/>
              <a:tabLst>
                <a:tab pos="2743200" algn="ctr"/>
                <a:tab pos="4965700" algn="r"/>
                <a:tab pos="5486400" algn="r"/>
              </a:tabLst>
            </a:pPr>
            <a:r>
              <a:rPr lang="en-AU" altLang="en-US" dirty="0" smtClean="0">
                <a:latin typeface="Arial" panose="020B0604020202020204" pitchFamily="34" charset="0"/>
                <a:ea typeface="Times New Roman" panose="02020603050405020304" pitchFamily="18" charset="0"/>
              </a:rPr>
              <a:t>Less input tax                                         </a:t>
            </a:r>
            <a:r>
              <a:rPr lang="en-AU" altLang="en-US" u="sng" dirty="0" smtClean="0">
                <a:latin typeface="Arial" panose="020B0604020202020204" pitchFamily="34" charset="0"/>
                <a:ea typeface="Times New Roman" panose="02020603050405020304" pitchFamily="18" charset="0"/>
              </a:rPr>
              <a:t>xxx</a:t>
            </a:r>
          </a:p>
          <a:p>
            <a:pPr lvl="0" indent="0" eaLnBrk="0" fontAlgn="base" hangingPunct="0">
              <a:spcBef>
                <a:spcPct val="0"/>
              </a:spcBef>
              <a:spcAft>
                <a:spcPct val="0"/>
              </a:spcAft>
              <a:buNone/>
              <a:tabLst>
                <a:tab pos="2743200" algn="ctr"/>
                <a:tab pos="4965700" algn="r"/>
                <a:tab pos="5486400" algn="r"/>
              </a:tabLst>
            </a:pPr>
            <a:r>
              <a:rPr lang="en-AU" altLang="en-US" dirty="0" smtClean="0">
                <a:latin typeface="Arial" panose="020B0604020202020204" pitchFamily="34" charset="0"/>
                <a:ea typeface="Times New Roman" panose="02020603050405020304" pitchFamily="18" charset="0"/>
              </a:rPr>
              <a:t> Vat payable/ refundable                         </a:t>
            </a:r>
            <a:r>
              <a:rPr lang="en-AU" altLang="en-US" u="sng" dirty="0" smtClean="0">
                <a:latin typeface="Arial" panose="020B0604020202020204" pitchFamily="34" charset="0"/>
                <a:ea typeface="Times New Roman" panose="02020603050405020304" pitchFamily="18" charset="0"/>
              </a:rPr>
              <a:t>xxx </a:t>
            </a:r>
            <a:r>
              <a:rPr lang="en-AU" altLang="en-US" dirty="0" smtClean="0">
                <a:latin typeface="Arial" panose="020B0604020202020204" pitchFamily="34" charset="0"/>
                <a:ea typeface="Times New Roman" panose="02020603050405020304" pitchFamily="18" charset="0"/>
              </a:rPr>
              <a:t>   </a:t>
            </a:r>
          </a:p>
          <a:p>
            <a:endParaRPr lang="en-ZW"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W"/>
          </a:p>
        </p:txBody>
      </p:sp>
      <p:sp>
        <p:nvSpPr>
          <p:cNvPr id="3" name="Content Placeholder 2"/>
          <p:cNvSpPr>
            <a:spLocks noGrp="1"/>
          </p:cNvSpPr>
          <p:nvPr>
            <p:ph idx="1"/>
          </p:nvPr>
        </p:nvSpPr>
        <p:spPr/>
        <p:txBody>
          <a:bodyPr/>
          <a:lstStyle/>
          <a:p>
            <a:r>
              <a:rPr lang="en-US" b="1" dirty="0" smtClean="0"/>
              <a:t>Method of showing Vat</a:t>
            </a:r>
          </a:p>
          <a:p>
            <a:endParaRPr lang="en-US" b="1" dirty="0" smtClean="0"/>
          </a:p>
          <a:p>
            <a:r>
              <a:rPr lang="en-US" b="1" u="sng" dirty="0" smtClean="0"/>
              <a:t>Method 1</a:t>
            </a:r>
          </a:p>
          <a:p>
            <a:endParaRPr lang="en-US" b="1" u="sng" dirty="0" smtClean="0"/>
          </a:p>
          <a:p>
            <a:r>
              <a:rPr lang="en-US" dirty="0" smtClean="0"/>
              <a:t>The amount excluding Vat</a:t>
            </a:r>
          </a:p>
          <a:p>
            <a:r>
              <a:rPr lang="en-US" dirty="0" smtClean="0"/>
              <a:t>Vat</a:t>
            </a:r>
          </a:p>
          <a:p>
            <a:r>
              <a:rPr lang="en-US" dirty="0" smtClean="0"/>
              <a:t>Amount including Vat</a:t>
            </a:r>
          </a:p>
          <a:p>
            <a:endParaRPr lang="en-ZW" dirty="0" smtClean="0"/>
          </a:p>
          <a:p>
            <a:endParaRPr lang="en-ZW"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W"/>
          </a:p>
        </p:txBody>
      </p:sp>
      <p:sp>
        <p:nvSpPr>
          <p:cNvPr id="3" name="Content Placeholder 2"/>
          <p:cNvSpPr>
            <a:spLocks noGrp="1"/>
          </p:cNvSpPr>
          <p:nvPr>
            <p:ph idx="1"/>
          </p:nvPr>
        </p:nvSpPr>
        <p:spPr/>
        <p:txBody>
          <a:bodyPr/>
          <a:lstStyle/>
          <a:p>
            <a:r>
              <a:rPr lang="en-US" b="1" dirty="0" smtClean="0"/>
              <a:t>Method 2</a:t>
            </a:r>
          </a:p>
          <a:p>
            <a:endParaRPr lang="en-US" b="1" dirty="0" smtClean="0"/>
          </a:p>
          <a:p>
            <a:r>
              <a:rPr lang="en-US" dirty="0" smtClean="0"/>
              <a:t>Amount including Vat</a:t>
            </a:r>
          </a:p>
          <a:p>
            <a:r>
              <a:rPr lang="en-US" dirty="0" smtClean="0"/>
              <a:t>a statement that Vat is included and</a:t>
            </a:r>
          </a:p>
          <a:p>
            <a:r>
              <a:rPr lang="en-US" dirty="0" smtClean="0"/>
              <a:t> the rate of tax</a:t>
            </a:r>
          </a:p>
          <a:p>
            <a:endParaRPr lang="en-ZW"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W"/>
          </a:p>
        </p:txBody>
      </p:sp>
      <p:sp>
        <p:nvSpPr>
          <p:cNvPr id="3" name="Content Placeholder 2"/>
          <p:cNvSpPr>
            <a:spLocks noGrp="1"/>
          </p:cNvSpPr>
          <p:nvPr>
            <p:ph idx="1"/>
          </p:nvPr>
        </p:nvSpPr>
        <p:spPr/>
        <p:txBody>
          <a:bodyPr/>
          <a:lstStyle/>
          <a:p>
            <a:r>
              <a:rPr lang="en-US" b="1" dirty="0" smtClean="0"/>
              <a:t>Method 3</a:t>
            </a:r>
          </a:p>
          <a:p>
            <a:endParaRPr lang="en-US" b="1" dirty="0" smtClean="0"/>
          </a:p>
          <a:p>
            <a:r>
              <a:rPr lang="en-US" dirty="0" smtClean="0"/>
              <a:t> </a:t>
            </a:r>
          </a:p>
          <a:p>
            <a:r>
              <a:rPr lang="en-US" dirty="0" smtClean="0"/>
              <a:t>The amount including Vat</a:t>
            </a:r>
          </a:p>
          <a:p>
            <a:r>
              <a:rPr lang="en-US" dirty="0" smtClean="0"/>
              <a:t>The amount of Vat charged</a:t>
            </a:r>
          </a:p>
          <a:p>
            <a:endParaRPr lang="en-ZW" dirty="0" smtClean="0"/>
          </a:p>
          <a:p>
            <a:endParaRPr lang="en-ZW"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W"/>
          </a:p>
        </p:txBody>
      </p:sp>
      <p:sp>
        <p:nvSpPr>
          <p:cNvPr id="3" name="Content Placeholder 2"/>
          <p:cNvSpPr>
            <a:spLocks noGrp="1"/>
          </p:cNvSpPr>
          <p:nvPr>
            <p:ph idx="1"/>
          </p:nvPr>
        </p:nvSpPr>
        <p:spPr/>
        <p:txBody>
          <a:bodyPr/>
          <a:lstStyle/>
          <a:p>
            <a:endParaRPr lang="en-ZW"/>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smtClean="0"/>
              <a:t>Pre-incorporation expenses sect 19</a:t>
            </a:r>
            <a:endParaRPr lang="en-ZW" dirty="0"/>
          </a:p>
        </p:txBody>
      </p:sp>
      <p:sp>
        <p:nvSpPr>
          <p:cNvPr id="3" name="Content Placeholder 2"/>
          <p:cNvSpPr>
            <a:spLocks noGrp="1"/>
          </p:cNvSpPr>
          <p:nvPr>
            <p:ph idx="1"/>
          </p:nvPr>
        </p:nvSpPr>
        <p:spPr/>
        <p:txBody>
          <a:bodyPr>
            <a:normAutofit lnSpcReduction="10000"/>
          </a:bodyPr>
          <a:lstStyle/>
          <a:p>
            <a:r>
              <a:rPr lang="en-ZW" dirty="0" smtClean="0"/>
              <a:t>Input tax claimed on purchases made by another person prior to the company’s incorporation can only be done on condition that -</a:t>
            </a:r>
            <a:r>
              <a:rPr lang="en-ZW" b="1" dirty="0" smtClean="0"/>
              <a:t> 1.</a:t>
            </a:r>
            <a:r>
              <a:rPr lang="en-ZW" dirty="0" smtClean="0"/>
              <a:t> the company has reimbursed the whole amount and </a:t>
            </a:r>
            <a:r>
              <a:rPr lang="en-ZW" b="1" dirty="0" smtClean="0"/>
              <a:t>2.</a:t>
            </a:r>
            <a:r>
              <a:rPr lang="en-ZW" dirty="0" smtClean="0"/>
              <a:t> the goods or services were acquired for the purpose of trade </a:t>
            </a:r>
            <a:r>
              <a:rPr lang="en-ZW" b="1" dirty="0" smtClean="0"/>
              <a:t>3.</a:t>
            </a:r>
            <a:r>
              <a:rPr lang="en-ZW" dirty="0" smtClean="0"/>
              <a:t> the supply is a taxable supply </a:t>
            </a:r>
            <a:r>
              <a:rPr lang="en-ZW" b="1" dirty="0" smtClean="0"/>
              <a:t>4. </a:t>
            </a:r>
            <a:r>
              <a:rPr lang="en-ZW" dirty="0" smtClean="0"/>
              <a:t>was not acquired more than 6 months before commencement of trade </a:t>
            </a:r>
            <a:r>
              <a:rPr lang="en-ZW" b="1" dirty="0" smtClean="0"/>
              <a:t>5.</a:t>
            </a:r>
            <a:r>
              <a:rPr lang="en-ZW" dirty="0" smtClean="0"/>
              <a:t> the company holds sufficient records</a:t>
            </a:r>
            <a:endParaRPr lang="en-ZW"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smtClean="0"/>
              <a:t>Irrecoverable debts Sect 22</a:t>
            </a:r>
            <a:endParaRPr lang="en-ZW" dirty="0"/>
          </a:p>
        </p:txBody>
      </p:sp>
      <p:sp>
        <p:nvSpPr>
          <p:cNvPr id="3" name="Content Placeholder 2"/>
          <p:cNvSpPr>
            <a:spLocks noGrp="1"/>
          </p:cNvSpPr>
          <p:nvPr>
            <p:ph idx="1"/>
          </p:nvPr>
        </p:nvSpPr>
        <p:spPr/>
        <p:txBody>
          <a:bodyPr/>
          <a:lstStyle/>
          <a:p>
            <a:r>
              <a:rPr lang="en-ZW" dirty="0" smtClean="0"/>
              <a:t>A registered operator is allowed to claim input tax on irrecoverable debts subject to satisfying the following – </a:t>
            </a:r>
            <a:r>
              <a:rPr lang="en-ZW" b="1" dirty="0" smtClean="0"/>
              <a:t>1.</a:t>
            </a:r>
            <a:r>
              <a:rPr lang="en-ZW" dirty="0" smtClean="0"/>
              <a:t> the supply was a taxable supply </a:t>
            </a:r>
            <a:r>
              <a:rPr lang="en-ZW" b="1" dirty="0" smtClean="0"/>
              <a:t>2.</a:t>
            </a:r>
            <a:r>
              <a:rPr lang="en-ZW" dirty="0" smtClean="0"/>
              <a:t> a return has been furnished with the commissioner and VAT was accounted for on the debt </a:t>
            </a:r>
            <a:r>
              <a:rPr lang="en-ZW" b="1" dirty="0" smtClean="0"/>
              <a:t>3.</a:t>
            </a:r>
            <a:r>
              <a:rPr lang="en-ZW" dirty="0" smtClean="0"/>
              <a:t> the debt belongs to the operator and has been written off in his books </a:t>
            </a:r>
            <a:r>
              <a:rPr lang="en-ZW" b="1" dirty="0" smtClean="0"/>
              <a:t>4.</a:t>
            </a:r>
            <a:r>
              <a:rPr lang="en-ZW" dirty="0" smtClean="0"/>
              <a:t> lastly only the VAT on the cash value of an instalment credit agreement is claimable </a:t>
            </a:r>
            <a:endParaRPr lang="en-ZW"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b="1" dirty="0" smtClean="0"/>
              <a:t>Exercise</a:t>
            </a:r>
            <a:endParaRPr lang="en-ZW" b="1" dirty="0"/>
          </a:p>
        </p:txBody>
      </p:sp>
      <p:sp>
        <p:nvSpPr>
          <p:cNvPr id="3" name="Content Placeholder 2"/>
          <p:cNvSpPr>
            <a:spLocks noGrp="1"/>
          </p:cNvSpPr>
          <p:nvPr>
            <p:ph idx="1"/>
          </p:nvPr>
        </p:nvSpPr>
        <p:spPr/>
        <p:txBody>
          <a:bodyPr/>
          <a:lstStyle/>
          <a:p>
            <a:pPr lvl="0"/>
            <a:r>
              <a:rPr lang="en-US" dirty="0">
                <a:solidFill>
                  <a:prstClr val="black"/>
                </a:solidFill>
              </a:rPr>
              <a:t>Gee ltd a registered operator sold goods amounting to $22000 including Vat and properly accounted for output tax on the supply.$20000 was paid only and absconded. All efforts to trace the debt was fruitless and the debt was written off. How much should he claim as a </a:t>
            </a:r>
            <a:r>
              <a:rPr lang="en-US" dirty="0" smtClean="0">
                <a:solidFill>
                  <a:prstClr val="black"/>
                </a:solidFill>
              </a:rPr>
              <a:t>credit ?</a:t>
            </a:r>
            <a:endParaRPr lang="en-US" dirty="0">
              <a:solidFill>
                <a:prstClr val="black"/>
              </a:solidFill>
            </a:endParaRPr>
          </a:p>
          <a:p>
            <a:endParaRPr lang="en-ZW"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smtClean="0"/>
              <a:t>Registration for VAT Sect 23</a:t>
            </a:r>
            <a:endParaRPr lang="en-ZW" dirty="0"/>
          </a:p>
        </p:txBody>
      </p:sp>
      <p:sp>
        <p:nvSpPr>
          <p:cNvPr id="3" name="Content Placeholder 2"/>
          <p:cNvSpPr>
            <a:spLocks noGrp="1"/>
          </p:cNvSpPr>
          <p:nvPr>
            <p:ph idx="1"/>
          </p:nvPr>
        </p:nvSpPr>
        <p:spPr/>
        <p:txBody>
          <a:bodyPr>
            <a:normAutofit fontScale="92500" lnSpcReduction="10000"/>
          </a:bodyPr>
          <a:lstStyle/>
          <a:p>
            <a:pPr marL="0" indent="0">
              <a:buNone/>
            </a:pPr>
            <a:r>
              <a:rPr lang="en-ZA" b="1" u="sng" dirty="0" smtClean="0">
                <a:solidFill>
                  <a:schemeClr val="tx1"/>
                </a:solidFill>
              </a:rPr>
              <a:t>Compulsory registration</a:t>
            </a:r>
          </a:p>
          <a:p>
            <a:r>
              <a:rPr lang="en-ZA" dirty="0" smtClean="0">
                <a:solidFill>
                  <a:schemeClr val="tx1"/>
                </a:solidFill>
              </a:rPr>
              <a:t>A person is obliged to register as a registered operator  if he carries on trade and the total value of taxable supplies exceeded or is expected to exceed the prescribed amount (US$60,000) during any period of 12 months</a:t>
            </a:r>
            <a:r>
              <a:rPr lang="en-ZA" dirty="0" smtClean="0"/>
              <a:t>.</a:t>
            </a:r>
          </a:p>
          <a:p>
            <a:r>
              <a:rPr lang="en-ZA" dirty="0" smtClean="0"/>
              <a:t>Also where there are reasonable grounds for believing that the total value of supplies which will be made in the following 12 months will exceed the prescribed amount</a:t>
            </a:r>
          </a:p>
          <a:p>
            <a:endParaRPr lang="en-ZW"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smtClean="0"/>
              <a:t>How to register for VAT</a:t>
            </a:r>
            <a:endParaRPr lang="en-ZW" dirty="0"/>
          </a:p>
        </p:txBody>
      </p:sp>
      <p:sp>
        <p:nvSpPr>
          <p:cNvPr id="3" name="Content Placeholder 2"/>
          <p:cNvSpPr>
            <a:spLocks noGrp="1"/>
          </p:cNvSpPr>
          <p:nvPr>
            <p:ph sz="quarter" idx="1"/>
          </p:nvPr>
        </p:nvSpPr>
        <p:spPr/>
        <p:txBody>
          <a:bodyPr>
            <a:normAutofit fontScale="77500" lnSpcReduction="20000"/>
          </a:bodyPr>
          <a:lstStyle/>
          <a:p>
            <a:pPr marL="0" indent="0">
              <a:buNone/>
            </a:pPr>
            <a:r>
              <a:rPr lang="en-ZW" dirty="0" smtClean="0">
                <a:solidFill>
                  <a:schemeClr val="tx1"/>
                </a:solidFill>
              </a:rPr>
              <a:t>The following information should be submitted:</a:t>
            </a:r>
          </a:p>
          <a:p>
            <a:pPr marL="0" indent="0">
              <a:buNone/>
            </a:pPr>
            <a:r>
              <a:rPr lang="en-ZW" dirty="0" smtClean="0">
                <a:solidFill>
                  <a:schemeClr val="tx1"/>
                </a:solidFill>
              </a:rPr>
              <a:t>Form REV 1which is fully completed</a:t>
            </a:r>
          </a:p>
          <a:p>
            <a:pPr marL="0" indent="0">
              <a:buNone/>
            </a:pPr>
            <a:r>
              <a:rPr lang="en-ZW" b="1" u="sng" dirty="0" smtClean="0">
                <a:solidFill>
                  <a:schemeClr val="tx1"/>
                </a:solidFill>
              </a:rPr>
              <a:t>In the case of a company :</a:t>
            </a:r>
          </a:p>
          <a:p>
            <a:r>
              <a:rPr lang="en-ZW" dirty="0" smtClean="0">
                <a:solidFill>
                  <a:schemeClr val="tx1"/>
                </a:solidFill>
              </a:rPr>
              <a:t>current bank account</a:t>
            </a:r>
          </a:p>
          <a:p>
            <a:r>
              <a:rPr lang="en-ZW" dirty="0" smtClean="0">
                <a:solidFill>
                  <a:schemeClr val="tx1"/>
                </a:solidFill>
              </a:rPr>
              <a:t>Certificate of incorporation </a:t>
            </a:r>
          </a:p>
          <a:p>
            <a:r>
              <a:rPr lang="en-ZW" dirty="0" smtClean="0">
                <a:solidFill>
                  <a:schemeClr val="tx1"/>
                </a:solidFill>
              </a:rPr>
              <a:t>Memorandum and articles of association</a:t>
            </a:r>
          </a:p>
          <a:p>
            <a:r>
              <a:rPr lang="en-ZW" dirty="0" smtClean="0">
                <a:solidFill>
                  <a:schemeClr val="tx1"/>
                </a:solidFill>
              </a:rPr>
              <a:t>CR 14</a:t>
            </a:r>
          </a:p>
          <a:p>
            <a:r>
              <a:rPr lang="en-ZW" dirty="0" smtClean="0">
                <a:solidFill>
                  <a:schemeClr val="tx1"/>
                </a:solidFill>
              </a:rPr>
              <a:t>CR6</a:t>
            </a:r>
          </a:p>
          <a:p>
            <a:r>
              <a:rPr lang="en-ZW" dirty="0" smtClean="0">
                <a:solidFill>
                  <a:schemeClr val="tx1"/>
                </a:solidFill>
              </a:rPr>
              <a:t>Copy of identity documents for at least two directors</a:t>
            </a:r>
          </a:p>
          <a:p>
            <a:r>
              <a:rPr lang="en-ZW" dirty="0" smtClean="0">
                <a:solidFill>
                  <a:schemeClr val="tx1"/>
                </a:solidFill>
              </a:rPr>
              <a:t>Letter appointing public officer and confirmation that the person has got signing powers to the bank accounts</a:t>
            </a:r>
          </a:p>
          <a:p>
            <a:r>
              <a:rPr lang="en-ZW" dirty="0" smtClean="0">
                <a:solidFill>
                  <a:schemeClr val="tx1"/>
                </a:solidFill>
              </a:rPr>
              <a:t>Proof of residence of directors and public officer </a:t>
            </a:r>
          </a:p>
          <a:p>
            <a:endParaRPr lang="en-ZW" dirty="0">
              <a:solidFill>
                <a:schemeClr val="tx1"/>
              </a:solidFill>
            </a:endParaRPr>
          </a:p>
        </p:txBody>
      </p:sp>
    </p:spTree>
    <p:extLst>
      <p:ext uri="{BB962C8B-B14F-4D97-AF65-F5344CB8AC3E}">
        <p14:creationId xmlns:p14="http://schemas.microsoft.com/office/powerpoint/2010/main" xmlns="" val="19676877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smtClean="0"/>
              <a:t>example</a:t>
            </a:r>
            <a:endParaRPr lang="en-ZW" dirty="0"/>
          </a:p>
        </p:txBody>
      </p:sp>
      <p:sp>
        <p:nvSpPr>
          <p:cNvPr id="3" name="Content Placeholder 2"/>
          <p:cNvSpPr>
            <a:spLocks noGrp="1"/>
          </p:cNvSpPr>
          <p:nvPr>
            <p:ph sz="quarter" idx="1"/>
          </p:nvPr>
        </p:nvSpPr>
        <p:spPr/>
        <p:txBody>
          <a:bodyPr/>
          <a:lstStyle/>
          <a:p>
            <a:r>
              <a:rPr lang="en-ZW" dirty="0" err="1" smtClean="0">
                <a:solidFill>
                  <a:schemeClr val="tx1"/>
                </a:solidFill>
              </a:rPr>
              <a:t>Dorcas</a:t>
            </a:r>
            <a:r>
              <a:rPr lang="en-ZW" dirty="0" smtClean="0">
                <a:solidFill>
                  <a:schemeClr val="tx1"/>
                </a:solidFill>
              </a:rPr>
              <a:t> started to trade cutlery on 1 January </a:t>
            </a:r>
            <a:r>
              <a:rPr lang="en-ZW" dirty="0" smtClean="0">
                <a:solidFill>
                  <a:schemeClr val="tx1"/>
                </a:solidFill>
              </a:rPr>
              <a:t>2016. </a:t>
            </a:r>
            <a:r>
              <a:rPr lang="en-ZW" dirty="0" smtClean="0">
                <a:solidFill>
                  <a:schemeClr val="tx1"/>
                </a:solidFill>
              </a:rPr>
              <a:t>her sales excluding VAT were $7000 per month up to 31 August and $8000 thereafter.</a:t>
            </a:r>
          </a:p>
          <a:p>
            <a:r>
              <a:rPr lang="en-ZW" dirty="0" smtClean="0">
                <a:solidFill>
                  <a:schemeClr val="tx1"/>
                </a:solidFill>
              </a:rPr>
              <a:t>From what date should </a:t>
            </a:r>
            <a:r>
              <a:rPr lang="en-ZW" dirty="0" err="1" smtClean="0">
                <a:solidFill>
                  <a:schemeClr val="tx1"/>
                </a:solidFill>
              </a:rPr>
              <a:t>Dorcas</a:t>
            </a:r>
            <a:r>
              <a:rPr lang="en-ZW" dirty="0" smtClean="0">
                <a:solidFill>
                  <a:schemeClr val="tx1"/>
                </a:solidFill>
              </a:rPr>
              <a:t> register for VAT</a:t>
            </a:r>
          </a:p>
          <a:p>
            <a:endParaRPr lang="en-ZW" dirty="0" smtClean="0">
              <a:solidFill>
                <a:schemeClr val="tx1"/>
              </a:solidFill>
            </a:endParaRPr>
          </a:p>
          <a:p>
            <a:endParaRPr lang="en-ZW" dirty="0" smtClean="0">
              <a:solidFill>
                <a:schemeClr val="tx1"/>
              </a:solidFill>
            </a:endParaRPr>
          </a:p>
          <a:p>
            <a:endParaRPr lang="en-ZW" dirty="0"/>
          </a:p>
        </p:txBody>
      </p:sp>
    </p:spTree>
    <p:extLst>
      <p:ext uri="{BB962C8B-B14F-4D97-AF65-F5344CB8AC3E}">
        <p14:creationId xmlns:p14="http://schemas.microsoft.com/office/powerpoint/2010/main" xmlns="" val="874504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smtClean="0"/>
              <a:t>Voluntary registration </a:t>
            </a:r>
            <a:endParaRPr lang="en-ZW" dirty="0"/>
          </a:p>
        </p:txBody>
      </p:sp>
      <p:sp>
        <p:nvSpPr>
          <p:cNvPr id="3" name="Content Placeholder 2"/>
          <p:cNvSpPr>
            <a:spLocks noGrp="1"/>
          </p:cNvSpPr>
          <p:nvPr>
            <p:ph idx="1"/>
          </p:nvPr>
        </p:nvSpPr>
        <p:spPr/>
        <p:txBody>
          <a:bodyPr>
            <a:normAutofit fontScale="77500" lnSpcReduction="20000"/>
          </a:bodyPr>
          <a:lstStyle/>
          <a:p>
            <a:pPr marL="0" indent="0">
              <a:buNone/>
            </a:pPr>
            <a:r>
              <a:rPr lang="en-ZA" b="1" u="sng" dirty="0" smtClean="0">
                <a:solidFill>
                  <a:schemeClr val="tx1"/>
                </a:solidFill>
              </a:rPr>
              <a:t>A person wishing to register voluntarily must satisfy the following conditions:</a:t>
            </a:r>
          </a:p>
          <a:p>
            <a:r>
              <a:rPr lang="en-ZA" dirty="0" smtClean="0">
                <a:solidFill>
                  <a:schemeClr val="tx1"/>
                </a:solidFill>
              </a:rPr>
              <a:t>that they are carrying on trade or  intend to carry on trade from a specified date </a:t>
            </a:r>
          </a:p>
          <a:p>
            <a:r>
              <a:rPr lang="en-ZA" dirty="0" smtClean="0">
                <a:solidFill>
                  <a:schemeClr val="tx1"/>
                </a:solidFill>
              </a:rPr>
              <a:t>Has a fixed place of business</a:t>
            </a:r>
          </a:p>
          <a:p>
            <a:r>
              <a:rPr lang="en-ZA" dirty="0" smtClean="0">
                <a:solidFill>
                  <a:schemeClr val="tx1"/>
                </a:solidFill>
              </a:rPr>
              <a:t>Keeps proper accounting records</a:t>
            </a:r>
          </a:p>
          <a:p>
            <a:r>
              <a:rPr lang="en-ZA" dirty="0" smtClean="0">
                <a:solidFill>
                  <a:schemeClr val="tx1"/>
                </a:solidFill>
              </a:rPr>
              <a:t>Has opened a banking account with any bank or  similar institute </a:t>
            </a:r>
          </a:p>
          <a:p>
            <a:r>
              <a:rPr lang="en-ZA" dirty="0" smtClean="0">
                <a:solidFill>
                  <a:schemeClr val="tx1"/>
                </a:solidFill>
              </a:rPr>
              <a:t>If the person was previously registered for sales tax purpose and has not fail to perform the prescribed duties </a:t>
            </a:r>
          </a:p>
          <a:p>
            <a:r>
              <a:rPr lang="en-ZA" dirty="0" smtClean="0"/>
              <a:t>QUESTION: Discuss the merits and demerits of voluntary registration</a:t>
            </a:r>
            <a:endParaRPr lang="en-ZA" dirty="0" smtClean="0">
              <a:solidFill>
                <a:schemeClr val="tx1"/>
              </a:solidFill>
            </a:endParaRPr>
          </a:p>
          <a:p>
            <a:pPr marL="0" indent="0">
              <a:buNone/>
            </a:pPr>
            <a:endParaRPr lang="en-ZA" dirty="0" smtClean="0">
              <a:solidFill>
                <a:schemeClr val="tx1"/>
              </a:solidFill>
            </a:endParaRPr>
          </a:p>
          <a:p>
            <a:endParaRPr lang="en-ZW"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smtClean="0"/>
              <a:t>Deregistration Sect 24</a:t>
            </a:r>
            <a:endParaRPr lang="en-ZW" dirty="0"/>
          </a:p>
        </p:txBody>
      </p:sp>
      <p:sp>
        <p:nvSpPr>
          <p:cNvPr id="3" name="Content Placeholder 2"/>
          <p:cNvSpPr>
            <a:spLocks noGrp="1"/>
          </p:cNvSpPr>
          <p:nvPr>
            <p:ph idx="1"/>
          </p:nvPr>
        </p:nvSpPr>
        <p:spPr/>
        <p:txBody>
          <a:bodyPr>
            <a:normAutofit fontScale="85000" lnSpcReduction="20000"/>
          </a:bodyPr>
          <a:lstStyle/>
          <a:p>
            <a:pPr marL="0" indent="0">
              <a:buNone/>
            </a:pPr>
            <a:r>
              <a:rPr lang="en-ZA" b="1" dirty="0" smtClean="0">
                <a:solidFill>
                  <a:schemeClr val="tx1"/>
                </a:solidFill>
              </a:rPr>
              <a:t>Taxable supplies below the threshold :</a:t>
            </a:r>
          </a:p>
          <a:p>
            <a:r>
              <a:rPr lang="en-ZA" dirty="0" smtClean="0">
                <a:solidFill>
                  <a:schemeClr val="tx1"/>
                </a:solidFill>
              </a:rPr>
              <a:t> A registered operator ceases to be liable for registration when the Commissioner is satisfied that the level of taxable supplies during the next 12 month period will fall below the registration threshold of the prescribed amount.  </a:t>
            </a:r>
          </a:p>
          <a:p>
            <a:r>
              <a:rPr lang="en-ZA" dirty="0" smtClean="0">
                <a:solidFill>
                  <a:schemeClr val="tx1"/>
                </a:solidFill>
              </a:rPr>
              <a:t>If such a person wishes to cancel registration as a registered operator, application should be made in writing to the Commissioner on a prescribed form.    </a:t>
            </a:r>
          </a:p>
          <a:p>
            <a:r>
              <a:rPr lang="en-ZA" dirty="0" smtClean="0">
                <a:solidFill>
                  <a:schemeClr val="tx1"/>
                </a:solidFill>
              </a:rPr>
              <a:t>The Commissioner will advise the registered operator of his decision to cancel registration and the effective date. </a:t>
            </a:r>
          </a:p>
          <a:p>
            <a:endParaRPr lang="en-ZW"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smtClean="0"/>
              <a:t>Deregistration cont.....</a:t>
            </a:r>
            <a:endParaRPr lang="en-ZW" dirty="0"/>
          </a:p>
        </p:txBody>
      </p:sp>
      <p:sp>
        <p:nvSpPr>
          <p:cNvPr id="3" name="Content Placeholder 2"/>
          <p:cNvSpPr>
            <a:spLocks noGrp="1"/>
          </p:cNvSpPr>
          <p:nvPr>
            <p:ph idx="1"/>
          </p:nvPr>
        </p:nvSpPr>
        <p:spPr/>
        <p:txBody>
          <a:bodyPr>
            <a:normAutofit fontScale="92500" lnSpcReduction="20000"/>
          </a:bodyPr>
          <a:lstStyle/>
          <a:p>
            <a:pPr marL="0" indent="0">
              <a:buNone/>
            </a:pPr>
            <a:r>
              <a:rPr lang="en-ZA" b="1" dirty="0" smtClean="0">
                <a:solidFill>
                  <a:schemeClr val="tx1"/>
                </a:solidFill>
              </a:rPr>
              <a:t>Registration can also be cancelled in various other situations, for example</a:t>
            </a:r>
            <a:r>
              <a:rPr lang="en-ZA" dirty="0" smtClean="0">
                <a:solidFill>
                  <a:schemeClr val="tx1"/>
                </a:solidFill>
              </a:rPr>
              <a:t>: </a:t>
            </a:r>
          </a:p>
          <a:p>
            <a:r>
              <a:rPr lang="en-ZA" dirty="0" smtClean="0">
                <a:solidFill>
                  <a:schemeClr val="tx1"/>
                </a:solidFill>
              </a:rPr>
              <a:t> If a registered operator ceases to trade. Or</a:t>
            </a:r>
          </a:p>
          <a:p>
            <a:r>
              <a:rPr lang="en-ZA" dirty="0" smtClean="0">
                <a:solidFill>
                  <a:schemeClr val="tx1"/>
                </a:solidFill>
              </a:rPr>
              <a:t>Where the business is sold as a going concern or  </a:t>
            </a:r>
          </a:p>
          <a:p>
            <a:r>
              <a:rPr lang="en-ZA" dirty="0" smtClean="0">
                <a:solidFill>
                  <a:schemeClr val="tx1"/>
                </a:solidFill>
              </a:rPr>
              <a:t> Where the trader is now dealing exclusively in exempt supplies</a:t>
            </a:r>
          </a:p>
          <a:p>
            <a:r>
              <a:rPr lang="en-ZA" dirty="0" smtClean="0">
                <a:solidFill>
                  <a:schemeClr val="tx1"/>
                </a:solidFill>
              </a:rPr>
              <a:t>A person who register under voluntary registration shall be de-registered should he fail to comply the conditions of voluntary registration. The commissioner shall notify the person of his decision to deregister him in writing  </a:t>
            </a:r>
          </a:p>
          <a:p>
            <a:endParaRPr lang="en-ZW"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smtClean="0"/>
              <a:t>Tax periods</a:t>
            </a:r>
            <a:endParaRPr lang="en-ZW" dirty="0"/>
          </a:p>
        </p:txBody>
      </p:sp>
      <p:sp>
        <p:nvSpPr>
          <p:cNvPr id="3" name="Content Placeholder 2"/>
          <p:cNvSpPr>
            <a:spLocks noGrp="1"/>
          </p:cNvSpPr>
          <p:nvPr>
            <p:ph idx="1"/>
          </p:nvPr>
        </p:nvSpPr>
        <p:spPr/>
        <p:txBody>
          <a:bodyPr/>
          <a:lstStyle/>
          <a:p>
            <a:r>
              <a:rPr lang="en-US" dirty="0" smtClean="0"/>
              <a:t>All registered operators are required to submit returns and account for VAT to the commissioner at regular intervals.</a:t>
            </a:r>
          </a:p>
          <a:p>
            <a:r>
              <a:rPr lang="en-US" dirty="0" smtClean="0"/>
              <a:t> These intervals are called tax periods.</a:t>
            </a:r>
          </a:p>
          <a:p>
            <a:r>
              <a:rPr lang="en-US" dirty="0" smtClean="0"/>
              <a:t>A registered operator`s first tax period will commence on:</a:t>
            </a:r>
          </a:p>
          <a:p>
            <a:r>
              <a:rPr lang="en-US" dirty="0" smtClean="0"/>
              <a:t>a); The commencement date of VAT, or</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ZW" dirty="0" smtClean="0"/>
              <a:t>Tax periods cont...</a:t>
            </a:r>
            <a:endParaRPr lang="en-ZW" dirty="0"/>
          </a:p>
        </p:txBody>
      </p:sp>
      <p:sp>
        <p:nvSpPr>
          <p:cNvPr id="3" name="Content Placeholder 2"/>
          <p:cNvSpPr>
            <a:spLocks noGrp="1"/>
          </p:cNvSpPr>
          <p:nvPr>
            <p:ph idx="1"/>
          </p:nvPr>
        </p:nvSpPr>
        <p:spPr/>
        <p:txBody>
          <a:bodyPr>
            <a:normAutofit fontScale="92500" lnSpcReduction="20000"/>
          </a:bodyPr>
          <a:lstStyle/>
          <a:p>
            <a:r>
              <a:rPr lang="en-US" dirty="0" smtClean="0"/>
              <a:t>The tax periods are as follows;</a:t>
            </a:r>
          </a:p>
          <a:p>
            <a:pPr>
              <a:buFont typeface="Wingdings" panose="05000000000000000000" pitchFamily="2" charset="2"/>
              <a:buChar char="§"/>
            </a:pPr>
            <a:r>
              <a:rPr lang="en-US" dirty="0" smtClean="0"/>
              <a:t>Two-month tax period- Category A end of tax period last day of Jan, May, March, July ,Sept and Nov.</a:t>
            </a:r>
          </a:p>
          <a:p>
            <a:pPr>
              <a:buFont typeface="Wingdings" panose="05000000000000000000" pitchFamily="2" charset="2"/>
              <a:buChar char="§"/>
            </a:pPr>
            <a:r>
              <a:rPr lang="en-US" dirty="0" smtClean="0"/>
              <a:t>   Two-month tax period- Category B end of tax period last day of Feb, April, Jun, Aug, Oct and Dec</a:t>
            </a:r>
          </a:p>
          <a:p>
            <a:pPr>
              <a:buFont typeface="Wingdings" panose="05000000000000000000" pitchFamily="2" charset="2"/>
              <a:buChar char="§"/>
            </a:pPr>
            <a:r>
              <a:rPr lang="en-US" dirty="0" smtClean="0"/>
              <a:t>One-month tax period- Category C end of tax period last day is the last of every month.</a:t>
            </a:r>
          </a:p>
          <a:p>
            <a:pPr>
              <a:buFont typeface="Wingdings" panose="05000000000000000000" pitchFamily="2" charset="2"/>
              <a:buChar char="§"/>
            </a:pPr>
            <a:r>
              <a:rPr lang="en-US" dirty="0" smtClean="0"/>
              <a:t> Category D mainly for farmers</a:t>
            </a:r>
            <a:endParaRPr lang="en-ZW"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smtClean="0"/>
              <a:t>Tax invoice Sect 20</a:t>
            </a:r>
            <a:endParaRPr lang="en-ZW" dirty="0"/>
          </a:p>
        </p:txBody>
      </p:sp>
      <p:sp>
        <p:nvSpPr>
          <p:cNvPr id="3" name="Content Placeholder 2"/>
          <p:cNvSpPr>
            <a:spLocks noGrp="1"/>
          </p:cNvSpPr>
          <p:nvPr>
            <p:ph idx="1"/>
          </p:nvPr>
        </p:nvSpPr>
        <p:spPr/>
        <p:txBody>
          <a:bodyPr>
            <a:normAutofit fontScale="85000" lnSpcReduction="20000"/>
          </a:bodyPr>
          <a:lstStyle/>
          <a:p>
            <a:r>
              <a:rPr lang="en-US" b="1" dirty="0" smtClean="0"/>
              <a:t>Valid Tax invoice: Requirements Section 20</a:t>
            </a:r>
          </a:p>
          <a:p>
            <a:endParaRPr lang="en-US" b="1" dirty="0" smtClean="0"/>
          </a:p>
          <a:p>
            <a:pPr marL="285750" indent="-285750">
              <a:buFont typeface="Wingdings" panose="05000000000000000000" pitchFamily="2" charset="2"/>
              <a:buChar char="v"/>
            </a:pPr>
            <a:r>
              <a:rPr lang="en-US" dirty="0" smtClean="0"/>
              <a:t>It should have the words tax invoice in a prominent place</a:t>
            </a:r>
          </a:p>
          <a:p>
            <a:pPr marL="285750" indent="-285750">
              <a:buFont typeface="Wingdings" panose="05000000000000000000" pitchFamily="2" charset="2"/>
              <a:buChar char="v"/>
            </a:pPr>
            <a:r>
              <a:rPr lang="en-US" dirty="0" smtClean="0"/>
              <a:t>Name, address &amp; Vat registration number of the supplier</a:t>
            </a:r>
          </a:p>
          <a:p>
            <a:pPr marL="285750" indent="-285750">
              <a:buFont typeface="Wingdings" panose="05000000000000000000" pitchFamily="2" charset="2"/>
              <a:buChar char="v"/>
            </a:pPr>
            <a:r>
              <a:rPr lang="en-US" dirty="0" smtClean="0"/>
              <a:t>Name address and Vat registration number of recipient</a:t>
            </a:r>
          </a:p>
          <a:p>
            <a:pPr marL="285750" indent="-285750">
              <a:buFont typeface="Wingdings" panose="05000000000000000000" pitchFamily="2" charset="2"/>
              <a:buChar char="v"/>
            </a:pPr>
            <a:r>
              <a:rPr lang="en-US" dirty="0" smtClean="0"/>
              <a:t>Serial number and date of issue</a:t>
            </a:r>
          </a:p>
          <a:p>
            <a:pPr marL="285750" indent="-285750">
              <a:buFont typeface="Wingdings" panose="05000000000000000000" pitchFamily="2" charset="2"/>
              <a:buChar char="v"/>
            </a:pPr>
            <a:r>
              <a:rPr lang="en-US" dirty="0" smtClean="0"/>
              <a:t>Description of goods and services</a:t>
            </a:r>
          </a:p>
          <a:p>
            <a:pPr marL="285750" indent="-285750">
              <a:buFont typeface="Wingdings" panose="05000000000000000000" pitchFamily="2" charset="2"/>
              <a:buChar char="v"/>
            </a:pPr>
            <a:r>
              <a:rPr lang="en-US" dirty="0" smtClean="0"/>
              <a:t>Quantity of goods and services supplied</a:t>
            </a:r>
          </a:p>
          <a:p>
            <a:pPr marL="285750" indent="-285750">
              <a:buFont typeface="Wingdings" panose="05000000000000000000" pitchFamily="2" charset="2"/>
              <a:buChar char="v"/>
            </a:pPr>
            <a:r>
              <a:rPr lang="en-US" dirty="0" smtClean="0"/>
              <a:t>Price and Vat </a:t>
            </a:r>
          </a:p>
          <a:p>
            <a:endParaRPr lang="en-ZW"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smtClean="0"/>
              <a:t>Assessments Sect 31</a:t>
            </a:r>
            <a:endParaRPr lang="en-ZW" dirty="0"/>
          </a:p>
        </p:txBody>
      </p:sp>
      <p:sp>
        <p:nvSpPr>
          <p:cNvPr id="3" name="Content Placeholder 2"/>
          <p:cNvSpPr>
            <a:spLocks noGrp="1"/>
          </p:cNvSpPr>
          <p:nvPr>
            <p:ph idx="1"/>
          </p:nvPr>
        </p:nvSpPr>
        <p:spPr/>
        <p:txBody>
          <a:bodyPr>
            <a:normAutofit fontScale="77500" lnSpcReduction="20000"/>
          </a:bodyPr>
          <a:lstStyle/>
          <a:p>
            <a:r>
              <a:rPr lang="en-US" dirty="0" smtClean="0"/>
              <a:t>The  amount of a registered operator as assessed under this section shall be paid within the period allowed by the Commissioner.</a:t>
            </a:r>
          </a:p>
          <a:p>
            <a:r>
              <a:rPr lang="en-US" dirty="0" smtClean="0"/>
              <a:t> the person liable for the payment of any amount of tax assessable by the Commissioner shall be ;</a:t>
            </a:r>
          </a:p>
          <a:p>
            <a:r>
              <a:rPr lang="en-US" dirty="0" smtClean="0"/>
              <a:t>(</a:t>
            </a:r>
            <a:r>
              <a:rPr lang="en-US" i="1" dirty="0" smtClean="0"/>
              <a:t>a</a:t>
            </a:r>
            <a:r>
              <a:rPr lang="en-US" dirty="0" smtClean="0"/>
              <a:t>) the person liable for the payment of such tax in terms of section </a:t>
            </a:r>
            <a:r>
              <a:rPr lang="en-US" i="1" dirty="0" smtClean="0"/>
              <a:t>6</a:t>
            </a:r>
            <a:r>
              <a:rPr lang="en-US" dirty="0" smtClean="0"/>
              <a:t>; or</a:t>
            </a:r>
          </a:p>
          <a:p>
            <a:r>
              <a:rPr lang="en-US" dirty="0" smtClean="0"/>
              <a:t>(</a:t>
            </a:r>
            <a:r>
              <a:rPr lang="en-US" i="1" dirty="0" smtClean="0"/>
              <a:t>b</a:t>
            </a:r>
            <a:r>
              <a:rPr lang="en-US" dirty="0" smtClean="0"/>
              <a:t>) where section </a:t>
            </a:r>
            <a:r>
              <a:rPr lang="en-US" i="1" dirty="0" smtClean="0"/>
              <a:t>29 (</a:t>
            </a:r>
            <a:r>
              <a:rPr lang="en-US" i="1" dirty="0" err="1" smtClean="0"/>
              <a:t>ie</a:t>
            </a:r>
            <a:r>
              <a:rPr lang="en-US" i="1" dirty="0" smtClean="0"/>
              <a:t> special returns) </a:t>
            </a:r>
            <a:r>
              <a:rPr lang="en-US" dirty="0" smtClean="0"/>
              <a:t>is applicable;</a:t>
            </a:r>
          </a:p>
          <a:p>
            <a:r>
              <a:rPr lang="en-US" dirty="0" smtClean="0"/>
              <a:t>(</a:t>
            </a:r>
            <a:r>
              <a:rPr lang="en-US" dirty="0" err="1" smtClean="0"/>
              <a:t>i</a:t>
            </a:r>
            <a:r>
              <a:rPr lang="en-US" dirty="0" smtClean="0"/>
              <a:t>) the seller referred to therein (sec 29), unless subparagraph (ii) is applicable , which points to the owner d seller holds a written statement contemplated In section 7 (1) </a:t>
            </a:r>
            <a:r>
              <a:rPr lang="en-US" dirty="0" err="1" smtClean="0"/>
              <a:t>para</a:t>
            </a:r>
            <a:r>
              <a:rPr lang="en-US" dirty="0" smtClean="0"/>
              <a:t> b furnished by the said owner and that written statement is incorrect</a:t>
            </a:r>
          </a:p>
          <a:p>
            <a:endParaRPr lang="en-ZW"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smtClean="0"/>
              <a:t>Objections Sect 32</a:t>
            </a:r>
            <a:endParaRPr lang="en-ZW" dirty="0"/>
          </a:p>
        </p:txBody>
      </p:sp>
      <p:sp>
        <p:nvSpPr>
          <p:cNvPr id="3" name="Content Placeholder 2"/>
          <p:cNvSpPr>
            <a:spLocks noGrp="1"/>
          </p:cNvSpPr>
          <p:nvPr>
            <p:ph idx="1"/>
          </p:nvPr>
        </p:nvSpPr>
        <p:spPr/>
        <p:txBody>
          <a:bodyPr/>
          <a:lstStyle/>
          <a:p>
            <a:r>
              <a:rPr lang="en-ZW" dirty="0" smtClean="0"/>
              <a:t>A person wishing to make an objection to the commissioner’s assessment must :</a:t>
            </a:r>
          </a:p>
          <a:p>
            <a:pPr marL="514350" indent="-514350">
              <a:buAutoNum type="arabicPeriod"/>
            </a:pPr>
            <a:r>
              <a:rPr lang="en-ZW" dirty="0" smtClean="0"/>
              <a:t>Put the objection in writing</a:t>
            </a:r>
          </a:p>
          <a:p>
            <a:pPr marL="514350" indent="-514350">
              <a:buAutoNum type="arabicPeriod"/>
            </a:pPr>
            <a:r>
              <a:rPr lang="en-ZW" dirty="0" smtClean="0"/>
              <a:t>Specify in detail the grounds of the objection</a:t>
            </a:r>
          </a:p>
          <a:p>
            <a:pPr marL="514350" indent="-514350">
              <a:buAutoNum type="arabicPeriod"/>
            </a:pPr>
            <a:r>
              <a:rPr lang="en-ZW" dirty="0" smtClean="0"/>
              <a:t>Be made within 30 days of the date of the decision or assessment </a:t>
            </a:r>
            <a:endParaRPr lang="en-ZW" dirty="0"/>
          </a:p>
          <a:p>
            <a:pPr>
              <a:buNone/>
            </a:pPr>
            <a:endParaRPr lang="en-ZW"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smtClean="0"/>
              <a:t>Appeals Sect 33</a:t>
            </a:r>
            <a:endParaRPr lang="en-ZW" dirty="0"/>
          </a:p>
        </p:txBody>
      </p:sp>
      <p:sp>
        <p:nvSpPr>
          <p:cNvPr id="3" name="Content Placeholder 2"/>
          <p:cNvSpPr>
            <a:spLocks noGrp="1"/>
          </p:cNvSpPr>
          <p:nvPr>
            <p:ph idx="1"/>
          </p:nvPr>
        </p:nvSpPr>
        <p:spPr/>
        <p:txBody>
          <a:bodyPr>
            <a:normAutofit lnSpcReduction="10000"/>
          </a:bodyPr>
          <a:lstStyle/>
          <a:p>
            <a:r>
              <a:rPr lang="en-ZW" dirty="0" smtClean="0"/>
              <a:t>An appeal is only lodged if and when a person’s objection was disallowed. A registered operator must appeal within 30 days</a:t>
            </a:r>
          </a:p>
          <a:p>
            <a:r>
              <a:rPr lang="en-ZW" dirty="0" smtClean="0"/>
              <a:t>An appeal can be made to the Fiscal Appeal court or to the Supreme court depending on the nature of dispute </a:t>
            </a:r>
          </a:p>
          <a:p>
            <a:r>
              <a:rPr lang="en-ZW" dirty="0" smtClean="0"/>
              <a:t>The appeal must be in writing and lodged within 30 days .</a:t>
            </a:r>
          </a:p>
          <a:p>
            <a:pPr>
              <a:buNone/>
            </a:pPr>
            <a:endParaRPr lang="en-ZW"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293</TotalTime>
  <Words>2384</Words>
  <Application>Microsoft Office PowerPoint</Application>
  <PresentationFormat>On-screen Show (4:3)</PresentationFormat>
  <Paragraphs>219</Paragraphs>
  <Slides>42</Slides>
  <Notes>0</Notes>
  <HiddenSlides>0</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Office Theme</vt:lpstr>
      <vt:lpstr>VAT (VALUE ADDED TAX): VAT ACT 23:12</vt:lpstr>
      <vt:lpstr>Aspects of VAT</vt:lpstr>
      <vt:lpstr>DEFINITION OF TERMS: sect 2</vt:lpstr>
      <vt:lpstr>General operational aspects of VAT  Sect 6</vt:lpstr>
      <vt:lpstr>Zero rated supplies</vt:lpstr>
      <vt:lpstr>Zero rated supplies  cont....</vt:lpstr>
      <vt:lpstr>EXEMPT SUPPLIES- SECT 11</vt:lpstr>
      <vt:lpstr>Exempt supplies cont.....</vt:lpstr>
      <vt:lpstr>Exercise </vt:lpstr>
      <vt:lpstr>STANDARD RATED SUPPLIES</vt:lpstr>
      <vt:lpstr>DEEMED SUPPLIES –SEC  7 </vt:lpstr>
      <vt:lpstr>Deemed supplies cont</vt:lpstr>
      <vt:lpstr>Slide 13</vt:lpstr>
      <vt:lpstr>Deemed supplies cont....</vt:lpstr>
      <vt:lpstr>Time of supply- Sect 8</vt:lpstr>
      <vt:lpstr>Value of supply Sect 9</vt:lpstr>
      <vt:lpstr>Special value of supply considerations</vt:lpstr>
      <vt:lpstr>Accounting for VAT Sect-14</vt:lpstr>
      <vt:lpstr>Excercise </vt:lpstr>
      <vt:lpstr>INPUT TAX</vt:lpstr>
      <vt:lpstr>Prohibitions: Input tax Sect 16</vt:lpstr>
      <vt:lpstr>Output tax </vt:lpstr>
      <vt:lpstr>VAT computation</vt:lpstr>
      <vt:lpstr>Slide 24</vt:lpstr>
      <vt:lpstr>Slide 25</vt:lpstr>
      <vt:lpstr>Slide 26</vt:lpstr>
      <vt:lpstr>Slide 27</vt:lpstr>
      <vt:lpstr>Pre-incorporation expenses sect 19</vt:lpstr>
      <vt:lpstr>Irrecoverable debts Sect 22</vt:lpstr>
      <vt:lpstr>Exercise</vt:lpstr>
      <vt:lpstr>Registration for VAT Sect 23</vt:lpstr>
      <vt:lpstr>How to register for VAT</vt:lpstr>
      <vt:lpstr>example</vt:lpstr>
      <vt:lpstr>Voluntary registration </vt:lpstr>
      <vt:lpstr>Deregistration Sect 24</vt:lpstr>
      <vt:lpstr>Deregistration cont.....</vt:lpstr>
      <vt:lpstr>Tax periods</vt:lpstr>
      <vt:lpstr>Tax periods cont...</vt:lpstr>
      <vt:lpstr>Tax invoice Sect 20</vt:lpstr>
      <vt:lpstr>Assessments Sect 31</vt:lpstr>
      <vt:lpstr>Objections Sect 32</vt:lpstr>
      <vt:lpstr>Appeals Sect 33</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VAT (VALUE ADDED TAX): VAT ACT 23:12</dc:title>
  <dc:creator>Private1</dc:creator>
  <cp:lastModifiedBy>Private1</cp:lastModifiedBy>
  <cp:revision>7</cp:revision>
  <dcterms:created xsi:type="dcterms:W3CDTF">2017-02-04T13:49:03Z</dcterms:created>
  <dcterms:modified xsi:type="dcterms:W3CDTF">2017-02-04T18:43:00Z</dcterms:modified>
</cp:coreProperties>
</file>