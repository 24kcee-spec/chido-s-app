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64"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C3B7888-1DAC-4805-AD22-F065782A81D8}" type="datetimeFigureOut">
              <a:rPr lang="en-ZW" smtClean="0"/>
              <a:t>2/27/2023</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DD21E52E-6DDE-4BE4-96D2-7C13DA0B2006}" type="slidenum">
              <a:rPr lang="en-ZW" smtClean="0"/>
              <a:t>‹#›</a:t>
            </a:fld>
            <a:endParaRPr lang="en-ZW"/>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C3B7888-1DAC-4805-AD22-F065782A81D8}" type="datetimeFigureOut">
              <a:rPr lang="en-ZW" smtClean="0"/>
              <a:t>2/27/2023</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DD21E52E-6DDE-4BE4-96D2-7C13DA0B2006}" type="slidenum">
              <a:rPr lang="en-ZW" smtClean="0"/>
              <a:t>‹#›</a:t>
            </a:fld>
            <a:endParaRPr lang="en-ZW"/>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DC3B7888-1DAC-4805-AD22-F065782A81D8}" type="datetimeFigureOut">
              <a:rPr lang="en-ZW" smtClean="0"/>
              <a:t>2/27/2023</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DD21E52E-6DDE-4BE4-96D2-7C13DA0B2006}" type="slidenum">
              <a:rPr lang="en-ZW" smtClean="0"/>
              <a:t>‹#›</a:t>
            </a:fld>
            <a:endParaRPr lang="en-ZW"/>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C3B7888-1DAC-4805-AD22-F065782A81D8}" type="datetimeFigureOut">
              <a:rPr lang="en-ZW" smtClean="0"/>
              <a:t>2/27/2023</a:t>
            </a:fld>
            <a:endParaRPr lang="en-ZW"/>
          </a:p>
        </p:txBody>
      </p:sp>
      <p:sp>
        <p:nvSpPr>
          <p:cNvPr id="6" name="Footer Placeholder 5"/>
          <p:cNvSpPr>
            <a:spLocks noGrp="1"/>
          </p:cNvSpPr>
          <p:nvPr>
            <p:ph type="ftr" sz="quarter" idx="11"/>
          </p:nvPr>
        </p:nvSpPr>
        <p:spPr/>
        <p:txBody>
          <a:bodyPr/>
          <a:lstStyle/>
          <a:p>
            <a:endParaRPr lang="en-ZW"/>
          </a:p>
        </p:txBody>
      </p:sp>
      <p:sp>
        <p:nvSpPr>
          <p:cNvPr id="7" name="Slide Number Placeholder 6"/>
          <p:cNvSpPr>
            <a:spLocks noGrp="1"/>
          </p:cNvSpPr>
          <p:nvPr>
            <p:ph type="sldNum" sz="quarter" idx="12"/>
          </p:nvPr>
        </p:nvSpPr>
        <p:spPr/>
        <p:txBody>
          <a:bodyPr/>
          <a:lstStyle/>
          <a:p>
            <a:fld id="{DD21E52E-6DDE-4BE4-96D2-7C13DA0B2006}" type="slidenum">
              <a:rPr lang="en-ZW" smtClean="0"/>
              <a:t>‹#›</a:t>
            </a:fld>
            <a:endParaRPr lang="en-ZW"/>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C3B7888-1DAC-4805-AD22-F065782A81D8}" type="datetimeFigureOut">
              <a:rPr lang="en-ZW" smtClean="0"/>
              <a:t>2/27/2023</a:t>
            </a:fld>
            <a:endParaRPr lang="en-ZW"/>
          </a:p>
        </p:txBody>
      </p:sp>
      <p:sp>
        <p:nvSpPr>
          <p:cNvPr id="8" name="Footer Placeholder 7"/>
          <p:cNvSpPr>
            <a:spLocks noGrp="1"/>
          </p:cNvSpPr>
          <p:nvPr>
            <p:ph type="ftr" sz="quarter" idx="11"/>
          </p:nvPr>
        </p:nvSpPr>
        <p:spPr/>
        <p:txBody>
          <a:bodyPr/>
          <a:lstStyle/>
          <a:p>
            <a:endParaRPr lang="en-ZW"/>
          </a:p>
        </p:txBody>
      </p:sp>
      <p:sp>
        <p:nvSpPr>
          <p:cNvPr id="9" name="Slide Number Placeholder 8"/>
          <p:cNvSpPr>
            <a:spLocks noGrp="1"/>
          </p:cNvSpPr>
          <p:nvPr>
            <p:ph type="sldNum" sz="quarter" idx="12"/>
          </p:nvPr>
        </p:nvSpPr>
        <p:spPr/>
        <p:txBody>
          <a:bodyPr/>
          <a:lstStyle/>
          <a:p>
            <a:fld id="{DD21E52E-6DDE-4BE4-96D2-7C13DA0B2006}" type="slidenum">
              <a:rPr lang="en-ZW" smtClean="0"/>
              <a:t>‹#›</a:t>
            </a:fld>
            <a:endParaRPr lang="en-ZW"/>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C3B7888-1DAC-4805-AD22-F065782A81D8}" type="datetimeFigureOut">
              <a:rPr lang="en-ZW" smtClean="0"/>
              <a:t>2/27/2023</a:t>
            </a:fld>
            <a:endParaRPr lang="en-ZW"/>
          </a:p>
        </p:txBody>
      </p:sp>
      <p:sp>
        <p:nvSpPr>
          <p:cNvPr id="4" name="Footer Placeholder 3"/>
          <p:cNvSpPr>
            <a:spLocks noGrp="1"/>
          </p:cNvSpPr>
          <p:nvPr>
            <p:ph type="ftr" sz="quarter" idx="11"/>
          </p:nvPr>
        </p:nvSpPr>
        <p:spPr/>
        <p:txBody>
          <a:bodyPr/>
          <a:lstStyle/>
          <a:p>
            <a:endParaRPr lang="en-ZW"/>
          </a:p>
        </p:txBody>
      </p:sp>
      <p:sp>
        <p:nvSpPr>
          <p:cNvPr id="5" name="Slide Number Placeholder 4"/>
          <p:cNvSpPr>
            <a:spLocks noGrp="1"/>
          </p:cNvSpPr>
          <p:nvPr>
            <p:ph type="sldNum" sz="quarter" idx="12"/>
          </p:nvPr>
        </p:nvSpPr>
        <p:spPr/>
        <p:txBody>
          <a:bodyPr/>
          <a:lstStyle/>
          <a:p>
            <a:fld id="{DD21E52E-6DDE-4BE4-96D2-7C13DA0B2006}" type="slidenum">
              <a:rPr lang="en-ZW" smtClean="0"/>
              <a:t>‹#›</a:t>
            </a:fld>
            <a:endParaRPr lang="en-ZW"/>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3B7888-1DAC-4805-AD22-F065782A81D8}" type="datetimeFigureOut">
              <a:rPr lang="en-ZW" smtClean="0"/>
              <a:t>2/27/2023</a:t>
            </a:fld>
            <a:endParaRPr lang="en-ZW"/>
          </a:p>
        </p:txBody>
      </p:sp>
      <p:sp>
        <p:nvSpPr>
          <p:cNvPr id="3" name="Footer Placeholder 2"/>
          <p:cNvSpPr>
            <a:spLocks noGrp="1"/>
          </p:cNvSpPr>
          <p:nvPr>
            <p:ph type="ftr" sz="quarter" idx="11"/>
          </p:nvPr>
        </p:nvSpPr>
        <p:spPr/>
        <p:txBody>
          <a:bodyPr/>
          <a:lstStyle/>
          <a:p>
            <a:endParaRPr lang="en-ZW"/>
          </a:p>
        </p:txBody>
      </p:sp>
      <p:sp>
        <p:nvSpPr>
          <p:cNvPr id="4" name="Slide Number Placeholder 3"/>
          <p:cNvSpPr>
            <a:spLocks noGrp="1"/>
          </p:cNvSpPr>
          <p:nvPr>
            <p:ph type="sldNum" sz="quarter" idx="12"/>
          </p:nvPr>
        </p:nvSpPr>
        <p:spPr/>
        <p:txBody>
          <a:bodyPr/>
          <a:lstStyle/>
          <a:p>
            <a:fld id="{DD21E52E-6DDE-4BE4-96D2-7C13DA0B2006}" type="slidenum">
              <a:rPr lang="en-ZW" smtClean="0"/>
              <a:t>‹#›</a:t>
            </a:fld>
            <a:endParaRPr lang="en-ZW"/>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DC3B7888-1DAC-4805-AD22-F065782A81D8}" type="datetimeFigureOut">
              <a:rPr lang="en-ZW" smtClean="0"/>
              <a:t>2/27/2023</a:t>
            </a:fld>
            <a:endParaRPr lang="en-ZW"/>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ZW"/>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DD21E52E-6DDE-4BE4-96D2-7C13DA0B2006}" type="slidenum">
              <a:rPr lang="en-ZW" smtClean="0"/>
              <a:t>‹#›</a:t>
            </a:fld>
            <a:endParaRPr lang="en-ZW"/>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3B7888-1DAC-4805-AD22-F065782A81D8}" type="datetimeFigureOut">
              <a:rPr lang="en-ZW" smtClean="0"/>
              <a:t>2/27/2023</a:t>
            </a:fld>
            <a:endParaRPr lang="en-ZW"/>
          </a:p>
        </p:txBody>
      </p:sp>
      <p:sp>
        <p:nvSpPr>
          <p:cNvPr id="6" name="Footer Placeholder 5"/>
          <p:cNvSpPr>
            <a:spLocks noGrp="1"/>
          </p:cNvSpPr>
          <p:nvPr>
            <p:ph type="ftr" sz="quarter" idx="11"/>
          </p:nvPr>
        </p:nvSpPr>
        <p:spPr/>
        <p:txBody>
          <a:bodyPr/>
          <a:lstStyle/>
          <a:p>
            <a:endParaRPr lang="en-ZW"/>
          </a:p>
        </p:txBody>
      </p:sp>
      <p:sp>
        <p:nvSpPr>
          <p:cNvPr id="7" name="Slide Number Placeholder 6"/>
          <p:cNvSpPr>
            <a:spLocks noGrp="1"/>
          </p:cNvSpPr>
          <p:nvPr>
            <p:ph type="sldNum" sz="quarter" idx="12"/>
          </p:nvPr>
        </p:nvSpPr>
        <p:spPr/>
        <p:txBody>
          <a:bodyPr/>
          <a:lstStyle/>
          <a:p>
            <a:fld id="{DD21E52E-6DDE-4BE4-96D2-7C13DA0B2006}" type="slidenum">
              <a:rPr lang="en-ZW" smtClean="0"/>
              <a:t>‹#›</a:t>
            </a:fld>
            <a:endParaRPr lang="en-ZW"/>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3B7888-1DAC-4805-AD22-F065782A81D8}" type="datetimeFigureOut">
              <a:rPr lang="en-ZW" smtClean="0"/>
              <a:t>2/27/2023</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DD21E52E-6DDE-4BE4-96D2-7C13DA0B2006}" type="slidenum">
              <a:rPr lang="en-ZW" smtClean="0"/>
              <a:t>‹#›</a:t>
            </a:fld>
            <a:endParaRPr lang="en-ZW"/>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3B7888-1DAC-4805-AD22-F065782A81D8}" type="datetimeFigureOut">
              <a:rPr lang="en-ZW" smtClean="0"/>
              <a:t>2/27/2023</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DD21E52E-6DDE-4BE4-96D2-7C13DA0B2006}" type="slidenum">
              <a:rPr lang="en-ZW" smtClean="0"/>
              <a:t>‹#›</a:t>
            </a:fld>
            <a:endParaRPr lang="en-ZW"/>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DC3B7888-1DAC-4805-AD22-F065782A81D8}" type="datetimeFigureOut">
              <a:rPr lang="en-ZW" smtClean="0"/>
              <a:t>2/27/2023</a:t>
            </a:fld>
            <a:endParaRPr lang="en-ZW"/>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ZW"/>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DD21E52E-6DDE-4BE4-96D2-7C13DA0B2006}" type="slidenum">
              <a:rPr lang="en-ZW" smtClean="0"/>
              <a:t>‹#›</a:t>
            </a:fld>
            <a:endParaRPr lang="en-ZW"/>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ZW" dirty="0" smtClean="0"/>
              <a:t>Deceased Estates and </a:t>
            </a:r>
            <a:r>
              <a:rPr lang="en-ZW" dirty="0" smtClean="0"/>
              <a:t>Trusts</a:t>
            </a:r>
            <a:endParaRPr lang="en-ZW" dirty="0"/>
          </a:p>
        </p:txBody>
      </p:sp>
      <p:sp>
        <p:nvSpPr>
          <p:cNvPr id="3" name="Subtitle 2"/>
          <p:cNvSpPr>
            <a:spLocks noGrp="1"/>
          </p:cNvSpPr>
          <p:nvPr>
            <p:ph type="subTitle" idx="1"/>
          </p:nvPr>
        </p:nvSpPr>
        <p:spPr/>
        <p:txBody>
          <a:bodyPr/>
          <a:lstStyle/>
          <a:p>
            <a:r>
              <a:rPr lang="en-ZW" dirty="0" smtClean="0"/>
              <a:t>Definitions</a:t>
            </a:r>
            <a:endParaRPr lang="en-ZW" dirty="0"/>
          </a:p>
        </p:txBody>
      </p:sp>
    </p:spTree>
    <p:extLst>
      <p:ext uri="{BB962C8B-B14F-4D97-AF65-F5344CB8AC3E}">
        <p14:creationId xmlns:p14="http://schemas.microsoft.com/office/powerpoint/2010/main" val="763040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lstStyle/>
          <a:p>
            <a:pPr marL="0" indent="0">
              <a:buNone/>
            </a:pPr>
            <a:r>
              <a:rPr lang="en-ZW" dirty="0" smtClean="0"/>
              <a:t>ITA Section 2 &gt; beneficiary with a vested right</a:t>
            </a:r>
          </a:p>
          <a:p>
            <a:pPr marL="0" indent="0">
              <a:buNone/>
            </a:pPr>
            <a:r>
              <a:rPr lang="en-ZW" dirty="0"/>
              <a:t> </a:t>
            </a:r>
            <a:r>
              <a:rPr lang="en-ZW" dirty="0" smtClean="0"/>
              <a:t>                      &gt; income the subject of a trust  to    witch no beneficiary is entitled</a:t>
            </a:r>
          </a:p>
          <a:p>
            <a:pPr marL="0" indent="0">
              <a:buNone/>
            </a:pPr>
            <a:r>
              <a:rPr lang="en-ZW" dirty="0"/>
              <a:t> </a:t>
            </a:r>
            <a:r>
              <a:rPr lang="en-ZW" dirty="0" smtClean="0"/>
              <a:t>                       </a:t>
            </a:r>
          </a:p>
          <a:p>
            <a:pPr marL="0" indent="0">
              <a:buNone/>
            </a:pPr>
            <a:r>
              <a:rPr lang="en-ZW" dirty="0" smtClean="0"/>
              <a:t>ITA Section 11(1) &gt; ascertained beneficiary              </a:t>
            </a:r>
            <a:endParaRPr lang="en-ZW" dirty="0"/>
          </a:p>
        </p:txBody>
      </p:sp>
    </p:spTree>
    <p:extLst>
      <p:ext uri="{BB962C8B-B14F-4D97-AF65-F5344CB8AC3E}">
        <p14:creationId xmlns:p14="http://schemas.microsoft.com/office/powerpoint/2010/main" val="4060843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normAutofit/>
          </a:bodyPr>
          <a:lstStyle/>
          <a:p>
            <a:r>
              <a:rPr lang="en-ZW" dirty="0" smtClean="0"/>
              <a:t>Deceased estate or a trust can constitute a taxpayer just as in the case of an individual.</a:t>
            </a:r>
          </a:p>
          <a:p>
            <a:r>
              <a:rPr lang="en-ZW" dirty="0" smtClean="0"/>
              <a:t>An estate is a legal persona and comes into existence as follows:</a:t>
            </a:r>
          </a:p>
          <a:p>
            <a:pPr marL="514350" indent="-514350">
              <a:buFont typeface="+mj-lt"/>
              <a:buAutoNum type="arabicPeriod"/>
            </a:pPr>
            <a:r>
              <a:rPr lang="en-ZW" dirty="0" smtClean="0"/>
              <a:t>Deceased estate&gt; immediately after the death of an individual consisting of the whole property of the deceased and ends with the FLDA on the realisation of assets which are administered by an executor or executrix</a:t>
            </a:r>
            <a:endParaRPr lang="en-ZW" dirty="0"/>
          </a:p>
        </p:txBody>
      </p:sp>
    </p:spTree>
    <p:extLst>
      <p:ext uri="{BB962C8B-B14F-4D97-AF65-F5344CB8AC3E}">
        <p14:creationId xmlns:p14="http://schemas.microsoft.com/office/powerpoint/2010/main" val="7260904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dirty="0"/>
          </a:p>
        </p:txBody>
      </p:sp>
      <p:sp>
        <p:nvSpPr>
          <p:cNvPr id="3" name="Content Placeholder 2"/>
          <p:cNvSpPr>
            <a:spLocks noGrp="1"/>
          </p:cNvSpPr>
          <p:nvPr>
            <p:ph idx="1"/>
          </p:nvPr>
        </p:nvSpPr>
        <p:spPr>
          <a:xfrm>
            <a:off x="533400" y="2311255"/>
            <a:ext cx="8229600" cy="4525963"/>
          </a:xfrm>
        </p:spPr>
        <p:txBody>
          <a:bodyPr>
            <a:normAutofit/>
          </a:bodyPr>
          <a:lstStyle/>
          <a:p>
            <a:r>
              <a:rPr lang="en-ZW" dirty="0" smtClean="0"/>
              <a:t>A trust is not generally a person but may be for tax purposes.</a:t>
            </a:r>
          </a:p>
          <a:p>
            <a:r>
              <a:rPr lang="en-ZW" dirty="0" smtClean="0"/>
              <a:t>Formed by an existing person who, by reason of a deed names persons as trustees who then administers the trust and deals with its funds in accordance with conditions set out in the document.</a:t>
            </a:r>
          </a:p>
          <a:p>
            <a:r>
              <a:rPr lang="en-ZW" dirty="0" smtClean="0"/>
              <a:t>Can also be formed in terms of a Will of a deceased person who does not wish all or part of his estate  to be handed over to his heirs immediately..</a:t>
            </a:r>
          </a:p>
          <a:p>
            <a:endParaRPr lang="en-ZW" dirty="0"/>
          </a:p>
        </p:txBody>
      </p:sp>
    </p:spTree>
    <p:extLst>
      <p:ext uri="{BB962C8B-B14F-4D97-AF65-F5344CB8AC3E}">
        <p14:creationId xmlns:p14="http://schemas.microsoft.com/office/powerpoint/2010/main" val="11311635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W" dirty="0" smtClean="0"/>
              <a:t>Deceased Estates:  General-Section 11</a:t>
            </a:r>
            <a:endParaRPr lang="en-ZW" dirty="0"/>
          </a:p>
        </p:txBody>
      </p:sp>
      <p:sp>
        <p:nvSpPr>
          <p:cNvPr id="3" name="Content Placeholder 2"/>
          <p:cNvSpPr>
            <a:spLocks noGrp="1"/>
          </p:cNvSpPr>
          <p:nvPr>
            <p:ph idx="1"/>
          </p:nvPr>
        </p:nvSpPr>
        <p:spPr/>
        <p:txBody>
          <a:bodyPr/>
          <a:lstStyle/>
          <a:p>
            <a:r>
              <a:rPr lang="en-ZW" dirty="0" smtClean="0"/>
              <a:t>Raise an assessment from 1</a:t>
            </a:r>
            <a:r>
              <a:rPr lang="en-ZW" baseline="30000" dirty="0" smtClean="0"/>
              <a:t>st</a:t>
            </a:r>
            <a:r>
              <a:rPr lang="en-ZW" dirty="0" smtClean="0"/>
              <a:t> January to </a:t>
            </a:r>
            <a:r>
              <a:rPr lang="en-ZW" dirty="0" err="1" smtClean="0"/>
              <a:t>DoD</a:t>
            </a:r>
            <a:r>
              <a:rPr lang="en-ZW" dirty="0"/>
              <a:t> </a:t>
            </a:r>
            <a:r>
              <a:rPr lang="en-ZW" dirty="0" smtClean="0"/>
              <a:t>of a taxpayer.</a:t>
            </a:r>
          </a:p>
          <a:p>
            <a:r>
              <a:rPr lang="en-ZW" dirty="0" smtClean="0"/>
              <a:t>Day after </a:t>
            </a:r>
            <a:r>
              <a:rPr lang="en-ZW" dirty="0" err="1" smtClean="0"/>
              <a:t>DoD</a:t>
            </a:r>
            <a:r>
              <a:rPr lang="en-ZW" dirty="0" smtClean="0"/>
              <a:t> a new taxpayer- the deceased estate comes into being.</a:t>
            </a:r>
          </a:p>
          <a:p>
            <a:r>
              <a:rPr lang="en-ZW" dirty="0" smtClean="0"/>
              <a:t>Question to be looked into: in whose hands will income accruing after </a:t>
            </a:r>
            <a:r>
              <a:rPr lang="en-ZW" dirty="0" err="1" smtClean="0"/>
              <a:t>DoD</a:t>
            </a:r>
            <a:r>
              <a:rPr lang="en-ZW" dirty="0" smtClean="0"/>
              <a:t> be taxed [ note: the bequeathed asset itself never gives rise to any tax liability]</a:t>
            </a:r>
            <a:endParaRPr lang="en-ZW" dirty="0"/>
          </a:p>
        </p:txBody>
      </p:sp>
    </p:spTree>
    <p:extLst>
      <p:ext uri="{BB962C8B-B14F-4D97-AF65-F5344CB8AC3E}">
        <p14:creationId xmlns:p14="http://schemas.microsoft.com/office/powerpoint/2010/main" val="20544737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normAutofit/>
          </a:bodyPr>
          <a:lstStyle/>
          <a:p>
            <a:r>
              <a:rPr lang="en-ZW" dirty="0" smtClean="0"/>
              <a:t>  </a:t>
            </a:r>
            <a:r>
              <a:rPr lang="en-ZW" dirty="0"/>
              <a:t>P</a:t>
            </a:r>
            <a:r>
              <a:rPr lang="en-ZW" dirty="0" smtClean="0"/>
              <a:t>ossible taxpayers:</a:t>
            </a:r>
          </a:p>
          <a:p>
            <a:r>
              <a:rPr lang="en-ZW" dirty="0" smtClean="0"/>
              <a:t>The deceased person himself if income is determined to have accrued pre-death.</a:t>
            </a:r>
          </a:p>
          <a:p>
            <a:r>
              <a:rPr lang="en-ZW" dirty="0" smtClean="0"/>
              <a:t>An ascertained beneficiary or beneficiary with a vested right.</a:t>
            </a:r>
          </a:p>
          <a:p>
            <a:r>
              <a:rPr lang="en-ZW" dirty="0" smtClean="0"/>
              <a:t>The deceased estate itself</a:t>
            </a:r>
          </a:p>
          <a:p>
            <a:r>
              <a:rPr lang="en-ZW" dirty="0" smtClean="0"/>
              <a:t>Or any trust created in terms of the Will of the deceased.</a:t>
            </a:r>
          </a:p>
          <a:p>
            <a:r>
              <a:rPr lang="en-ZW" dirty="0" smtClean="0"/>
              <a:t>Note: if the deceased had no right to the income during his lifetime that income shall not form part of the income to </a:t>
            </a:r>
            <a:r>
              <a:rPr lang="en-ZW" dirty="0" err="1" smtClean="0"/>
              <a:t>DoD</a:t>
            </a:r>
            <a:r>
              <a:rPr lang="en-ZW" dirty="0" smtClean="0"/>
              <a:t> e.g. amounts received ex gratia.</a:t>
            </a:r>
            <a:endParaRPr lang="en-ZW" dirty="0"/>
          </a:p>
        </p:txBody>
      </p:sp>
    </p:spTree>
    <p:extLst>
      <p:ext uri="{BB962C8B-B14F-4D97-AF65-F5344CB8AC3E}">
        <p14:creationId xmlns:p14="http://schemas.microsoft.com/office/powerpoint/2010/main" val="28233442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dirty="0"/>
          </a:p>
        </p:txBody>
      </p:sp>
      <p:sp>
        <p:nvSpPr>
          <p:cNvPr id="3" name="Content Placeholder 2"/>
          <p:cNvSpPr>
            <a:spLocks noGrp="1"/>
          </p:cNvSpPr>
          <p:nvPr>
            <p:ph idx="1"/>
          </p:nvPr>
        </p:nvSpPr>
        <p:spPr/>
        <p:txBody>
          <a:bodyPr>
            <a:normAutofit/>
          </a:bodyPr>
          <a:lstStyle/>
          <a:p>
            <a:r>
              <a:rPr lang="en-ZW" dirty="0" smtClean="0"/>
              <a:t>The terms of the Will are crucial and are a guide to who is taxable on which income arising from assets in a deceased estate.</a:t>
            </a:r>
          </a:p>
          <a:p>
            <a:r>
              <a:rPr lang="en-ZW" dirty="0" smtClean="0"/>
              <a:t>Where a specific asset is left to a specific individual any income arising from that asset is taxable in the hands of that person from date after death of the deceased. The named individual is an “ascertained beneficiary” – acquires an immediate right to claim the present or future enjoyment of income.</a:t>
            </a:r>
            <a:endParaRPr lang="en-ZW" dirty="0"/>
          </a:p>
        </p:txBody>
      </p:sp>
    </p:spTree>
    <p:extLst>
      <p:ext uri="{BB962C8B-B14F-4D97-AF65-F5344CB8AC3E}">
        <p14:creationId xmlns:p14="http://schemas.microsoft.com/office/powerpoint/2010/main" val="16848138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normAutofit/>
          </a:bodyPr>
          <a:lstStyle/>
          <a:p>
            <a:r>
              <a:rPr lang="en-ZW" dirty="0" smtClean="0"/>
              <a:t>Where the Will provides for a “residue” in an estate then the estate is taxable on income from the residue until the FLDA has been finalised and assets distributed.</a:t>
            </a:r>
          </a:p>
          <a:p>
            <a:r>
              <a:rPr lang="en-ZW" dirty="0" smtClean="0"/>
              <a:t>A variation to the above is </a:t>
            </a:r>
            <a:r>
              <a:rPr lang="en-ZW" i="1" u="sng" dirty="0" smtClean="0"/>
              <a:t>usufruct </a:t>
            </a:r>
            <a:r>
              <a:rPr lang="en-ZW" dirty="0" smtClean="0"/>
              <a:t>where the Will provides for a right to income but not the inheritance of any asset e.g. a specific asset may be left for the son but grant the widow a life usufruct and the estate being administered by an executor.</a:t>
            </a:r>
          </a:p>
          <a:p>
            <a:r>
              <a:rPr lang="en-ZW" dirty="0" smtClean="0"/>
              <a:t>Where there is no Will ( intestacy) the treatment is the same as in residue.</a:t>
            </a:r>
          </a:p>
          <a:p>
            <a:endParaRPr lang="en-ZW" dirty="0" smtClean="0"/>
          </a:p>
          <a:p>
            <a:endParaRPr lang="en-ZW" i="1" u="sng" dirty="0"/>
          </a:p>
        </p:txBody>
      </p:sp>
    </p:spTree>
    <p:extLst>
      <p:ext uri="{BB962C8B-B14F-4D97-AF65-F5344CB8AC3E}">
        <p14:creationId xmlns:p14="http://schemas.microsoft.com/office/powerpoint/2010/main" val="3512087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Taxation of Trusts</a:t>
            </a:r>
            <a:endParaRPr lang="en-ZW" dirty="0"/>
          </a:p>
        </p:txBody>
      </p:sp>
      <p:sp>
        <p:nvSpPr>
          <p:cNvPr id="3" name="Content Placeholder 2"/>
          <p:cNvSpPr>
            <a:spLocks noGrp="1"/>
          </p:cNvSpPr>
          <p:nvPr>
            <p:ph idx="1"/>
          </p:nvPr>
        </p:nvSpPr>
        <p:spPr/>
        <p:txBody>
          <a:bodyPr>
            <a:normAutofit fontScale="92500"/>
          </a:bodyPr>
          <a:lstStyle/>
          <a:p>
            <a:r>
              <a:rPr lang="en-ZW" dirty="0" smtClean="0"/>
              <a:t>A Trust is a deed of donation or disposition of income from a fund.</a:t>
            </a:r>
          </a:p>
          <a:p>
            <a:r>
              <a:rPr lang="en-ZW" dirty="0" smtClean="0"/>
              <a:t>Can be created in terms of the Will of a deceased taxpayer and is referred to as a Will Trust.</a:t>
            </a:r>
          </a:p>
          <a:p>
            <a:r>
              <a:rPr lang="en-ZW" dirty="0" smtClean="0"/>
              <a:t>Can also be created during the life time of an individual- this is referred to as an “inter </a:t>
            </a:r>
            <a:r>
              <a:rPr lang="en-ZW" dirty="0" err="1" smtClean="0"/>
              <a:t>vivos</a:t>
            </a:r>
            <a:r>
              <a:rPr lang="en-ZW" dirty="0" smtClean="0"/>
              <a:t>” Trust.</a:t>
            </a:r>
          </a:p>
          <a:p>
            <a:r>
              <a:rPr lang="en-ZW" dirty="0" smtClean="0"/>
              <a:t>Sections 10(5) and 10(6) of the ITA  specifically deal with the inter </a:t>
            </a:r>
            <a:r>
              <a:rPr lang="en-ZW" dirty="0" err="1" smtClean="0"/>
              <a:t>vivos</a:t>
            </a:r>
            <a:r>
              <a:rPr lang="en-ZW" dirty="0" smtClean="0"/>
              <a:t> trust income</a:t>
            </a:r>
            <a:endParaRPr lang="en-ZW" dirty="0"/>
          </a:p>
        </p:txBody>
      </p:sp>
    </p:spTree>
    <p:extLst>
      <p:ext uri="{BB962C8B-B14F-4D97-AF65-F5344CB8AC3E}">
        <p14:creationId xmlns:p14="http://schemas.microsoft.com/office/powerpoint/2010/main" val="34786378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normAutofit fontScale="85000" lnSpcReduction="10000"/>
          </a:bodyPr>
          <a:lstStyle/>
          <a:p>
            <a:r>
              <a:rPr lang="en-ZW" dirty="0" smtClean="0"/>
              <a:t>Section 10(5) deals with a donation to a trust by a person for the sole reason of divesting self of a right to income from the donated assets but at the same time withholding such income from beneficiaries until the happening of an event:-</a:t>
            </a:r>
          </a:p>
          <a:p>
            <a:r>
              <a:rPr lang="en-ZW" dirty="0" smtClean="0"/>
              <a:t>Such income withheld is deemed to be income of the donor.</a:t>
            </a:r>
          </a:p>
          <a:p>
            <a:r>
              <a:rPr lang="en-ZW" dirty="0" smtClean="0"/>
              <a:t>Such trusts are formed for tax avoidance purposes.</a:t>
            </a:r>
          </a:p>
          <a:p>
            <a:r>
              <a:rPr lang="en-ZW" dirty="0" smtClean="0"/>
              <a:t>The word “event” gives the trustee wide discretionary powers whether to pay or not pay income to the beneficiaries </a:t>
            </a:r>
            <a:endParaRPr lang="en-ZW" dirty="0"/>
          </a:p>
        </p:txBody>
      </p:sp>
    </p:spTree>
    <p:extLst>
      <p:ext uri="{BB962C8B-B14F-4D97-AF65-F5344CB8AC3E}">
        <p14:creationId xmlns:p14="http://schemas.microsoft.com/office/powerpoint/2010/main" val="1184010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lstStyle/>
          <a:p>
            <a:r>
              <a:rPr lang="en-ZW" dirty="0" smtClean="0"/>
              <a:t>Section 10(6) of the ITA confers upon the donor the right to revoke or confer upon another beneficiary any income the subject of a Trust- in such instances the income is deemed to be income of the donor and taxed in his hands.</a:t>
            </a:r>
            <a:endParaRPr lang="en-ZW" dirty="0"/>
          </a:p>
        </p:txBody>
      </p:sp>
    </p:spTree>
    <p:extLst>
      <p:ext uri="{BB962C8B-B14F-4D97-AF65-F5344CB8AC3E}">
        <p14:creationId xmlns:p14="http://schemas.microsoft.com/office/powerpoint/2010/main" val="9898506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normAutofit lnSpcReduction="10000"/>
          </a:bodyPr>
          <a:lstStyle/>
          <a:p>
            <a:r>
              <a:rPr lang="en-ZW" dirty="0" smtClean="0"/>
              <a:t>The determination of on whose hands the income is taxed depends on the terms of the Will or deed under which the trust is formed.</a:t>
            </a:r>
          </a:p>
          <a:p>
            <a:r>
              <a:rPr lang="en-ZW" dirty="0" smtClean="0"/>
              <a:t>Income will either be taxed in the hands of the beneficiaries or the trust itself.</a:t>
            </a:r>
          </a:p>
          <a:p>
            <a:r>
              <a:rPr lang="en-ZW" dirty="0" smtClean="0"/>
              <a:t>Where a beneficiary has a vested right to income then he will be taxed on the trust income, any other income is taxed in the hands of the trust. </a:t>
            </a:r>
            <a:endParaRPr lang="en-ZW" dirty="0"/>
          </a:p>
        </p:txBody>
      </p:sp>
    </p:spTree>
    <p:extLst>
      <p:ext uri="{BB962C8B-B14F-4D97-AF65-F5344CB8AC3E}">
        <p14:creationId xmlns:p14="http://schemas.microsoft.com/office/powerpoint/2010/main" val="25469212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Three other possibilities are:</a:t>
            </a:r>
            <a:endParaRPr lang="en-ZW" dirty="0"/>
          </a:p>
        </p:txBody>
      </p:sp>
      <p:sp>
        <p:nvSpPr>
          <p:cNvPr id="3" name="Content Placeholder 2"/>
          <p:cNvSpPr>
            <a:spLocks noGrp="1"/>
          </p:cNvSpPr>
          <p:nvPr>
            <p:ph idx="1"/>
          </p:nvPr>
        </p:nvSpPr>
        <p:spPr/>
        <p:txBody>
          <a:bodyPr>
            <a:normAutofit fontScale="70000" lnSpcReduction="20000"/>
          </a:bodyPr>
          <a:lstStyle/>
          <a:p>
            <a:r>
              <a:rPr lang="en-ZW" dirty="0" smtClean="0"/>
              <a:t>A clear vested right- the trustee has no discretion in the disbursement of the income, such income accrues to the beneficiary and subject to its nature, is taxable on him.</a:t>
            </a:r>
          </a:p>
          <a:p>
            <a:r>
              <a:rPr lang="en-ZW" dirty="0" smtClean="0"/>
              <a:t>A vested right but trustee has a discretion over the distribution, any undistributed amounts being accumulated for the future enjoyment of income such income is taxed in the hands of the beneficiary; case law CIR </a:t>
            </a:r>
            <a:r>
              <a:rPr lang="en-ZW" dirty="0" err="1" smtClean="0"/>
              <a:t>vs</a:t>
            </a:r>
            <a:r>
              <a:rPr lang="en-ZW" dirty="0" smtClean="0"/>
              <a:t> </a:t>
            </a:r>
            <a:r>
              <a:rPr lang="en-ZW" dirty="0" err="1" smtClean="0"/>
              <a:t>Polonsky</a:t>
            </a:r>
            <a:r>
              <a:rPr lang="en-ZW" dirty="0" smtClean="0"/>
              <a:t> (1942).</a:t>
            </a:r>
          </a:p>
          <a:p>
            <a:r>
              <a:rPr lang="en-ZW" dirty="0" smtClean="0"/>
              <a:t>Where there is a delay in vesting a right and the trustee has complete  discretion on the distribution of income, any undistributed income is taxed in the hands of the Trust.</a:t>
            </a:r>
          </a:p>
          <a:p>
            <a:r>
              <a:rPr lang="en-ZW" dirty="0" smtClean="0"/>
              <a:t>The beneficiary is taxed only on income distributed :- case law Estate Munro </a:t>
            </a:r>
            <a:r>
              <a:rPr lang="en-ZW" dirty="0" err="1" smtClean="0"/>
              <a:t>vs</a:t>
            </a:r>
            <a:r>
              <a:rPr lang="en-ZW" dirty="0" smtClean="0"/>
              <a:t> CIR (1925).</a:t>
            </a:r>
          </a:p>
          <a:p>
            <a:r>
              <a:rPr lang="en-ZW" dirty="0" smtClean="0"/>
              <a:t>Note: income retains its identity (e.g. dividends) in the hands of the beneficiary; this is known as the “ conduit pipe” principle.</a:t>
            </a:r>
          </a:p>
          <a:p>
            <a:pPr marL="0" indent="0">
              <a:buNone/>
            </a:pPr>
            <a:endParaRPr lang="en-ZW" dirty="0"/>
          </a:p>
        </p:txBody>
      </p:sp>
    </p:spTree>
    <p:extLst>
      <p:ext uri="{BB962C8B-B14F-4D97-AF65-F5344CB8AC3E}">
        <p14:creationId xmlns:p14="http://schemas.microsoft.com/office/powerpoint/2010/main" val="16419148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lstStyle/>
          <a:p>
            <a:endParaRPr lang="en-ZW"/>
          </a:p>
        </p:txBody>
      </p:sp>
    </p:spTree>
    <p:extLst>
      <p:ext uri="{BB962C8B-B14F-4D97-AF65-F5344CB8AC3E}">
        <p14:creationId xmlns:p14="http://schemas.microsoft.com/office/powerpoint/2010/main" val="3908120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lstStyle/>
          <a:p>
            <a:endParaRPr lang="en-ZW" dirty="0"/>
          </a:p>
        </p:txBody>
      </p:sp>
    </p:spTree>
    <p:extLst>
      <p:ext uri="{BB962C8B-B14F-4D97-AF65-F5344CB8AC3E}">
        <p14:creationId xmlns:p14="http://schemas.microsoft.com/office/powerpoint/2010/main" val="99554989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140</TotalTime>
  <Words>948</Words>
  <Application>Microsoft Office PowerPoint</Application>
  <PresentationFormat>On-screen Show (4:3)</PresentationFormat>
  <Paragraphs>46</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Angles</vt:lpstr>
      <vt:lpstr>Deceased Estates and Trusts</vt:lpstr>
      <vt:lpstr>PowerPoint Presentation</vt:lpstr>
      <vt:lpstr>PowerPoint Presentation</vt:lpstr>
      <vt:lpstr>PowerPoint Presentation</vt:lpstr>
      <vt:lpstr>Deceased Estates:  General-Section 11</vt:lpstr>
      <vt:lpstr>PowerPoint Presentation</vt:lpstr>
      <vt:lpstr>PowerPoint Presentation</vt:lpstr>
      <vt:lpstr>PowerPoint Presentation</vt:lpstr>
      <vt:lpstr>Taxation of Trusts</vt:lpstr>
      <vt:lpstr>PowerPoint Presentation</vt:lpstr>
      <vt:lpstr>PowerPoint Presentation</vt:lpstr>
      <vt:lpstr>PowerPoint Presentation</vt:lpstr>
      <vt:lpstr>Three other possibilities are:</vt:lpstr>
      <vt:lpstr>PowerPoint Presentation</vt:lpstr>
      <vt:lpstr>PowerPoint Presentation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Deceased Estates and Tusts</dc:title>
  <dc:creator>M.H Ndlovu</dc:creator>
  <cp:lastModifiedBy>M.H Ndlovu</cp:lastModifiedBy>
  <cp:revision>21</cp:revision>
  <dcterms:created xsi:type="dcterms:W3CDTF">2023-02-27T00:36:00Z</dcterms:created>
  <dcterms:modified xsi:type="dcterms:W3CDTF">2023-02-27T11:21:41Z</dcterms:modified>
</cp:coreProperties>
</file>