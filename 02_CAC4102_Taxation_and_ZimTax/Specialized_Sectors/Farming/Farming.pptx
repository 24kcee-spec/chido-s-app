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F52233D-3F0B-481D-BFE3-4F76C00C43A9}" type="datetimeFigureOut">
              <a:rPr lang="en-US" smtClean="0"/>
              <a:pPr/>
              <a:t>2/10/2014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4C78A0-305A-48B4-B255-A5EC4B1EF61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p:spPr>
      </p:sp>
      <p:sp>
        <p:nvSpPr>
          <p:cNvPr id="8089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809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CF1F1A9-E745-420E-AE8B-93016EC3DFBA}" type="slidenum">
              <a:rPr lang="en-ZW" smtClean="0">
                <a:latin typeface="Arial" pitchFamily="34" charset="0"/>
                <a:cs typeface="Arial" pitchFamily="34" charset="0"/>
              </a:rPr>
              <a:pPr/>
              <a:t>4</a:t>
            </a:fld>
            <a:endParaRPr lang="en-ZW" smtClean="0">
              <a:latin typeface="Arial" pitchFamily="34" charset="0"/>
              <a:cs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819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9D0CC4A-746E-46EB-911A-9FFA7D8376BA}" type="slidenum">
              <a:rPr lang="en-ZW" smtClean="0">
                <a:latin typeface="Arial" pitchFamily="34" charset="0"/>
                <a:cs typeface="Arial" pitchFamily="34" charset="0"/>
              </a:rPr>
              <a:pPr/>
              <a:t>7</a:t>
            </a:fld>
            <a:endParaRPr lang="en-ZW" smtClean="0">
              <a:latin typeface="Arial" pitchFamily="34" charset="0"/>
              <a:cs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281E055-19E2-400B-96B5-8AC86C7FEFF0}" type="slidenum">
              <a:rPr lang="en-GB" smtClean="0">
                <a:latin typeface="Arial" pitchFamily="34" charset="0"/>
                <a:cs typeface="Arial" pitchFamily="34" charset="0"/>
              </a:rPr>
              <a:pPr/>
              <a:t>8</a:t>
            </a:fld>
            <a:endParaRPr lang="en-GB" smtClean="0">
              <a:latin typeface="Arial" pitchFamily="34" charset="0"/>
              <a:cs typeface="Arial" pitchFamily="34" charset="0"/>
            </a:endParaRPr>
          </a:p>
        </p:txBody>
      </p:sp>
      <p:sp>
        <p:nvSpPr>
          <p:cNvPr id="829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294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GB" b="1" smtClean="0"/>
              <a:t>Section divider (Slide layout option: Divider-fuschia)</a:t>
            </a:r>
            <a:endParaRPr lang="en-GB" smtClean="0"/>
          </a:p>
          <a:p>
            <a:pPr eaLnBrk="1" hangingPunct="1">
              <a:spcBef>
                <a:spcPct val="0"/>
              </a:spcBef>
            </a:pPr>
            <a:r>
              <a:rPr lang="en-GB" smtClean="0"/>
              <a:t>The section divider slide is an effective way of breaking up your presentation into chapters. Five section dividers have been included in this template, all following the same style but each one having a distinct BDO colour. </a:t>
            </a:r>
          </a:p>
          <a:p>
            <a:pPr eaLnBrk="1" hangingPunct="1">
              <a:spcBef>
                <a:spcPct val="0"/>
              </a:spcBef>
            </a:pPr>
            <a:r>
              <a:rPr lang="en-GB" smtClean="0"/>
              <a:t>Section divider slides are for this use ONLY and should never be adapted to create additional slide types or styles.</a:t>
            </a:r>
          </a:p>
          <a:p>
            <a:pPr eaLnBrk="1" hangingPunct="1">
              <a:spcBef>
                <a:spcPct val="0"/>
              </a:spcBef>
            </a:pPr>
            <a:r>
              <a:rPr lang="en-GB" smtClean="0"/>
              <a:t>Divider headings – Trebuchet MS bold, 32 pt, upper case, white</a:t>
            </a:r>
          </a:p>
          <a:p>
            <a:pPr eaLnBrk="1" hangingPunct="1">
              <a:spcBef>
                <a:spcPct val="0"/>
              </a:spcBef>
            </a:pPr>
            <a:r>
              <a:rPr lang="en-GB" smtClean="0"/>
              <a:t>Sub-headings – Trebuchet MS bold, 18 pt, upper case, white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CE65AC63-9785-4BB1-BFE9-F39CEDC4A8D1}" type="slidenum">
              <a:rPr lang="en-GB" smtClean="0">
                <a:latin typeface="Arial" pitchFamily="34" charset="0"/>
                <a:cs typeface="Arial" pitchFamily="34" charset="0"/>
              </a:rPr>
              <a:pPr/>
              <a:t>12</a:t>
            </a:fld>
            <a:endParaRPr lang="en-GB" smtClean="0">
              <a:latin typeface="Arial" pitchFamily="34" charset="0"/>
              <a:cs typeface="Arial" pitchFamily="34" charset="0"/>
            </a:endParaRPr>
          </a:p>
        </p:txBody>
      </p:sp>
      <p:sp>
        <p:nvSpPr>
          <p:cNvPr id="839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397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GB" b="1" smtClean="0"/>
              <a:t>Section divider (Slide layout option: Divider-fuschia)</a:t>
            </a:r>
            <a:endParaRPr lang="en-GB" smtClean="0"/>
          </a:p>
          <a:p>
            <a:pPr eaLnBrk="1" hangingPunct="1">
              <a:spcBef>
                <a:spcPct val="0"/>
              </a:spcBef>
            </a:pPr>
            <a:r>
              <a:rPr lang="en-GB" smtClean="0"/>
              <a:t>The section divider slide is an effective way of breaking up your presentation into chapters. Five section dividers have been included in this template, all following the same style but each one having a distinct BDO colour. </a:t>
            </a:r>
          </a:p>
          <a:p>
            <a:pPr eaLnBrk="1" hangingPunct="1">
              <a:spcBef>
                <a:spcPct val="0"/>
              </a:spcBef>
            </a:pPr>
            <a:r>
              <a:rPr lang="en-GB" smtClean="0"/>
              <a:t>Section divider slides are for this use ONLY and should never be adapted to create additional slide types or styles.</a:t>
            </a:r>
          </a:p>
          <a:p>
            <a:pPr eaLnBrk="1" hangingPunct="1">
              <a:spcBef>
                <a:spcPct val="0"/>
              </a:spcBef>
            </a:pPr>
            <a:r>
              <a:rPr lang="en-GB" smtClean="0"/>
              <a:t>Divider headings – Trebuchet MS bold, 32 pt, upper case, white</a:t>
            </a:r>
          </a:p>
          <a:p>
            <a:pPr eaLnBrk="1" hangingPunct="1">
              <a:spcBef>
                <a:spcPct val="0"/>
              </a:spcBef>
            </a:pPr>
            <a:r>
              <a:rPr lang="en-GB" smtClean="0"/>
              <a:t>Sub-headings – Trebuchet MS bold, 18 pt, upper case, white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p:spPr>
      </p:sp>
      <p:sp>
        <p:nvSpPr>
          <p:cNvPr id="8499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849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112A3C6-02B8-410B-AE9A-F7F69B2E7A2E}" type="slidenum">
              <a:rPr lang="en-ZW" smtClean="0">
                <a:latin typeface="Arial" pitchFamily="34" charset="0"/>
                <a:cs typeface="Arial" pitchFamily="34" charset="0"/>
              </a:rPr>
              <a:pPr/>
              <a:t>33</a:t>
            </a:fld>
            <a:endParaRPr lang="en-ZW" smtClean="0">
              <a:latin typeface="Arial" pitchFamily="34" charset="0"/>
              <a:cs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p:spPr>
      </p:sp>
      <p:sp>
        <p:nvSpPr>
          <p:cNvPr id="860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860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2C1643C-A501-4857-BDBB-4D376DAF23B7}" type="slidenum">
              <a:rPr lang="en-ZW" smtClean="0">
                <a:latin typeface="Arial" pitchFamily="34" charset="0"/>
                <a:cs typeface="Arial" pitchFamily="34" charset="0"/>
              </a:rPr>
              <a:pPr/>
              <a:t>40</a:t>
            </a:fld>
            <a:endParaRPr lang="en-ZW" smtClean="0">
              <a:latin typeface="Arial" pitchFamily="34" charset="0"/>
              <a:cs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r>
              <a:rPr lang="en-ZW" smtClean="0"/>
              <a:t>Question 3</a:t>
            </a:r>
          </a:p>
          <a:p>
            <a:r>
              <a:rPr lang="en-ZW" smtClean="0"/>
              <a:t>Farming</a:t>
            </a:r>
          </a:p>
          <a:p>
            <a:endParaRPr lang="en-ZW" smtClean="0"/>
          </a:p>
          <a:p>
            <a:r>
              <a:rPr lang="en-ZW" smtClean="0"/>
              <a:t> Beef ranchers(PVT) Ltd was incorporated in January 2011. In February 2011, the company acquired a farm in Matabeleland North Province under the Government sponsored A2 land resettlement scheme and immediately commenced livestock farming operations.</a:t>
            </a:r>
          </a:p>
          <a:p>
            <a:endParaRPr lang="en-ZW" smtClean="0"/>
          </a:p>
          <a:p>
            <a:r>
              <a:rPr lang="en-ZW" smtClean="0"/>
              <a:t>The company paid an amount of $103,000 allocated to the farm improvements on the farm as follows:</a:t>
            </a:r>
          </a:p>
          <a:p>
            <a:endParaRPr lang="en-ZW" smtClean="0"/>
          </a:p>
          <a:p>
            <a:r>
              <a:rPr lang="en-ZW" smtClean="0"/>
              <a:t>Ranching land				nil</a:t>
            </a:r>
          </a:p>
          <a:p>
            <a:r>
              <a:rPr lang="en-ZW" smtClean="0"/>
              <a:t>Farm manager’s house				20 000</a:t>
            </a:r>
          </a:p>
          <a:p>
            <a:r>
              <a:rPr lang="en-ZW" smtClean="0"/>
              <a:t>Staff housing(10 units)				26 000</a:t>
            </a:r>
          </a:p>
          <a:p>
            <a:r>
              <a:rPr lang="en-ZW" smtClean="0"/>
              <a:t>Dam 					12 000</a:t>
            </a:r>
          </a:p>
          <a:p>
            <a:r>
              <a:rPr lang="en-ZW" smtClean="0"/>
              <a:t>Cattle transportation lorries			</a:t>
            </a:r>
            <a:r>
              <a:rPr lang="en-ZW" u="sng" smtClean="0"/>
              <a:t>45 000</a:t>
            </a:r>
          </a:p>
          <a:p>
            <a:r>
              <a:rPr lang="en-ZW" smtClean="0"/>
              <a:t>					</a:t>
            </a:r>
            <a:r>
              <a:rPr lang="en-ZW" b="1" u="sng" smtClean="0"/>
              <a:t>103 000</a:t>
            </a:r>
            <a:endParaRPr lang="en-ZW" u="sng" smtClean="0"/>
          </a:p>
        </p:txBody>
      </p:sp>
      <p:sp>
        <p:nvSpPr>
          <p:cNvPr id="870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80A0657-DD86-47EF-998A-466AB857367E}" type="slidenum">
              <a:rPr lang="en-US" smtClean="0">
                <a:latin typeface="Arial" pitchFamily="34" charset="0"/>
                <a:cs typeface="Arial" pitchFamily="34" charset="0"/>
              </a:rPr>
              <a:pPr/>
              <a:t>43</a:t>
            </a:fld>
            <a:endParaRPr lang="en-US" smtClean="0">
              <a:latin typeface="Arial" pitchFamily="34" charset="0"/>
              <a:cs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p:spPr>
      </p:sp>
      <p:sp>
        <p:nvSpPr>
          <p:cNvPr id="88067" name="Notes Placeholder 2"/>
          <p:cNvSpPr>
            <a:spLocks noGrp="1"/>
          </p:cNvSpPr>
          <p:nvPr>
            <p:ph type="body" idx="1"/>
          </p:nvPr>
        </p:nvSpPr>
        <p:spPr bwMode="auto">
          <a:noFill/>
        </p:spPr>
        <p:txBody>
          <a:bodyPr wrap="square" numCol="1" anchor="t" anchorCtr="0" compatLnSpc="1">
            <a:prstTxWarp prst="textNoShape">
              <a:avLst/>
            </a:prstTxWarp>
          </a:bodyPr>
          <a:lstStyle/>
          <a:p>
            <a:r>
              <a:rPr lang="en-ZW" smtClean="0"/>
              <a:t>Cost      26,000 5% Wear &amp; Tear      (1,300)        1,300 I.T.V. @ 31.01.2010      24,700 </a:t>
            </a:r>
            <a:r>
              <a:rPr lang="en-ZW" b="1" smtClean="0"/>
              <a:t>Cattle transportation lorry </a:t>
            </a:r>
            <a:r>
              <a:rPr lang="en-ZW" smtClean="0"/>
              <a:t> Cost      45,000 25% S.I.A.    (11,250)      11,250 I.T.V. @ 31.01.2010      33,750 </a:t>
            </a:r>
            <a:r>
              <a:rPr lang="en-ZW" b="1" smtClean="0"/>
              <a:t>Dam</a:t>
            </a:r>
            <a:r>
              <a:rPr lang="en-ZW" smtClean="0"/>
              <a:t> Purchased asset does not rank for 7th Schedule allowance              - </a:t>
            </a:r>
          </a:p>
        </p:txBody>
      </p:sp>
      <p:sp>
        <p:nvSpPr>
          <p:cNvPr id="880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DA38C8C-F395-4A7F-ADA8-FA8386130C8D}" type="slidenum">
              <a:rPr lang="en-US" smtClean="0">
                <a:latin typeface="Arial" pitchFamily="34" charset="0"/>
                <a:cs typeface="Arial" pitchFamily="34" charset="0"/>
              </a:rPr>
              <a:pPr/>
              <a:t>53</a:t>
            </a:fld>
            <a:endParaRPr lang="en-US" smtClean="0">
              <a:latin typeface="Arial" pitchFamily="34" charset="0"/>
              <a:cs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927DD2-8322-47F6-8E98-5B0F8EC50EAB}" type="datetimeFigureOut">
              <a:rPr lang="en-US" smtClean="0"/>
              <a:pPr/>
              <a:t>2/10/2014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134ABE-5D97-4211-889A-1994588E31F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927DD2-8322-47F6-8E98-5B0F8EC50EAB}" type="datetimeFigureOut">
              <a:rPr lang="en-US" smtClean="0"/>
              <a:pPr/>
              <a:t>2/10/2014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134ABE-5D97-4211-889A-1994588E31F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927DD2-8322-47F6-8E98-5B0F8EC50EAB}" type="datetimeFigureOut">
              <a:rPr lang="en-US" smtClean="0"/>
              <a:pPr/>
              <a:t>2/10/2014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134ABE-5D97-4211-889A-1994588E31F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927DD2-8322-47F6-8E98-5B0F8EC50EAB}" type="datetimeFigureOut">
              <a:rPr lang="en-US" smtClean="0"/>
              <a:pPr/>
              <a:t>2/10/2014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134ABE-5D97-4211-889A-1994588E31F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927DD2-8322-47F6-8E98-5B0F8EC50EAB}" type="datetimeFigureOut">
              <a:rPr lang="en-US" smtClean="0"/>
              <a:pPr/>
              <a:t>2/10/2014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4134ABE-5D97-4211-889A-1994588E31F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927DD2-8322-47F6-8E98-5B0F8EC50EAB}" type="datetimeFigureOut">
              <a:rPr lang="en-US" smtClean="0"/>
              <a:pPr/>
              <a:t>2/10/2014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4134ABE-5D97-4211-889A-1994588E31F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927DD2-8322-47F6-8E98-5B0F8EC50EAB}" type="datetimeFigureOut">
              <a:rPr lang="en-US" smtClean="0"/>
              <a:pPr/>
              <a:t>2/10/2014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4134ABE-5D97-4211-889A-1994588E31F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927DD2-8322-47F6-8E98-5B0F8EC50EAB}" type="datetimeFigureOut">
              <a:rPr lang="en-US" smtClean="0"/>
              <a:pPr/>
              <a:t>2/10/2014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134ABE-5D97-4211-889A-1994588E31F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927DD2-8322-47F6-8E98-5B0F8EC50EAB}" type="datetimeFigureOut">
              <a:rPr lang="en-US" smtClean="0"/>
              <a:pPr/>
              <a:t>2/10/2014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134ABE-5D97-4211-889A-1994588E31F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927DD2-8322-47F6-8E98-5B0F8EC50EAB}" type="datetimeFigureOut">
              <a:rPr lang="en-US" smtClean="0"/>
              <a:pPr/>
              <a:t>2/10/2014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134ABE-5D97-4211-889A-1994588E31F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927DD2-8322-47F6-8E98-5B0F8EC50EAB}" type="datetimeFigureOut">
              <a:rPr lang="en-US" smtClean="0"/>
              <a:pPr/>
              <a:t>2/10/2014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134ABE-5D97-4211-889A-1994588E31F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927DD2-8322-47F6-8E98-5B0F8EC50EAB}" type="datetimeFigureOut">
              <a:rPr lang="en-US" smtClean="0"/>
              <a:pPr/>
              <a:t>2/10/2014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134ABE-5D97-4211-889A-1994588E31F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364162"/>
          </a:xfrm>
          <a:solidFill>
            <a:schemeClr val="accent6">
              <a:lumMod val="75000"/>
            </a:schemeClr>
          </a:solidFill>
        </p:spPr>
        <p:txBody>
          <a:bodyPr/>
          <a:lstStyle/>
          <a:p>
            <a:pPr>
              <a:defRPr/>
            </a:pPr>
            <a:r>
              <a:rPr lang="en-US" dirty="0" smtClean="0">
                <a:solidFill>
                  <a:schemeClr val="bg1"/>
                </a:solidFill>
              </a:rPr>
              <a:t>FARMING</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endParaRPr lang="en-US" smtClean="0"/>
          </a:p>
        </p:txBody>
      </p:sp>
      <p:sp>
        <p:nvSpPr>
          <p:cNvPr id="25603" name="Content Placeholder 2"/>
          <p:cNvSpPr>
            <a:spLocks noGrp="1"/>
          </p:cNvSpPr>
          <p:nvPr>
            <p:ph idx="1"/>
          </p:nvPr>
        </p:nvSpPr>
        <p:spPr/>
        <p:txBody>
          <a:bodyPr/>
          <a:lstStyle/>
          <a:p>
            <a:r>
              <a:rPr lang="en-US" sz="3600" b="1" smtClean="0">
                <a:solidFill>
                  <a:srgbClr val="C00000"/>
                </a:solidFill>
              </a:rPr>
              <a:t>FARMER</a:t>
            </a:r>
          </a:p>
          <a:p>
            <a:endParaRPr lang="en-US" sz="2800" smtClean="0"/>
          </a:p>
          <a:p>
            <a:pPr>
              <a:buFont typeface="Wingdings" pitchFamily="2" charset="2"/>
              <a:buChar char="§"/>
            </a:pPr>
            <a:r>
              <a:rPr lang="en-US" sz="2400" smtClean="0"/>
              <a:t>Any person who derives income from pastoral, agricultural or other farming activities including income from the letting of a farm used for such purposes </a:t>
            </a:r>
          </a:p>
          <a:p>
            <a:pPr>
              <a:buFont typeface="Wingdings" pitchFamily="2" charset="2"/>
              <a:buChar char="§"/>
            </a:pPr>
            <a:endParaRPr lang="en-US" sz="2400" smtClean="0"/>
          </a:p>
          <a:p>
            <a:pPr>
              <a:buFont typeface="Wingdings" pitchFamily="2" charset="2"/>
              <a:buChar char="§"/>
            </a:pPr>
            <a:r>
              <a:rPr lang="en-US" sz="2400" smtClean="0"/>
              <a:t>S 8 (i) h brings the value of closing stock into gross income.</a:t>
            </a:r>
          </a:p>
          <a:p>
            <a:pPr>
              <a:buFont typeface="Wingdings" pitchFamily="2" charset="2"/>
              <a:buChar char="§"/>
            </a:pPr>
            <a:endParaRPr lang="en-US" sz="2400" smtClean="0"/>
          </a:p>
          <a:p>
            <a:pPr>
              <a:buFont typeface="Wingdings" pitchFamily="2" charset="2"/>
              <a:buChar char="§"/>
            </a:pPr>
            <a:r>
              <a:rPr lang="en-US" sz="2400" smtClean="0"/>
              <a:t>Ordinary livestock valued using fixed standard values.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229600" cy="715962"/>
          </a:xfrm>
        </p:spPr>
        <p:txBody>
          <a:bodyPr rtlCol="0">
            <a:normAutofit fontScale="90000"/>
          </a:bodyPr>
          <a:lstStyle/>
          <a:p>
            <a:pPr algn="l" eaLnBrk="1" fontAlgn="auto" hangingPunct="1">
              <a:spcAft>
                <a:spcPts val="0"/>
              </a:spcAft>
              <a:defRPr/>
            </a:pPr>
            <a:r>
              <a:rPr lang="en-ZW" sz="3600" b="1" dirty="0" smtClean="0">
                <a:solidFill>
                  <a:srgbClr val="FF0000"/>
                </a:solidFill>
              </a:rPr>
              <a:t>STAFF HOUSING</a:t>
            </a:r>
            <a:br>
              <a:rPr lang="en-ZW" sz="3600" b="1" dirty="0" smtClean="0">
                <a:solidFill>
                  <a:srgbClr val="FF0000"/>
                </a:solidFill>
              </a:rPr>
            </a:br>
            <a:endParaRPr lang="en-ZW" sz="3600" dirty="0" smtClean="0">
              <a:solidFill>
                <a:srgbClr val="FF0000"/>
              </a:solidFill>
            </a:endParaRPr>
          </a:p>
        </p:txBody>
      </p:sp>
      <p:sp>
        <p:nvSpPr>
          <p:cNvPr id="26627" name="Rectangle 2"/>
          <p:cNvSpPr>
            <a:spLocks noChangeArrowheads="1"/>
          </p:cNvSpPr>
          <p:nvPr/>
        </p:nvSpPr>
        <p:spPr bwMode="auto">
          <a:xfrm>
            <a:off x="0" y="1066800"/>
            <a:ext cx="9144000" cy="6740525"/>
          </a:xfrm>
          <a:prstGeom prst="rect">
            <a:avLst/>
          </a:prstGeom>
          <a:noFill/>
          <a:ln w="9525">
            <a:noFill/>
            <a:miter lim="800000"/>
            <a:headEnd/>
            <a:tailEnd/>
          </a:ln>
        </p:spPr>
        <p:txBody>
          <a:bodyPr>
            <a:spAutoFit/>
          </a:bodyPr>
          <a:lstStyle/>
          <a:p>
            <a:pPr>
              <a:buFont typeface="Arial" pitchFamily="34" charset="0"/>
              <a:buChar char="•"/>
            </a:pPr>
            <a:r>
              <a:rPr lang="en-ZW" sz="2400">
                <a:latin typeface="Calibri" pitchFamily="34" charset="0"/>
              </a:rPr>
              <a:t> Blds used mainly for the purposes of a trade wholly or mainly for the    </a:t>
            </a:r>
          </a:p>
          <a:p>
            <a:r>
              <a:rPr lang="en-ZW" sz="2400">
                <a:latin typeface="Calibri" pitchFamily="34" charset="0"/>
              </a:rPr>
              <a:t>   housing of  his employees </a:t>
            </a:r>
          </a:p>
          <a:p>
            <a:pPr>
              <a:buFont typeface="Wingdings" pitchFamily="2" charset="2"/>
              <a:buChar char="Ø"/>
            </a:pPr>
            <a:endParaRPr lang="en-ZW" sz="2400">
              <a:latin typeface="Calibri" pitchFamily="34" charset="0"/>
            </a:endParaRPr>
          </a:p>
          <a:p>
            <a:pPr>
              <a:buFont typeface="Arial" pitchFamily="34" charset="0"/>
              <a:buChar char="•"/>
            </a:pPr>
            <a:r>
              <a:rPr lang="en-ZW" sz="2400">
                <a:latin typeface="Calibri" pitchFamily="34" charset="0"/>
              </a:rPr>
              <a:t>  It does not include any building comprising a residential unit which </a:t>
            </a:r>
          </a:p>
          <a:p>
            <a:r>
              <a:rPr lang="en-ZW" sz="2400">
                <a:latin typeface="Calibri" pitchFamily="34" charset="0"/>
              </a:rPr>
              <a:t>   exceeds Us$25,000;</a:t>
            </a:r>
          </a:p>
          <a:p>
            <a:endParaRPr lang="en-ZW" sz="2400">
              <a:latin typeface="Calibri" pitchFamily="34" charset="0"/>
            </a:endParaRPr>
          </a:p>
          <a:p>
            <a:pPr>
              <a:buFont typeface="Arial" pitchFamily="34" charset="0"/>
              <a:buChar char="•"/>
            </a:pPr>
            <a:r>
              <a:rPr lang="en-ZW" sz="2400">
                <a:latin typeface="Calibri" pitchFamily="34" charset="0"/>
              </a:rPr>
              <a:t>Includes building used as a dwelling for employees employed at farm </a:t>
            </a:r>
          </a:p>
          <a:p>
            <a:r>
              <a:rPr lang="en-ZW" sz="2400">
                <a:latin typeface="Calibri" pitchFamily="34" charset="0"/>
              </a:rPr>
              <a:t>  school, nursing home, clinic and hospital.</a:t>
            </a:r>
          </a:p>
          <a:p>
            <a:pPr>
              <a:buFont typeface="Wingdings" pitchFamily="2" charset="2"/>
              <a:buChar char="Ø"/>
            </a:pPr>
            <a:endParaRPr lang="en-ZW" sz="2400">
              <a:latin typeface="Calibri" pitchFamily="34" charset="0"/>
            </a:endParaRPr>
          </a:p>
          <a:p>
            <a:pPr>
              <a:buFont typeface="Arial" pitchFamily="34" charset="0"/>
              <a:buChar char="•"/>
            </a:pPr>
            <a:r>
              <a:rPr lang="en-ZW" sz="2400">
                <a:latin typeface="Calibri" pitchFamily="34" charset="0"/>
              </a:rPr>
              <a:t>  Staff housing does not include a beerhall forming part of a farm </a:t>
            </a:r>
          </a:p>
          <a:p>
            <a:r>
              <a:rPr lang="en-ZW" sz="2400">
                <a:latin typeface="Calibri" pitchFamily="34" charset="0"/>
              </a:rPr>
              <a:t>    compound.(ITC 1511 (1992) 54 SATC 39</a:t>
            </a:r>
          </a:p>
          <a:p>
            <a:endParaRPr lang="en-ZW" sz="2400">
              <a:latin typeface="Calibri" pitchFamily="34" charset="0"/>
            </a:endParaRPr>
          </a:p>
          <a:p>
            <a:pPr>
              <a:buFont typeface="Arial" pitchFamily="34" charset="0"/>
              <a:buChar char="•"/>
            </a:pPr>
            <a:r>
              <a:rPr lang="en-ZW" sz="2400">
                <a:latin typeface="Calibri" pitchFamily="34" charset="0"/>
              </a:rPr>
              <a:t>  S.I.A. on staff housing restricted to US $10,000.</a:t>
            </a:r>
          </a:p>
          <a:p>
            <a:endParaRPr lang="en-ZW" sz="2400">
              <a:latin typeface="Calibri" pitchFamily="34" charset="0"/>
            </a:endParaRPr>
          </a:p>
          <a:p>
            <a:endParaRPr lang="en-ZW" sz="2400">
              <a:latin typeface="Calibri" pitchFamily="34" charset="0"/>
            </a:endParaRPr>
          </a:p>
          <a:p>
            <a:endParaRPr lang="en-ZW" sz="2400">
              <a:latin typeface="Calibri" pitchFamily="34" charset="0"/>
            </a:endParaRPr>
          </a:p>
          <a:p>
            <a:pPr>
              <a:buFont typeface="Wingdings" pitchFamily="2" charset="2"/>
              <a:buChar char="Ø"/>
            </a:pPr>
            <a:endParaRPr lang="en-ZW" sz="2400">
              <a:latin typeface="Calibri" pitchFamily="34" charset="0"/>
            </a:endParaRPr>
          </a:p>
          <a:p>
            <a:pPr>
              <a:buFont typeface="Wingdings" pitchFamily="2" charset="2"/>
              <a:buChar char="Ø"/>
            </a:pPr>
            <a:endParaRPr lang="en-ZW" sz="2400">
              <a:latin typeface="Calibri"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772400" cy="715962"/>
          </a:xfrm>
        </p:spPr>
        <p:txBody>
          <a:bodyPr rtlCol="0">
            <a:normAutofit fontScale="90000"/>
          </a:bodyPr>
          <a:lstStyle/>
          <a:p>
            <a:pPr eaLnBrk="1" fontAlgn="auto" hangingPunct="1">
              <a:spcAft>
                <a:spcPts val="0"/>
              </a:spcAft>
              <a:defRPr/>
            </a:pPr>
            <a:r>
              <a:rPr lang="en-ZW" sz="3600" b="1" dirty="0" smtClean="0">
                <a:solidFill>
                  <a:srgbClr val="FF0000"/>
                </a:solidFill>
              </a:rPr>
              <a:t>FARM IMPROVEMENTS</a:t>
            </a:r>
            <a:br>
              <a:rPr lang="en-ZW" sz="3600" b="1" dirty="0" smtClean="0">
                <a:solidFill>
                  <a:srgbClr val="FF0000"/>
                </a:solidFill>
              </a:rPr>
            </a:br>
            <a:endParaRPr lang="en-ZW" sz="3600" dirty="0" smtClean="0">
              <a:solidFill>
                <a:srgbClr val="FF0000"/>
              </a:solidFill>
            </a:endParaRPr>
          </a:p>
        </p:txBody>
      </p:sp>
      <p:sp>
        <p:nvSpPr>
          <p:cNvPr id="32771" name="Rectangle 2"/>
          <p:cNvSpPr>
            <a:spLocks noChangeArrowheads="1"/>
          </p:cNvSpPr>
          <p:nvPr/>
        </p:nvSpPr>
        <p:spPr bwMode="auto">
          <a:xfrm>
            <a:off x="0" y="914400"/>
            <a:ext cx="9144000" cy="7478713"/>
          </a:xfrm>
          <a:prstGeom prst="rect">
            <a:avLst/>
          </a:prstGeom>
          <a:noFill/>
          <a:ln w="9525">
            <a:noFill/>
            <a:miter lim="800000"/>
            <a:headEnd/>
            <a:tailEnd/>
          </a:ln>
        </p:spPr>
        <p:txBody>
          <a:bodyPr>
            <a:spAutoFit/>
          </a:bodyPr>
          <a:lstStyle/>
          <a:p>
            <a:pPr>
              <a:buFont typeface="Arial" pitchFamily="34" charset="0"/>
              <a:buChar char="•"/>
              <a:defRPr/>
            </a:pPr>
            <a:r>
              <a:rPr lang="en-ZW" sz="2400" dirty="0">
                <a:latin typeface="Calibri" pitchFamily="34" charset="0"/>
                <a:cs typeface="Arial" charset="0"/>
              </a:rPr>
              <a:t>  Building, structure or work of a permanent nature (including a water </a:t>
            </a:r>
          </a:p>
          <a:p>
            <a:pPr>
              <a:defRPr/>
            </a:pPr>
            <a:r>
              <a:rPr lang="en-ZW" sz="2400" dirty="0">
                <a:latin typeface="Calibri" pitchFamily="34" charset="0"/>
                <a:cs typeface="Arial" charset="0"/>
              </a:rPr>
              <a:t>    furrow) used in farming operations; includes sheds, canals, </a:t>
            </a:r>
          </a:p>
          <a:p>
            <a:pPr>
              <a:defRPr/>
            </a:pPr>
            <a:r>
              <a:rPr lang="en-ZW" sz="2400" dirty="0">
                <a:latin typeface="Calibri" pitchFamily="34" charset="0"/>
                <a:cs typeface="Arial" charset="0"/>
              </a:rPr>
              <a:t>    permanent roads , bridges, cattle dips (not </a:t>
            </a:r>
            <a:r>
              <a:rPr lang="en-ZW" sz="2400" dirty="0" err="1">
                <a:latin typeface="Calibri" pitchFamily="34" charset="0"/>
                <a:cs typeface="Arial" charset="0"/>
              </a:rPr>
              <a:t>beerhalls</a:t>
            </a:r>
            <a:r>
              <a:rPr lang="en-ZW" sz="2400" dirty="0">
                <a:latin typeface="Calibri" pitchFamily="34" charset="0"/>
                <a:cs typeface="Arial" charset="0"/>
              </a:rPr>
              <a:t>)</a:t>
            </a:r>
          </a:p>
          <a:p>
            <a:pPr>
              <a:buFont typeface="Wingdings" pitchFamily="2" charset="2"/>
              <a:buChar char="Ø"/>
              <a:defRPr/>
            </a:pPr>
            <a:endParaRPr lang="en-ZW" sz="2400" dirty="0">
              <a:latin typeface="Calibri" pitchFamily="34" charset="0"/>
              <a:cs typeface="Arial" charset="0"/>
            </a:endParaRPr>
          </a:p>
          <a:p>
            <a:pPr>
              <a:buFont typeface="Arial" pitchFamily="34" charset="0"/>
              <a:buChar char="•"/>
              <a:defRPr/>
            </a:pPr>
            <a:r>
              <a:rPr lang="en-ZW" sz="2400" dirty="0">
                <a:latin typeface="Calibri" pitchFamily="34" charset="0"/>
                <a:cs typeface="Arial" charset="0"/>
              </a:rPr>
              <a:t>  It includes any building used for the purposes of a school; hospital or </a:t>
            </a:r>
          </a:p>
          <a:p>
            <a:pPr>
              <a:defRPr/>
            </a:pPr>
            <a:r>
              <a:rPr lang="en-ZW" sz="2400" dirty="0">
                <a:latin typeface="Calibri" pitchFamily="34" charset="0"/>
                <a:cs typeface="Arial" charset="0"/>
              </a:rPr>
              <a:t>    clinic , in connection with the taxpayer’s farming operations;</a:t>
            </a:r>
          </a:p>
          <a:p>
            <a:pPr>
              <a:defRPr/>
            </a:pPr>
            <a:r>
              <a:rPr lang="en-ZW" sz="2400" dirty="0">
                <a:latin typeface="Calibri" pitchFamily="34" charset="0"/>
                <a:cs typeface="Arial" charset="0"/>
              </a:rPr>
              <a:t>    </a:t>
            </a:r>
          </a:p>
          <a:p>
            <a:pPr>
              <a:buFont typeface="Wingdings" pitchFamily="2" charset="2"/>
              <a:buChar char="Ø"/>
              <a:defRPr/>
            </a:pPr>
            <a:endParaRPr lang="en-ZW" sz="2400" dirty="0">
              <a:latin typeface="Calibri" pitchFamily="34" charset="0"/>
              <a:cs typeface="Arial" charset="0"/>
            </a:endParaRPr>
          </a:p>
          <a:p>
            <a:pPr>
              <a:buFont typeface="Arial" pitchFamily="34" charset="0"/>
              <a:buChar char="•"/>
              <a:defRPr/>
            </a:pPr>
            <a:r>
              <a:rPr lang="en-ZW" sz="2400" dirty="0">
                <a:latin typeface="Calibri" pitchFamily="34" charset="0"/>
                <a:cs typeface="Arial" charset="0"/>
              </a:rPr>
              <a:t>    It excludes any dwelling used by the taxpayer as a homestead for  </a:t>
            </a:r>
          </a:p>
          <a:p>
            <a:pPr>
              <a:defRPr/>
            </a:pPr>
            <a:r>
              <a:rPr lang="en-ZW" sz="2400" dirty="0">
                <a:latin typeface="Calibri" pitchFamily="34" charset="0"/>
                <a:cs typeface="Arial" charset="0"/>
              </a:rPr>
              <a:t>      himself and his family;</a:t>
            </a:r>
          </a:p>
          <a:p>
            <a:pPr>
              <a:buFont typeface="Wingdings" pitchFamily="2" charset="2"/>
              <a:buChar char="Ø"/>
              <a:defRPr/>
            </a:pPr>
            <a:endParaRPr lang="en-ZW" sz="2400" dirty="0">
              <a:latin typeface="Calibri" pitchFamily="34" charset="0"/>
              <a:cs typeface="Arial" charset="0"/>
            </a:endParaRPr>
          </a:p>
          <a:p>
            <a:pPr marL="168275">
              <a:buFont typeface="Arial" pitchFamily="34" charset="0"/>
              <a:buChar char="•"/>
              <a:defRPr/>
            </a:pPr>
            <a:r>
              <a:rPr lang="en-ZW" sz="2400" dirty="0">
                <a:latin typeface="Calibri" pitchFamily="34" charset="0"/>
                <a:cs typeface="Arial" charset="0"/>
              </a:rPr>
              <a:t>  Also excludes farm assets covered by other specific provisions </a:t>
            </a:r>
            <a:r>
              <a:rPr lang="en-ZW" sz="2400" dirty="0" err="1">
                <a:latin typeface="Calibri" pitchFamily="34" charset="0"/>
                <a:cs typeface="Arial" charset="0"/>
              </a:rPr>
              <a:t>eg</a:t>
            </a:r>
            <a:r>
              <a:rPr lang="en-ZW" sz="2400" dirty="0">
                <a:latin typeface="Calibri" pitchFamily="34" charset="0"/>
                <a:cs typeface="Arial" charset="0"/>
              </a:rPr>
              <a:t>   </a:t>
            </a:r>
          </a:p>
          <a:p>
            <a:pPr marL="168275">
              <a:defRPr/>
            </a:pPr>
            <a:r>
              <a:rPr lang="en-ZW" sz="2400" dirty="0">
                <a:latin typeface="Calibri" pitchFamily="34" charset="0"/>
                <a:cs typeface="Arial" charset="0"/>
              </a:rPr>
              <a:t>    staff   housing, tobacco barns, 2</a:t>
            </a:r>
            <a:r>
              <a:rPr lang="en-ZW" sz="2400" baseline="30000" dirty="0">
                <a:latin typeface="Calibri" pitchFamily="34" charset="0"/>
                <a:cs typeface="Arial" charset="0"/>
              </a:rPr>
              <a:t>nd</a:t>
            </a:r>
            <a:r>
              <a:rPr lang="en-ZW" sz="2400" dirty="0">
                <a:latin typeface="Calibri" pitchFamily="34" charset="0"/>
                <a:cs typeface="Arial" charset="0"/>
              </a:rPr>
              <a:t> Schedule assets. </a:t>
            </a:r>
          </a:p>
          <a:p>
            <a:pPr>
              <a:defRPr/>
            </a:pPr>
            <a:endParaRPr lang="en-ZW" sz="2400" dirty="0">
              <a:latin typeface="Calibri" pitchFamily="34" charset="0"/>
              <a:cs typeface="Arial" charset="0"/>
            </a:endParaRPr>
          </a:p>
          <a:p>
            <a:pPr>
              <a:buFont typeface="Wingdings" pitchFamily="2" charset="2"/>
              <a:buChar char="Ø"/>
              <a:defRPr/>
            </a:pPr>
            <a:endParaRPr lang="en-ZW" sz="2400" dirty="0">
              <a:latin typeface="Calibri" pitchFamily="34" charset="0"/>
              <a:cs typeface="Arial" charset="0"/>
            </a:endParaRPr>
          </a:p>
          <a:p>
            <a:pPr>
              <a:defRPr/>
            </a:pPr>
            <a:endParaRPr lang="en-ZW" sz="2400" dirty="0">
              <a:latin typeface="Calibri" pitchFamily="34" charset="0"/>
              <a:cs typeface="Arial" charset="0"/>
            </a:endParaRPr>
          </a:p>
          <a:p>
            <a:pPr>
              <a:defRPr/>
            </a:pPr>
            <a:endParaRPr lang="en-ZW" sz="2400" dirty="0">
              <a:latin typeface="Calibri" pitchFamily="34" charset="0"/>
              <a:cs typeface="Arial" charset="0"/>
            </a:endParaRPr>
          </a:p>
          <a:p>
            <a:pPr>
              <a:defRPr/>
            </a:pPr>
            <a:endParaRPr lang="en-ZW" sz="2400" dirty="0">
              <a:latin typeface="Calibri" pitchFamily="34" charset="0"/>
              <a:cs typeface="Arial" charset="0"/>
            </a:endParaRPr>
          </a:p>
          <a:p>
            <a:pPr>
              <a:buFont typeface="Wingdings" pitchFamily="2" charset="2"/>
              <a:buChar char="Ø"/>
              <a:defRPr/>
            </a:pPr>
            <a:endParaRPr lang="en-ZW" sz="2400" dirty="0">
              <a:latin typeface="Calibri" pitchFamily="34" charset="0"/>
              <a:cs typeface="Arial" charset="0"/>
            </a:endParaRPr>
          </a:p>
          <a:p>
            <a:pPr>
              <a:buFont typeface="Wingdings" pitchFamily="2" charset="2"/>
              <a:buChar char="Ø"/>
              <a:defRPr/>
            </a:pPr>
            <a:endParaRPr lang="en-ZW" sz="2400" dirty="0">
              <a:latin typeface="Calibri" pitchFamily="34" charset="0"/>
              <a:cs typeface="Arial"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ctrTitle"/>
          </p:nvPr>
        </p:nvSpPr>
        <p:spPr>
          <a:xfrm>
            <a:off x="457200" y="304800"/>
            <a:ext cx="8001000" cy="1295400"/>
          </a:xfrm>
        </p:spPr>
        <p:txBody>
          <a:bodyPr>
            <a:normAutofit fontScale="90000"/>
          </a:bodyPr>
          <a:lstStyle/>
          <a:p>
            <a:pPr algn="l" eaLnBrk="1" hangingPunct="1"/>
            <a:r>
              <a:rPr lang="en-ZW" sz="2800" b="1" smtClean="0">
                <a:solidFill>
                  <a:srgbClr val="C00000"/>
                </a:solidFill>
              </a:rPr>
              <a:t>7</a:t>
            </a:r>
            <a:r>
              <a:rPr lang="en-ZW" sz="2800" b="1" baseline="30000" smtClean="0">
                <a:solidFill>
                  <a:srgbClr val="C00000"/>
                </a:solidFill>
              </a:rPr>
              <a:t>th</a:t>
            </a:r>
            <a:r>
              <a:rPr lang="en-ZW" sz="2800" b="1" smtClean="0">
                <a:solidFill>
                  <a:srgbClr val="C00000"/>
                </a:solidFill>
              </a:rPr>
              <a:t> SCHEDULE ALLOWANCES </a:t>
            </a:r>
            <a:br>
              <a:rPr lang="en-ZW" sz="2800" b="1" smtClean="0">
                <a:solidFill>
                  <a:srgbClr val="C00000"/>
                </a:solidFill>
              </a:rPr>
            </a:br>
            <a:r>
              <a:rPr lang="en-ZW" sz="2800" b="1" smtClean="0">
                <a:solidFill>
                  <a:srgbClr val="C00000"/>
                </a:solidFill>
              </a:rPr>
              <a:t>SPECIAL DEDUCTIONS AVAILABLE TO FARMERS</a:t>
            </a:r>
            <a:r>
              <a:rPr lang="en-ZW" sz="3600" b="1" smtClean="0">
                <a:solidFill>
                  <a:srgbClr val="C00000"/>
                </a:solidFill>
              </a:rPr>
              <a:t/>
            </a:r>
            <a:br>
              <a:rPr lang="en-ZW" sz="3600" b="1" smtClean="0">
                <a:solidFill>
                  <a:srgbClr val="C00000"/>
                </a:solidFill>
              </a:rPr>
            </a:br>
            <a:endParaRPr lang="en-ZW" sz="3600" b="1" smtClean="0">
              <a:solidFill>
                <a:srgbClr val="C00000"/>
              </a:solidFill>
            </a:endParaRPr>
          </a:p>
        </p:txBody>
      </p:sp>
      <p:sp>
        <p:nvSpPr>
          <p:cNvPr id="3" name="Subtitle 2"/>
          <p:cNvSpPr>
            <a:spLocks noGrp="1"/>
          </p:cNvSpPr>
          <p:nvPr>
            <p:ph type="subTitle" idx="1"/>
          </p:nvPr>
        </p:nvSpPr>
        <p:spPr>
          <a:xfrm>
            <a:off x="381000" y="1524000"/>
            <a:ext cx="8534400" cy="4648200"/>
          </a:xfrm>
        </p:spPr>
        <p:txBody>
          <a:bodyPr rtlCol="0">
            <a:normAutofit/>
          </a:bodyPr>
          <a:lstStyle/>
          <a:p>
            <a:pPr algn="l" eaLnBrk="1" fontAlgn="auto" hangingPunct="1">
              <a:spcAft>
                <a:spcPts val="0"/>
              </a:spcAft>
              <a:buFont typeface="Arial" charset="0"/>
              <a:buNone/>
              <a:defRPr/>
            </a:pPr>
            <a:endParaRPr lang="en-ZW" dirty="0" smtClean="0">
              <a:solidFill>
                <a:srgbClr val="C00000"/>
              </a:solidFill>
            </a:endParaRPr>
          </a:p>
          <a:p>
            <a:pPr marL="457200" indent="-457200" algn="l" eaLnBrk="1" fontAlgn="auto" hangingPunct="1">
              <a:spcAft>
                <a:spcPts val="0"/>
              </a:spcAft>
              <a:buFont typeface="Arial" charset="0"/>
              <a:buAutoNum type="arabicPeriod"/>
              <a:defRPr/>
            </a:pPr>
            <a:r>
              <a:rPr lang="en-ZW" sz="2400" dirty="0" smtClean="0">
                <a:solidFill>
                  <a:schemeClr val="tx2">
                    <a:lumMod val="75000"/>
                  </a:schemeClr>
                </a:solidFill>
              </a:rPr>
              <a:t>100% write off of capital expenditure</a:t>
            </a:r>
          </a:p>
          <a:p>
            <a:pPr marL="457200" indent="-457200" algn="l" eaLnBrk="1" fontAlgn="auto" hangingPunct="1">
              <a:spcAft>
                <a:spcPts val="0"/>
              </a:spcAft>
              <a:buFont typeface="Arial" charset="0"/>
              <a:buAutoNum type="arabicPeriod"/>
              <a:defRPr/>
            </a:pPr>
            <a:endParaRPr lang="en-ZW" sz="2400" dirty="0" smtClean="0">
              <a:solidFill>
                <a:schemeClr val="tx2">
                  <a:lumMod val="75000"/>
                </a:schemeClr>
              </a:solidFill>
            </a:endParaRPr>
          </a:p>
          <a:p>
            <a:pPr marL="457200" indent="-457200" algn="l" eaLnBrk="1" fontAlgn="auto" hangingPunct="1">
              <a:spcAft>
                <a:spcPts val="0"/>
              </a:spcAft>
              <a:buFont typeface="Arial" charset="0"/>
              <a:buNone/>
              <a:defRPr/>
            </a:pPr>
            <a:endParaRPr lang="en-ZW" sz="2400" dirty="0" smtClean="0">
              <a:solidFill>
                <a:schemeClr val="tx2">
                  <a:lumMod val="75000"/>
                </a:schemeClr>
              </a:solidFill>
            </a:endParaRPr>
          </a:p>
          <a:p>
            <a:pPr algn="l" eaLnBrk="1" fontAlgn="auto" hangingPunct="1">
              <a:spcAft>
                <a:spcPts val="0"/>
              </a:spcAft>
              <a:buFont typeface="Arial" charset="0"/>
              <a:buNone/>
              <a:defRPr/>
            </a:pPr>
            <a:r>
              <a:rPr lang="en-ZW" sz="2400" dirty="0" smtClean="0">
                <a:solidFill>
                  <a:schemeClr val="tx2">
                    <a:lumMod val="75000"/>
                  </a:schemeClr>
                </a:solidFill>
              </a:rPr>
              <a:t>2.   Special deduction available due to enforced sales of livestock;</a:t>
            </a:r>
          </a:p>
          <a:p>
            <a:pPr marL="457200" indent="-457200" algn="l" eaLnBrk="1" fontAlgn="auto" hangingPunct="1">
              <a:spcAft>
                <a:spcPts val="0"/>
              </a:spcAft>
              <a:buFont typeface="Arial" charset="0"/>
              <a:buAutoNum type="arabicPeriod"/>
              <a:defRPr/>
            </a:pPr>
            <a:endParaRPr lang="en-ZW" sz="2400" dirty="0" smtClean="0">
              <a:solidFill>
                <a:schemeClr val="tx2">
                  <a:lumMod val="75000"/>
                </a:schemeClr>
              </a:solidFill>
            </a:endParaRPr>
          </a:p>
          <a:p>
            <a:pPr marL="457200" indent="-457200" algn="l" eaLnBrk="1" fontAlgn="auto" hangingPunct="1">
              <a:spcAft>
                <a:spcPts val="0"/>
              </a:spcAft>
              <a:buFont typeface="Arial" charset="0"/>
              <a:buAutoNum type="arabicPeriod" startAt="3"/>
              <a:defRPr/>
            </a:pPr>
            <a:r>
              <a:rPr lang="en-ZW" sz="2400" dirty="0" smtClean="0">
                <a:solidFill>
                  <a:schemeClr val="tx2">
                    <a:lumMod val="75000"/>
                  </a:schemeClr>
                </a:solidFill>
              </a:rPr>
              <a:t>Restocking allowance available in respect of restocking herd     </a:t>
            </a:r>
          </a:p>
          <a:p>
            <a:pPr marL="457200" indent="-457200" algn="l" eaLnBrk="1" fontAlgn="auto" hangingPunct="1">
              <a:spcAft>
                <a:spcPts val="0"/>
              </a:spcAft>
              <a:buFont typeface="Arial" charset="0"/>
              <a:buNone/>
              <a:defRPr/>
            </a:pPr>
            <a:r>
              <a:rPr lang="en-ZW" sz="2400" dirty="0" smtClean="0">
                <a:solidFill>
                  <a:schemeClr val="tx2">
                    <a:lumMod val="75000"/>
                  </a:schemeClr>
                </a:solidFill>
              </a:rPr>
              <a:t>       depleted by drought or epidemic disease.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ctrTitle"/>
          </p:nvPr>
        </p:nvSpPr>
        <p:spPr>
          <a:xfrm>
            <a:off x="457200" y="304800"/>
            <a:ext cx="8001000" cy="838200"/>
          </a:xfrm>
        </p:spPr>
        <p:txBody>
          <a:bodyPr>
            <a:normAutofit fontScale="90000"/>
          </a:bodyPr>
          <a:lstStyle/>
          <a:p>
            <a:pPr algn="l" eaLnBrk="1" hangingPunct="1"/>
            <a:r>
              <a:rPr lang="en-ZW" sz="3600" b="1" smtClean="0">
                <a:solidFill>
                  <a:srgbClr val="C00000"/>
                </a:solidFill>
              </a:rPr>
              <a:t>7</a:t>
            </a:r>
            <a:r>
              <a:rPr lang="en-ZW" sz="3600" b="1" baseline="30000" smtClean="0">
                <a:solidFill>
                  <a:srgbClr val="C00000"/>
                </a:solidFill>
              </a:rPr>
              <a:t>th</a:t>
            </a:r>
            <a:r>
              <a:rPr lang="en-ZW" sz="3600" b="1" smtClean="0">
                <a:solidFill>
                  <a:srgbClr val="C00000"/>
                </a:solidFill>
              </a:rPr>
              <a:t> Sched Allowances</a:t>
            </a:r>
            <a:br>
              <a:rPr lang="en-ZW" sz="3600" b="1" smtClean="0">
                <a:solidFill>
                  <a:srgbClr val="C00000"/>
                </a:solidFill>
              </a:rPr>
            </a:br>
            <a:endParaRPr lang="en-ZW" sz="3600" b="1" smtClean="0">
              <a:solidFill>
                <a:srgbClr val="C00000"/>
              </a:solidFill>
            </a:endParaRPr>
          </a:p>
        </p:txBody>
      </p:sp>
      <p:sp>
        <p:nvSpPr>
          <p:cNvPr id="3" name="Subtitle 2"/>
          <p:cNvSpPr>
            <a:spLocks noGrp="1"/>
          </p:cNvSpPr>
          <p:nvPr>
            <p:ph type="subTitle" idx="1"/>
          </p:nvPr>
        </p:nvSpPr>
        <p:spPr>
          <a:xfrm>
            <a:off x="381000" y="1295400"/>
            <a:ext cx="8534400" cy="4876800"/>
          </a:xfrm>
        </p:spPr>
        <p:txBody>
          <a:bodyPr rtlCol="0">
            <a:normAutofit fontScale="92500"/>
          </a:bodyPr>
          <a:lstStyle/>
          <a:p>
            <a:pPr algn="l" eaLnBrk="1" fontAlgn="auto" hangingPunct="1">
              <a:spcAft>
                <a:spcPts val="0"/>
              </a:spcAft>
              <a:buFont typeface="Arial" charset="0"/>
              <a:buNone/>
              <a:defRPr/>
            </a:pPr>
            <a:r>
              <a:rPr lang="en-ZW" dirty="0" smtClean="0">
                <a:solidFill>
                  <a:srgbClr val="C00000"/>
                </a:solidFill>
              </a:rPr>
              <a:t>A farmer shall be entitled  to deduct expenditure incurred by him during the year of assessment on :</a:t>
            </a:r>
          </a:p>
          <a:p>
            <a:pPr marL="457200" indent="-457200" algn="l" eaLnBrk="1" fontAlgn="auto" hangingPunct="1">
              <a:spcAft>
                <a:spcPts val="0"/>
              </a:spcAft>
              <a:buFont typeface="+mj-lt"/>
              <a:buAutoNum type="arabicParenR"/>
              <a:defRPr/>
            </a:pPr>
            <a:r>
              <a:rPr lang="en-ZW" sz="2400" dirty="0" smtClean="0">
                <a:solidFill>
                  <a:schemeClr val="tx2">
                    <a:lumMod val="75000"/>
                  </a:schemeClr>
                </a:solidFill>
              </a:rPr>
              <a:t>Water conservation works :  any reservoir, weir, dam or embankment constructed for the impounding of water. Expenditure  deductible in year incurred notwithstanding that work might be in progress.</a:t>
            </a:r>
          </a:p>
          <a:p>
            <a:pPr marL="457200" indent="-457200" algn="l" eaLnBrk="1" fontAlgn="auto" hangingPunct="1">
              <a:spcAft>
                <a:spcPts val="0"/>
              </a:spcAft>
              <a:buFont typeface="+mj-lt"/>
              <a:buAutoNum type="arabicParenR"/>
              <a:defRPr/>
            </a:pPr>
            <a:r>
              <a:rPr lang="en-ZW" sz="2400" dirty="0" smtClean="0">
                <a:solidFill>
                  <a:schemeClr val="tx2">
                    <a:lumMod val="75000"/>
                  </a:schemeClr>
                </a:solidFill>
              </a:rPr>
              <a:t>Boreholes and wells;</a:t>
            </a:r>
          </a:p>
          <a:p>
            <a:pPr marL="457200" indent="-457200" algn="l" eaLnBrk="1" fontAlgn="auto" hangingPunct="1">
              <a:spcAft>
                <a:spcPts val="0"/>
              </a:spcAft>
              <a:buFont typeface="+mj-lt"/>
              <a:buAutoNum type="arabicParenR"/>
              <a:defRPr/>
            </a:pPr>
            <a:r>
              <a:rPr lang="en-ZW" sz="2400" dirty="0" smtClean="0">
                <a:solidFill>
                  <a:schemeClr val="tx2">
                    <a:lumMod val="75000"/>
                  </a:schemeClr>
                </a:solidFill>
              </a:rPr>
              <a:t>Fencing : Expenditure must not only be incurred by the taxpayer but the fencing must be used in farming operations.</a:t>
            </a:r>
          </a:p>
          <a:p>
            <a:pPr marL="457200" indent="-457200" algn="l" eaLnBrk="1" fontAlgn="auto" hangingPunct="1">
              <a:spcAft>
                <a:spcPts val="0"/>
              </a:spcAft>
              <a:buFont typeface="+mj-lt"/>
              <a:buAutoNum type="arabicParenR"/>
              <a:defRPr/>
            </a:pPr>
            <a:r>
              <a:rPr lang="en-ZW" sz="2400" dirty="0" smtClean="0">
                <a:solidFill>
                  <a:schemeClr val="tx2">
                    <a:lumMod val="75000"/>
                  </a:schemeClr>
                </a:solidFill>
              </a:rPr>
              <a:t>Stumping and clearing of land;</a:t>
            </a:r>
          </a:p>
          <a:p>
            <a:pPr marL="457200" indent="-457200" algn="l" eaLnBrk="1" fontAlgn="auto" hangingPunct="1">
              <a:spcAft>
                <a:spcPts val="0"/>
              </a:spcAft>
              <a:buFont typeface="+mj-lt"/>
              <a:buAutoNum type="arabicParenR"/>
              <a:defRPr/>
            </a:pPr>
            <a:r>
              <a:rPr lang="en-ZW" sz="2400" dirty="0" smtClean="0">
                <a:solidFill>
                  <a:schemeClr val="tx2">
                    <a:lumMod val="75000"/>
                  </a:schemeClr>
                </a:solidFill>
              </a:rPr>
              <a:t>Works for the prevention of soil erosion</a:t>
            </a:r>
          </a:p>
          <a:p>
            <a:pPr marL="457200" indent="-457200" algn="l" eaLnBrk="1" fontAlgn="auto" hangingPunct="1">
              <a:spcAft>
                <a:spcPts val="0"/>
              </a:spcAft>
              <a:buFont typeface="+mj-lt"/>
              <a:buAutoNum type="arabicParenR"/>
              <a:defRPr/>
            </a:pPr>
            <a:r>
              <a:rPr lang="en-ZW" sz="2400" dirty="0" smtClean="0">
                <a:solidFill>
                  <a:schemeClr val="tx2">
                    <a:lumMod val="75000"/>
                  </a:schemeClr>
                </a:solidFill>
              </a:rPr>
              <a:t>Aerial and geophysical surveys.</a:t>
            </a:r>
          </a:p>
          <a:p>
            <a:pPr marL="457200" indent="-457200" algn="l" eaLnBrk="1" fontAlgn="auto" hangingPunct="1">
              <a:spcAft>
                <a:spcPts val="0"/>
              </a:spcAft>
              <a:buFont typeface="Arial" charset="0"/>
              <a:buNone/>
              <a:defRPr/>
            </a:pPr>
            <a:endParaRPr lang="en-ZW" sz="2400" dirty="0" smtClean="0">
              <a:solidFill>
                <a:schemeClr val="tx2">
                  <a:lumMod val="75000"/>
                </a:schemeClr>
              </a:solidFill>
            </a:endParaRPr>
          </a:p>
          <a:p>
            <a:pPr marL="457200" indent="-457200" algn="l" eaLnBrk="1" fontAlgn="auto" hangingPunct="1">
              <a:spcAft>
                <a:spcPts val="0"/>
              </a:spcAft>
              <a:buFont typeface="+mj-lt"/>
              <a:buAutoNum type="arabicParenR"/>
              <a:defRPr/>
            </a:pPr>
            <a:endParaRPr lang="en-ZW" sz="2400" dirty="0" smtClean="0">
              <a:solidFill>
                <a:schemeClr val="tx2">
                  <a:lumMod val="75000"/>
                </a:schemeClr>
              </a:solidFill>
            </a:endParaRPr>
          </a:p>
          <a:p>
            <a:pPr marL="457200" indent="-457200" algn="l" eaLnBrk="1" fontAlgn="auto" hangingPunct="1">
              <a:spcAft>
                <a:spcPts val="0"/>
              </a:spcAft>
              <a:buFont typeface="+mj-lt"/>
              <a:buAutoNum type="arabicParenR"/>
              <a:defRPr/>
            </a:pPr>
            <a:endParaRPr lang="en-ZW" sz="2400" dirty="0" smtClean="0">
              <a:solidFill>
                <a:schemeClr val="tx2">
                  <a:lumMod val="75000"/>
                </a:schemeClr>
              </a:solidFill>
            </a:endParaRPr>
          </a:p>
          <a:p>
            <a:pPr marL="457200" indent="-457200" algn="l" eaLnBrk="1" fontAlgn="auto" hangingPunct="1">
              <a:spcAft>
                <a:spcPts val="0"/>
              </a:spcAft>
              <a:buFont typeface="+mj-lt"/>
              <a:buAutoNum type="arabicParenR"/>
              <a:defRPr/>
            </a:pPr>
            <a:endParaRPr lang="en-ZW" sz="2400" dirty="0" smtClean="0">
              <a:solidFill>
                <a:schemeClr val="tx2">
                  <a:lumMod val="75000"/>
                </a:schemeClr>
              </a:solidFill>
            </a:endParaRPr>
          </a:p>
          <a:p>
            <a:pPr algn="l" eaLnBrk="1" fontAlgn="auto" hangingPunct="1">
              <a:spcAft>
                <a:spcPts val="0"/>
              </a:spcAft>
              <a:buFont typeface="Arial" charset="0"/>
              <a:buNone/>
              <a:defRPr/>
            </a:pPr>
            <a:endParaRPr lang="en-ZW" dirty="0" smtClean="0"/>
          </a:p>
          <a:p>
            <a:pPr algn="l" eaLnBrk="1" fontAlgn="auto" hangingPunct="1">
              <a:spcAft>
                <a:spcPts val="0"/>
              </a:spcAft>
              <a:buFont typeface="Wingdings" pitchFamily="2" charset="2"/>
              <a:buChar char="Ø"/>
              <a:defRPr/>
            </a:pPr>
            <a:endParaRPr lang="en-ZW" dirty="0" smtClean="0"/>
          </a:p>
          <a:p>
            <a:pPr algn="l" eaLnBrk="1" fontAlgn="auto" hangingPunct="1">
              <a:spcAft>
                <a:spcPts val="0"/>
              </a:spcAft>
              <a:buFont typeface="Arial" charset="0"/>
              <a:buNone/>
              <a:defRPr/>
            </a:pPr>
            <a:endParaRPr lang="en-ZW"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381000" y="838200"/>
            <a:ext cx="8229600" cy="990600"/>
          </a:xfrm>
        </p:spPr>
        <p:txBody>
          <a:bodyPr>
            <a:normAutofit fontScale="90000"/>
          </a:bodyPr>
          <a:lstStyle/>
          <a:p>
            <a:pPr eaLnBrk="1" hangingPunct="1"/>
            <a:r>
              <a:rPr lang="en-GB" sz="3600" b="1" u="sng" smtClean="0">
                <a:solidFill>
                  <a:srgbClr val="C00000"/>
                </a:solidFill>
              </a:rPr>
              <a:t>DISTINCTION BETWEEN 4</a:t>
            </a:r>
            <a:r>
              <a:rPr lang="en-GB" sz="3600" b="1" u="sng" baseline="30000" smtClean="0">
                <a:solidFill>
                  <a:srgbClr val="C00000"/>
                </a:solidFill>
              </a:rPr>
              <a:t>TH</a:t>
            </a:r>
            <a:r>
              <a:rPr lang="en-GB" sz="3600" b="1" u="sng" smtClean="0">
                <a:solidFill>
                  <a:srgbClr val="C00000"/>
                </a:solidFill>
              </a:rPr>
              <a:t> AND 7</a:t>
            </a:r>
            <a:r>
              <a:rPr lang="en-GB" sz="3600" b="1" u="sng" baseline="30000" smtClean="0">
                <a:solidFill>
                  <a:srgbClr val="C00000"/>
                </a:solidFill>
              </a:rPr>
              <a:t>TH</a:t>
            </a:r>
            <a:r>
              <a:rPr lang="en-GB" sz="3600" b="1" u="sng" smtClean="0">
                <a:solidFill>
                  <a:srgbClr val="C00000"/>
                </a:solidFill>
              </a:rPr>
              <a:t> SCHED</a:t>
            </a:r>
            <a:br>
              <a:rPr lang="en-GB" sz="3600" b="1" u="sng" smtClean="0">
                <a:solidFill>
                  <a:srgbClr val="C00000"/>
                </a:solidFill>
              </a:rPr>
            </a:br>
            <a:r>
              <a:rPr lang="en-GB" sz="3600" b="1" u="sng" smtClean="0">
                <a:solidFill>
                  <a:srgbClr val="C00000"/>
                </a:solidFill>
              </a:rPr>
              <a:t/>
            </a:r>
            <a:br>
              <a:rPr lang="en-GB" sz="3600" b="1" u="sng" smtClean="0">
                <a:solidFill>
                  <a:srgbClr val="C00000"/>
                </a:solidFill>
              </a:rPr>
            </a:br>
            <a:endParaRPr lang="en-ZW" sz="3600" b="1" smtClean="0">
              <a:solidFill>
                <a:srgbClr val="FF0000"/>
              </a:solidFill>
            </a:endParaRPr>
          </a:p>
        </p:txBody>
      </p:sp>
      <p:sp>
        <p:nvSpPr>
          <p:cNvPr id="30723" name="Content Placeholder 2"/>
          <p:cNvSpPr>
            <a:spLocks noGrp="1"/>
          </p:cNvSpPr>
          <p:nvPr>
            <p:ph idx="1"/>
          </p:nvPr>
        </p:nvSpPr>
        <p:spPr>
          <a:xfrm>
            <a:off x="914400" y="1905000"/>
            <a:ext cx="8229600" cy="4525963"/>
          </a:xfrm>
        </p:spPr>
        <p:txBody>
          <a:bodyPr/>
          <a:lstStyle/>
          <a:p>
            <a:pPr eaLnBrk="1" hangingPunct="1">
              <a:buFont typeface="Wingdings" pitchFamily="2" charset="2"/>
              <a:buChar char="ü"/>
            </a:pPr>
            <a:r>
              <a:rPr lang="en-ZW" sz="2400" smtClean="0"/>
              <a:t>Each schedule contains different tests and restrictions</a:t>
            </a:r>
          </a:p>
          <a:p>
            <a:pPr eaLnBrk="1" hangingPunct="1">
              <a:buFont typeface="Wingdings" pitchFamily="2" charset="2"/>
              <a:buChar char="Ø"/>
            </a:pPr>
            <a:endParaRPr lang="en-ZW" sz="2400" smtClean="0"/>
          </a:p>
          <a:p>
            <a:pPr eaLnBrk="1" hangingPunct="1">
              <a:buFont typeface="Wingdings" pitchFamily="2" charset="2"/>
              <a:buChar char="ü"/>
            </a:pPr>
            <a:r>
              <a:rPr lang="en-ZW" sz="2400" smtClean="0"/>
              <a:t>7</a:t>
            </a:r>
            <a:r>
              <a:rPr lang="en-ZW" sz="2400" baseline="30000" smtClean="0"/>
              <a:t>th</a:t>
            </a:r>
            <a:r>
              <a:rPr lang="en-ZW" sz="2400" smtClean="0"/>
              <a:t> Sched assets have to be constructed/ erected by taxpayer and do not rank for deduction if purchased with farm;</a:t>
            </a:r>
          </a:p>
          <a:p>
            <a:pPr eaLnBrk="1" hangingPunct="1">
              <a:buFont typeface="Wingdings" pitchFamily="2" charset="2"/>
              <a:buChar char="Ø"/>
            </a:pPr>
            <a:endParaRPr lang="en-ZW" sz="2400" smtClean="0"/>
          </a:p>
          <a:p>
            <a:pPr eaLnBrk="1" hangingPunct="1">
              <a:buFont typeface="Wingdings" pitchFamily="2" charset="2"/>
              <a:buChar char="ü"/>
            </a:pPr>
            <a:r>
              <a:rPr lang="en-ZW" sz="2400" smtClean="0"/>
              <a:t>7</a:t>
            </a:r>
            <a:r>
              <a:rPr lang="en-ZW" sz="2400" baseline="30000" smtClean="0"/>
              <a:t>th</a:t>
            </a:r>
            <a:r>
              <a:rPr lang="en-ZW" sz="2400" smtClean="0"/>
              <a:t> sched assets rank for deduction in full;</a:t>
            </a:r>
          </a:p>
          <a:p>
            <a:pPr eaLnBrk="1" hangingPunct="1">
              <a:buFont typeface="Wingdings" pitchFamily="2" charset="2"/>
              <a:buChar char="Ø"/>
            </a:pPr>
            <a:endParaRPr lang="en-ZW" sz="2400" smtClean="0"/>
          </a:p>
          <a:p>
            <a:pPr eaLnBrk="1" hangingPunct="1">
              <a:buFont typeface="Wingdings" pitchFamily="2" charset="2"/>
              <a:buChar char="ü"/>
            </a:pPr>
            <a:r>
              <a:rPr lang="en-ZW" sz="2400" smtClean="0"/>
              <a:t>7</a:t>
            </a:r>
            <a:r>
              <a:rPr lang="en-ZW" sz="2400" baseline="30000" smtClean="0"/>
              <a:t>th</a:t>
            </a:r>
            <a:r>
              <a:rPr lang="en-ZW" sz="2400" smtClean="0"/>
              <a:t> Sched assets do not suffer recoupment on disposal.</a:t>
            </a:r>
          </a:p>
          <a:p>
            <a:pPr eaLnBrk="1" hangingPunct="1">
              <a:buFont typeface="Wingdings" pitchFamily="2" charset="2"/>
              <a:buChar char="Ø"/>
            </a:pPr>
            <a:endParaRPr lang="en-US" sz="2800" smtClean="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1"/>
          <p:cNvSpPr>
            <a:spLocks noGrp="1"/>
          </p:cNvSpPr>
          <p:nvPr>
            <p:ph type="ctrTitle"/>
          </p:nvPr>
        </p:nvSpPr>
        <p:spPr>
          <a:xfrm>
            <a:off x="685800" y="1524000"/>
            <a:ext cx="7772400" cy="2819400"/>
          </a:xfrm>
          <a:solidFill>
            <a:srgbClr val="92D050"/>
          </a:solidFill>
          <a:ln>
            <a:solidFill>
              <a:srgbClr val="00B050"/>
            </a:solidFill>
          </a:ln>
        </p:spPr>
        <p:txBody>
          <a:bodyPr/>
          <a:lstStyle/>
          <a:p>
            <a:r>
              <a:rPr lang="en-ZW" smtClean="0">
                <a:solidFill>
                  <a:srgbClr val="FF0000"/>
                </a:solidFill>
              </a:rPr>
              <a:t>Example : Farming:</a:t>
            </a:r>
            <a:br>
              <a:rPr lang="en-ZW" smtClean="0">
                <a:solidFill>
                  <a:srgbClr val="FF0000"/>
                </a:solidFill>
              </a:rPr>
            </a:br>
            <a:r>
              <a:rPr lang="en-ZW" smtClean="0">
                <a:solidFill>
                  <a:srgbClr val="FF0000"/>
                </a:solidFill>
              </a:rPr>
              <a:t/>
            </a:r>
            <a:br>
              <a:rPr lang="en-ZW" smtClean="0">
                <a:solidFill>
                  <a:srgbClr val="FF0000"/>
                </a:solidFill>
              </a:rPr>
            </a:br>
            <a:r>
              <a:rPr lang="en-ZW" smtClean="0">
                <a:solidFill>
                  <a:srgbClr val="FF0000"/>
                </a:solidFill>
              </a:rPr>
              <a:t> Capital Allowances </a:t>
            </a:r>
            <a:br>
              <a:rPr lang="en-ZW" smtClean="0">
                <a:solidFill>
                  <a:srgbClr val="FF0000"/>
                </a:solidFill>
              </a:rPr>
            </a:br>
            <a:endParaRPr lang="en-ZW" smtClean="0">
              <a:solidFill>
                <a:srgbClr val="FF0000"/>
              </a:solidFill>
            </a:endParaRPr>
          </a:p>
        </p:txBody>
      </p:sp>
      <p:sp>
        <p:nvSpPr>
          <p:cNvPr id="13315" name="Subtitle 3"/>
          <p:cNvSpPr>
            <a:spLocks noGrp="1"/>
          </p:cNvSpPr>
          <p:nvPr>
            <p:ph type="subTitle" idx="1"/>
          </p:nvPr>
        </p:nvSpPr>
        <p:spPr/>
        <p:txBody>
          <a:bodyPr/>
          <a:lstStyle/>
          <a:p>
            <a:pPr>
              <a:buFont typeface="Arial" charset="0"/>
              <a:buNone/>
              <a:defRPr/>
            </a:pPr>
            <a:endParaRPr lang="en-ZW" smtClean="0"/>
          </a:p>
          <a:p>
            <a:pPr>
              <a:buFont typeface="Arial" charset="0"/>
              <a:buNone/>
              <a:defRPr/>
            </a:pPr>
            <a:endParaRPr lang="en-ZW"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228600" y="76200"/>
          <a:ext cx="9400290" cy="4777740"/>
        </p:xfrm>
        <a:graphic>
          <a:graphicData uri="http://schemas.openxmlformats.org/drawingml/2006/table">
            <a:tbl>
              <a:tblPr/>
              <a:tblGrid>
                <a:gridCol w="1040010"/>
                <a:gridCol w="928920"/>
                <a:gridCol w="928920"/>
                <a:gridCol w="928920"/>
                <a:gridCol w="928920"/>
                <a:gridCol w="928920"/>
                <a:gridCol w="928920"/>
                <a:gridCol w="928920"/>
                <a:gridCol w="928920"/>
                <a:gridCol w="928920"/>
              </a:tblGrid>
              <a:tr h="182880">
                <a:tc>
                  <a:txBody>
                    <a:bodyPr/>
                    <a:lstStyle/>
                    <a:p>
                      <a:pPr algn="l" fontAlgn="b"/>
                      <a:r>
                        <a:rPr lang="en-US" sz="1600" b="1" i="0" u="none" strike="noStrike" dirty="0">
                          <a:solidFill>
                            <a:srgbClr val="C00000"/>
                          </a:solidFill>
                          <a:latin typeface="Calibri"/>
                        </a:rPr>
                        <a:t>Question</a:t>
                      </a: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C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9">
                  <a:txBody>
                    <a:bodyPr/>
                    <a:lstStyle/>
                    <a:p>
                      <a:pPr algn="l" fontAlgn="b"/>
                      <a:r>
                        <a:rPr lang="en-US" sz="1600" b="0" i="0" u="none" strike="noStrike" dirty="0" err="1">
                          <a:solidFill>
                            <a:srgbClr val="000000"/>
                          </a:solidFill>
                          <a:latin typeface="Calibri"/>
                        </a:rPr>
                        <a:t>Varimi</a:t>
                      </a:r>
                      <a:r>
                        <a:rPr lang="en-US" sz="1600" b="0" i="0" u="none" strike="noStrike" dirty="0">
                          <a:solidFill>
                            <a:srgbClr val="000000"/>
                          </a:solidFill>
                          <a:latin typeface="Calibri"/>
                        </a:rPr>
                        <a:t> Farmers (</a:t>
                      </a:r>
                      <a:r>
                        <a:rPr lang="en-US" sz="1600" b="0" i="0" u="none" strike="noStrike" dirty="0" err="1">
                          <a:solidFill>
                            <a:srgbClr val="000000"/>
                          </a:solidFill>
                          <a:latin typeface="Calibri"/>
                        </a:rPr>
                        <a:t>Pvt</a:t>
                      </a:r>
                      <a:r>
                        <a:rPr lang="en-US" sz="1600" b="0" i="0" u="none" strike="noStrike" dirty="0">
                          <a:solidFill>
                            <a:srgbClr val="000000"/>
                          </a:solidFill>
                          <a:latin typeface="Calibri"/>
                        </a:rPr>
                        <a:t>) Ltd acquired a farm in </a:t>
                      </a:r>
                      <a:r>
                        <a:rPr lang="en-US" sz="1600" b="0" i="0" u="none" strike="noStrike" dirty="0" err="1">
                          <a:solidFill>
                            <a:srgbClr val="000000"/>
                          </a:solidFill>
                          <a:latin typeface="Calibri"/>
                        </a:rPr>
                        <a:t>Manicaland</a:t>
                      </a:r>
                      <a:r>
                        <a:rPr lang="en-US" sz="1600" b="0" i="0" u="none" strike="noStrike" dirty="0">
                          <a:solidFill>
                            <a:srgbClr val="000000"/>
                          </a:solidFill>
                          <a:latin typeface="Calibri"/>
                        </a:rPr>
                        <a:t> in March </a:t>
                      </a:r>
                      <a:r>
                        <a:rPr lang="en-US" sz="1600" b="0" i="0" u="none" strike="noStrike" dirty="0" smtClean="0">
                          <a:solidFill>
                            <a:srgbClr val="000000"/>
                          </a:solidFill>
                          <a:latin typeface="Calibri"/>
                        </a:rPr>
                        <a:t>2012 </a:t>
                      </a:r>
                      <a:r>
                        <a:rPr lang="en-US" sz="1600" b="0" i="0" u="none" strike="noStrike" dirty="0">
                          <a:solidFill>
                            <a:srgbClr val="000000"/>
                          </a:solidFill>
                          <a:latin typeface="Calibri"/>
                        </a:rPr>
                        <a:t>under the Government </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9">
                  <a:txBody>
                    <a:bodyPr/>
                    <a:lstStyle/>
                    <a:p>
                      <a:pPr algn="l" fontAlgn="b"/>
                      <a:r>
                        <a:rPr lang="en-US" sz="1600" b="0" i="0" u="none" strike="noStrike">
                          <a:solidFill>
                            <a:srgbClr val="000000"/>
                          </a:solidFill>
                          <a:latin typeface="Calibri"/>
                        </a:rPr>
                        <a:t>sponsored A2 resettlememt scheme and immediately commenced crop farming operations.</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10">
                  <a:txBody>
                    <a:bodyPr/>
                    <a:lstStyle/>
                    <a:p>
                      <a:pPr algn="l" fontAlgn="b"/>
                      <a:r>
                        <a:rPr lang="en-US" sz="1600" b="0" i="0" u="none" strike="noStrike">
                          <a:solidFill>
                            <a:srgbClr val="000000"/>
                          </a:solidFill>
                          <a:latin typeface="Calibri"/>
                        </a:rPr>
                        <a:t>The company paid an amount of $90,000 allocated to the farm improvements on the farm as follows:</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82880">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r>
                        <a:rPr lang="en-US" sz="1600" b="1" i="0" u="none" strike="noStrike">
                          <a:solidFill>
                            <a:srgbClr val="000000"/>
                          </a:solidFill>
                          <a:latin typeface="Calibri"/>
                        </a:rPr>
                        <a:t>$</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a:txBody>
                    <a:bodyPr/>
                    <a:lstStyle/>
                    <a:p>
                      <a:pPr algn="l" fontAlgn="b"/>
                      <a:r>
                        <a:rPr lang="en-US" sz="1600" b="0" i="0" u="none" strike="noStrike">
                          <a:solidFill>
                            <a:srgbClr val="000000"/>
                          </a:solidFill>
                          <a:latin typeface="Calibri"/>
                        </a:rPr>
                        <a:t>Land</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r>
                        <a:rPr lang="en-US" sz="1600" b="0" i="0" u="none" strike="noStrike">
                          <a:solidFill>
                            <a:srgbClr val="000000"/>
                          </a:solidFill>
                          <a:latin typeface="Calibri"/>
                        </a:rPr>
                        <a:t>nil</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3">
                  <a:txBody>
                    <a:bodyPr/>
                    <a:lstStyle/>
                    <a:p>
                      <a:pPr algn="l" fontAlgn="b"/>
                      <a:r>
                        <a:rPr lang="en-US" sz="1600" b="0" i="0" u="none" strike="noStrike">
                          <a:solidFill>
                            <a:srgbClr val="000000"/>
                          </a:solidFill>
                          <a:latin typeface="Calibri"/>
                        </a:rPr>
                        <a:t>Staff housing (5 units)</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20,000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2">
                  <a:txBody>
                    <a:bodyPr/>
                    <a:lstStyle/>
                    <a:p>
                      <a:pPr algn="l" fontAlgn="b"/>
                      <a:r>
                        <a:rPr lang="en-US" sz="1600" b="0" i="0" u="none" strike="noStrike">
                          <a:solidFill>
                            <a:srgbClr val="000000"/>
                          </a:solidFill>
                          <a:latin typeface="Calibri"/>
                        </a:rPr>
                        <a:t>Tobacco barns</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15,000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a:txBody>
                    <a:bodyPr/>
                    <a:lstStyle/>
                    <a:p>
                      <a:pPr algn="l" fontAlgn="b"/>
                      <a:r>
                        <a:rPr lang="en-US" sz="1600" b="0" i="0" u="none" strike="noStrike">
                          <a:solidFill>
                            <a:srgbClr val="000000"/>
                          </a:solidFill>
                          <a:latin typeface="Calibri"/>
                        </a:rPr>
                        <a:t>Dam</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18,000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2">
                  <a:txBody>
                    <a:bodyPr/>
                    <a:lstStyle/>
                    <a:p>
                      <a:pPr algn="l" fontAlgn="b"/>
                      <a:r>
                        <a:rPr lang="en-US" sz="1600" b="0" i="0" u="none" strike="noStrike">
                          <a:solidFill>
                            <a:srgbClr val="000000"/>
                          </a:solidFill>
                          <a:latin typeface="Calibri"/>
                        </a:rPr>
                        <a:t>Irrigation equipment</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12,000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2">
                  <a:txBody>
                    <a:bodyPr/>
                    <a:lstStyle/>
                    <a:p>
                      <a:pPr algn="l" fontAlgn="b"/>
                      <a:r>
                        <a:rPr lang="en-US" sz="1600" b="0" i="0" u="none" strike="noStrike">
                          <a:solidFill>
                            <a:srgbClr val="000000"/>
                          </a:solidFill>
                          <a:latin typeface="Calibri"/>
                        </a:rPr>
                        <a:t>Farm tractors </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25,000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7">
                  <a:txBody>
                    <a:bodyPr/>
                    <a:lstStyle/>
                    <a:p>
                      <a:pPr algn="l" fontAlgn="b"/>
                      <a:r>
                        <a:rPr lang="en-US" sz="1600" b="0" i="0" u="none" strike="noStrike">
                          <a:solidFill>
                            <a:srgbClr val="000000"/>
                          </a:solidFill>
                          <a:latin typeface="Calibri"/>
                        </a:rPr>
                        <a:t>The following expenditure was incurred during the course of the year:</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3">
                  <a:txBody>
                    <a:bodyPr/>
                    <a:lstStyle/>
                    <a:p>
                      <a:pPr algn="l" fontAlgn="b"/>
                      <a:r>
                        <a:rPr lang="en-US" sz="1600" b="0" i="0" u="none" strike="noStrike">
                          <a:solidFill>
                            <a:srgbClr val="000000"/>
                          </a:solidFill>
                          <a:latin typeface="Calibri"/>
                        </a:rPr>
                        <a:t>Stumping and clearing of land</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4,000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3">
                  <a:txBody>
                    <a:bodyPr/>
                    <a:lstStyle/>
                    <a:p>
                      <a:pPr algn="l" fontAlgn="b"/>
                      <a:r>
                        <a:rPr lang="en-US" sz="1600" b="0" i="0" u="none" strike="noStrike">
                          <a:solidFill>
                            <a:srgbClr val="000000"/>
                          </a:solidFill>
                          <a:latin typeface="Calibri"/>
                        </a:rPr>
                        <a:t>Sinking of boreholes and wells</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6,000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2">
                  <a:txBody>
                    <a:bodyPr/>
                    <a:lstStyle/>
                    <a:p>
                      <a:pPr algn="l" fontAlgn="b"/>
                      <a:r>
                        <a:rPr lang="en-US" sz="1600" b="0" i="0" u="none" strike="noStrike">
                          <a:solidFill>
                            <a:srgbClr val="000000"/>
                          </a:solidFill>
                          <a:latin typeface="Calibri"/>
                        </a:rPr>
                        <a:t>New fencing</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5,000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2">
                  <a:txBody>
                    <a:bodyPr/>
                    <a:lstStyle/>
                    <a:p>
                      <a:pPr algn="l" fontAlgn="b"/>
                      <a:r>
                        <a:rPr lang="en-US" sz="1600" b="0" i="0" u="none" strike="noStrike">
                          <a:solidFill>
                            <a:srgbClr val="000000"/>
                          </a:solidFill>
                          <a:latin typeface="Calibri"/>
                        </a:rPr>
                        <a:t>Farming equipment</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14,000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000000"/>
                        </a:solidFill>
                        <a:latin typeface="Calibri"/>
                      </a:endParaRPr>
                    </a:p>
                  </a:txBody>
                  <a:tcPr marL="7620" marR="7620" marT="762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685800" y="152400"/>
          <a:ext cx="7924808" cy="4724400"/>
        </p:xfrm>
        <a:graphic>
          <a:graphicData uri="http://schemas.openxmlformats.org/drawingml/2006/table">
            <a:tbl>
              <a:tblPr/>
              <a:tblGrid>
                <a:gridCol w="773152"/>
                <a:gridCol w="773152"/>
                <a:gridCol w="773152"/>
                <a:gridCol w="773152"/>
                <a:gridCol w="773152"/>
                <a:gridCol w="773152"/>
                <a:gridCol w="773152"/>
                <a:gridCol w="773152"/>
                <a:gridCol w="773152"/>
                <a:gridCol w="966440"/>
              </a:tblGrid>
              <a:tr h="342900">
                <a:tc gridSpan="9">
                  <a:txBody>
                    <a:bodyPr/>
                    <a:lstStyle/>
                    <a:p>
                      <a:pPr algn="l" fontAlgn="b"/>
                      <a:r>
                        <a:rPr lang="en-US" sz="1600" b="0" i="0" u="none" strike="noStrike" dirty="0">
                          <a:solidFill>
                            <a:srgbClr val="000000"/>
                          </a:solidFill>
                          <a:latin typeface="Calibri"/>
                        </a:rPr>
                        <a:t>The income statement for the year ended 31st December </a:t>
                      </a:r>
                      <a:r>
                        <a:rPr lang="en-US" sz="1600" b="0" i="0" u="none" strike="noStrike" dirty="0" smtClean="0">
                          <a:solidFill>
                            <a:srgbClr val="000000"/>
                          </a:solidFill>
                          <a:latin typeface="Calibri"/>
                        </a:rPr>
                        <a:t>2012 </a:t>
                      </a:r>
                      <a:r>
                        <a:rPr lang="en-US" sz="1600" b="0" i="0" u="none" strike="noStrike" dirty="0">
                          <a:solidFill>
                            <a:srgbClr val="000000"/>
                          </a:solidFill>
                          <a:latin typeface="Calibri"/>
                        </a:rPr>
                        <a:t>reflected a net profit of $30,000.</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000000"/>
                        </a:solidFill>
                        <a:latin typeface="Calibri"/>
                      </a:endParaRPr>
                    </a:p>
                  </a:txBody>
                  <a:tcPr marL="7620" marR="7620" marT="7620" marB="0" anchor="b">
                    <a:lnL>
                      <a:noFill/>
                    </a:lnL>
                    <a:lnR>
                      <a:noFill/>
                    </a:lnR>
                    <a:lnT>
                      <a:noFill/>
                    </a:lnT>
                    <a:lnB>
                      <a:noFill/>
                    </a:lnB>
                  </a:tcPr>
                </a:tc>
              </a:tr>
              <a:tr h="182880">
                <a:tc gridSpan="7">
                  <a:txBody>
                    <a:bodyPr/>
                    <a:lstStyle/>
                    <a:p>
                      <a:pPr algn="l" fontAlgn="b"/>
                      <a:r>
                        <a:rPr lang="en-US" sz="1600" b="0" i="0" u="none" strike="noStrike">
                          <a:solidFill>
                            <a:srgbClr val="000000"/>
                          </a:solidFill>
                          <a:latin typeface="Calibri"/>
                        </a:rPr>
                        <a:t>The income statement had been debited with the following expenses :</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2">
                  <a:txBody>
                    <a:bodyPr/>
                    <a:lstStyle/>
                    <a:p>
                      <a:pPr algn="l" fontAlgn="b"/>
                      <a:r>
                        <a:rPr lang="en-US" sz="1600" b="0" i="0" u="none" strike="noStrike">
                          <a:solidFill>
                            <a:srgbClr val="000000"/>
                          </a:solidFill>
                          <a:latin typeface="Calibri"/>
                        </a:rPr>
                        <a:t>Depreciation</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8,500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2">
                  <a:txBody>
                    <a:bodyPr/>
                    <a:lstStyle/>
                    <a:p>
                      <a:pPr algn="l" fontAlgn="b"/>
                      <a:r>
                        <a:rPr lang="en-US" sz="1600" b="0" i="0" u="none" strike="noStrike">
                          <a:solidFill>
                            <a:srgbClr val="000000"/>
                          </a:solidFill>
                          <a:latin typeface="Calibri"/>
                        </a:rPr>
                        <a:t>Crop chemicals</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7,800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2">
                  <a:txBody>
                    <a:bodyPr/>
                    <a:lstStyle/>
                    <a:p>
                      <a:pPr algn="l" fontAlgn="b"/>
                      <a:r>
                        <a:rPr lang="en-US" sz="1600" b="0" i="0" u="none" strike="noStrike">
                          <a:solidFill>
                            <a:srgbClr val="000000"/>
                          </a:solidFill>
                          <a:latin typeface="Calibri"/>
                        </a:rPr>
                        <a:t>Farm expenses</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14,000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4">
                  <a:txBody>
                    <a:bodyPr/>
                    <a:lstStyle/>
                    <a:p>
                      <a:pPr algn="l" fontAlgn="b"/>
                      <a:r>
                        <a:rPr lang="en-US" sz="1600" b="0" i="0" u="none" strike="noStrike">
                          <a:solidFill>
                            <a:srgbClr val="000000"/>
                          </a:solidFill>
                          <a:latin typeface="Calibri"/>
                        </a:rPr>
                        <a:t>Penalty for late payment of PAYE</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2,000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182880">
                <a:tc gridSpan="2">
                  <a:txBody>
                    <a:bodyPr/>
                    <a:lstStyle/>
                    <a:p>
                      <a:pPr algn="l" fontAlgn="b"/>
                      <a:r>
                        <a:rPr lang="en-US" sz="1600" b="1" i="0" u="none" strike="noStrike" dirty="0">
                          <a:solidFill>
                            <a:srgbClr val="C00000"/>
                          </a:solidFill>
                          <a:latin typeface="Calibri"/>
                        </a:rPr>
                        <a:t>REQUIRED</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6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1" i="0" u="none" strike="noStrike">
                        <a:solidFill>
                          <a:srgbClr val="000000"/>
                        </a:solidFill>
                        <a:latin typeface="Calibri"/>
                      </a:endParaRPr>
                    </a:p>
                  </a:txBody>
                  <a:tcPr marL="7620" marR="7620" marT="7620" marB="0" anchor="b">
                    <a:lnL>
                      <a:noFill/>
                    </a:lnL>
                    <a:lnR>
                      <a:noFill/>
                    </a:lnR>
                    <a:lnT>
                      <a:noFill/>
                    </a:lnT>
                    <a:lnB>
                      <a:noFill/>
                    </a:lnB>
                  </a:tcPr>
                </a:tc>
              </a:tr>
              <a:tr h="182880">
                <a:tc gridSpan="10">
                  <a:txBody>
                    <a:bodyPr/>
                    <a:lstStyle/>
                    <a:p>
                      <a:pPr algn="l" fontAlgn="b"/>
                      <a:r>
                        <a:rPr lang="en-US" sz="1600" b="1" i="0" u="none" strike="noStrike" dirty="0">
                          <a:solidFill>
                            <a:srgbClr val="C00000"/>
                          </a:solidFill>
                          <a:latin typeface="Calibri"/>
                        </a:rPr>
                        <a:t>Calculate the minimum taxable income or </a:t>
                      </a:r>
                      <a:r>
                        <a:rPr lang="en-US" sz="1600" b="1" i="0" u="none" strike="noStrike" dirty="0" err="1">
                          <a:solidFill>
                            <a:srgbClr val="C00000"/>
                          </a:solidFill>
                          <a:latin typeface="Calibri"/>
                        </a:rPr>
                        <a:t>maximun</a:t>
                      </a:r>
                      <a:r>
                        <a:rPr lang="en-US" sz="1600" b="1" i="0" u="none" strike="noStrike" dirty="0">
                          <a:solidFill>
                            <a:srgbClr val="C00000"/>
                          </a:solidFill>
                          <a:latin typeface="Calibri"/>
                        </a:rPr>
                        <a:t> tax loss for the year ended 31st December </a:t>
                      </a:r>
                      <a:r>
                        <a:rPr lang="en-US" sz="1600" b="1" i="0" u="none" strike="noStrike" dirty="0" smtClean="0">
                          <a:solidFill>
                            <a:srgbClr val="C00000"/>
                          </a:solidFill>
                          <a:latin typeface="Calibri"/>
                        </a:rPr>
                        <a:t>2012.</a:t>
                      </a:r>
                      <a:endParaRPr lang="en-US" sz="1600" b="1" i="0" u="none" strike="noStrike" dirty="0">
                        <a:solidFill>
                          <a:srgbClr val="C00000"/>
                        </a:solidFill>
                        <a:latin typeface="Calibri"/>
                      </a:endParaRP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0" y="0"/>
          <a:ext cx="8382001" cy="6758961"/>
        </p:xfrm>
        <a:graphic>
          <a:graphicData uri="http://schemas.openxmlformats.org/drawingml/2006/table">
            <a:tbl>
              <a:tblPr/>
              <a:tblGrid>
                <a:gridCol w="1024408"/>
                <a:gridCol w="1024408"/>
                <a:gridCol w="1024408"/>
                <a:gridCol w="1280509"/>
                <a:gridCol w="1280509"/>
                <a:gridCol w="1280509"/>
                <a:gridCol w="1467250"/>
              </a:tblGrid>
              <a:tr h="112110">
                <a:tc gridSpan="3">
                  <a:txBody>
                    <a:bodyPr/>
                    <a:lstStyle/>
                    <a:p>
                      <a:pPr algn="l" fontAlgn="b"/>
                      <a:r>
                        <a:rPr lang="en-US" sz="1400" b="1" i="0" u="none" strike="noStrike" dirty="0">
                          <a:solidFill>
                            <a:srgbClr val="C00000"/>
                          </a:solidFill>
                          <a:latin typeface="Calibri"/>
                        </a:rPr>
                        <a:t>SUGGESTED SOLUTION</a:t>
                      </a:r>
                    </a:p>
                  </a:txBody>
                  <a:tcPr marL="4671" marR="4671" marT="4671"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a:txBody>
                    <a:bodyPr/>
                    <a:lstStyle/>
                    <a:p>
                      <a:pPr algn="l" fontAlgn="b"/>
                      <a:endParaRPr lang="en-US" sz="1400" b="1" i="0" u="none" strike="noStrike" dirty="0">
                        <a:solidFill>
                          <a:srgbClr val="C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gridSpan="2">
                  <a:txBody>
                    <a:bodyPr/>
                    <a:lstStyle/>
                    <a:p>
                      <a:pPr algn="l" fontAlgn="b"/>
                      <a:r>
                        <a:rPr lang="en-US" sz="1400" b="1" i="0" u="none" strike="noStrike" dirty="0">
                          <a:solidFill>
                            <a:srgbClr val="C00000"/>
                          </a:solidFill>
                          <a:latin typeface="Calibri"/>
                        </a:rPr>
                        <a:t>VARIMI (</a:t>
                      </a:r>
                      <a:r>
                        <a:rPr lang="en-US" sz="1400" b="1" i="0" u="none" strike="noStrike" dirty="0" err="1">
                          <a:solidFill>
                            <a:srgbClr val="C00000"/>
                          </a:solidFill>
                          <a:latin typeface="Calibri"/>
                        </a:rPr>
                        <a:t>Pvt</a:t>
                      </a:r>
                      <a:r>
                        <a:rPr lang="en-US" sz="1400" b="1" i="0" u="none" strike="noStrike" dirty="0">
                          <a:solidFill>
                            <a:srgbClr val="C00000"/>
                          </a:solidFill>
                          <a:latin typeface="Calibri"/>
                        </a:rPr>
                        <a:t>) Ltd</a:t>
                      </a:r>
                    </a:p>
                  </a:txBody>
                  <a:tcPr marL="4671" marR="4671" marT="4671" marB="0" anchor="b">
                    <a:lnL>
                      <a:noFill/>
                    </a:lnL>
                    <a:lnR>
                      <a:noFill/>
                    </a:lnR>
                    <a:lnT>
                      <a:noFill/>
                    </a:lnT>
                    <a:lnB>
                      <a:noFill/>
                    </a:lnB>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a:txBody>
                    <a:bodyPr/>
                    <a:lstStyle/>
                    <a:p>
                      <a:pPr algn="l" fontAlgn="b"/>
                      <a:endParaRPr lang="en-US" sz="1400" b="1" i="0" u="none" strike="noStrike" dirty="0">
                        <a:solidFill>
                          <a:srgbClr val="C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gridSpan="4">
                  <a:txBody>
                    <a:bodyPr/>
                    <a:lstStyle/>
                    <a:p>
                      <a:pPr algn="l" fontAlgn="b"/>
                      <a:r>
                        <a:rPr lang="en-US" sz="1400" b="1" i="0" u="none" strike="noStrike" dirty="0">
                          <a:solidFill>
                            <a:srgbClr val="C00000"/>
                          </a:solidFill>
                          <a:latin typeface="Calibri"/>
                        </a:rPr>
                        <a:t>Computation of taxable Income</a:t>
                      </a:r>
                    </a:p>
                  </a:txBody>
                  <a:tcPr marL="4671" marR="4671" marT="4671"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a:txBody>
                    <a:bodyPr/>
                    <a:lstStyle/>
                    <a:p>
                      <a:pPr algn="l" fontAlgn="b"/>
                      <a:endParaRPr lang="en-US" sz="1400" b="1" i="0" u="none" strike="noStrike" dirty="0">
                        <a:solidFill>
                          <a:srgbClr val="C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gridSpan="4">
                  <a:txBody>
                    <a:bodyPr/>
                    <a:lstStyle/>
                    <a:p>
                      <a:pPr algn="l" fontAlgn="b"/>
                      <a:r>
                        <a:rPr lang="en-US" sz="1400" b="1" i="0" u="none" strike="noStrike" dirty="0">
                          <a:solidFill>
                            <a:srgbClr val="C00000"/>
                          </a:solidFill>
                          <a:latin typeface="Calibri"/>
                        </a:rPr>
                        <a:t>Year ended 31st December </a:t>
                      </a:r>
                      <a:r>
                        <a:rPr lang="en-US" sz="1400" b="1" i="0" u="none" strike="noStrike" dirty="0" smtClean="0">
                          <a:solidFill>
                            <a:srgbClr val="C00000"/>
                          </a:solidFill>
                          <a:latin typeface="Calibri"/>
                        </a:rPr>
                        <a:t>2012</a:t>
                      </a:r>
                      <a:endParaRPr lang="en-US" sz="1400" b="1" i="0" u="none" strike="noStrike" dirty="0">
                        <a:solidFill>
                          <a:srgbClr val="C00000"/>
                        </a:solidFill>
                        <a:latin typeface="Calibri"/>
                      </a:endParaRPr>
                    </a:p>
                  </a:txBody>
                  <a:tcPr marL="4671" marR="4671" marT="4671"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210207">
                <a:tc gridSpan="2">
                  <a:txBody>
                    <a:bodyPr/>
                    <a:lstStyle/>
                    <a:p>
                      <a:pPr algn="l" fontAlgn="b"/>
                      <a:r>
                        <a:rPr lang="en-US" sz="1400" b="0" i="0" u="none" strike="noStrike">
                          <a:solidFill>
                            <a:srgbClr val="000000"/>
                          </a:solidFill>
                          <a:latin typeface="Calibri"/>
                        </a:rPr>
                        <a:t>Profit per accounts</a:t>
                      </a:r>
                    </a:p>
                  </a:txBody>
                  <a:tcPr marL="4671" marR="4671" marT="4671" marB="0" anchor="b">
                    <a:lnL>
                      <a:noFill/>
                    </a:lnL>
                    <a:lnR>
                      <a:noFill/>
                    </a:lnR>
                    <a:lnT>
                      <a:noFill/>
                    </a:lnT>
                    <a:lnB>
                      <a:noFill/>
                    </a:lnB>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r>
                        <a:rPr lang="en-US" sz="1400" b="0" i="0" u="none" strike="noStrike">
                          <a:solidFill>
                            <a:srgbClr val="000000"/>
                          </a:solidFill>
                          <a:latin typeface="Calibri"/>
                        </a:rPr>
                        <a:t>       30,000 </a:t>
                      </a:r>
                    </a:p>
                  </a:txBody>
                  <a:tcPr marL="4671" marR="4671" marT="4671" marB="0" anchor="b">
                    <a:lnL>
                      <a:noFill/>
                    </a:lnL>
                    <a:lnR>
                      <a:noFill/>
                    </a:lnR>
                    <a:lnT>
                      <a:noFill/>
                    </a:lnT>
                    <a:lnB>
                      <a:noFill/>
                    </a:lnB>
                  </a:tcPr>
                </a:tc>
              </a:tr>
              <a:tr h="112110">
                <a:tc>
                  <a:txBody>
                    <a:bodyPr/>
                    <a:lstStyle/>
                    <a:p>
                      <a:pPr algn="l" fontAlgn="b"/>
                      <a:r>
                        <a:rPr lang="en-US" sz="1400" b="0" i="0" u="none" strike="noStrike">
                          <a:solidFill>
                            <a:srgbClr val="000000"/>
                          </a:solidFill>
                          <a:latin typeface="Calibri"/>
                        </a:rPr>
                        <a:t>Add:</a:t>
                      </a: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gridSpan="2">
                  <a:txBody>
                    <a:bodyPr/>
                    <a:lstStyle/>
                    <a:p>
                      <a:pPr algn="l" fontAlgn="b"/>
                      <a:r>
                        <a:rPr lang="en-US" sz="1400" b="0" i="0" u="none" strike="noStrike">
                          <a:solidFill>
                            <a:srgbClr val="000000"/>
                          </a:solidFill>
                          <a:latin typeface="Calibri"/>
                        </a:rPr>
                        <a:t>Depreciation</a:t>
                      </a:r>
                    </a:p>
                  </a:txBody>
                  <a:tcPr marL="4671" marR="4671" marT="4671" marB="0" anchor="b">
                    <a:lnL>
                      <a:noFill/>
                    </a:lnL>
                    <a:lnR>
                      <a:noFill/>
                    </a:lnR>
                    <a:lnT>
                      <a:noFill/>
                    </a:lnT>
                    <a:lnB>
                      <a:noFill/>
                    </a:lnB>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r>
                        <a:rPr lang="en-US" sz="1400" b="0" i="0" u="none" strike="noStrike">
                          <a:solidFill>
                            <a:srgbClr val="000000"/>
                          </a:solidFill>
                          <a:latin typeface="Calibri"/>
                        </a:rPr>
                        <a:t>       8,500 </a:t>
                      </a: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gridSpan="2">
                  <a:txBody>
                    <a:bodyPr/>
                    <a:lstStyle/>
                    <a:p>
                      <a:pPr algn="l" fontAlgn="b"/>
                      <a:r>
                        <a:rPr lang="en-US" sz="1400" b="0" i="0" u="none" strike="noStrike">
                          <a:solidFill>
                            <a:srgbClr val="000000"/>
                          </a:solidFill>
                          <a:latin typeface="Calibri"/>
                        </a:rPr>
                        <a:t>PAYE penalty</a:t>
                      </a:r>
                    </a:p>
                  </a:txBody>
                  <a:tcPr marL="4671" marR="4671" marT="4671" marB="0" anchor="b">
                    <a:lnL>
                      <a:noFill/>
                    </a:lnL>
                    <a:lnR>
                      <a:noFill/>
                    </a:lnR>
                    <a:lnT>
                      <a:noFill/>
                    </a:lnT>
                    <a:lnB>
                      <a:noFill/>
                    </a:lnB>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r>
                        <a:rPr lang="en-US" sz="1400" b="0" i="0" u="none" strike="noStrike">
                          <a:solidFill>
                            <a:srgbClr val="000000"/>
                          </a:solidFill>
                          <a:latin typeface="Calibri"/>
                        </a:rPr>
                        <a:t>       2,000 </a:t>
                      </a:r>
                    </a:p>
                  </a:txBody>
                  <a:tcPr marL="4671" marR="4671" marT="467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dirty="0">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400" b="0" i="0" u="none" strike="noStrike">
                          <a:solidFill>
                            <a:srgbClr val="000000"/>
                          </a:solidFill>
                          <a:latin typeface="Calibri"/>
                        </a:rPr>
                        <a:t>       10,500 </a:t>
                      </a:r>
                    </a:p>
                  </a:txBody>
                  <a:tcPr marL="4671" marR="4671" marT="4671" marB="0" anchor="b">
                    <a:lnL>
                      <a:noFill/>
                    </a:lnL>
                    <a:lnR>
                      <a:noFill/>
                    </a:lnR>
                    <a:lnT>
                      <a:noFill/>
                    </a:lnT>
                    <a:lnB w="6350" cap="flat" cmpd="sng" algn="ctr">
                      <a:solidFill>
                        <a:srgbClr val="000000"/>
                      </a:solidFill>
                      <a:prstDash val="solid"/>
                      <a:round/>
                      <a:headEnd type="none" w="med" len="med"/>
                      <a:tailEnd type="none" w="med" len="med"/>
                    </a:lnB>
                  </a:tcPr>
                </a:tc>
              </a:tr>
              <a:tr h="112110">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r>
                        <a:rPr lang="en-US" sz="1400" b="0" i="0" u="none" strike="noStrike">
                          <a:solidFill>
                            <a:srgbClr val="000000"/>
                          </a:solidFill>
                          <a:latin typeface="Calibri"/>
                        </a:rPr>
                        <a:t>       40,500 </a:t>
                      </a:r>
                    </a:p>
                  </a:txBody>
                  <a:tcPr marL="4671" marR="4671" marT="4671" marB="0" anchor="b">
                    <a:lnL>
                      <a:noFill/>
                    </a:lnL>
                    <a:lnR>
                      <a:noFill/>
                    </a:lnR>
                    <a:lnT w="6350" cap="flat" cmpd="sng" algn="ctr">
                      <a:solidFill>
                        <a:srgbClr val="000000"/>
                      </a:solidFill>
                      <a:prstDash val="solid"/>
                      <a:round/>
                      <a:headEnd type="none" w="med" len="med"/>
                      <a:tailEnd type="none" w="med" len="med"/>
                    </a:lnT>
                    <a:lnB>
                      <a:noFill/>
                    </a:lnB>
                  </a:tcPr>
                </a:tc>
              </a:tr>
              <a:tr h="112110">
                <a:tc>
                  <a:txBody>
                    <a:bodyPr/>
                    <a:lstStyle/>
                    <a:p>
                      <a:pPr algn="l" fontAlgn="b"/>
                      <a:r>
                        <a:rPr lang="en-US" sz="1400" b="0" i="0" u="none" strike="noStrike">
                          <a:solidFill>
                            <a:srgbClr val="000000"/>
                          </a:solidFill>
                          <a:latin typeface="Calibri"/>
                        </a:rPr>
                        <a:t>Less:</a:t>
                      </a: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210207">
                <a:tc gridSpan="2">
                  <a:txBody>
                    <a:bodyPr/>
                    <a:lstStyle/>
                    <a:p>
                      <a:pPr algn="l" fontAlgn="b"/>
                      <a:r>
                        <a:rPr lang="en-US" sz="1400" b="0" i="0" u="none" strike="noStrike">
                          <a:solidFill>
                            <a:srgbClr val="000000"/>
                          </a:solidFill>
                          <a:latin typeface="Calibri"/>
                        </a:rPr>
                        <a:t>Capital allowances :</a:t>
                      </a:r>
                    </a:p>
                  </a:txBody>
                  <a:tcPr marL="4671" marR="4671" marT="4671" marB="0" anchor="b">
                    <a:lnL>
                      <a:noFill/>
                    </a:lnL>
                    <a:lnR>
                      <a:noFill/>
                    </a:lnR>
                    <a:lnT>
                      <a:noFill/>
                    </a:lnT>
                    <a:lnB>
                      <a:noFill/>
                    </a:lnB>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gridSpan="5">
                  <a:txBody>
                    <a:bodyPr/>
                    <a:lstStyle/>
                    <a:p>
                      <a:pPr algn="l" fontAlgn="b"/>
                      <a:r>
                        <a:rPr lang="en-US" sz="1400" b="0" i="0" u="none" strike="noStrike">
                          <a:solidFill>
                            <a:srgbClr val="000000"/>
                          </a:solidFill>
                          <a:latin typeface="Calibri"/>
                        </a:rPr>
                        <a:t>Staff housing   Wear and tear 5% of $20,000 </a:t>
                      </a:r>
                    </a:p>
                  </a:txBody>
                  <a:tcPr marL="4671" marR="4671" marT="4671"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400" b="0" i="0" u="none" strike="noStrike">
                          <a:solidFill>
                            <a:srgbClr val="000000"/>
                          </a:solidFill>
                          <a:latin typeface="Calibri"/>
                        </a:rPr>
                        <a:t>       1,000 </a:t>
                      </a: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gridSpan="5">
                  <a:txBody>
                    <a:bodyPr/>
                    <a:lstStyle/>
                    <a:p>
                      <a:pPr algn="l" fontAlgn="b"/>
                      <a:r>
                        <a:rPr lang="en-US" sz="1400" b="0" i="0" u="none" strike="noStrike">
                          <a:solidFill>
                            <a:srgbClr val="000000"/>
                          </a:solidFill>
                          <a:latin typeface="Calibri"/>
                        </a:rPr>
                        <a:t>Tobacco barn :   Wear and tear 5% of $15,000 </a:t>
                      </a:r>
                    </a:p>
                  </a:txBody>
                  <a:tcPr marL="4671" marR="4671" marT="4671"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400" b="0" i="0" u="none" strike="noStrike">
                          <a:solidFill>
                            <a:srgbClr val="000000"/>
                          </a:solidFill>
                          <a:latin typeface="Calibri"/>
                        </a:rPr>
                        <a:t>          750 </a:t>
                      </a: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a:txBody>
                    <a:bodyPr/>
                    <a:lstStyle/>
                    <a:p>
                      <a:pPr algn="l" fontAlgn="b"/>
                      <a:r>
                        <a:rPr lang="en-US" sz="1400" b="0" i="0" u="none" strike="noStrike">
                          <a:solidFill>
                            <a:srgbClr val="000000"/>
                          </a:solidFill>
                          <a:latin typeface="Calibri"/>
                        </a:rPr>
                        <a:t>Dam</a:t>
                      </a: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ctr" fontAlgn="b"/>
                      <a:r>
                        <a:rPr lang="en-US" sz="1400" b="0" i="0" u="none" strike="noStrike">
                          <a:solidFill>
                            <a:srgbClr val="000000"/>
                          </a:solidFill>
                          <a:latin typeface="Calibri"/>
                        </a:rPr>
                        <a:t>             -   </a:t>
                      </a: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210207">
                <a:tc gridSpan="4">
                  <a:txBody>
                    <a:bodyPr/>
                    <a:lstStyle/>
                    <a:p>
                      <a:pPr algn="l" fontAlgn="b"/>
                      <a:r>
                        <a:rPr lang="en-US" sz="1400" b="0" i="0" u="none" strike="noStrike">
                          <a:solidFill>
                            <a:srgbClr val="000000"/>
                          </a:solidFill>
                          <a:latin typeface="Calibri"/>
                        </a:rPr>
                        <a:t>Irrigation equipment : SIA 25% of $12,000</a:t>
                      </a:r>
                    </a:p>
                  </a:txBody>
                  <a:tcPr marL="4671" marR="4671" marT="4671"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r>
                        <a:rPr lang="en-US" sz="1400" b="0" i="0" u="none" strike="noStrike">
                          <a:solidFill>
                            <a:srgbClr val="000000"/>
                          </a:solidFill>
                          <a:latin typeface="Calibri"/>
                        </a:rPr>
                        <a:t>       3,000 </a:t>
                      </a: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gridSpan="4">
                  <a:txBody>
                    <a:bodyPr/>
                    <a:lstStyle/>
                    <a:p>
                      <a:pPr algn="l" fontAlgn="b"/>
                      <a:r>
                        <a:rPr lang="en-US" sz="1400" b="0" i="0" u="none" strike="noStrike">
                          <a:solidFill>
                            <a:srgbClr val="000000"/>
                          </a:solidFill>
                          <a:latin typeface="Calibri"/>
                        </a:rPr>
                        <a:t>Farm tractors  : SIA 25% of $25,000</a:t>
                      </a:r>
                    </a:p>
                  </a:txBody>
                  <a:tcPr marL="4671" marR="4671" marT="4671"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r>
                        <a:rPr lang="en-US" sz="1400" b="0" i="0" u="none" strike="noStrike">
                          <a:solidFill>
                            <a:srgbClr val="000000"/>
                          </a:solidFill>
                          <a:latin typeface="Calibri"/>
                        </a:rPr>
                        <a:t>       6,250 </a:t>
                      </a: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gridSpan="4">
                  <a:txBody>
                    <a:bodyPr/>
                    <a:lstStyle/>
                    <a:p>
                      <a:pPr algn="l" fontAlgn="b"/>
                      <a:r>
                        <a:rPr lang="en-US" sz="1400" b="0" i="0" u="none" strike="noStrike">
                          <a:solidFill>
                            <a:srgbClr val="000000"/>
                          </a:solidFill>
                          <a:latin typeface="Calibri"/>
                        </a:rPr>
                        <a:t>Farm equpment  : SIA 25% of $14,000</a:t>
                      </a:r>
                    </a:p>
                  </a:txBody>
                  <a:tcPr marL="4671" marR="4671" marT="4671"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r>
                        <a:rPr lang="en-US" sz="1400" b="0" i="0" u="none" strike="noStrike">
                          <a:solidFill>
                            <a:srgbClr val="000000"/>
                          </a:solidFill>
                          <a:latin typeface="Calibri"/>
                        </a:rPr>
                        <a:t>       3,500 </a:t>
                      </a: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gridSpan="2">
                  <a:txBody>
                    <a:bodyPr/>
                    <a:lstStyle/>
                    <a:p>
                      <a:pPr algn="l" fontAlgn="b"/>
                      <a:r>
                        <a:rPr lang="en-US" sz="1400" b="0" i="0" u="none" strike="noStrike">
                          <a:solidFill>
                            <a:srgbClr val="000000"/>
                          </a:solidFill>
                          <a:latin typeface="Calibri"/>
                        </a:rPr>
                        <a:t>7th Schedule </a:t>
                      </a:r>
                    </a:p>
                  </a:txBody>
                  <a:tcPr marL="4671" marR="4671" marT="4671" marB="0" anchor="b">
                    <a:lnL>
                      <a:noFill/>
                    </a:lnL>
                    <a:lnR>
                      <a:noFill/>
                    </a:lnR>
                    <a:lnT>
                      <a:noFill/>
                    </a:lnT>
                    <a:lnB>
                      <a:noFill/>
                    </a:lnB>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210207">
                <a:tc gridSpan="3">
                  <a:txBody>
                    <a:bodyPr/>
                    <a:lstStyle/>
                    <a:p>
                      <a:pPr algn="l" fontAlgn="b"/>
                      <a:r>
                        <a:rPr lang="en-US" sz="1400" b="0" i="0" u="none" strike="noStrike">
                          <a:solidFill>
                            <a:srgbClr val="000000"/>
                          </a:solidFill>
                          <a:latin typeface="Calibri"/>
                        </a:rPr>
                        <a:t>Stumping and clearing of land</a:t>
                      </a:r>
                    </a:p>
                  </a:txBody>
                  <a:tcPr marL="4671" marR="4671" marT="4671"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r>
                        <a:rPr lang="en-US" sz="1400" b="0" i="0" u="none" strike="noStrike">
                          <a:solidFill>
                            <a:srgbClr val="000000"/>
                          </a:solidFill>
                          <a:latin typeface="Calibri"/>
                        </a:rPr>
                        <a:t>       4,000 </a:t>
                      </a: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210207">
                <a:tc gridSpan="3">
                  <a:txBody>
                    <a:bodyPr/>
                    <a:lstStyle/>
                    <a:p>
                      <a:pPr algn="l" fontAlgn="b"/>
                      <a:r>
                        <a:rPr lang="en-US" sz="1400" b="0" i="0" u="none" strike="noStrike">
                          <a:solidFill>
                            <a:srgbClr val="000000"/>
                          </a:solidFill>
                          <a:latin typeface="Calibri"/>
                        </a:rPr>
                        <a:t>Sinking of boreholes and wells</a:t>
                      </a:r>
                    </a:p>
                  </a:txBody>
                  <a:tcPr marL="4671" marR="4671" marT="4671"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r>
                        <a:rPr lang="en-US" sz="1400" b="0" i="0" u="none" strike="noStrike">
                          <a:solidFill>
                            <a:srgbClr val="000000"/>
                          </a:solidFill>
                          <a:latin typeface="Calibri"/>
                        </a:rPr>
                        <a:t>       6,000 </a:t>
                      </a: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gridSpan="2">
                  <a:txBody>
                    <a:bodyPr/>
                    <a:lstStyle/>
                    <a:p>
                      <a:pPr algn="l" fontAlgn="b"/>
                      <a:r>
                        <a:rPr lang="en-US" sz="1400" b="0" i="0" u="none" strike="noStrike">
                          <a:solidFill>
                            <a:srgbClr val="000000"/>
                          </a:solidFill>
                          <a:latin typeface="Calibri"/>
                        </a:rPr>
                        <a:t>New fencing</a:t>
                      </a:r>
                    </a:p>
                  </a:txBody>
                  <a:tcPr marL="4671" marR="4671" marT="4671" marB="0" anchor="b">
                    <a:lnL>
                      <a:noFill/>
                    </a:lnL>
                    <a:lnR>
                      <a:noFill/>
                    </a:lnR>
                    <a:lnT>
                      <a:noFill/>
                    </a:lnT>
                    <a:lnB>
                      <a:noFill/>
                    </a:lnB>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r>
                        <a:rPr lang="en-US" sz="1400" b="0" i="0" u="none" strike="noStrike">
                          <a:solidFill>
                            <a:srgbClr val="000000"/>
                          </a:solidFill>
                          <a:latin typeface="Calibri"/>
                        </a:rPr>
                        <a:t>       5,000 </a:t>
                      </a: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r>
                        <a:rPr lang="en-US" sz="1400" b="0" i="0" u="none" strike="noStrike">
                          <a:solidFill>
                            <a:srgbClr val="000000"/>
                          </a:solidFill>
                          <a:latin typeface="Calibri"/>
                        </a:rPr>
                        <a:t> </a:t>
                      </a:r>
                    </a:p>
                  </a:txBody>
                  <a:tcPr marL="4671" marR="4671" marT="467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r>
              <a:tr h="112110">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400" b="0" i="0" u="none" strike="noStrike">
                          <a:solidFill>
                            <a:srgbClr val="000000"/>
                          </a:solidFill>
                          <a:latin typeface="Calibri"/>
                        </a:rPr>
                        <a:t>      (29,500)</a:t>
                      </a:r>
                    </a:p>
                  </a:txBody>
                  <a:tcPr marL="4671" marR="4671" marT="4671" marB="0" anchor="b">
                    <a:lnL>
                      <a:noFill/>
                    </a:lnL>
                    <a:lnR>
                      <a:noFill/>
                    </a:lnR>
                    <a:lnT>
                      <a:noFill/>
                    </a:lnT>
                    <a:lnB w="6350" cap="flat" cmpd="sng" algn="ctr">
                      <a:solidFill>
                        <a:srgbClr val="000000"/>
                      </a:solidFill>
                      <a:prstDash val="solid"/>
                      <a:round/>
                      <a:headEnd type="none" w="med" len="med"/>
                      <a:tailEnd type="none" w="med" len="med"/>
                    </a:lnB>
                  </a:tcPr>
                </a:tc>
              </a:tr>
              <a:tr h="210207">
                <a:tc gridSpan="3">
                  <a:txBody>
                    <a:bodyPr/>
                    <a:lstStyle/>
                    <a:p>
                      <a:pPr algn="l" fontAlgn="b"/>
                      <a:r>
                        <a:rPr lang="en-US" sz="1400" b="0" i="0" u="none" strike="noStrike">
                          <a:solidFill>
                            <a:srgbClr val="000000"/>
                          </a:solidFill>
                          <a:latin typeface="Calibri"/>
                        </a:rPr>
                        <a:t>Taxable income for the year</a:t>
                      </a:r>
                    </a:p>
                  </a:txBody>
                  <a:tcPr marL="4671" marR="4671" marT="4671"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4671" marR="4671" marT="4671" marB="0" anchor="b">
                    <a:lnL>
                      <a:noFill/>
                    </a:lnL>
                    <a:lnR>
                      <a:noFill/>
                    </a:lnR>
                    <a:lnT>
                      <a:noFill/>
                    </a:lnT>
                    <a:lnB>
                      <a:noFill/>
                    </a:lnB>
                  </a:tcPr>
                </a:tc>
                <a:tc>
                  <a:txBody>
                    <a:bodyPr/>
                    <a:lstStyle/>
                    <a:p>
                      <a:pPr algn="l" fontAlgn="b"/>
                      <a:r>
                        <a:rPr lang="en-US" sz="1400" b="0" i="0" u="none" strike="noStrike" dirty="0">
                          <a:solidFill>
                            <a:srgbClr val="000000"/>
                          </a:solidFill>
                          <a:latin typeface="Calibri"/>
                        </a:rPr>
                        <a:t>       11,000 </a:t>
                      </a:r>
                    </a:p>
                  </a:txBody>
                  <a:tcPr marL="4671" marR="4671" marT="4671"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1"/>
          <p:cNvSpPr>
            <a:spLocks noGrp="1"/>
          </p:cNvSpPr>
          <p:nvPr>
            <p:ph type="ctrTitle"/>
          </p:nvPr>
        </p:nvSpPr>
        <p:spPr>
          <a:xfrm>
            <a:off x="685800" y="609600"/>
            <a:ext cx="7772400" cy="5257800"/>
          </a:xfrm>
          <a:solidFill>
            <a:schemeClr val="accent6">
              <a:lumMod val="75000"/>
            </a:schemeClr>
          </a:solidFill>
          <a:ln>
            <a:solidFill>
              <a:srgbClr val="00B050"/>
            </a:solidFill>
          </a:ln>
        </p:spPr>
        <p:txBody>
          <a:bodyPr/>
          <a:lstStyle/>
          <a:p>
            <a:pPr>
              <a:defRPr/>
            </a:pPr>
            <a:r>
              <a:rPr lang="en-ZW" dirty="0" smtClean="0">
                <a:solidFill>
                  <a:schemeClr val="bg1"/>
                </a:solidFill>
              </a:rPr>
              <a:t> Livestock Farming</a:t>
            </a:r>
            <a:r>
              <a:rPr lang="en-ZW" dirty="0" smtClean="0">
                <a:solidFill>
                  <a:srgbClr val="FF0000"/>
                </a:solidFill>
              </a:rPr>
              <a:t> </a:t>
            </a:r>
            <a:br>
              <a:rPr lang="en-ZW" dirty="0" smtClean="0">
                <a:solidFill>
                  <a:srgbClr val="FF0000"/>
                </a:solidFill>
              </a:rPr>
            </a:br>
            <a:endParaRPr lang="en-ZW" dirty="0" smtClean="0">
              <a:solidFill>
                <a:srgbClr val="FF0000"/>
              </a:solidFill>
            </a:endParaRPr>
          </a:p>
        </p:txBody>
      </p:sp>
      <p:sp>
        <p:nvSpPr>
          <p:cNvPr id="13315" name="Subtitle 3"/>
          <p:cNvSpPr>
            <a:spLocks noGrp="1"/>
          </p:cNvSpPr>
          <p:nvPr>
            <p:ph type="subTitle" idx="1"/>
          </p:nvPr>
        </p:nvSpPr>
        <p:spPr/>
        <p:txBody>
          <a:bodyPr/>
          <a:lstStyle/>
          <a:p>
            <a:pPr>
              <a:buFont typeface="Arial" charset="0"/>
              <a:buNone/>
              <a:defRPr/>
            </a:pPr>
            <a:endParaRPr lang="en-ZW" dirty="0" smtClean="0"/>
          </a:p>
          <a:p>
            <a:pPr>
              <a:buFont typeface="Arial" charset="0"/>
              <a:buNone/>
              <a:defRPr/>
            </a:pPr>
            <a:endParaRPr lang="en-ZW"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ctrTitle"/>
          </p:nvPr>
        </p:nvSpPr>
        <p:spPr>
          <a:xfrm>
            <a:off x="685800" y="533400"/>
            <a:ext cx="7772400" cy="1066800"/>
          </a:xfrm>
        </p:spPr>
        <p:txBody>
          <a:bodyPr>
            <a:normAutofit fontScale="90000"/>
          </a:bodyPr>
          <a:lstStyle/>
          <a:p>
            <a:pPr eaLnBrk="1" hangingPunct="1"/>
            <a:r>
              <a:rPr lang="en-ZW" sz="3600" b="1" smtClean="0">
                <a:solidFill>
                  <a:srgbClr val="C00000"/>
                </a:solidFill>
              </a:rPr>
              <a:t>LIVESTOCK VALUATION</a:t>
            </a:r>
            <a:br>
              <a:rPr lang="en-ZW" sz="3600" b="1" smtClean="0">
                <a:solidFill>
                  <a:srgbClr val="C00000"/>
                </a:solidFill>
              </a:rPr>
            </a:br>
            <a:endParaRPr lang="en-ZW" sz="3600" b="1" smtClean="0">
              <a:solidFill>
                <a:srgbClr val="C00000"/>
              </a:solidFill>
            </a:endParaRPr>
          </a:p>
        </p:txBody>
      </p:sp>
      <p:sp>
        <p:nvSpPr>
          <p:cNvPr id="3" name="Subtitle 2"/>
          <p:cNvSpPr>
            <a:spLocks noGrp="1"/>
          </p:cNvSpPr>
          <p:nvPr>
            <p:ph type="subTitle" idx="1"/>
          </p:nvPr>
        </p:nvSpPr>
        <p:spPr>
          <a:xfrm>
            <a:off x="381000" y="1524000"/>
            <a:ext cx="8534400" cy="4648200"/>
          </a:xfrm>
        </p:spPr>
        <p:txBody>
          <a:bodyPr rtlCol="0">
            <a:normAutofit/>
          </a:bodyPr>
          <a:lstStyle/>
          <a:p>
            <a:pPr marL="457200" indent="-457200" algn="l" eaLnBrk="1" fontAlgn="auto" hangingPunct="1">
              <a:spcAft>
                <a:spcPts val="0"/>
              </a:spcAft>
              <a:buFont typeface="Arial" charset="0"/>
              <a:buNone/>
              <a:defRPr/>
            </a:pPr>
            <a:r>
              <a:rPr lang="en-ZW" sz="2400" b="1" dirty="0" smtClean="0">
                <a:solidFill>
                  <a:srgbClr val="FF0000"/>
                </a:solidFill>
              </a:rPr>
              <a:t>Livestock acquired without payment</a:t>
            </a:r>
            <a:r>
              <a:rPr lang="en-ZW" sz="2400" b="1" dirty="0" smtClean="0">
                <a:solidFill>
                  <a:schemeClr val="tx2">
                    <a:lumMod val="75000"/>
                  </a:schemeClr>
                </a:solidFill>
              </a:rPr>
              <a:t>.</a:t>
            </a:r>
          </a:p>
          <a:p>
            <a:pPr marL="457200" indent="-457200" algn="l" eaLnBrk="1" fontAlgn="auto" hangingPunct="1">
              <a:spcAft>
                <a:spcPts val="0"/>
              </a:spcAft>
              <a:buFont typeface="Arial" charset="0"/>
              <a:buNone/>
              <a:defRPr/>
            </a:pPr>
            <a:endParaRPr lang="en-ZW" sz="2400" dirty="0" smtClean="0">
              <a:solidFill>
                <a:schemeClr val="tx2">
                  <a:lumMod val="75000"/>
                </a:schemeClr>
              </a:solidFill>
            </a:endParaRPr>
          </a:p>
          <a:p>
            <a:pPr marL="457200" indent="-457200" algn="l" eaLnBrk="1" fontAlgn="auto" hangingPunct="1">
              <a:spcAft>
                <a:spcPts val="0"/>
              </a:spcAft>
              <a:buFont typeface="Arial" charset="0"/>
              <a:buNone/>
              <a:defRPr/>
            </a:pPr>
            <a:r>
              <a:rPr lang="en-ZW" sz="2400" dirty="0" smtClean="0">
                <a:solidFill>
                  <a:schemeClr val="tx1"/>
                </a:solidFill>
              </a:rPr>
              <a:t>Valuation of livestock acquired by inheritance or donations:</a:t>
            </a:r>
          </a:p>
          <a:p>
            <a:pPr marL="457200" indent="-457200" algn="l" eaLnBrk="1" fontAlgn="auto" hangingPunct="1">
              <a:spcAft>
                <a:spcPts val="0"/>
              </a:spcAft>
              <a:buFont typeface="Arial" charset="0"/>
              <a:buNone/>
              <a:defRPr/>
            </a:pPr>
            <a:endParaRPr lang="en-ZW" sz="2400" dirty="0" smtClean="0">
              <a:solidFill>
                <a:schemeClr val="tx1"/>
              </a:solidFill>
            </a:endParaRPr>
          </a:p>
          <a:p>
            <a:pPr marL="457200" indent="-457200" algn="l" eaLnBrk="1" fontAlgn="auto" hangingPunct="1">
              <a:spcAft>
                <a:spcPts val="0"/>
              </a:spcAft>
              <a:buFont typeface="Arial" charset="0"/>
              <a:buNone/>
              <a:defRPr/>
            </a:pPr>
            <a:r>
              <a:rPr lang="en-ZW" sz="2400" dirty="0" smtClean="0">
                <a:solidFill>
                  <a:schemeClr val="tx1"/>
                </a:solidFill>
              </a:rPr>
              <a:t>	(</a:t>
            </a:r>
            <a:r>
              <a:rPr lang="en-ZW" sz="2400" dirty="0" err="1" smtClean="0">
                <a:solidFill>
                  <a:schemeClr val="tx1"/>
                </a:solidFill>
              </a:rPr>
              <a:t>i</a:t>
            </a:r>
            <a:r>
              <a:rPr lang="en-ZW" sz="2400" dirty="0" smtClean="0">
                <a:solidFill>
                  <a:schemeClr val="tx1"/>
                </a:solidFill>
              </a:rPr>
              <a:t>)  If heir or </a:t>
            </a:r>
            <a:r>
              <a:rPr lang="en-ZW" sz="2400" dirty="0" err="1" smtClean="0">
                <a:solidFill>
                  <a:schemeClr val="tx1"/>
                </a:solidFill>
              </a:rPr>
              <a:t>donee</a:t>
            </a:r>
            <a:r>
              <a:rPr lang="en-ZW" sz="2400" dirty="0" smtClean="0">
                <a:solidFill>
                  <a:schemeClr val="tx1"/>
                </a:solidFill>
              </a:rPr>
              <a:t>  merely sells the livestock without       </a:t>
            </a:r>
          </a:p>
          <a:p>
            <a:pPr marL="457200" indent="-457200" algn="l" eaLnBrk="1" fontAlgn="auto" hangingPunct="1">
              <a:spcAft>
                <a:spcPts val="0"/>
              </a:spcAft>
              <a:buFont typeface="Arial" charset="0"/>
              <a:buNone/>
              <a:defRPr/>
            </a:pPr>
            <a:r>
              <a:rPr lang="en-ZW" sz="2400" dirty="0" smtClean="0">
                <a:solidFill>
                  <a:schemeClr val="tx1"/>
                </a:solidFill>
              </a:rPr>
              <a:t>            conducting farming operations , the proceeds are of a capital </a:t>
            </a:r>
          </a:p>
          <a:p>
            <a:pPr marL="457200" indent="-457200" algn="l" eaLnBrk="1" fontAlgn="auto" hangingPunct="1">
              <a:spcAft>
                <a:spcPts val="0"/>
              </a:spcAft>
              <a:buFont typeface="Arial" charset="0"/>
              <a:buNone/>
              <a:defRPr/>
            </a:pPr>
            <a:r>
              <a:rPr lang="en-ZW" sz="2400" dirty="0" smtClean="0">
                <a:solidFill>
                  <a:schemeClr val="tx1"/>
                </a:solidFill>
              </a:rPr>
              <a:t>            nature; </a:t>
            </a:r>
          </a:p>
          <a:p>
            <a:pPr algn="l" eaLnBrk="1" fontAlgn="auto" hangingPunct="1">
              <a:spcAft>
                <a:spcPts val="0"/>
              </a:spcAft>
              <a:buFont typeface="Arial" charset="0"/>
              <a:buNone/>
              <a:defRPr/>
            </a:pPr>
            <a:r>
              <a:rPr lang="en-ZW" sz="2400" dirty="0" smtClean="0">
                <a:solidFill>
                  <a:schemeClr val="tx1"/>
                </a:solidFill>
              </a:rPr>
              <a:t>     (ii)   If livestock farming is commenced or livestock introduced </a:t>
            </a:r>
          </a:p>
          <a:p>
            <a:pPr algn="l" eaLnBrk="1" fontAlgn="auto" hangingPunct="1">
              <a:spcAft>
                <a:spcPts val="0"/>
              </a:spcAft>
              <a:buFont typeface="Arial" charset="0"/>
              <a:buNone/>
              <a:defRPr/>
            </a:pPr>
            <a:r>
              <a:rPr lang="en-ZW" sz="2400" dirty="0" smtClean="0">
                <a:solidFill>
                  <a:schemeClr val="tx1"/>
                </a:solidFill>
              </a:rPr>
              <a:t>             into existing farming operations a deduction is allowed.</a:t>
            </a:r>
          </a:p>
          <a:p>
            <a:pPr algn="l" eaLnBrk="1" fontAlgn="auto" hangingPunct="1">
              <a:spcAft>
                <a:spcPts val="0"/>
              </a:spcAft>
              <a:buFont typeface="Arial" charset="0"/>
              <a:buNone/>
              <a:defRPr/>
            </a:pPr>
            <a:endParaRPr lang="en-ZW" sz="2400" dirty="0" smtClean="0">
              <a:solidFill>
                <a:schemeClr val="tx1"/>
              </a:solidFill>
            </a:endParaRPr>
          </a:p>
          <a:p>
            <a:pPr algn="l" eaLnBrk="1" fontAlgn="auto" hangingPunct="1">
              <a:spcAft>
                <a:spcPts val="0"/>
              </a:spcAft>
              <a:buFont typeface="Wingdings" pitchFamily="2" charset="2"/>
              <a:buChar char="Ø"/>
              <a:defRPr/>
            </a:pPr>
            <a:endParaRPr lang="en-ZW"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ctrTitle"/>
          </p:nvPr>
        </p:nvSpPr>
        <p:spPr>
          <a:xfrm>
            <a:off x="685800" y="533400"/>
            <a:ext cx="7772400" cy="1066800"/>
          </a:xfrm>
        </p:spPr>
        <p:txBody>
          <a:bodyPr>
            <a:normAutofit fontScale="90000"/>
          </a:bodyPr>
          <a:lstStyle/>
          <a:p>
            <a:pPr eaLnBrk="1" hangingPunct="1"/>
            <a:r>
              <a:rPr lang="en-ZW" sz="3600" b="1" smtClean="0">
                <a:solidFill>
                  <a:srgbClr val="C00000"/>
                </a:solidFill>
              </a:rPr>
              <a:t>LIVESTOCK VALUATION</a:t>
            </a:r>
            <a:br>
              <a:rPr lang="en-ZW" sz="3600" b="1" smtClean="0">
                <a:solidFill>
                  <a:srgbClr val="C00000"/>
                </a:solidFill>
              </a:rPr>
            </a:br>
            <a:endParaRPr lang="en-ZW" sz="3600" b="1" smtClean="0">
              <a:solidFill>
                <a:srgbClr val="C00000"/>
              </a:solidFill>
            </a:endParaRPr>
          </a:p>
        </p:txBody>
      </p:sp>
      <p:sp>
        <p:nvSpPr>
          <p:cNvPr id="3" name="Subtitle 2"/>
          <p:cNvSpPr>
            <a:spLocks noGrp="1"/>
          </p:cNvSpPr>
          <p:nvPr>
            <p:ph type="subTitle" idx="1"/>
          </p:nvPr>
        </p:nvSpPr>
        <p:spPr>
          <a:xfrm>
            <a:off x="381000" y="1524000"/>
            <a:ext cx="8534400" cy="4648200"/>
          </a:xfrm>
        </p:spPr>
        <p:txBody>
          <a:bodyPr rtlCol="0">
            <a:normAutofit/>
          </a:bodyPr>
          <a:lstStyle/>
          <a:p>
            <a:pPr marL="457200" indent="-457200" algn="l" eaLnBrk="1" fontAlgn="auto" hangingPunct="1">
              <a:spcAft>
                <a:spcPts val="0"/>
              </a:spcAft>
              <a:buFont typeface="Arial" charset="0"/>
              <a:buNone/>
              <a:defRPr/>
            </a:pPr>
            <a:r>
              <a:rPr lang="en-ZW" sz="2400" b="1" dirty="0" smtClean="0">
                <a:solidFill>
                  <a:srgbClr val="FF0000"/>
                </a:solidFill>
              </a:rPr>
              <a:t>Livestock acquired without payment</a:t>
            </a:r>
            <a:r>
              <a:rPr lang="en-ZW" sz="2400" b="1" dirty="0" smtClean="0">
                <a:solidFill>
                  <a:schemeClr val="tx2">
                    <a:lumMod val="75000"/>
                  </a:schemeClr>
                </a:solidFill>
              </a:rPr>
              <a:t>.</a:t>
            </a:r>
          </a:p>
          <a:p>
            <a:pPr marL="457200" indent="-457200" algn="l" eaLnBrk="1" fontAlgn="auto" hangingPunct="1">
              <a:spcAft>
                <a:spcPts val="0"/>
              </a:spcAft>
              <a:buFont typeface="Arial" charset="0"/>
              <a:buNone/>
              <a:defRPr/>
            </a:pPr>
            <a:endParaRPr lang="en-ZW" sz="2400" dirty="0" smtClean="0">
              <a:solidFill>
                <a:schemeClr val="tx2">
                  <a:lumMod val="75000"/>
                </a:schemeClr>
              </a:solidFill>
            </a:endParaRPr>
          </a:p>
          <a:p>
            <a:pPr marL="457200" indent="-457200" algn="l" eaLnBrk="1" fontAlgn="auto" hangingPunct="1">
              <a:spcAft>
                <a:spcPts val="0"/>
              </a:spcAft>
              <a:buFont typeface="Arial" charset="0"/>
              <a:buNone/>
              <a:defRPr/>
            </a:pPr>
            <a:r>
              <a:rPr lang="en-ZW" sz="2400" dirty="0" smtClean="0">
                <a:solidFill>
                  <a:schemeClr val="tx1"/>
                </a:solidFill>
              </a:rPr>
              <a:t>Valuation of livestock acquired by inheritance or donations:</a:t>
            </a:r>
          </a:p>
          <a:p>
            <a:pPr marL="457200" indent="-457200" algn="l" eaLnBrk="1" fontAlgn="auto" hangingPunct="1">
              <a:spcAft>
                <a:spcPts val="0"/>
              </a:spcAft>
              <a:buFont typeface="Arial" charset="0"/>
              <a:buNone/>
              <a:defRPr/>
            </a:pPr>
            <a:endParaRPr lang="en-ZW" sz="2400" dirty="0" smtClean="0">
              <a:solidFill>
                <a:schemeClr val="tx1"/>
              </a:solidFill>
            </a:endParaRPr>
          </a:p>
          <a:p>
            <a:pPr marL="457200" indent="-457200" algn="l" eaLnBrk="1" fontAlgn="auto" hangingPunct="1">
              <a:spcAft>
                <a:spcPts val="0"/>
              </a:spcAft>
              <a:buFont typeface="Arial" charset="0"/>
              <a:buNone/>
              <a:defRPr/>
            </a:pPr>
            <a:r>
              <a:rPr lang="en-ZW" sz="2400" dirty="0" smtClean="0">
                <a:solidFill>
                  <a:schemeClr val="tx1"/>
                </a:solidFill>
              </a:rPr>
              <a:t>	(</a:t>
            </a:r>
            <a:r>
              <a:rPr lang="en-ZW" sz="2400" dirty="0" err="1" smtClean="0">
                <a:solidFill>
                  <a:schemeClr val="tx1"/>
                </a:solidFill>
              </a:rPr>
              <a:t>i</a:t>
            </a:r>
            <a:r>
              <a:rPr lang="en-ZW" sz="2400" dirty="0" smtClean="0">
                <a:solidFill>
                  <a:schemeClr val="tx1"/>
                </a:solidFill>
              </a:rPr>
              <a:t>)  to an heir, the fair market value ,for which the valuation in      </a:t>
            </a:r>
          </a:p>
          <a:p>
            <a:pPr marL="457200" indent="-457200" algn="l" eaLnBrk="1" fontAlgn="auto" hangingPunct="1">
              <a:spcAft>
                <a:spcPts val="0"/>
              </a:spcAft>
              <a:buFont typeface="Arial" charset="0"/>
              <a:buNone/>
              <a:defRPr/>
            </a:pPr>
            <a:r>
              <a:rPr lang="en-ZW" sz="2400" dirty="0" smtClean="0">
                <a:solidFill>
                  <a:schemeClr val="tx1"/>
                </a:solidFill>
              </a:rPr>
              <a:t>             the estate concerned would be used;      </a:t>
            </a:r>
          </a:p>
          <a:p>
            <a:pPr marL="457200" indent="-457200" algn="l" eaLnBrk="1" fontAlgn="auto" hangingPunct="1">
              <a:spcAft>
                <a:spcPts val="0"/>
              </a:spcAft>
              <a:buFont typeface="Arial" charset="0"/>
              <a:buNone/>
              <a:defRPr/>
            </a:pPr>
            <a:r>
              <a:rPr lang="en-ZW" sz="2400" dirty="0" smtClean="0">
                <a:solidFill>
                  <a:schemeClr val="tx1"/>
                </a:solidFill>
              </a:rPr>
              <a:t>             </a:t>
            </a:r>
          </a:p>
          <a:p>
            <a:pPr algn="l" eaLnBrk="1" fontAlgn="auto" hangingPunct="1">
              <a:spcAft>
                <a:spcPts val="0"/>
              </a:spcAft>
              <a:buFont typeface="Arial" charset="0"/>
              <a:buNone/>
              <a:defRPr/>
            </a:pPr>
            <a:r>
              <a:rPr lang="en-ZW" sz="2400" dirty="0" smtClean="0">
                <a:solidFill>
                  <a:schemeClr val="tx1"/>
                </a:solidFill>
              </a:rPr>
              <a:t>     (ii)   to a </a:t>
            </a:r>
            <a:r>
              <a:rPr lang="en-ZW" sz="2400" dirty="0" err="1" smtClean="0">
                <a:solidFill>
                  <a:schemeClr val="tx1"/>
                </a:solidFill>
              </a:rPr>
              <a:t>donee</a:t>
            </a:r>
            <a:r>
              <a:rPr lang="en-ZW" sz="2400" dirty="0" smtClean="0">
                <a:solidFill>
                  <a:schemeClr val="tx1"/>
                </a:solidFill>
              </a:rPr>
              <a:t>, an amount not exceeding what would have </a:t>
            </a:r>
          </a:p>
          <a:p>
            <a:pPr algn="l" eaLnBrk="1" fontAlgn="auto" hangingPunct="1">
              <a:spcAft>
                <a:spcPts val="0"/>
              </a:spcAft>
              <a:buFont typeface="Arial" charset="0"/>
              <a:buNone/>
              <a:defRPr/>
            </a:pPr>
            <a:r>
              <a:rPr lang="en-ZW" sz="2400" dirty="0" smtClean="0">
                <a:solidFill>
                  <a:schemeClr val="tx1"/>
                </a:solidFill>
              </a:rPr>
              <a:t>            been deductible in the donor’s hands had he sold the        </a:t>
            </a:r>
          </a:p>
          <a:p>
            <a:pPr algn="l" eaLnBrk="1" fontAlgn="auto" hangingPunct="1">
              <a:spcAft>
                <a:spcPts val="0"/>
              </a:spcAft>
              <a:buFont typeface="Arial" charset="0"/>
              <a:buNone/>
              <a:defRPr/>
            </a:pPr>
            <a:r>
              <a:rPr lang="en-ZW" sz="2400" dirty="0" smtClean="0">
                <a:solidFill>
                  <a:schemeClr val="tx1"/>
                </a:solidFill>
              </a:rPr>
              <a:t>             livestock: this is normally the FSV of livestock</a:t>
            </a:r>
          </a:p>
          <a:p>
            <a:pPr algn="l" eaLnBrk="1" fontAlgn="auto" hangingPunct="1">
              <a:spcAft>
                <a:spcPts val="0"/>
              </a:spcAft>
              <a:buFont typeface="Arial" charset="0"/>
              <a:buNone/>
              <a:defRPr/>
            </a:pPr>
            <a:endParaRPr lang="en-ZW" sz="2400" dirty="0" smtClean="0">
              <a:solidFill>
                <a:schemeClr val="tx1"/>
              </a:solidFill>
            </a:endParaRPr>
          </a:p>
          <a:p>
            <a:pPr algn="l" eaLnBrk="1" fontAlgn="auto" hangingPunct="1">
              <a:spcAft>
                <a:spcPts val="0"/>
              </a:spcAft>
              <a:buFont typeface="Wingdings" pitchFamily="2" charset="2"/>
              <a:buChar char="Ø"/>
              <a:defRPr/>
            </a:pPr>
            <a:endParaRPr lang="en-ZW"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381000" y="990600"/>
            <a:ext cx="8229600" cy="609600"/>
          </a:xfrm>
        </p:spPr>
        <p:txBody>
          <a:bodyPr>
            <a:normAutofit fontScale="90000"/>
          </a:bodyPr>
          <a:lstStyle/>
          <a:p>
            <a:pPr eaLnBrk="1" hangingPunct="1"/>
            <a:r>
              <a:rPr lang="en-GB" sz="3200" b="1" u="sng" smtClean="0">
                <a:solidFill>
                  <a:srgbClr val="C00000"/>
                </a:solidFill>
              </a:rPr>
              <a:t>Taxable income</a:t>
            </a:r>
            <a:br>
              <a:rPr lang="en-GB" sz="3200" b="1" u="sng" smtClean="0">
                <a:solidFill>
                  <a:srgbClr val="C00000"/>
                </a:solidFill>
              </a:rPr>
            </a:br>
            <a:r>
              <a:rPr lang="en-GB" sz="3200" b="1" u="sng" smtClean="0">
                <a:solidFill>
                  <a:srgbClr val="C00000"/>
                </a:solidFill>
              </a:rPr>
              <a:t> from drought sales </a:t>
            </a:r>
            <a:r>
              <a:rPr lang="en-GB" sz="3600" b="1" u="sng" smtClean="0">
                <a:solidFill>
                  <a:srgbClr val="C00000"/>
                </a:solidFill>
              </a:rPr>
              <a:t/>
            </a:r>
            <a:br>
              <a:rPr lang="en-GB" sz="3600" b="1" u="sng" smtClean="0">
                <a:solidFill>
                  <a:srgbClr val="C00000"/>
                </a:solidFill>
              </a:rPr>
            </a:br>
            <a:r>
              <a:rPr lang="en-GB" sz="3600" b="1" u="sng" smtClean="0">
                <a:solidFill>
                  <a:srgbClr val="C00000"/>
                </a:solidFill>
              </a:rPr>
              <a:t/>
            </a:r>
            <a:br>
              <a:rPr lang="en-GB" sz="3600" b="1" u="sng" smtClean="0">
                <a:solidFill>
                  <a:srgbClr val="C00000"/>
                </a:solidFill>
              </a:rPr>
            </a:br>
            <a:endParaRPr lang="en-ZW" sz="3600" b="1" smtClean="0">
              <a:solidFill>
                <a:srgbClr val="FF0000"/>
              </a:solidFill>
            </a:endParaRPr>
          </a:p>
        </p:txBody>
      </p:sp>
      <p:sp>
        <p:nvSpPr>
          <p:cNvPr id="38915" name="Content Placeholder 2"/>
          <p:cNvSpPr>
            <a:spLocks noGrp="1"/>
          </p:cNvSpPr>
          <p:nvPr>
            <p:ph idx="1"/>
          </p:nvPr>
        </p:nvSpPr>
        <p:spPr>
          <a:xfrm>
            <a:off x="914400" y="1905000"/>
            <a:ext cx="8229600" cy="4525963"/>
          </a:xfrm>
        </p:spPr>
        <p:txBody>
          <a:bodyPr/>
          <a:lstStyle/>
          <a:p>
            <a:pPr>
              <a:buFont typeface="Arial" pitchFamily="34" charset="0"/>
              <a:buNone/>
            </a:pPr>
            <a:r>
              <a:rPr lang="en-GB" sz="2800" smtClean="0"/>
              <a:t> </a:t>
            </a:r>
            <a:endParaRPr lang="en-US" sz="2800" smtClean="0"/>
          </a:p>
          <a:p>
            <a:pPr>
              <a:buFont typeface="Arial" pitchFamily="34" charset="0"/>
              <a:buNone/>
            </a:pPr>
            <a:r>
              <a:rPr lang="en-GB" sz="2400" smtClean="0"/>
              <a:t>Proceeds from drought sales	                                                  XX</a:t>
            </a:r>
            <a:endParaRPr lang="en-US" sz="2400" smtClean="0"/>
          </a:p>
          <a:p>
            <a:pPr>
              <a:buFont typeface="Arial" pitchFamily="34" charset="0"/>
              <a:buNone/>
            </a:pPr>
            <a:r>
              <a:rPr lang="en-GB" sz="2400" smtClean="0"/>
              <a:t>Less :</a:t>
            </a:r>
            <a:endParaRPr lang="en-US" sz="2400" smtClean="0"/>
          </a:p>
          <a:p>
            <a:pPr>
              <a:buFont typeface="Arial" pitchFamily="34" charset="0"/>
              <a:buNone/>
            </a:pPr>
            <a:r>
              <a:rPr lang="en-GB" sz="2400" smtClean="0"/>
              <a:t> (a)	number sold * fixed standard value 	                       XX</a:t>
            </a:r>
            <a:endParaRPr lang="en-US" sz="2400" smtClean="0"/>
          </a:p>
          <a:p>
            <a:pPr>
              <a:buFont typeface="Arial" pitchFamily="34" charset="0"/>
              <a:buNone/>
            </a:pPr>
            <a:r>
              <a:rPr lang="en-GB" sz="2400" smtClean="0"/>
              <a:t> (b)	</a:t>
            </a:r>
            <a:r>
              <a:rPr lang="en-GB" sz="2400" u="sng" smtClean="0"/>
              <a:t>total no. sold * livestock expenses                            </a:t>
            </a:r>
            <a:endParaRPr lang="en-US" sz="2400" u="sng" smtClean="0"/>
          </a:p>
          <a:p>
            <a:pPr>
              <a:buFont typeface="Arial" pitchFamily="34" charset="0"/>
              <a:buNone/>
            </a:pPr>
            <a:r>
              <a:rPr lang="en-GB" sz="2400" smtClean="0"/>
              <a:t>                               Average stock                                               XX</a:t>
            </a:r>
            <a:endParaRPr lang="en-US" sz="2400" smtClean="0"/>
          </a:p>
          <a:p>
            <a:pPr>
              <a:buFont typeface="Arial" pitchFamily="34" charset="0"/>
              <a:buNone/>
            </a:pPr>
            <a:r>
              <a:rPr lang="en-GB" sz="2400" smtClean="0"/>
              <a:t>                           					         ___ </a:t>
            </a:r>
            <a:endParaRPr lang="en-US" sz="2400" smtClean="0"/>
          </a:p>
          <a:p>
            <a:pPr>
              <a:buFont typeface="Arial" pitchFamily="34" charset="0"/>
              <a:buNone/>
            </a:pPr>
            <a:r>
              <a:rPr lang="en-GB" sz="2400" smtClean="0"/>
              <a:t>			                         				         XX</a:t>
            </a:r>
            <a:endParaRPr lang="en-US" sz="2400" smtClean="0"/>
          </a:p>
          <a:p>
            <a:pPr>
              <a:buFont typeface="Arial" pitchFamily="34" charset="0"/>
              <a:buNone/>
            </a:pPr>
            <a:endParaRPr lang="en-US" sz="2400" smtClean="0"/>
          </a:p>
          <a:p>
            <a:pPr>
              <a:buFont typeface="Arial" pitchFamily="34" charset="0"/>
              <a:buNone/>
            </a:pPr>
            <a:r>
              <a:rPr lang="en-GB" sz="2400" smtClean="0"/>
              <a:t>Average stock = (opening stock + closing stock) / 2</a:t>
            </a:r>
            <a:endParaRPr lang="en-US" sz="2400" smtClean="0"/>
          </a:p>
          <a:p>
            <a:pPr eaLnBrk="1" hangingPunct="1">
              <a:buFont typeface="Wingdings" pitchFamily="2" charset="2"/>
              <a:buChar char="Ø"/>
            </a:pPr>
            <a:endParaRPr lang="en-US" sz="2800" smtClean="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0" y="762000"/>
            <a:ext cx="9448800" cy="838200"/>
          </a:xfrm>
        </p:spPr>
        <p:txBody>
          <a:bodyPr>
            <a:normAutofit fontScale="90000"/>
          </a:bodyPr>
          <a:lstStyle/>
          <a:p>
            <a:pPr eaLnBrk="1" hangingPunct="1"/>
            <a:r>
              <a:rPr lang="en-GB" sz="3200" b="1" u="sng" smtClean="0">
                <a:solidFill>
                  <a:srgbClr val="C00000"/>
                </a:solidFill>
              </a:rPr>
              <a:t>Taxable income</a:t>
            </a:r>
            <a:br>
              <a:rPr lang="en-GB" sz="3200" b="1" u="sng" smtClean="0">
                <a:solidFill>
                  <a:srgbClr val="C00000"/>
                </a:solidFill>
              </a:rPr>
            </a:br>
            <a:r>
              <a:rPr lang="en-GB" sz="3200" b="1" u="sng" smtClean="0">
                <a:solidFill>
                  <a:srgbClr val="C00000"/>
                </a:solidFill>
              </a:rPr>
              <a:t> from drought sales </a:t>
            </a:r>
            <a:r>
              <a:rPr lang="en-GB" sz="3600" b="1" u="sng" smtClean="0">
                <a:solidFill>
                  <a:srgbClr val="C00000"/>
                </a:solidFill>
              </a:rPr>
              <a:t/>
            </a:r>
            <a:br>
              <a:rPr lang="en-GB" sz="3600" b="1" u="sng" smtClean="0">
                <a:solidFill>
                  <a:srgbClr val="C00000"/>
                </a:solidFill>
              </a:rPr>
            </a:br>
            <a:r>
              <a:rPr lang="en-GB" sz="3600" b="1" u="sng" smtClean="0">
                <a:solidFill>
                  <a:srgbClr val="C00000"/>
                </a:solidFill>
              </a:rPr>
              <a:t/>
            </a:r>
            <a:br>
              <a:rPr lang="en-GB" sz="3600" b="1" u="sng" smtClean="0">
                <a:solidFill>
                  <a:srgbClr val="C00000"/>
                </a:solidFill>
              </a:rPr>
            </a:br>
            <a:endParaRPr lang="en-ZW" sz="3600" b="1" smtClean="0">
              <a:solidFill>
                <a:srgbClr val="FF0000"/>
              </a:solidFill>
            </a:endParaRPr>
          </a:p>
        </p:txBody>
      </p:sp>
      <p:sp>
        <p:nvSpPr>
          <p:cNvPr id="39939" name="Content Placeholder 2"/>
          <p:cNvSpPr>
            <a:spLocks noGrp="1"/>
          </p:cNvSpPr>
          <p:nvPr>
            <p:ph idx="1"/>
          </p:nvPr>
        </p:nvSpPr>
        <p:spPr>
          <a:xfrm>
            <a:off x="914400" y="1524000"/>
            <a:ext cx="8229600" cy="4525963"/>
          </a:xfrm>
        </p:spPr>
        <p:txBody>
          <a:bodyPr>
            <a:normAutofit lnSpcReduction="10000"/>
          </a:bodyPr>
          <a:lstStyle/>
          <a:p>
            <a:pPr>
              <a:buFont typeface="Arial" pitchFamily="34" charset="0"/>
              <a:buNone/>
            </a:pPr>
            <a:r>
              <a:rPr lang="en-GB" sz="2800" smtClean="0">
                <a:solidFill>
                  <a:srgbClr val="FF0000"/>
                </a:solidFill>
              </a:rPr>
              <a:t>Example</a:t>
            </a:r>
            <a:r>
              <a:rPr lang="en-GB" sz="2800" smtClean="0"/>
              <a:t> </a:t>
            </a:r>
            <a:r>
              <a:rPr lang="en-GB" sz="2800" smtClean="0">
                <a:solidFill>
                  <a:srgbClr val="C00000"/>
                </a:solidFill>
              </a:rPr>
              <a:t>1</a:t>
            </a:r>
            <a:endParaRPr lang="en-US" sz="2800" smtClean="0">
              <a:solidFill>
                <a:srgbClr val="C00000"/>
              </a:solidFill>
            </a:endParaRPr>
          </a:p>
          <a:p>
            <a:pPr>
              <a:buFont typeface="Arial" pitchFamily="34" charset="0"/>
              <a:buNone/>
            </a:pPr>
            <a:r>
              <a:rPr lang="en-GB" sz="2000" smtClean="0"/>
              <a:t>A farmer sold in a drought proclaimed period 25oxen which realised </a:t>
            </a:r>
          </a:p>
          <a:p>
            <a:pPr>
              <a:buFont typeface="Arial" pitchFamily="34" charset="0"/>
              <a:buNone/>
            </a:pPr>
            <a:r>
              <a:rPr lang="en-GB" sz="2000" smtClean="0"/>
              <a:t>$9,000.His FSV for oxen is $300.The direct herd expenses were $1,500. </a:t>
            </a:r>
          </a:p>
          <a:p>
            <a:pPr>
              <a:buFont typeface="Arial" pitchFamily="34" charset="0"/>
              <a:buNone/>
            </a:pPr>
            <a:r>
              <a:rPr lang="en-GB" sz="2000" smtClean="0"/>
              <a:t>Opening stock 160 head and closing stock 140 head.</a:t>
            </a:r>
          </a:p>
          <a:p>
            <a:pPr>
              <a:buFont typeface="Arial" pitchFamily="34" charset="0"/>
              <a:buNone/>
            </a:pPr>
            <a:r>
              <a:rPr lang="en-GB" sz="2000" smtClean="0">
                <a:solidFill>
                  <a:srgbClr val="FF0000"/>
                </a:solidFill>
              </a:rPr>
              <a:t>Solution</a:t>
            </a:r>
          </a:p>
          <a:p>
            <a:pPr>
              <a:buFont typeface="Arial" pitchFamily="34" charset="0"/>
              <a:buNone/>
            </a:pPr>
            <a:r>
              <a:rPr lang="en-GB" sz="2000" smtClean="0"/>
              <a:t>Drought sales                                                                9,000</a:t>
            </a:r>
          </a:p>
          <a:p>
            <a:pPr>
              <a:buFont typeface="Arial" pitchFamily="34" charset="0"/>
              <a:buNone/>
            </a:pPr>
            <a:r>
              <a:rPr lang="en-GB" sz="2000" smtClean="0"/>
              <a:t>Less: 25 oxen at $300                                                (7,500 )</a:t>
            </a:r>
          </a:p>
          <a:p>
            <a:pPr>
              <a:buFont typeface="Arial" pitchFamily="34" charset="0"/>
              <a:buNone/>
            </a:pPr>
            <a:r>
              <a:rPr lang="en-GB" sz="2000" smtClean="0"/>
              <a:t>          Expenses    </a:t>
            </a:r>
            <a:r>
              <a:rPr lang="en-GB" sz="2000" u="sng" smtClean="0"/>
              <a:t>1,500 x 25</a:t>
            </a:r>
          </a:p>
          <a:p>
            <a:pPr>
              <a:buFont typeface="Arial" pitchFamily="34" charset="0"/>
              <a:buNone/>
            </a:pPr>
            <a:r>
              <a:rPr lang="en-US" sz="2000" smtClean="0"/>
              <a:t>                           0.5(160 +140)                                  </a:t>
            </a:r>
            <a:r>
              <a:rPr lang="en-US" sz="2000" u="sng" smtClean="0"/>
              <a:t>     (250)</a:t>
            </a:r>
          </a:p>
          <a:p>
            <a:pPr>
              <a:buFont typeface="Arial" pitchFamily="34" charset="0"/>
              <a:buNone/>
            </a:pPr>
            <a:r>
              <a:rPr lang="en-US" sz="2000" smtClean="0"/>
              <a:t>Taxable income from drought sales                          </a:t>
            </a:r>
            <a:r>
              <a:rPr lang="en-US" sz="2000" u="sng" smtClean="0"/>
              <a:t>1,250</a:t>
            </a:r>
          </a:p>
          <a:p>
            <a:pPr>
              <a:buFont typeface="Arial" pitchFamily="34" charset="0"/>
              <a:buNone/>
            </a:pPr>
            <a:endParaRPr lang="en-US" sz="2000" u="sng" smtClean="0"/>
          </a:p>
          <a:p>
            <a:pPr>
              <a:buFont typeface="Arial" pitchFamily="34" charset="0"/>
              <a:buNone/>
            </a:pPr>
            <a:r>
              <a:rPr lang="en-US" sz="2000" smtClean="0"/>
              <a:t>Taxable in current year 1/3                                             </a:t>
            </a:r>
            <a:r>
              <a:rPr lang="en-US" sz="2000" b="1" smtClean="0"/>
              <a:t>417</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0" y="762000"/>
            <a:ext cx="9448800" cy="838200"/>
          </a:xfrm>
        </p:spPr>
        <p:txBody>
          <a:bodyPr>
            <a:normAutofit fontScale="90000"/>
          </a:bodyPr>
          <a:lstStyle/>
          <a:p>
            <a:pPr eaLnBrk="1" hangingPunct="1"/>
            <a:r>
              <a:rPr lang="en-GB" sz="3200" b="1" u="sng" smtClean="0">
                <a:solidFill>
                  <a:srgbClr val="C00000"/>
                </a:solidFill>
              </a:rPr>
              <a:t>Taxable income</a:t>
            </a:r>
            <a:br>
              <a:rPr lang="en-GB" sz="3200" b="1" u="sng" smtClean="0">
                <a:solidFill>
                  <a:srgbClr val="C00000"/>
                </a:solidFill>
              </a:rPr>
            </a:br>
            <a:r>
              <a:rPr lang="en-GB" sz="3200" b="1" u="sng" smtClean="0">
                <a:solidFill>
                  <a:srgbClr val="C00000"/>
                </a:solidFill>
              </a:rPr>
              <a:t> from drought sales </a:t>
            </a:r>
            <a:r>
              <a:rPr lang="en-GB" sz="3600" b="1" u="sng" smtClean="0">
                <a:solidFill>
                  <a:srgbClr val="C00000"/>
                </a:solidFill>
              </a:rPr>
              <a:t/>
            </a:r>
            <a:br>
              <a:rPr lang="en-GB" sz="3600" b="1" u="sng" smtClean="0">
                <a:solidFill>
                  <a:srgbClr val="C00000"/>
                </a:solidFill>
              </a:rPr>
            </a:br>
            <a:r>
              <a:rPr lang="en-GB" sz="3600" b="1" u="sng" smtClean="0">
                <a:solidFill>
                  <a:srgbClr val="C00000"/>
                </a:solidFill>
              </a:rPr>
              <a:t/>
            </a:r>
            <a:br>
              <a:rPr lang="en-GB" sz="3600" b="1" u="sng" smtClean="0">
                <a:solidFill>
                  <a:srgbClr val="C00000"/>
                </a:solidFill>
              </a:rPr>
            </a:br>
            <a:endParaRPr lang="en-ZW" sz="3600" b="1" smtClean="0">
              <a:solidFill>
                <a:srgbClr val="FF0000"/>
              </a:solidFill>
            </a:endParaRPr>
          </a:p>
        </p:txBody>
      </p:sp>
      <p:sp>
        <p:nvSpPr>
          <p:cNvPr id="40963" name="Content Placeholder 2"/>
          <p:cNvSpPr>
            <a:spLocks noGrp="1"/>
          </p:cNvSpPr>
          <p:nvPr>
            <p:ph idx="1"/>
          </p:nvPr>
        </p:nvSpPr>
        <p:spPr>
          <a:xfrm>
            <a:off x="914400" y="1295400"/>
            <a:ext cx="8229600" cy="4754563"/>
          </a:xfrm>
        </p:spPr>
        <p:txBody>
          <a:bodyPr>
            <a:normAutofit lnSpcReduction="10000"/>
          </a:bodyPr>
          <a:lstStyle/>
          <a:p>
            <a:pPr>
              <a:buFont typeface="Arial" pitchFamily="34" charset="0"/>
              <a:buNone/>
            </a:pPr>
            <a:r>
              <a:rPr lang="en-GB" sz="2400" smtClean="0">
                <a:solidFill>
                  <a:srgbClr val="C00000"/>
                </a:solidFill>
              </a:rPr>
              <a:t>Example  2</a:t>
            </a:r>
            <a:endParaRPr lang="en-US" sz="2400" smtClean="0">
              <a:solidFill>
                <a:srgbClr val="C00000"/>
              </a:solidFill>
            </a:endParaRPr>
          </a:p>
          <a:p>
            <a:pPr>
              <a:buFont typeface="Arial" pitchFamily="34" charset="0"/>
              <a:buNone/>
            </a:pPr>
            <a:r>
              <a:rPr lang="en-GB" sz="2000" smtClean="0"/>
              <a:t>A farmer sold in a drought proclaimed period  all his 25 dairy cows  which </a:t>
            </a:r>
          </a:p>
          <a:p>
            <a:pPr>
              <a:buFont typeface="Arial" pitchFamily="34" charset="0"/>
              <a:buNone/>
            </a:pPr>
            <a:r>
              <a:rPr lang="en-GB" sz="2000" smtClean="0"/>
              <a:t>Realised $20 ,000.The  FSV for dairy cows is $600.The direct dairy expenses</a:t>
            </a:r>
          </a:p>
          <a:p>
            <a:pPr>
              <a:buFont typeface="Arial" pitchFamily="34" charset="0"/>
              <a:buNone/>
            </a:pPr>
            <a:r>
              <a:rPr lang="en-GB" sz="2000" smtClean="0"/>
              <a:t> were $1,500 while other livestock expenses were $4,000. </a:t>
            </a:r>
          </a:p>
          <a:p>
            <a:pPr>
              <a:buFont typeface="Arial" pitchFamily="34" charset="0"/>
              <a:buNone/>
            </a:pPr>
            <a:r>
              <a:rPr lang="en-GB" sz="2000" smtClean="0"/>
              <a:t>Opening stock 160 head and closing stock 140 head.</a:t>
            </a:r>
          </a:p>
          <a:p>
            <a:pPr>
              <a:buFont typeface="Arial" pitchFamily="34" charset="0"/>
              <a:buNone/>
            </a:pPr>
            <a:r>
              <a:rPr lang="en-GB" sz="1600" smtClean="0">
                <a:solidFill>
                  <a:srgbClr val="FF0000"/>
                </a:solidFill>
              </a:rPr>
              <a:t>Solution</a:t>
            </a:r>
          </a:p>
          <a:p>
            <a:pPr>
              <a:buFont typeface="Arial" pitchFamily="34" charset="0"/>
              <a:buNone/>
            </a:pPr>
            <a:r>
              <a:rPr lang="en-GB" sz="1600" smtClean="0"/>
              <a:t>Drought sales                                                                       20,000</a:t>
            </a:r>
          </a:p>
          <a:p>
            <a:pPr>
              <a:buFont typeface="Arial" pitchFamily="34" charset="0"/>
              <a:buNone/>
            </a:pPr>
            <a:r>
              <a:rPr lang="en-GB" sz="1600" smtClean="0"/>
              <a:t>Less: FSV  25 cows  at $600                                                (15,000)</a:t>
            </a:r>
          </a:p>
          <a:p>
            <a:pPr>
              <a:buFont typeface="Arial" pitchFamily="34" charset="0"/>
              <a:buNone/>
            </a:pPr>
            <a:r>
              <a:rPr lang="en-GB" sz="1600" smtClean="0"/>
              <a:t>          Dairy expenses                                                             (1,500)</a:t>
            </a:r>
          </a:p>
          <a:p>
            <a:pPr>
              <a:buFont typeface="Arial" pitchFamily="34" charset="0"/>
              <a:buNone/>
            </a:pPr>
            <a:r>
              <a:rPr lang="en-GB" sz="1600" smtClean="0"/>
              <a:t>          Expenses    </a:t>
            </a:r>
            <a:r>
              <a:rPr lang="en-GB" sz="1600" u="sng" smtClean="0"/>
              <a:t>4,000 x 25</a:t>
            </a:r>
          </a:p>
          <a:p>
            <a:pPr>
              <a:buFont typeface="Arial" pitchFamily="34" charset="0"/>
              <a:buNone/>
            </a:pPr>
            <a:r>
              <a:rPr lang="en-US" sz="1600" smtClean="0"/>
              <a:t>                           0.5(160 +140)                                  </a:t>
            </a:r>
            <a:r>
              <a:rPr lang="en-US" sz="1600" u="sng" smtClean="0"/>
              <a:t>             (667)</a:t>
            </a:r>
          </a:p>
          <a:p>
            <a:pPr>
              <a:buFont typeface="Arial" pitchFamily="34" charset="0"/>
              <a:buNone/>
            </a:pPr>
            <a:endParaRPr lang="en-US" sz="1600" u="sng" smtClean="0"/>
          </a:p>
          <a:p>
            <a:pPr>
              <a:buFont typeface="Arial" pitchFamily="34" charset="0"/>
              <a:buNone/>
            </a:pPr>
            <a:r>
              <a:rPr lang="en-US" sz="1600" smtClean="0"/>
              <a:t>Taxable income from drought sales                                   2</a:t>
            </a:r>
            <a:r>
              <a:rPr lang="en-US" sz="1600" u="sng" smtClean="0"/>
              <a:t>,833</a:t>
            </a:r>
          </a:p>
          <a:p>
            <a:pPr>
              <a:buFont typeface="Arial" pitchFamily="34" charset="0"/>
              <a:buNone/>
            </a:pPr>
            <a:endParaRPr lang="en-US" sz="1600" u="sng" smtClean="0"/>
          </a:p>
          <a:p>
            <a:pPr>
              <a:buFont typeface="Arial" pitchFamily="34" charset="0"/>
              <a:buNone/>
            </a:pPr>
            <a:r>
              <a:rPr lang="en-US" sz="1600" smtClean="0"/>
              <a:t>Not taxable in current year 2/3                                             944</a:t>
            </a:r>
            <a:endParaRPr lang="en-US" sz="1600" b="1" smtClean="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381000" y="838200"/>
            <a:ext cx="8229600" cy="990600"/>
          </a:xfrm>
        </p:spPr>
        <p:txBody>
          <a:bodyPr/>
          <a:lstStyle/>
          <a:p>
            <a:pPr eaLnBrk="1" hangingPunct="1"/>
            <a:r>
              <a:rPr lang="en-GB" sz="3600" b="1" baseline="30000" smtClean="0">
                <a:solidFill>
                  <a:srgbClr val="C00000"/>
                </a:solidFill>
              </a:rPr>
              <a:t>RESTOCKING ALLOWANCE</a:t>
            </a:r>
            <a:endParaRPr lang="en-ZW" sz="3600" b="1" smtClean="0">
              <a:solidFill>
                <a:srgbClr val="FF0000"/>
              </a:solidFill>
            </a:endParaRPr>
          </a:p>
        </p:txBody>
      </p:sp>
      <p:sp>
        <p:nvSpPr>
          <p:cNvPr id="41987" name="Content Placeholder 2"/>
          <p:cNvSpPr>
            <a:spLocks noGrp="1"/>
          </p:cNvSpPr>
          <p:nvPr>
            <p:ph idx="1"/>
          </p:nvPr>
        </p:nvSpPr>
        <p:spPr>
          <a:xfrm>
            <a:off x="914400" y="1905000"/>
            <a:ext cx="8229600" cy="4525963"/>
          </a:xfrm>
        </p:spPr>
        <p:txBody>
          <a:bodyPr/>
          <a:lstStyle/>
          <a:p>
            <a:pPr eaLnBrk="1" hangingPunct="1">
              <a:buFont typeface="Wingdings" pitchFamily="2" charset="2"/>
              <a:buChar char="Ø"/>
            </a:pPr>
            <a:r>
              <a:rPr lang="en-ZW" sz="2400" smtClean="0">
                <a:solidFill>
                  <a:schemeClr val="tx2"/>
                </a:solidFill>
              </a:rPr>
              <a:t>Provided on the cost of restocking a herd which has been depleted by forced sales;</a:t>
            </a:r>
          </a:p>
          <a:p>
            <a:pPr eaLnBrk="1" hangingPunct="1">
              <a:buFont typeface="Wingdings" pitchFamily="2" charset="2"/>
              <a:buChar char="Ø"/>
            </a:pPr>
            <a:endParaRPr lang="en-ZW" sz="2400" smtClean="0">
              <a:solidFill>
                <a:schemeClr val="tx2"/>
              </a:solidFill>
            </a:endParaRPr>
          </a:p>
          <a:p>
            <a:pPr eaLnBrk="1" hangingPunct="1">
              <a:buFont typeface="Wingdings" pitchFamily="2" charset="2"/>
              <a:buChar char="Ø"/>
            </a:pPr>
            <a:r>
              <a:rPr lang="en-ZW" sz="2400" smtClean="0">
                <a:solidFill>
                  <a:schemeClr val="tx2"/>
                </a:solidFill>
              </a:rPr>
              <a:t>The cost of purchases is allowable</a:t>
            </a:r>
          </a:p>
          <a:p>
            <a:pPr eaLnBrk="1" hangingPunct="1">
              <a:buFont typeface="Wingdings" pitchFamily="2" charset="2"/>
              <a:buChar char="Ø"/>
            </a:pPr>
            <a:endParaRPr lang="en-ZW" sz="2400" smtClean="0">
              <a:solidFill>
                <a:schemeClr val="tx2"/>
              </a:solidFill>
            </a:endParaRPr>
          </a:p>
          <a:p>
            <a:pPr eaLnBrk="1" hangingPunct="1">
              <a:buFont typeface="Wingdings" pitchFamily="2" charset="2"/>
              <a:buChar char="Ø"/>
            </a:pPr>
            <a:r>
              <a:rPr lang="en-ZW" sz="2400" smtClean="0">
                <a:solidFill>
                  <a:schemeClr val="tx2"/>
                </a:solidFill>
              </a:rPr>
              <a:t>A further deduction of 50% of the purchase price granted as a </a:t>
            </a:r>
          </a:p>
          <a:p>
            <a:pPr eaLnBrk="1" hangingPunct="1">
              <a:buFont typeface="Arial" pitchFamily="34" charset="0"/>
              <a:buNone/>
            </a:pPr>
            <a:r>
              <a:rPr lang="en-ZW" sz="2400" smtClean="0">
                <a:solidFill>
                  <a:schemeClr val="tx2"/>
                </a:solidFill>
              </a:rPr>
              <a:t>     restocking allowance.</a:t>
            </a:r>
          </a:p>
          <a:p>
            <a:pPr eaLnBrk="1" hangingPunct="1">
              <a:buFont typeface="Arial" pitchFamily="34" charset="0"/>
              <a:buNone/>
            </a:pPr>
            <a:endParaRPr lang="en-ZW" sz="2400" smtClean="0">
              <a:solidFill>
                <a:schemeClr val="tx2"/>
              </a:solidFill>
            </a:endParaRPr>
          </a:p>
          <a:p>
            <a:pPr eaLnBrk="1" hangingPunct="1">
              <a:buFont typeface="Wingdings" pitchFamily="2" charset="2"/>
              <a:buChar char="Ø"/>
            </a:pPr>
            <a:r>
              <a:rPr lang="en-ZW" sz="2400" smtClean="0">
                <a:solidFill>
                  <a:schemeClr val="tx2"/>
                </a:solidFill>
              </a:rPr>
              <a:t>Restocking allowance subject to a restriction based on the assessed carrying capacity of the land (ACCL).</a:t>
            </a:r>
          </a:p>
          <a:p>
            <a:pPr eaLnBrk="1" hangingPunct="1">
              <a:buFont typeface="Wingdings" pitchFamily="2" charset="2"/>
              <a:buChar char="Ø"/>
            </a:pPr>
            <a:endParaRPr lang="en-US" sz="2800" smtClean="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381000" y="838200"/>
            <a:ext cx="8229600" cy="990600"/>
          </a:xfrm>
        </p:spPr>
        <p:txBody>
          <a:bodyPr/>
          <a:lstStyle/>
          <a:p>
            <a:pPr eaLnBrk="1" hangingPunct="1"/>
            <a:r>
              <a:rPr lang="en-GB" sz="3600" b="1" baseline="30000" smtClean="0">
                <a:solidFill>
                  <a:srgbClr val="C00000"/>
                </a:solidFill>
              </a:rPr>
              <a:t>RESTOCKING ALLOWANCE</a:t>
            </a:r>
            <a:endParaRPr lang="en-ZW" sz="3600" b="1" smtClean="0">
              <a:solidFill>
                <a:srgbClr val="FF0000"/>
              </a:solidFill>
            </a:endParaRPr>
          </a:p>
        </p:txBody>
      </p:sp>
      <p:sp>
        <p:nvSpPr>
          <p:cNvPr id="43011" name="Content Placeholder 2"/>
          <p:cNvSpPr>
            <a:spLocks noGrp="1"/>
          </p:cNvSpPr>
          <p:nvPr>
            <p:ph idx="1"/>
          </p:nvPr>
        </p:nvSpPr>
        <p:spPr>
          <a:xfrm>
            <a:off x="914400" y="1905000"/>
            <a:ext cx="8229600" cy="4525963"/>
          </a:xfrm>
        </p:spPr>
        <p:txBody>
          <a:bodyPr>
            <a:normAutofit lnSpcReduction="10000"/>
          </a:bodyPr>
          <a:lstStyle/>
          <a:p>
            <a:pPr eaLnBrk="1" hangingPunct="1">
              <a:buFont typeface="Arial" pitchFamily="34" charset="0"/>
              <a:buNone/>
            </a:pPr>
            <a:r>
              <a:rPr lang="en-US" sz="2800" smtClean="0">
                <a:solidFill>
                  <a:srgbClr val="FF0000"/>
                </a:solidFill>
              </a:rPr>
              <a:t>Example</a:t>
            </a:r>
          </a:p>
          <a:p>
            <a:pPr eaLnBrk="1" hangingPunct="1">
              <a:buFont typeface="Arial" pitchFamily="34" charset="0"/>
              <a:buNone/>
            </a:pPr>
            <a:r>
              <a:rPr lang="en-US" sz="2000" smtClean="0"/>
              <a:t>In September 2010 a farmer purchased 70 heifers for $30,000 thereby</a:t>
            </a:r>
          </a:p>
          <a:p>
            <a:pPr eaLnBrk="1" hangingPunct="1">
              <a:buFont typeface="Arial" pitchFamily="34" charset="0"/>
              <a:buNone/>
            </a:pPr>
            <a:r>
              <a:rPr lang="en-US" sz="2000" smtClean="0"/>
              <a:t> restocking his herd which had been depleted by drought.</a:t>
            </a:r>
          </a:p>
          <a:p>
            <a:pPr eaLnBrk="1" hangingPunct="1">
              <a:buFont typeface="Arial" pitchFamily="34" charset="0"/>
              <a:buNone/>
            </a:pPr>
            <a:r>
              <a:rPr lang="en-US" sz="2000" smtClean="0"/>
              <a:t>The ACCL has been determined as 300.</a:t>
            </a:r>
          </a:p>
          <a:p>
            <a:pPr eaLnBrk="1" hangingPunct="1">
              <a:buFont typeface="Arial" pitchFamily="34" charset="0"/>
              <a:buNone/>
            </a:pPr>
            <a:r>
              <a:rPr lang="en-US" sz="2000" smtClean="0"/>
              <a:t>The farmer’s livestock trading account for the year ended 31</a:t>
            </a:r>
            <a:r>
              <a:rPr lang="en-US" sz="2000" baseline="30000" smtClean="0"/>
              <a:t>st</a:t>
            </a:r>
            <a:r>
              <a:rPr lang="en-US" sz="2000" smtClean="0"/>
              <a:t> December </a:t>
            </a:r>
          </a:p>
          <a:p>
            <a:pPr eaLnBrk="1" hangingPunct="1">
              <a:buFont typeface="Arial" pitchFamily="34" charset="0"/>
              <a:buNone/>
            </a:pPr>
            <a:r>
              <a:rPr lang="en-US" sz="2000" smtClean="0"/>
              <a:t>2010:</a:t>
            </a:r>
          </a:p>
          <a:p>
            <a:pPr eaLnBrk="1" hangingPunct="1">
              <a:buFont typeface="Arial" pitchFamily="34" charset="0"/>
              <a:buNone/>
            </a:pPr>
            <a:r>
              <a:rPr lang="en-US" sz="2000" smtClean="0"/>
              <a:t>   </a:t>
            </a:r>
            <a:r>
              <a:rPr lang="en-US" sz="2000" b="1" smtClean="0"/>
              <a:t> Herd</a:t>
            </a:r>
            <a:r>
              <a:rPr lang="en-US" sz="2000" smtClean="0"/>
              <a:t>                                                         </a:t>
            </a:r>
            <a:r>
              <a:rPr lang="en-US" sz="2000" b="1" smtClean="0"/>
              <a:t>Herd</a:t>
            </a:r>
          </a:p>
          <a:p>
            <a:pPr eaLnBrk="1" hangingPunct="1">
              <a:buFont typeface="Arial" pitchFamily="34" charset="0"/>
              <a:buNone/>
            </a:pPr>
            <a:r>
              <a:rPr lang="en-US" sz="2000" smtClean="0"/>
              <a:t> </a:t>
            </a:r>
          </a:p>
          <a:p>
            <a:pPr eaLnBrk="1" hangingPunct="1">
              <a:buFont typeface="Arial" pitchFamily="34" charset="0"/>
              <a:buNone/>
            </a:pPr>
            <a:r>
              <a:rPr lang="en-US" sz="2000" smtClean="0"/>
              <a:t> 350  Opening Stock                70 000        100   Sales ( April )           65 000</a:t>
            </a:r>
          </a:p>
          <a:p>
            <a:pPr eaLnBrk="1" hangingPunct="1">
              <a:buFont typeface="Arial" pitchFamily="34" charset="0"/>
              <a:buNone/>
            </a:pPr>
            <a:r>
              <a:rPr lang="en-US" sz="2000" smtClean="0"/>
              <a:t>   70   Purchase (September)   30 000        320   Closing stock         64 000</a:t>
            </a:r>
          </a:p>
          <a:p>
            <a:pPr eaLnBrk="1" hangingPunct="1">
              <a:buFont typeface="Arial" pitchFamily="34" charset="0"/>
              <a:buNone/>
            </a:pPr>
            <a:r>
              <a:rPr lang="en-US" sz="2000" smtClean="0"/>
              <a:t>           Expenses                           4 000</a:t>
            </a:r>
          </a:p>
          <a:p>
            <a:pPr eaLnBrk="1" hangingPunct="1">
              <a:buFont typeface="Arial" pitchFamily="34" charset="0"/>
              <a:buNone/>
            </a:pPr>
            <a:r>
              <a:rPr lang="en-US" sz="2000" smtClean="0"/>
              <a:t>           Profit                               25 000</a:t>
            </a:r>
          </a:p>
          <a:p>
            <a:pPr eaLnBrk="1" hangingPunct="1">
              <a:buFont typeface="Arial" pitchFamily="34" charset="0"/>
              <a:buNone/>
            </a:pPr>
            <a:r>
              <a:rPr lang="en-US" sz="2000" smtClean="0"/>
              <a:t>                                                129 000                                                  129 000</a:t>
            </a:r>
          </a:p>
        </p:txBody>
      </p:sp>
      <p:cxnSp>
        <p:nvCxnSpPr>
          <p:cNvPr id="5" name="Straight Connector 4"/>
          <p:cNvCxnSpPr/>
          <p:nvPr/>
        </p:nvCxnSpPr>
        <p:spPr>
          <a:xfrm>
            <a:off x="990600" y="4572000"/>
            <a:ext cx="7315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5400000">
            <a:off x="3543300" y="5600700"/>
            <a:ext cx="2514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810000" y="6400800"/>
            <a:ext cx="990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657600" y="6705600"/>
            <a:ext cx="1143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315200" y="6400800"/>
            <a:ext cx="990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7467600" y="6858000"/>
            <a:ext cx="1066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467600" y="6858000"/>
            <a:ext cx="1066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315200" y="6705600"/>
            <a:ext cx="990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381000" y="838200"/>
            <a:ext cx="8229600" cy="990600"/>
          </a:xfrm>
        </p:spPr>
        <p:txBody>
          <a:bodyPr/>
          <a:lstStyle/>
          <a:p>
            <a:pPr eaLnBrk="1" hangingPunct="1"/>
            <a:r>
              <a:rPr lang="en-GB" sz="3600" b="1" baseline="30000" smtClean="0">
                <a:solidFill>
                  <a:srgbClr val="C00000"/>
                </a:solidFill>
              </a:rPr>
              <a:t>RESTOCKING ALLOWANCE</a:t>
            </a:r>
            <a:endParaRPr lang="en-ZW" sz="3600" b="1" smtClean="0">
              <a:solidFill>
                <a:srgbClr val="FF0000"/>
              </a:solidFill>
            </a:endParaRPr>
          </a:p>
        </p:txBody>
      </p:sp>
      <p:sp>
        <p:nvSpPr>
          <p:cNvPr id="44035" name="Content Placeholder 2"/>
          <p:cNvSpPr>
            <a:spLocks noGrp="1"/>
          </p:cNvSpPr>
          <p:nvPr>
            <p:ph idx="1"/>
          </p:nvPr>
        </p:nvSpPr>
        <p:spPr>
          <a:xfrm>
            <a:off x="914400" y="1905000"/>
            <a:ext cx="8229600" cy="4525963"/>
          </a:xfrm>
        </p:spPr>
        <p:txBody>
          <a:bodyPr/>
          <a:lstStyle/>
          <a:p>
            <a:pPr eaLnBrk="1" hangingPunct="1">
              <a:buFont typeface="Arial" pitchFamily="34" charset="0"/>
              <a:buNone/>
            </a:pPr>
            <a:r>
              <a:rPr lang="en-US" sz="2800" smtClean="0">
                <a:solidFill>
                  <a:srgbClr val="FF0000"/>
                </a:solidFill>
              </a:rPr>
              <a:t>Example</a:t>
            </a:r>
          </a:p>
          <a:p>
            <a:pPr eaLnBrk="1" hangingPunct="1">
              <a:buFont typeface="Arial" pitchFamily="34" charset="0"/>
              <a:buNone/>
            </a:pPr>
            <a:r>
              <a:rPr lang="en-US" sz="2000" smtClean="0"/>
              <a:t>I</a:t>
            </a:r>
            <a:r>
              <a:rPr lang="en-US" sz="2000" b="1" smtClean="0">
                <a:solidFill>
                  <a:srgbClr val="FF0000"/>
                </a:solidFill>
              </a:rPr>
              <a:t>Restocking allowance  </a:t>
            </a:r>
          </a:p>
          <a:p>
            <a:pPr eaLnBrk="1" hangingPunct="1">
              <a:buFont typeface="Arial" pitchFamily="34" charset="0"/>
              <a:buNone/>
            </a:pPr>
            <a:r>
              <a:rPr lang="en-US" sz="2000" smtClean="0"/>
              <a:t>ACCL                                                                                                300</a:t>
            </a:r>
          </a:p>
          <a:p>
            <a:pPr eaLnBrk="1" hangingPunct="1">
              <a:buFont typeface="Arial" pitchFamily="34" charset="0"/>
              <a:buNone/>
            </a:pPr>
            <a:r>
              <a:rPr lang="en-US" sz="2000" smtClean="0"/>
              <a:t>On hand prior to purchase                                                          250</a:t>
            </a:r>
          </a:p>
          <a:p>
            <a:pPr eaLnBrk="1" hangingPunct="1">
              <a:buFont typeface="Arial" pitchFamily="34" charset="0"/>
              <a:buNone/>
            </a:pPr>
            <a:r>
              <a:rPr lang="en-US" sz="2000" smtClean="0"/>
              <a:t>Difference which should not have been exceeded                   50</a:t>
            </a:r>
          </a:p>
          <a:p>
            <a:pPr eaLnBrk="1" hangingPunct="1">
              <a:buFont typeface="Arial" pitchFamily="34" charset="0"/>
              <a:buNone/>
            </a:pPr>
            <a:r>
              <a:rPr lang="en-US" sz="2000" smtClean="0"/>
              <a:t>Potential restocking allowance   (50%)                                15,000 </a:t>
            </a:r>
          </a:p>
          <a:p>
            <a:pPr eaLnBrk="1" hangingPunct="1">
              <a:buFont typeface="Arial" pitchFamily="34" charset="0"/>
              <a:buNone/>
            </a:pPr>
            <a:r>
              <a:rPr lang="en-US" sz="2000" smtClean="0"/>
              <a:t>Actual allowance (50/70 x 15000)                                         </a:t>
            </a:r>
            <a:r>
              <a:rPr lang="en-US" sz="2000" b="1" smtClean="0"/>
              <a:t>10,714</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364162"/>
          </a:xfrm>
          <a:solidFill>
            <a:schemeClr val="accent6">
              <a:lumMod val="75000"/>
            </a:schemeClr>
          </a:solidFill>
        </p:spPr>
        <p:txBody>
          <a:bodyPr/>
          <a:lstStyle/>
          <a:p>
            <a:pPr>
              <a:defRPr/>
            </a:pPr>
            <a:r>
              <a:rPr lang="en-US" dirty="0" smtClean="0">
                <a:solidFill>
                  <a:schemeClr val="bg1"/>
                </a:solidFill>
              </a:rPr>
              <a:t>PRACTICE QUESTION 1 :</a:t>
            </a:r>
            <a:br>
              <a:rPr lang="en-US" dirty="0" smtClean="0">
                <a:solidFill>
                  <a:schemeClr val="bg1"/>
                </a:solidFill>
              </a:rPr>
            </a:br>
            <a:r>
              <a:rPr lang="en-US" dirty="0" smtClean="0">
                <a:solidFill>
                  <a:schemeClr val="bg1"/>
                </a:solidFill>
              </a:rPr>
              <a:t>Partnership / Farming</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364162"/>
          </a:xfrm>
          <a:solidFill>
            <a:schemeClr val="accent6">
              <a:lumMod val="75000"/>
            </a:schemeClr>
          </a:solidFill>
        </p:spPr>
        <p:txBody>
          <a:bodyPr/>
          <a:lstStyle/>
          <a:p>
            <a:pPr>
              <a:defRPr/>
            </a:pPr>
            <a:r>
              <a:rPr lang="en-US" dirty="0" smtClean="0">
                <a:solidFill>
                  <a:schemeClr val="bg1"/>
                </a:solidFill>
              </a:rPr>
              <a:t>PRACTICE QUESTION 1 :</a:t>
            </a:r>
            <a:br>
              <a:rPr lang="en-US" dirty="0" smtClean="0">
                <a:solidFill>
                  <a:schemeClr val="bg1"/>
                </a:solidFill>
              </a:rPr>
            </a:br>
            <a:r>
              <a:rPr lang="en-US" dirty="0" smtClean="0">
                <a:solidFill>
                  <a:schemeClr val="bg1"/>
                </a:solidFill>
              </a:rPr>
              <a:t>Partnership / Farming</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04800" y="457200"/>
          <a:ext cx="8305804" cy="6061658"/>
        </p:xfrm>
        <a:graphic>
          <a:graphicData uri="http://schemas.openxmlformats.org/drawingml/2006/table">
            <a:tbl>
              <a:tblPr/>
              <a:tblGrid>
                <a:gridCol w="692150"/>
                <a:gridCol w="692150"/>
                <a:gridCol w="865188"/>
                <a:gridCol w="865188"/>
                <a:gridCol w="865188"/>
                <a:gridCol w="865188"/>
                <a:gridCol w="865188"/>
                <a:gridCol w="865188"/>
                <a:gridCol w="865188"/>
                <a:gridCol w="865188"/>
              </a:tblGrid>
              <a:tr h="321972">
                <a:tc gridSpan="2">
                  <a:txBody>
                    <a:bodyPr/>
                    <a:lstStyle/>
                    <a:p>
                      <a:pPr algn="l" fontAlgn="b"/>
                      <a:r>
                        <a:rPr lang="en-US" sz="1600" b="1" i="0" u="none" strike="noStrike" dirty="0">
                          <a:solidFill>
                            <a:srgbClr val="FF0000"/>
                          </a:solidFill>
                          <a:latin typeface="Calibri"/>
                        </a:rPr>
                        <a:t>QUESTION 1</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321972">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321972">
                <a:tc gridSpan="3">
                  <a:txBody>
                    <a:bodyPr/>
                    <a:lstStyle/>
                    <a:p>
                      <a:pPr algn="l" fontAlgn="b"/>
                      <a:r>
                        <a:rPr lang="en-US" sz="1600" b="1" i="0" u="none" strike="noStrike" dirty="0">
                          <a:solidFill>
                            <a:srgbClr val="FF0000"/>
                          </a:solidFill>
                          <a:latin typeface="Calibri"/>
                        </a:rPr>
                        <a:t>Partnership and Farming</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603697">
                <a:tc gridSpan="7">
                  <a:txBody>
                    <a:bodyPr/>
                    <a:lstStyle/>
                    <a:p>
                      <a:pPr algn="l" fontAlgn="b"/>
                      <a:r>
                        <a:rPr lang="en-US" sz="1600" b="0" i="0" u="none" strike="noStrike">
                          <a:solidFill>
                            <a:srgbClr val="000000"/>
                          </a:solidFill>
                          <a:latin typeface="Calibri"/>
                        </a:rPr>
                        <a:t>Jack and Jill are engaged in a farming partnership, J &amp; J Farming, in  Nyanga.</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321972">
                <a:tc gridSpan="8">
                  <a:txBody>
                    <a:bodyPr/>
                    <a:lstStyle/>
                    <a:p>
                      <a:pPr algn="l" fontAlgn="b"/>
                      <a:r>
                        <a:rPr lang="en-US" sz="1600" b="0" i="0" u="none" strike="noStrike">
                          <a:solidFill>
                            <a:srgbClr val="000000"/>
                          </a:solidFill>
                          <a:latin typeface="Calibri"/>
                        </a:rPr>
                        <a:t>They share profits in the ratio 3:2 respectively.Their Income Statement for the year </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321972">
                <a:tc gridSpan="9">
                  <a:txBody>
                    <a:bodyPr/>
                    <a:lstStyle/>
                    <a:p>
                      <a:pPr algn="l" fontAlgn="b"/>
                      <a:r>
                        <a:rPr lang="en-US" sz="1600" b="0" i="0" u="none" strike="noStrike">
                          <a:solidFill>
                            <a:srgbClr val="000000"/>
                          </a:solidFill>
                          <a:latin typeface="Calibri"/>
                        </a:rPr>
                        <a:t>ended 31 December 2012 showed a net profit of $85,000 after the deduction of the following</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321972">
                <a:tc gridSpan="2">
                  <a:txBody>
                    <a:bodyPr/>
                    <a:lstStyle/>
                    <a:p>
                      <a:pPr algn="l" fontAlgn="b"/>
                      <a:r>
                        <a:rPr lang="en-US" sz="1600" b="0" i="0" u="none" strike="noStrike">
                          <a:solidFill>
                            <a:srgbClr val="000000"/>
                          </a:solidFill>
                          <a:latin typeface="Calibri"/>
                        </a:rPr>
                        <a:t>expenses :</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321972">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r>
                        <a:rPr lang="en-US" sz="1600" b="1" i="0" u="none" strike="noStrike">
                          <a:solidFill>
                            <a:srgbClr val="000000"/>
                          </a:solidFill>
                          <a:latin typeface="Calibri"/>
                        </a:rPr>
                        <a:t>$</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321972">
                <a:tc>
                  <a:txBody>
                    <a:bodyPr/>
                    <a:lstStyle/>
                    <a:p>
                      <a:pPr algn="l" fontAlgn="b"/>
                      <a:r>
                        <a:rPr lang="en-US" sz="1600" b="0" i="0" u="none" strike="noStrike">
                          <a:solidFill>
                            <a:srgbClr val="000000"/>
                          </a:solidFill>
                          <a:latin typeface="Calibri"/>
                        </a:rPr>
                        <a:t>Salaries     </a:t>
                      </a: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Jack</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12,000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321972">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Jill</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8,000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321972">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603697">
                <a:tc gridSpan="2">
                  <a:txBody>
                    <a:bodyPr/>
                    <a:lstStyle/>
                    <a:p>
                      <a:pPr algn="l" fontAlgn="b"/>
                      <a:r>
                        <a:rPr lang="en-US" sz="1600" b="0" i="0" u="none" strike="noStrike" dirty="0">
                          <a:solidFill>
                            <a:srgbClr val="000000"/>
                          </a:solidFill>
                          <a:latin typeface="Calibri"/>
                        </a:rPr>
                        <a:t>Insurance premiums :</a:t>
                      </a:r>
                    </a:p>
                  </a:txBody>
                  <a:tcPr marL="7620" marR="7620" marT="7620" marB="0" anchor="b">
                    <a:lnL>
                      <a:noFill/>
                    </a:lnL>
                    <a:lnR>
                      <a:noFill/>
                    </a:lnR>
                    <a:lnT>
                      <a:noFill/>
                    </a:lnT>
                    <a:lnB>
                      <a:noFill/>
                    </a:lnB>
                  </a:tcPr>
                </a:tc>
                <a:tc hMerge="1">
                  <a:txBody>
                    <a:bodyPr/>
                    <a:lstStyle/>
                    <a:p>
                      <a:endParaRPr lang="en-US"/>
                    </a:p>
                  </a:txBody>
                  <a:tcPr/>
                </a:tc>
                <a:tc gridSpan="3">
                  <a:txBody>
                    <a:bodyPr/>
                    <a:lstStyle/>
                    <a:p>
                      <a:pPr algn="l" fontAlgn="b"/>
                      <a:r>
                        <a:rPr lang="en-US" sz="1600" b="0" i="0" u="none" strike="noStrike">
                          <a:solidFill>
                            <a:srgbClr val="000000"/>
                          </a:solidFill>
                          <a:latin typeface="Calibri"/>
                        </a:rPr>
                        <a:t>Partnership joint life policy</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7,600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321972">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gridSpan="3">
                  <a:txBody>
                    <a:bodyPr/>
                    <a:lstStyle/>
                    <a:p>
                      <a:pPr algn="l" fontAlgn="b"/>
                      <a:r>
                        <a:rPr lang="en-US" sz="1600" b="0" i="0" u="none" strike="noStrike">
                          <a:solidFill>
                            <a:srgbClr val="000000"/>
                          </a:solidFill>
                          <a:latin typeface="Calibri"/>
                        </a:rPr>
                        <a:t>Life policy for Jack's benefit</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4,500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321972">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gridSpan="3">
                  <a:txBody>
                    <a:bodyPr/>
                    <a:lstStyle/>
                    <a:p>
                      <a:pPr algn="l" fontAlgn="b"/>
                      <a:r>
                        <a:rPr lang="en-US" sz="1600" b="0" i="0" u="none" strike="noStrike">
                          <a:solidFill>
                            <a:srgbClr val="000000"/>
                          </a:solidFill>
                          <a:latin typeface="Calibri"/>
                        </a:rPr>
                        <a:t>Life policy for Jill's benefit</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3,500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321972">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gridSpan="2">
                  <a:txBody>
                    <a:bodyPr/>
                    <a:lstStyle/>
                    <a:p>
                      <a:pPr algn="l" fontAlgn="b"/>
                      <a:r>
                        <a:rPr lang="en-US" sz="1600" b="0" i="0" u="none" strike="noStrike">
                          <a:solidFill>
                            <a:srgbClr val="000000"/>
                          </a:solidFill>
                          <a:latin typeface="Calibri"/>
                        </a:rPr>
                        <a:t>Loss of profits</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2,500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321972">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gridSpan="2">
                  <a:txBody>
                    <a:bodyPr/>
                    <a:lstStyle/>
                    <a:p>
                      <a:pPr algn="l" fontAlgn="b"/>
                      <a:r>
                        <a:rPr lang="en-US" sz="1600" b="0" i="0" u="none" strike="noStrike">
                          <a:solidFill>
                            <a:srgbClr val="000000"/>
                          </a:solidFill>
                          <a:latin typeface="Calibri"/>
                        </a:rPr>
                        <a:t>Public liability</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1,200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000000"/>
                        </a:solidFill>
                        <a:latin typeface="Calibri"/>
                      </a:endParaRPr>
                    </a:p>
                  </a:txBody>
                  <a:tcPr marL="7620" marR="7620" marT="762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28600" y="457200"/>
          <a:ext cx="8686800" cy="5943594"/>
        </p:xfrm>
        <a:graphic>
          <a:graphicData uri="http://schemas.openxmlformats.org/drawingml/2006/table">
            <a:tbl>
              <a:tblPr/>
              <a:tblGrid>
                <a:gridCol w="868680"/>
                <a:gridCol w="868680"/>
                <a:gridCol w="868680"/>
                <a:gridCol w="868680"/>
                <a:gridCol w="868680"/>
                <a:gridCol w="868680"/>
                <a:gridCol w="868680"/>
                <a:gridCol w="868680"/>
                <a:gridCol w="868680"/>
                <a:gridCol w="868680"/>
              </a:tblGrid>
              <a:tr h="274848">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274848">
                <a:tc gridSpan="3">
                  <a:txBody>
                    <a:bodyPr/>
                    <a:lstStyle/>
                    <a:p>
                      <a:pPr algn="l" fontAlgn="b"/>
                      <a:r>
                        <a:rPr lang="en-US" sz="1600" b="0" i="0" u="none" strike="noStrike">
                          <a:solidFill>
                            <a:srgbClr val="000000"/>
                          </a:solidFill>
                          <a:latin typeface="Calibri"/>
                        </a:rPr>
                        <a:t>Medical aid contributions : Jack</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3,600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274848">
                <a:tc gridSpan="3">
                  <a:txBody>
                    <a:bodyPr/>
                    <a:lstStyle/>
                    <a:p>
                      <a:pPr algn="l" fontAlgn="b"/>
                      <a:r>
                        <a:rPr lang="en-US" sz="1600" b="0" i="0" u="none" strike="noStrike">
                          <a:solidFill>
                            <a:srgbClr val="000000"/>
                          </a:solidFill>
                          <a:latin typeface="Calibri"/>
                        </a:rPr>
                        <a:t>                                                : Jill</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a:solidFill>
                            <a:srgbClr val="000000"/>
                          </a:solidFill>
                          <a:latin typeface="Calibri"/>
                        </a:rPr>
                        <a:t>       4,200 </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274848">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274848">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274848">
                <a:tc>
                  <a:txBody>
                    <a:bodyPr/>
                    <a:lstStyle/>
                    <a:p>
                      <a:pPr algn="l" fontAlgn="b"/>
                      <a:r>
                        <a:rPr lang="en-US" sz="1600" b="1" i="0" u="none" strike="noStrike">
                          <a:solidFill>
                            <a:srgbClr val="000000"/>
                          </a:solidFill>
                          <a:latin typeface="Calibri"/>
                        </a:rPr>
                        <a:t>Notes:</a:t>
                      </a: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274848">
                <a:tc gridSpan="8">
                  <a:txBody>
                    <a:bodyPr/>
                    <a:lstStyle/>
                    <a:p>
                      <a:pPr algn="l" fontAlgn="b"/>
                      <a:r>
                        <a:rPr lang="en-US" sz="1600" b="0" i="0" u="none" strike="noStrike">
                          <a:solidFill>
                            <a:srgbClr val="000000"/>
                          </a:solidFill>
                          <a:latin typeface="Calibri"/>
                        </a:rPr>
                        <a:t>The following capital expenditure was incurred during the course of the year:</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274848">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endParaRPr lang="en-US" sz="16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274848">
                <a:tc gridSpan="7">
                  <a:txBody>
                    <a:bodyPr/>
                    <a:lstStyle/>
                    <a:p>
                      <a:pPr algn="l" fontAlgn="b"/>
                      <a:r>
                        <a:rPr lang="en-US" sz="1600" b="0" i="0" u="none" strike="noStrike">
                          <a:solidFill>
                            <a:srgbClr val="000000"/>
                          </a:solidFill>
                          <a:latin typeface="Calibri"/>
                        </a:rPr>
                        <a:t>      (i) Temporary farm roads were constructed at a cost of $3,500.</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
                      <a:endParaRPr lang="en-US" sz="16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515342">
                <a:tc gridSpan="10">
                  <a:txBody>
                    <a:bodyPr/>
                    <a:lstStyle/>
                    <a:p>
                      <a:pPr algn="l" fontAlgn="b"/>
                      <a:r>
                        <a:rPr lang="en-US" sz="1600" b="0" i="0" u="none" strike="noStrike">
                          <a:solidFill>
                            <a:srgbClr val="000000"/>
                          </a:solidFill>
                          <a:latin typeface="Calibri"/>
                        </a:rPr>
                        <a:t>      (ii) $10,500 was incurred on the construction of a dam; construction was only completed in February 2013.</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515342">
                <a:tc gridSpan="10">
                  <a:txBody>
                    <a:bodyPr/>
                    <a:lstStyle/>
                    <a:p>
                      <a:pPr algn="l" fontAlgn="b"/>
                      <a:r>
                        <a:rPr lang="en-US" sz="1600" b="0" i="0" u="none" strike="noStrike" dirty="0">
                          <a:solidFill>
                            <a:srgbClr val="000000"/>
                          </a:solidFill>
                          <a:latin typeface="Calibri"/>
                        </a:rPr>
                        <a:t>     (iii) In May 2012, three boreholes were sunk  to </a:t>
                      </a:r>
                      <a:r>
                        <a:rPr lang="en-US" sz="1600" b="0" i="0" u="none" strike="noStrike" dirty="0" err="1">
                          <a:solidFill>
                            <a:srgbClr val="000000"/>
                          </a:solidFill>
                          <a:latin typeface="Calibri"/>
                        </a:rPr>
                        <a:t>augument</a:t>
                      </a:r>
                      <a:r>
                        <a:rPr lang="en-US" sz="1600" b="0" i="0" u="none" strike="noStrike" dirty="0">
                          <a:solidFill>
                            <a:srgbClr val="000000"/>
                          </a:solidFill>
                          <a:latin typeface="Calibri"/>
                        </a:rPr>
                        <a:t> cattle water supplies at a total cost </a:t>
                      </a:r>
                      <a:r>
                        <a:rPr lang="en-US" sz="1600" b="0" i="0" u="none" strike="noStrike" dirty="0" smtClean="0">
                          <a:solidFill>
                            <a:srgbClr val="000000"/>
                          </a:solidFill>
                          <a:latin typeface="Calibri"/>
                        </a:rPr>
                        <a:t>of</a:t>
                      </a:r>
                    </a:p>
                    <a:p>
                      <a:pPr algn="l" fontAlgn="b"/>
                      <a:r>
                        <a:rPr lang="en-US" sz="1600" b="0" i="0" u="none" strike="noStrike" dirty="0" smtClean="0">
                          <a:solidFill>
                            <a:srgbClr val="000000"/>
                          </a:solidFill>
                          <a:latin typeface="Calibri"/>
                        </a:rPr>
                        <a:t>           </a:t>
                      </a:r>
                      <a:r>
                        <a:rPr lang="en-US" sz="1600" b="0" i="0" u="none" strike="noStrike" dirty="0">
                          <a:solidFill>
                            <a:srgbClr val="000000"/>
                          </a:solidFill>
                          <a:latin typeface="Calibri"/>
                        </a:rPr>
                        <a:t>$ 6 000 .</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515342">
                <a:tc gridSpan="10">
                  <a:txBody>
                    <a:bodyPr/>
                    <a:lstStyle/>
                    <a:p>
                      <a:pPr algn="l" fontAlgn="b"/>
                      <a:r>
                        <a:rPr lang="en-US" sz="1600" b="0" i="0" u="none" strike="noStrike" dirty="0">
                          <a:solidFill>
                            <a:srgbClr val="000000"/>
                          </a:solidFill>
                          <a:latin typeface="Calibri"/>
                        </a:rPr>
                        <a:t>             In addition,  $ 9 000 was incurred on borehole equipment. All the boreholes were brought into </a:t>
                      </a:r>
                      <a:r>
                        <a:rPr lang="en-US" sz="1600" b="0" i="0" u="none" strike="noStrike" dirty="0" smtClean="0">
                          <a:solidFill>
                            <a:srgbClr val="000000"/>
                          </a:solidFill>
                          <a:latin typeface="Calibri"/>
                        </a:rPr>
                        <a:t>   </a:t>
                      </a:r>
                    </a:p>
                    <a:p>
                      <a:pPr algn="l" fontAlgn="b"/>
                      <a:r>
                        <a:rPr lang="en-US" sz="1600" b="0" i="0" u="none" strike="noStrike" dirty="0" smtClean="0">
                          <a:solidFill>
                            <a:srgbClr val="000000"/>
                          </a:solidFill>
                          <a:latin typeface="Calibri"/>
                        </a:rPr>
                        <a:t>             use </a:t>
                      </a:r>
                      <a:r>
                        <a:rPr lang="en-US" sz="1600" b="0" i="0" u="none" strike="noStrike" dirty="0">
                          <a:solidFill>
                            <a:srgbClr val="000000"/>
                          </a:solidFill>
                          <a:latin typeface="Calibri"/>
                        </a:rPr>
                        <a:t>in </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74848">
                <a:tc gridSpan="2">
                  <a:txBody>
                    <a:bodyPr/>
                    <a:lstStyle/>
                    <a:p>
                      <a:pPr algn="l" fontAlgn="b"/>
                      <a:r>
                        <a:rPr lang="en-US" sz="1600" b="0" i="0" u="none" strike="noStrike">
                          <a:solidFill>
                            <a:srgbClr val="000000"/>
                          </a:solidFill>
                          <a:latin typeface="Calibri"/>
                        </a:rPr>
                        <a:t>             July 2012.</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endParaRPr lang="en-US" sz="16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000000"/>
                        </a:solidFill>
                        <a:latin typeface="Calibri"/>
                      </a:endParaRPr>
                    </a:p>
                  </a:txBody>
                  <a:tcPr marL="7620" marR="7620" marT="7620" marB="0" anchor="b">
                    <a:lnL>
                      <a:noFill/>
                    </a:lnL>
                    <a:lnR>
                      <a:noFill/>
                    </a:lnR>
                    <a:lnT>
                      <a:noFill/>
                    </a:lnT>
                    <a:lnB>
                      <a:noFill/>
                    </a:lnB>
                  </a:tcPr>
                </a:tc>
              </a:tr>
              <a:tr h="274848">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endParaRPr lang="en-US" sz="16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274848">
                <a:tc gridSpan="2">
                  <a:txBody>
                    <a:bodyPr/>
                    <a:lstStyle/>
                    <a:p>
                      <a:pPr algn="l" fontAlgn="b"/>
                      <a:r>
                        <a:rPr lang="en-US" sz="1600" b="1" i="0" u="none" strike="noStrike" dirty="0">
                          <a:solidFill>
                            <a:srgbClr val="FF0000"/>
                          </a:solidFill>
                          <a:latin typeface="Calibri"/>
                        </a:rPr>
                        <a:t>REQUIRED</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274848">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274848">
                <a:tc gridSpan="10">
                  <a:txBody>
                    <a:bodyPr/>
                    <a:lstStyle/>
                    <a:p>
                      <a:pPr algn="l" fontAlgn="b"/>
                      <a:r>
                        <a:rPr lang="en-US" sz="1600" b="0" i="0" u="none" strike="noStrike" dirty="0">
                          <a:solidFill>
                            <a:srgbClr val="FF0000"/>
                          </a:solidFill>
                          <a:latin typeface="Calibri"/>
                        </a:rPr>
                        <a:t>Calculate the minimum tax payable by each partner in respect of the year ended 31 </a:t>
                      </a:r>
                      <a:r>
                        <a:rPr lang="en-US" sz="1600" b="0" i="0" u="none" strike="noStrike" dirty="0" err="1">
                          <a:solidFill>
                            <a:srgbClr val="FF0000"/>
                          </a:solidFill>
                          <a:latin typeface="Calibri"/>
                        </a:rPr>
                        <a:t>Decembaer</a:t>
                      </a:r>
                      <a:r>
                        <a:rPr lang="en-US" sz="1600" b="0" i="0" u="none" strike="noStrike" dirty="0">
                          <a:solidFill>
                            <a:srgbClr val="FF0000"/>
                          </a:solidFill>
                          <a:latin typeface="Calibri"/>
                        </a:rPr>
                        <a:t> 2013.</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74848">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r>
              <a:tr h="274848">
                <a:tc>
                  <a:txBody>
                    <a:bodyPr/>
                    <a:lstStyle/>
                    <a:p>
                      <a:pPr algn="l" fontAlgn="b"/>
                      <a:endParaRPr lang="en-US"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r>
                        <a:rPr lang="en-US" sz="1600" b="0" i="0" u="none" strike="noStrike" dirty="0">
                          <a:solidFill>
                            <a:srgbClr val="FF0000"/>
                          </a:solidFill>
                          <a:latin typeface="Calibri"/>
                        </a:rPr>
                        <a:t>15 Marks</a:t>
                      </a:r>
                    </a:p>
                  </a:txBody>
                  <a:tcPr marL="7620" marR="7620" marT="7620" marB="0" anchor="b">
                    <a:lnL>
                      <a:noFill/>
                    </a:lnL>
                    <a:lnR>
                      <a:noFill/>
                    </a:lnR>
                    <a:lnT>
                      <a:noFill/>
                    </a:lnT>
                    <a:lnB>
                      <a:noFill/>
                    </a:lnB>
                  </a:tcPr>
                </a:tc>
                <a:tc>
                  <a:txBody>
                    <a:bodyPr/>
                    <a:lstStyle/>
                    <a:p>
                      <a:pPr algn="l" fontAlgn="b"/>
                      <a:endParaRPr lang="en-US" sz="1600" b="0" i="0" u="none" strike="noStrike" dirty="0">
                        <a:solidFill>
                          <a:srgbClr val="000000"/>
                        </a:solidFill>
                        <a:latin typeface="Calibri"/>
                      </a:endParaRPr>
                    </a:p>
                  </a:txBody>
                  <a:tcPr marL="7620" marR="7620" marT="762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85800" y="304800"/>
          <a:ext cx="7787164" cy="6174148"/>
        </p:xfrm>
        <a:graphic>
          <a:graphicData uri="http://schemas.openxmlformats.org/drawingml/2006/table">
            <a:tbl>
              <a:tblPr/>
              <a:tblGrid>
                <a:gridCol w="680023"/>
                <a:gridCol w="680023"/>
                <a:gridCol w="680023"/>
                <a:gridCol w="850029"/>
                <a:gridCol w="850029"/>
                <a:gridCol w="850029"/>
                <a:gridCol w="850029"/>
                <a:gridCol w="354178"/>
                <a:gridCol w="788594"/>
                <a:gridCol w="354178"/>
                <a:gridCol w="850029"/>
              </a:tblGrid>
              <a:tr h="250092">
                <a:tc gridSpan="3">
                  <a:txBody>
                    <a:bodyPr/>
                    <a:lstStyle/>
                    <a:p>
                      <a:pPr algn="l" fontAlgn="b"/>
                      <a:r>
                        <a:rPr lang="en-US" sz="1400" b="1" i="0" u="none" strike="noStrike">
                          <a:solidFill>
                            <a:srgbClr val="000000"/>
                          </a:solidFill>
                          <a:latin typeface="Calibri"/>
                        </a:rPr>
                        <a:t>Partnership and Farming</a:t>
                      </a:r>
                    </a:p>
                  </a:txBody>
                  <a:tcPr marL="6947" marR="6947" marT="6947"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r>
              <a:tr h="468923">
                <a:tc gridSpan="2">
                  <a:txBody>
                    <a:bodyPr/>
                    <a:lstStyle/>
                    <a:p>
                      <a:pPr algn="l" fontAlgn="b"/>
                      <a:r>
                        <a:rPr lang="en-US" sz="1400" b="1" i="0" u="none" strike="noStrike">
                          <a:solidFill>
                            <a:srgbClr val="000000"/>
                          </a:solidFill>
                          <a:latin typeface="Calibri"/>
                        </a:rPr>
                        <a:t>Suggested solution</a:t>
                      </a:r>
                    </a:p>
                  </a:txBody>
                  <a:tcPr marL="6947" marR="6947" marT="6947" marB="0" anchor="b">
                    <a:lnL>
                      <a:noFill/>
                    </a:lnL>
                    <a:lnR>
                      <a:noFill/>
                    </a:lnR>
                    <a:lnT>
                      <a:noFill/>
                    </a:lnT>
                    <a:lnB>
                      <a:noFill/>
                    </a:lnB>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r>
              <a:tr h="250092">
                <a:tc gridSpan="6">
                  <a:txBody>
                    <a:bodyPr/>
                    <a:lstStyle/>
                    <a:p>
                      <a:pPr algn="l" fontAlgn="b"/>
                      <a:r>
                        <a:rPr lang="en-US" sz="1400" b="1" i="0" u="none" strike="noStrike">
                          <a:solidFill>
                            <a:srgbClr val="000000"/>
                          </a:solidFill>
                          <a:latin typeface="Calibri"/>
                        </a:rPr>
                        <a:t>Partners minimum tax payable for year ended 31/12/2012</a:t>
                      </a:r>
                    </a:p>
                  </a:txBody>
                  <a:tcPr marL="6947" marR="6947" marT="6947"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r>
              <a:tr h="250092">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ctr" fontAlgn="b"/>
                      <a:r>
                        <a:rPr lang="en-US" sz="1400" b="1" i="0" u="none" strike="noStrike">
                          <a:solidFill>
                            <a:srgbClr val="000000"/>
                          </a:solidFill>
                          <a:latin typeface="Calibri"/>
                        </a:rPr>
                        <a:t>$</a:t>
                      </a:r>
                    </a:p>
                  </a:txBody>
                  <a:tcPr marL="6947" marR="6947" marT="6947" marB="0" anchor="b">
                    <a:lnL>
                      <a:noFill/>
                    </a:lnL>
                    <a:lnR>
                      <a:noFill/>
                    </a:lnR>
                    <a:lnT>
                      <a:noFill/>
                    </a:lnT>
                    <a:lnB>
                      <a:noFill/>
                    </a:lnB>
                  </a:tcPr>
                </a:tc>
                <a:tc>
                  <a:txBody>
                    <a:bodyPr/>
                    <a:lstStyle/>
                    <a:p>
                      <a:pPr algn="ctr" fontAlgn="b"/>
                      <a:endParaRPr lang="en-US" sz="1400" b="1"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ctr" fontAlgn="b"/>
                      <a:r>
                        <a:rPr lang="en-US" sz="1400" b="1" i="0" u="none" strike="noStrike">
                          <a:solidFill>
                            <a:srgbClr val="000000"/>
                          </a:solidFill>
                          <a:latin typeface="Calibri"/>
                        </a:rPr>
                        <a:t>$</a:t>
                      </a: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r>
                        <a:rPr lang="en-US" sz="1400" b="1" i="0" u="none" strike="noStrike">
                          <a:solidFill>
                            <a:srgbClr val="000000"/>
                          </a:solidFill>
                          <a:latin typeface="Calibri"/>
                        </a:rPr>
                        <a:t>Marks</a:t>
                      </a:r>
                    </a:p>
                  </a:txBody>
                  <a:tcPr marL="6947" marR="6947" marT="6947" marB="0" anchor="b">
                    <a:lnL>
                      <a:noFill/>
                    </a:lnL>
                    <a:lnR>
                      <a:noFill/>
                    </a:lnR>
                    <a:lnT>
                      <a:noFill/>
                    </a:lnT>
                    <a:lnB>
                      <a:noFill/>
                    </a:lnB>
                  </a:tcPr>
                </a:tc>
              </a:tr>
              <a:tr h="250092">
                <a:tc gridSpan="3">
                  <a:txBody>
                    <a:bodyPr/>
                    <a:lstStyle/>
                    <a:p>
                      <a:pPr algn="l" fontAlgn="b"/>
                      <a:r>
                        <a:rPr lang="en-US" sz="1400" b="0" i="0" u="none" strike="noStrike">
                          <a:solidFill>
                            <a:srgbClr val="000000"/>
                          </a:solidFill>
                          <a:latin typeface="Calibri"/>
                        </a:rPr>
                        <a:t>Net profit per accounts</a:t>
                      </a:r>
                    </a:p>
                  </a:txBody>
                  <a:tcPr marL="6947" marR="6947" marT="6947"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r>
                        <a:rPr lang="en-US" sz="1400" b="0" i="0" u="none" strike="noStrike">
                          <a:solidFill>
                            <a:srgbClr val="000000"/>
                          </a:solidFill>
                          <a:latin typeface="Calibri"/>
                        </a:rPr>
                        <a:t>     85,000 </a:t>
                      </a: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r>
              <a:tr h="250092">
                <a:tc>
                  <a:txBody>
                    <a:bodyPr/>
                    <a:lstStyle/>
                    <a:p>
                      <a:pPr algn="l" fontAlgn="b"/>
                      <a:r>
                        <a:rPr lang="en-US" sz="1400" b="0" i="0" u="none" strike="noStrike">
                          <a:solidFill>
                            <a:srgbClr val="000000"/>
                          </a:solidFill>
                          <a:latin typeface="Calibri"/>
                        </a:rPr>
                        <a:t>Add:</a:t>
                      </a: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r>
              <a:tr h="250092">
                <a:tc gridSpan="5">
                  <a:txBody>
                    <a:bodyPr/>
                    <a:lstStyle/>
                    <a:p>
                      <a:pPr algn="l" fontAlgn="b"/>
                      <a:r>
                        <a:rPr lang="en-US" sz="1400" b="0" i="0" u="none" strike="noStrike">
                          <a:solidFill>
                            <a:srgbClr val="000000"/>
                          </a:solidFill>
                          <a:latin typeface="Calibri"/>
                        </a:rPr>
                        <a:t>Insurance premiums - partnership joint life policy</a:t>
                      </a:r>
                    </a:p>
                  </a:txBody>
                  <a:tcPr marL="6947" marR="6947" marT="6947"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r>
                        <a:rPr lang="en-US" sz="1400" b="0" i="0" u="none" strike="noStrike">
                          <a:solidFill>
                            <a:srgbClr val="000000"/>
                          </a:solidFill>
                          <a:latin typeface="Calibri"/>
                        </a:rPr>
                        <a:t>       7,600 </a:t>
                      </a: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ctr" fontAlgn="b"/>
                      <a:r>
                        <a:rPr lang="en-US" sz="1400" b="0" i="0" u="none" strike="noStrike">
                          <a:solidFill>
                            <a:srgbClr val="000000"/>
                          </a:solidFill>
                          <a:latin typeface="Calibri"/>
                        </a:rPr>
                        <a:t>1</a:t>
                      </a:r>
                    </a:p>
                  </a:txBody>
                  <a:tcPr marL="6947" marR="6947" marT="6947" marB="0" anchor="b">
                    <a:lnL>
                      <a:noFill/>
                    </a:lnL>
                    <a:lnR>
                      <a:noFill/>
                    </a:lnR>
                    <a:lnT>
                      <a:noFill/>
                    </a:lnT>
                    <a:lnB>
                      <a:noFill/>
                    </a:lnB>
                  </a:tcPr>
                </a:tc>
              </a:tr>
              <a:tr h="250092">
                <a:tc gridSpan="4">
                  <a:txBody>
                    <a:bodyPr/>
                    <a:lstStyle/>
                    <a:p>
                      <a:pPr algn="l" fontAlgn="b"/>
                      <a:r>
                        <a:rPr lang="en-US" sz="1400" b="0" i="0" u="none" strike="noStrike">
                          <a:solidFill>
                            <a:srgbClr val="000000"/>
                          </a:solidFill>
                          <a:latin typeface="Calibri"/>
                        </a:rPr>
                        <a:t>Life policy for Jack and Jill's  benefit</a:t>
                      </a:r>
                    </a:p>
                  </a:txBody>
                  <a:tcPr marL="6947" marR="6947" marT="6947"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r>
                        <a:rPr lang="en-US" sz="1400" b="0" i="0" u="none" strike="noStrike">
                          <a:solidFill>
                            <a:srgbClr val="000000"/>
                          </a:solidFill>
                          <a:latin typeface="Calibri"/>
                        </a:rPr>
                        <a:t>             -   </a:t>
                      </a: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ctr" fontAlgn="b"/>
                      <a:r>
                        <a:rPr lang="en-US" sz="1400" b="0" i="0" u="none" strike="noStrike">
                          <a:solidFill>
                            <a:srgbClr val="000000"/>
                          </a:solidFill>
                          <a:latin typeface="Calibri"/>
                        </a:rPr>
                        <a:t>1</a:t>
                      </a:r>
                    </a:p>
                  </a:txBody>
                  <a:tcPr marL="6947" marR="6947" marT="6947" marB="0" anchor="b">
                    <a:lnL>
                      <a:noFill/>
                    </a:lnL>
                    <a:lnR>
                      <a:noFill/>
                    </a:lnR>
                    <a:lnT>
                      <a:noFill/>
                    </a:lnT>
                    <a:lnB>
                      <a:noFill/>
                    </a:lnB>
                  </a:tcPr>
                </a:tc>
              </a:tr>
              <a:tr h="250092">
                <a:tc gridSpan="3">
                  <a:txBody>
                    <a:bodyPr/>
                    <a:lstStyle/>
                    <a:p>
                      <a:pPr algn="l" fontAlgn="b"/>
                      <a:r>
                        <a:rPr lang="en-US" sz="1400" b="0" i="0" u="none" strike="noStrike">
                          <a:solidFill>
                            <a:srgbClr val="000000"/>
                          </a:solidFill>
                          <a:latin typeface="Calibri"/>
                        </a:rPr>
                        <a:t>Medical aid contributions</a:t>
                      </a:r>
                    </a:p>
                  </a:txBody>
                  <a:tcPr marL="6947" marR="6947" marT="6947"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r>
                        <a:rPr lang="en-US" sz="1400" b="0" i="0" u="none" strike="noStrike">
                          <a:solidFill>
                            <a:srgbClr val="000000"/>
                          </a:solidFill>
                          <a:latin typeface="Calibri"/>
                        </a:rPr>
                        <a:t>             -   </a:t>
                      </a: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ctr" fontAlgn="b"/>
                      <a:r>
                        <a:rPr lang="en-US" sz="1400" b="0" i="0" u="none" strike="noStrike">
                          <a:solidFill>
                            <a:srgbClr val="000000"/>
                          </a:solidFill>
                          <a:latin typeface="Calibri"/>
                        </a:rPr>
                        <a:t>1</a:t>
                      </a:r>
                    </a:p>
                  </a:txBody>
                  <a:tcPr marL="6947" marR="6947" marT="6947" marB="0" anchor="b">
                    <a:lnL>
                      <a:noFill/>
                    </a:lnL>
                    <a:lnR>
                      <a:noFill/>
                    </a:lnR>
                    <a:lnT>
                      <a:noFill/>
                    </a:lnT>
                    <a:lnB>
                      <a:noFill/>
                    </a:lnB>
                  </a:tcPr>
                </a:tc>
              </a:tr>
              <a:tr h="250092">
                <a:tc gridSpan="2">
                  <a:txBody>
                    <a:bodyPr/>
                    <a:lstStyle/>
                    <a:p>
                      <a:pPr algn="l" fontAlgn="b"/>
                      <a:r>
                        <a:rPr lang="en-US" sz="1400" b="0" i="0" u="none" strike="noStrike">
                          <a:solidFill>
                            <a:srgbClr val="000000"/>
                          </a:solidFill>
                          <a:latin typeface="Calibri"/>
                        </a:rPr>
                        <a:t>Loss of profits</a:t>
                      </a:r>
                    </a:p>
                  </a:txBody>
                  <a:tcPr marL="6947" marR="6947" marT="6947" marB="0" anchor="b">
                    <a:lnL>
                      <a:noFill/>
                    </a:lnL>
                    <a:lnR>
                      <a:noFill/>
                    </a:lnR>
                    <a:lnT>
                      <a:noFill/>
                    </a:lnT>
                    <a:lnB>
                      <a:noFill/>
                    </a:lnB>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r>
                        <a:rPr lang="en-US" sz="1400" b="0" i="0" u="none" strike="noStrike">
                          <a:solidFill>
                            <a:srgbClr val="000000"/>
                          </a:solidFill>
                          <a:latin typeface="Calibri"/>
                        </a:rPr>
                        <a:t>             -   </a:t>
                      </a: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ctr" fontAlgn="b"/>
                      <a:r>
                        <a:rPr lang="en-US" sz="1400" b="0" i="0" u="none" strike="noStrike">
                          <a:solidFill>
                            <a:srgbClr val="000000"/>
                          </a:solidFill>
                          <a:latin typeface="Calibri"/>
                        </a:rPr>
                        <a:t>1</a:t>
                      </a:r>
                    </a:p>
                  </a:txBody>
                  <a:tcPr marL="6947" marR="6947" marT="6947" marB="0" anchor="b">
                    <a:lnL>
                      <a:noFill/>
                    </a:lnL>
                    <a:lnR>
                      <a:noFill/>
                    </a:lnR>
                    <a:lnT>
                      <a:noFill/>
                    </a:lnT>
                    <a:lnB>
                      <a:noFill/>
                    </a:lnB>
                  </a:tcPr>
                </a:tc>
              </a:tr>
              <a:tr h="328245">
                <a:tc gridSpan="2">
                  <a:txBody>
                    <a:bodyPr/>
                    <a:lstStyle/>
                    <a:p>
                      <a:pPr algn="l" fontAlgn="b"/>
                      <a:r>
                        <a:rPr lang="en-US" sz="1400" b="0" i="0" u="none" strike="noStrike">
                          <a:solidFill>
                            <a:srgbClr val="000000"/>
                          </a:solidFill>
                          <a:latin typeface="Calibri"/>
                        </a:rPr>
                        <a:t>Public liability</a:t>
                      </a:r>
                    </a:p>
                  </a:txBody>
                  <a:tcPr marL="6947" marR="6947" marT="6947" marB="0" anchor="b">
                    <a:lnL>
                      <a:noFill/>
                    </a:lnL>
                    <a:lnR>
                      <a:noFill/>
                    </a:lnR>
                    <a:lnT>
                      <a:noFill/>
                    </a:lnT>
                    <a:lnB>
                      <a:noFill/>
                    </a:lnB>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r>
                        <a:rPr lang="en-US" sz="1400" b="0" i="0" u="none" strike="noStrike">
                          <a:solidFill>
                            <a:srgbClr val="000000"/>
                          </a:solidFill>
                          <a:latin typeface="Calibri"/>
                        </a:rPr>
                        <a:t>             -   </a:t>
                      </a:r>
                    </a:p>
                  </a:txBody>
                  <a:tcPr marL="6947" marR="6947" marT="694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ctr" fontAlgn="b"/>
                      <a:r>
                        <a:rPr lang="en-US" sz="1400" b="0" i="0" u="none" strike="noStrike">
                          <a:solidFill>
                            <a:srgbClr val="000000"/>
                          </a:solidFill>
                          <a:latin typeface="Calibri"/>
                        </a:rPr>
                        <a:t>1</a:t>
                      </a:r>
                    </a:p>
                  </a:txBody>
                  <a:tcPr marL="6947" marR="6947" marT="6947" marB="0" anchor="b">
                    <a:lnL>
                      <a:noFill/>
                    </a:lnL>
                    <a:lnR>
                      <a:noFill/>
                    </a:lnR>
                    <a:lnT>
                      <a:noFill/>
                    </a:lnT>
                    <a:lnB>
                      <a:noFill/>
                    </a:lnB>
                  </a:tcPr>
                </a:tc>
              </a:tr>
              <a:tr h="250092">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r>
                        <a:rPr lang="en-US" sz="1400" b="0" i="0" u="none" strike="noStrike">
                          <a:solidFill>
                            <a:srgbClr val="000000"/>
                          </a:solidFill>
                          <a:latin typeface="Calibri"/>
                        </a:rPr>
                        <a:t>       7,600 </a:t>
                      </a:r>
                    </a:p>
                  </a:txBody>
                  <a:tcPr marL="6947" marR="6947" marT="694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r>
              <a:tr h="250092">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r>
                        <a:rPr lang="en-US" sz="1400" b="0" i="0" u="none" strike="noStrike">
                          <a:solidFill>
                            <a:srgbClr val="000000"/>
                          </a:solidFill>
                          <a:latin typeface="Calibri"/>
                        </a:rPr>
                        <a:t>     92,600 </a:t>
                      </a:r>
                    </a:p>
                  </a:txBody>
                  <a:tcPr marL="6947" marR="6947" marT="6947"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r>
              <a:tr h="250092">
                <a:tc>
                  <a:txBody>
                    <a:bodyPr/>
                    <a:lstStyle/>
                    <a:p>
                      <a:pPr algn="l" fontAlgn="b"/>
                      <a:r>
                        <a:rPr lang="en-US" sz="1400" b="0" i="0" u="none" strike="noStrike">
                          <a:solidFill>
                            <a:srgbClr val="000000"/>
                          </a:solidFill>
                          <a:latin typeface="Calibri"/>
                        </a:rPr>
                        <a:t>Less:</a:t>
                      </a: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r>
              <a:tr h="468923">
                <a:tc gridSpan="3">
                  <a:txBody>
                    <a:bodyPr/>
                    <a:lstStyle/>
                    <a:p>
                      <a:pPr algn="l" fontAlgn="b"/>
                      <a:r>
                        <a:rPr lang="en-US" sz="1400" b="0" i="0" u="none" strike="noStrike">
                          <a:solidFill>
                            <a:srgbClr val="000000"/>
                          </a:solidFill>
                          <a:latin typeface="Calibri"/>
                        </a:rPr>
                        <a:t>7th Schedule - temp. farm road</a:t>
                      </a:r>
                    </a:p>
                  </a:txBody>
                  <a:tcPr marL="6947" marR="6947" marT="6947"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r>
                        <a:rPr lang="en-US" sz="1400" b="0" i="0" u="none" strike="noStrike">
                          <a:solidFill>
                            <a:srgbClr val="000000"/>
                          </a:solidFill>
                          <a:latin typeface="Calibri"/>
                        </a:rPr>
                        <a:t>     (3,500)</a:t>
                      </a: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ctr" fontAlgn="b"/>
                      <a:r>
                        <a:rPr lang="en-US" sz="1400" b="0" i="0" u="none" strike="noStrike">
                          <a:solidFill>
                            <a:srgbClr val="000000"/>
                          </a:solidFill>
                          <a:latin typeface="Calibri"/>
                        </a:rPr>
                        <a:t>1</a:t>
                      </a:r>
                    </a:p>
                  </a:txBody>
                  <a:tcPr marL="6947" marR="6947" marT="6947" marB="0" anchor="b">
                    <a:lnL>
                      <a:noFill/>
                    </a:lnL>
                    <a:lnR>
                      <a:noFill/>
                    </a:lnR>
                    <a:lnT>
                      <a:noFill/>
                    </a:lnT>
                    <a:lnB>
                      <a:noFill/>
                    </a:lnB>
                  </a:tcPr>
                </a:tc>
              </a:tr>
              <a:tr h="468923">
                <a:tc gridSpan="3">
                  <a:txBody>
                    <a:bodyPr/>
                    <a:lstStyle/>
                    <a:p>
                      <a:pPr algn="l" fontAlgn="b"/>
                      <a:r>
                        <a:rPr lang="en-US" sz="1400" b="0" i="0" u="none" strike="noStrike">
                          <a:solidFill>
                            <a:srgbClr val="000000"/>
                          </a:solidFill>
                          <a:latin typeface="Calibri"/>
                        </a:rPr>
                        <a:t>7th Schedule - dam consruction</a:t>
                      </a:r>
                    </a:p>
                  </a:txBody>
                  <a:tcPr marL="6947" marR="6947" marT="6947"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r>
                        <a:rPr lang="en-US" sz="1400" b="0" i="0" u="none" strike="noStrike">
                          <a:solidFill>
                            <a:srgbClr val="000000"/>
                          </a:solidFill>
                          <a:latin typeface="Calibri"/>
                        </a:rPr>
                        <a:t>   (10,500)</a:t>
                      </a: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ctr" fontAlgn="b"/>
                      <a:r>
                        <a:rPr lang="en-US" sz="1400" b="0" i="0" u="none" strike="noStrike">
                          <a:solidFill>
                            <a:srgbClr val="000000"/>
                          </a:solidFill>
                          <a:latin typeface="Calibri"/>
                        </a:rPr>
                        <a:t>1</a:t>
                      </a:r>
                    </a:p>
                  </a:txBody>
                  <a:tcPr marL="6947" marR="6947" marT="6947" marB="0" anchor="b">
                    <a:lnL>
                      <a:noFill/>
                    </a:lnL>
                    <a:lnR>
                      <a:noFill/>
                    </a:lnR>
                    <a:lnT>
                      <a:noFill/>
                    </a:lnT>
                    <a:lnB>
                      <a:noFill/>
                    </a:lnB>
                  </a:tcPr>
                </a:tc>
              </a:tr>
              <a:tr h="250092">
                <a:tc gridSpan="4">
                  <a:txBody>
                    <a:bodyPr/>
                    <a:lstStyle/>
                    <a:p>
                      <a:pPr algn="l" fontAlgn="b"/>
                      <a:r>
                        <a:rPr lang="en-US" sz="1400" b="0" i="0" u="none" strike="noStrike">
                          <a:solidFill>
                            <a:srgbClr val="000000"/>
                          </a:solidFill>
                          <a:latin typeface="Calibri"/>
                        </a:rPr>
                        <a:t>7th Schedule - Sinking boreholes</a:t>
                      </a:r>
                    </a:p>
                  </a:txBody>
                  <a:tcPr marL="6947" marR="6947" marT="6947"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r>
                        <a:rPr lang="en-US" sz="1400" b="0" i="0" u="none" strike="noStrike">
                          <a:solidFill>
                            <a:srgbClr val="000000"/>
                          </a:solidFill>
                          <a:latin typeface="Calibri"/>
                        </a:rPr>
                        <a:t>     (6,000)</a:t>
                      </a: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ctr" fontAlgn="b"/>
                      <a:r>
                        <a:rPr lang="en-US" sz="1400" b="0" i="0" u="none" strike="noStrike">
                          <a:solidFill>
                            <a:srgbClr val="000000"/>
                          </a:solidFill>
                          <a:latin typeface="Calibri"/>
                        </a:rPr>
                        <a:t>1</a:t>
                      </a:r>
                    </a:p>
                  </a:txBody>
                  <a:tcPr marL="6947" marR="6947" marT="6947" marB="0" anchor="b">
                    <a:lnL>
                      <a:noFill/>
                    </a:lnL>
                    <a:lnR>
                      <a:noFill/>
                    </a:lnR>
                    <a:lnT>
                      <a:noFill/>
                    </a:lnT>
                    <a:lnB>
                      <a:noFill/>
                    </a:lnB>
                  </a:tcPr>
                </a:tc>
              </a:tr>
              <a:tr h="468923">
                <a:tc gridSpan="4">
                  <a:txBody>
                    <a:bodyPr/>
                    <a:lstStyle/>
                    <a:p>
                      <a:pPr algn="l" fontAlgn="b"/>
                      <a:r>
                        <a:rPr lang="en-US" sz="1400" b="0" i="0" u="none" strike="noStrike">
                          <a:solidFill>
                            <a:srgbClr val="000000"/>
                          </a:solidFill>
                          <a:latin typeface="Calibri"/>
                        </a:rPr>
                        <a:t>SIA on borehole equpment (25% of $9,000)</a:t>
                      </a:r>
                    </a:p>
                  </a:txBody>
                  <a:tcPr marL="6947" marR="6947" marT="6947"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r>
                        <a:rPr lang="en-US" sz="1400" b="0" i="0" u="none" strike="noStrike">
                          <a:solidFill>
                            <a:srgbClr val="000000"/>
                          </a:solidFill>
                          <a:latin typeface="Calibri"/>
                        </a:rPr>
                        <a:t>     (2,250)</a:t>
                      </a:r>
                    </a:p>
                  </a:txBody>
                  <a:tcPr marL="6947" marR="6947" marT="694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ctr" fontAlgn="b"/>
                      <a:r>
                        <a:rPr lang="en-US" sz="1400" b="0" i="0" u="none" strike="noStrike">
                          <a:solidFill>
                            <a:srgbClr val="000000"/>
                          </a:solidFill>
                          <a:latin typeface="Calibri"/>
                        </a:rPr>
                        <a:t>1</a:t>
                      </a:r>
                    </a:p>
                  </a:txBody>
                  <a:tcPr marL="6947" marR="6947" marT="6947" marB="0" anchor="b">
                    <a:lnL>
                      <a:noFill/>
                    </a:lnL>
                    <a:lnR>
                      <a:noFill/>
                    </a:lnR>
                    <a:lnT>
                      <a:noFill/>
                    </a:lnT>
                    <a:lnB>
                      <a:noFill/>
                    </a:lnB>
                  </a:tcPr>
                </a:tc>
              </a:tr>
              <a:tr h="250092">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r>
                        <a:rPr lang="en-US" sz="1400" b="0" i="0" u="none" strike="noStrike">
                          <a:solidFill>
                            <a:srgbClr val="000000"/>
                          </a:solidFill>
                          <a:latin typeface="Calibri"/>
                        </a:rPr>
                        <a:t>   (22,250)</a:t>
                      </a:r>
                    </a:p>
                  </a:txBody>
                  <a:tcPr marL="6947" marR="6947" marT="694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r>
              <a:tr h="468923">
                <a:tc gridSpan="3">
                  <a:txBody>
                    <a:bodyPr/>
                    <a:lstStyle/>
                    <a:p>
                      <a:pPr algn="l" fontAlgn="b"/>
                      <a:r>
                        <a:rPr lang="en-US" sz="1400" b="0" i="0" u="none" strike="noStrike">
                          <a:solidFill>
                            <a:srgbClr val="000000"/>
                          </a:solidFill>
                          <a:latin typeface="Calibri"/>
                        </a:rPr>
                        <a:t>Partnership taxable income</a:t>
                      </a:r>
                    </a:p>
                  </a:txBody>
                  <a:tcPr marL="6947" marR="6947" marT="6947"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l" fontAlgn="b"/>
                      <a:r>
                        <a:rPr lang="en-US" sz="1400" b="0" i="0" u="none" strike="noStrike">
                          <a:solidFill>
                            <a:srgbClr val="000000"/>
                          </a:solidFill>
                          <a:latin typeface="Calibri"/>
                        </a:rPr>
                        <a:t>     70,350 </a:t>
                      </a:r>
                    </a:p>
                  </a:txBody>
                  <a:tcPr marL="6947" marR="6947" marT="69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6947" marR="6947" marT="6947" marB="0" anchor="b">
                    <a:lnL>
                      <a:noFill/>
                    </a:lnL>
                    <a:lnR>
                      <a:noFill/>
                    </a:lnR>
                    <a:lnT>
                      <a:noFill/>
                    </a:lnT>
                    <a:lnB>
                      <a:noFill/>
                    </a:lnB>
                  </a:tcPr>
                </a:tc>
                <a:tc>
                  <a:txBody>
                    <a:bodyPr/>
                    <a:lstStyle/>
                    <a:p>
                      <a:pPr algn="ctr" fontAlgn="b"/>
                      <a:endParaRPr lang="en-US" sz="1400" b="0" i="0" u="none" strike="noStrike" dirty="0">
                        <a:solidFill>
                          <a:srgbClr val="000000"/>
                        </a:solidFill>
                        <a:latin typeface="Calibri"/>
                      </a:endParaRPr>
                    </a:p>
                  </a:txBody>
                  <a:tcPr marL="6947" marR="6947" marT="6947"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762000" y="381000"/>
          <a:ext cx="7772404" cy="6019797"/>
        </p:xfrm>
        <a:graphic>
          <a:graphicData uri="http://schemas.openxmlformats.org/drawingml/2006/table">
            <a:tbl>
              <a:tblPr/>
              <a:tblGrid>
                <a:gridCol w="790414"/>
                <a:gridCol w="790414"/>
                <a:gridCol w="790414"/>
                <a:gridCol w="790414"/>
                <a:gridCol w="790414"/>
                <a:gridCol w="790414"/>
                <a:gridCol w="790414"/>
                <a:gridCol w="329339"/>
                <a:gridCol w="790414"/>
                <a:gridCol w="329339"/>
                <a:gridCol w="790414"/>
              </a:tblGrid>
              <a:tr h="286657">
                <a:tc>
                  <a:txBody>
                    <a:bodyPr/>
                    <a:lstStyle/>
                    <a:p>
                      <a:pPr algn="l" fontAlgn="b"/>
                      <a:r>
                        <a:rPr lang="en-US" sz="1400" b="0" i="0" u="none" strike="noStrike">
                          <a:solidFill>
                            <a:srgbClr val="000000"/>
                          </a:solidFill>
                          <a:latin typeface="Calibri"/>
                        </a:rPr>
                        <a:t>Shared : </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r>
              <a:tr h="286657">
                <a:tc>
                  <a:txBody>
                    <a:bodyPr/>
                    <a:lstStyle/>
                    <a:p>
                      <a:pPr algn="l" fontAlgn="b"/>
                      <a:r>
                        <a:rPr lang="en-US" sz="1400" b="0" i="0" u="none" strike="noStrike">
                          <a:solidFill>
                            <a:srgbClr val="000000"/>
                          </a:solidFill>
                          <a:latin typeface="Calibri"/>
                        </a:rPr>
                        <a:t>Jack 3/5</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42,210 </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r>
                        <a:rPr lang="en-US" sz="1400" b="0" i="0" u="none" strike="noStrike">
                          <a:solidFill>
                            <a:srgbClr val="FF0000"/>
                          </a:solidFill>
                          <a:latin typeface="Calibri"/>
                        </a:rPr>
                        <a:t>0.5</a:t>
                      </a:r>
                    </a:p>
                  </a:txBody>
                  <a:tcPr marL="7620" marR="7620" marT="7620" marB="0" anchor="b">
                    <a:lnL>
                      <a:noFill/>
                    </a:lnL>
                    <a:lnR>
                      <a:noFill/>
                    </a:lnR>
                    <a:lnT>
                      <a:noFill/>
                    </a:lnT>
                    <a:lnB>
                      <a:noFill/>
                    </a:lnB>
                  </a:tcPr>
                </a:tc>
              </a:tr>
              <a:tr h="286657">
                <a:tc>
                  <a:txBody>
                    <a:bodyPr/>
                    <a:lstStyle/>
                    <a:p>
                      <a:pPr algn="l" fontAlgn="b"/>
                      <a:r>
                        <a:rPr lang="en-US" sz="1400" b="0" i="0" u="none" strike="noStrike">
                          <a:solidFill>
                            <a:srgbClr val="000000"/>
                          </a:solidFill>
                          <a:latin typeface="Calibri"/>
                        </a:rPr>
                        <a:t>Jill  2/5</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28,140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r>
                        <a:rPr lang="en-US" sz="1400" b="0" i="0" u="none" strike="noStrike">
                          <a:solidFill>
                            <a:srgbClr val="FF0000"/>
                          </a:solidFill>
                          <a:latin typeface="Calibri"/>
                        </a:rPr>
                        <a:t>0.5</a:t>
                      </a:r>
                    </a:p>
                  </a:txBody>
                  <a:tcPr marL="7620" marR="7620" marT="7620" marB="0" anchor="b">
                    <a:lnL>
                      <a:noFill/>
                    </a:lnL>
                    <a:lnR>
                      <a:noFill/>
                    </a:lnR>
                    <a:lnT>
                      <a:noFill/>
                    </a:lnT>
                    <a:lnB>
                      <a:noFill/>
                    </a:lnB>
                  </a:tcPr>
                </a:tc>
              </a:tr>
              <a:tr h="286657">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70,350 </a:t>
                      </a: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r>
              <a:tr h="286657">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r>
              <a:tr h="286657">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r>
                        <a:rPr lang="en-US" sz="1400" b="1" i="0" u="none" strike="noStrike">
                          <a:solidFill>
                            <a:srgbClr val="000000"/>
                          </a:solidFill>
                          <a:latin typeface="Calibri"/>
                        </a:rPr>
                        <a:t> JACK </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r>
                        <a:rPr lang="en-US" sz="1400" b="1" i="0" u="none" strike="noStrike">
                          <a:solidFill>
                            <a:srgbClr val="000000"/>
                          </a:solidFill>
                          <a:latin typeface="Calibri"/>
                        </a:rPr>
                        <a:t> JILL </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r>
              <a:tr h="286657">
                <a:tc gridSpan="3">
                  <a:txBody>
                    <a:bodyPr/>
                    <a:lstStyle/>
                    <a:p>
                      <a:pPr algn="l" fontAlgn="b"/>
                      <a:r>
                        <a:rPr lang="en-US" sz="1400" b="0" i="0" u="none" strike="noStrike">
                          <a:solidFill>
                            <a:srgbClr val="000000"/>
                          </a:solidFill>
                          <a:latin typeface="Calibri"/>
                        </a:rPr>
                        <a:t>Share of taxable income</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42,210 </a:t>
                      </a:r>
                    </a:p>
                  </a:txBody>
                  <a:tcPr marL="7620" marR="7620" marT="7620" marB="0" anchor="b">
                    <a:lnL>
                      <a:noFill/>
                    </a:lnL>
                    <a:lnR>
                      <a:noFill/>
                    </a:lnR>
                    <a:lnT>
                      <a:noFill/>
                    </a:lnT>
                    <a:lnB>
                      <a:noFill/>
                    </a:lnB>
                  </a:tcPr>
                </a:tc>
                <a:tc>
                  <a:txBody>
                    <a:bodyPr/>
                    <a:lstStyle/>
                    <a:p>
                      <a:pPr algn="ctr" fontAlgn="b"/>
                      <a:endParaRPr lang="en-US" sz="14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28,140 </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endParaRPr lang="en-US" sz="1400" b="1" i="0" u="none" strike="noStrike">
                        <a:solidFill>
                          <a:srgbClr val="FF0000"/>
                        </a:solidFill>
                        <a:latin typeface="Calibri"/>
                      </a:endParaRPr>
                    </a:p>
                  </a:txBody>
                  <a:tcPr marL="7620" marR="7620" marT="7620" marB="0" anchor="b">
                    <a:lnL>
                      <a:noFill/>
                    </a:lnL>
                    <a:lnR>
                      <a:noFill/>
                    </a:lnR>
                    <a:lnT>
                      <a:noFill/>
                    </a:lnT>
                    <a:lnB>
                      <a:noFill/>
                    </a:lnB>
                  </a:tcPr>
                </a:tc>
              </a:tr>
              <a:tr h="286657">
                <a:tc>
                  <a:txBody>
                    <a:bodyPr/>
                    <a:lstStyle/>
                    <a:p>
                      <a:pPr algn="l" fontAlgn="b"/>
                      <a:r>
                        <a:rPr lang="en-US" sz="1400" b="0" i="0" u="none" strike="noStrike">
                          <a:solidFill>
                            <a:srgbClr val="000000"/>
                          </a:solidFill>
                          <a:latin typeface="Calibri"/>
                        </a:rPr>
                        <a:t>Add</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r>
              <a:tr h="286657">
                <a:tc>
                  <a:txBody>
                    <a:bodyPr/>
                    <a:lstStyle/>
                    <a:p>
                      <a:pPr algn="l" fontAlgn="b"/>
                      <a:r>
                        <a:rPr lang="en-US" sz="1400" b="0" i="0" u="none" strike="noStrike">
                          <a:solidFill>
                            <a:srgbClr val="000000"/>
                          </a:solidFill>
                          <a:latin typeface="Calibri"/>
                        </a:rPr>
                        <a:t>Salary</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12,000 </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8,000 </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r>
                        <a:rPr lang="en-US" sz="1400" b="0" i="0" u="none" strike="noStrike">
                          <a:solidFill>
                            <a:srgbClr val="FF0000"/>
                          </a:solidFill>
                          <a:latin typeface="Calibri"/>
                        </a:rPr>
                        <a:t>1</a:t>
                      </a:r>
                    </a:p>
                  </a:txBody>
                  <a:tcPr marL="7620" marR="7620" marT="7620" marB="0" anchor="b">
                    <a:lnL>
                      <a:noFill/>
                    </a:lnL>
                    <a:lnR>
                      <a:noFill/>
                    </a:lnR>
                    <a:lnT>
                      <a:noFill/>
                    </a:lnT>
                    <a:lnB>
                      <a:noFill/>
                    </a:lnB>
                  </a:tcPr>
                </a:tc>
              </a:tr>
              <a:tr h="286657">
                <a:tc gridSpan="2">
                  <a:txBody>
                    <a:bodyPr/>
                    <a:lstStyle/>
                    <a:p>
                      <a:pPr algn="l" fontAlgn="b"/>
                      <a:r>
                        <a:rPr lang="en-US" sz="1400" b="0" i="0" u="none" strike="noStrike">
                          <a:solidFill>
                            <a:srgbClr val="000000"/>
                          </a:solidFill>
                          <a:latin typeface="Calibri"/>
                        </a:rPr>
                        <a:t>Life policy</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4,500 </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8,000 </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r>
                        <a:rPr lang="en-US" sz="1400" b="0" i="0" u="none" strike="noStrike">
                          <a:solidFill>
                            <a:srgbClr val="FF0000"/>
                          </a:solidFill>
                          <a:latin typeface="Calibri"/>
                        </a:rPr>
                        <a:t>1</a:t>
                      </a:r>
                    </a:p>
                  </a:txBody>
                  <a:tcPr marL="7620" marR="7620" marT="7620" marB="0" anchor="b">
                    <a:lnL>
                      <a:noFill/>
                    </a:lnL>
                    <a:lnR>
                      <a:noFill/>
                    </a:lnR>
                    <a:lnT>
                      <a:noFill/>
                    </a:lnT>
                    <a:lnB>
                      <a:noFill/>
                    </a:lnB>
                  </a:tcPr>
                </a:tc>
              </a:tr>
              <a:tr h="286657">
                <a:tc gridSpan="3">
                  <a:txBody>
                    <a:bodyPr/>
                    <a:lstStyle/>
                    <a:p>
                      <a:pPr algn="l" fontAlgn="b"/>
                      <a:r>
                        <a:rPr lang="en-US" sz="1400" b="0" i="0" u="none" strike="noStrike">
                          <a:solidFill>
                            <a:srgbClr val="000000"/>
                          </a:solidFill>
                          <a:latin typeface="Calibri"/>
                        </a:rPr>
                        <a:t>Medical aid contribution</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3,600 </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4,200 </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r>
                        <a:rPr lang="en-US" sz="1400" b="0" i="0" u="none" strike="noStrike">
                          <a:solidFill>
                            <a:srgbClr val="FF0000"/>
                          </a:solidFill>
                          <a:latin typeface="Calibri"/>
                        </a:rPr>
                        <a:t>1</a:t>
                      </a:r>
                    </a:p>
                  </a:txBody>
                  <a:tcPr marL="7620" marR="7620" marT="7620" marB="0" anchor="b">
                    <a:lnL>
                      <a:noFill/>
                    </a:lnL>
                    <a:lnR>
                      <a:noFill/>
                    </a:lnR>
                    <a:lnT>
                      <a:noFill/>
                    </a:lnT>
                    <a:lnB>
                      <a:noFill/>
                    </a:lnB>
                  </a:tcPr>
                </a:tc>
              </a:tr>
              <a:tr h="286657">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r>
                        <a:rPr lang="en-US" sz="1400" b="0" i="0" u="none" strike="noStrike">
                          <a:solidFill>
                            <a:srgbClr val="FF0000"/>
                          </a:solidFill>
                          <a:latin typeface="Calibri"/>
                        </a:rPr>
                        <a:t>1</a:t>
                      </a:r>
                    </a:p>
                  </a:txBody>
                  <a:tcPr marL="7620" marR="7620" marT="7620" marB="0" anchor="b">
                    <a:lnL>
                      <a:noFill/>
                    </a:lnL>
                    <a:lnR>
                      <a:noFill/>
                    </a:lnR>
                    <a:lnT>
                      <a:noFill/>
                    </a:lnT>
                    <a:lnB>
                      <a:noFill/>
                    </a:lnB>
                  </a:tcPr>
                </a:tc>
              </a:tr>
              <a:tr h="286657">
                <a:tc gridSpan="3">
                  <a:txBody>
                    <a:bodyPr/>
                    <a:lstStyle/>
                    <a:p>
                      <a:pPr algn="l" fontAlgn="b"/>
                      <a:r>
                        <a:rPr lang="en-US" sz="1400" b="0" i="0" u="none" strike="noStrike">
                          <a:solidFill>
                            <a:srgbClr val="000000"/>
                          </a:solidFill>
                          <a:latin typeface="Calibri"/>
                        </a:rPr>
                        <a:t>Partners taxable income</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62,310 </a:t>
                      </a: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48,340 </a:t>
                      </a: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r>
              <a:tr h="286657">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r>
              <a:tr h="286657">
                <a:tc gridSpan="3">
                  <a:txBody>
                    <a:bodyPr/>
                    <a:lstStyle/>
                    <a:p>
                      <a:pPr algn="l" fontAlgn="b"/>
                      <a:r>
                        <a:rPr lang="en-US" sz="1400" b="0" i="0" u="none" strike="noStrike">
                          <a:solidFill>
                            <a:srgbClr val="000000"/>
                          </a:solidFill>
                          <a:latin typeface="Calibri"/>
                        </a:rPr>
                        <a:t>Tax on taxable income at 25%</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15,578 </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12,085 </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r>
                        <a:rPr lang="en-US" sz="1400" b="0" i="0" u="none" strike="noStrike">
                          <a:solidFill>
                            <a:srgbClr val="FF0000"/>
                          </a:solidFill>
                          <a:latin typeface="Calibri"/>
                        </a:rPr>
                        <a:t>0.5</a:t>
                      </a:r>
                    </a:p>
                  </a:txBody>
                  <a:tcPr marL="7620" marR="7620" marT="7620" marB="0" anchor="b">
                    <a:lnL>
                      <a:noFill/>
                    </a:lnL>
                    <a:lnR>
                      <a:noFill/>
                    </a:lnR>
                    <a:lnT>
                      <a:noFill/>
                    </a:lnT>
                    <a:lnB>
                      <a:noFill/>
                    </a:lnB>
                  </a:tcPr>
                </a:tc>
              </a:tr>
              <a:tr h="286657">
                <a:tc>
                  <a:txBody>
                    <a:bodyPr/>
                    <a:lstStyle/>
                    <a:p>
                      <a:pPr algn="l" fontAlgn="b"/>
                      <a:r>
                        <a:rPr lang="en-US" sz="1400" b="0" i="0" u="none" strike="noStrike">
                          <a:solidFill>
                            <a:srgbClr val="000000"/>
                          </a:solidFill>
                          <a:latin typeface="Calibri"/>
                        </a:rPr>
                        <a:t>Credits:</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r>
              <a:tr h="286657">
                <a:tc gridSpan="3">
                  <a:txBody>
                    <a:bodyPr/>
                    <a:lstStyle/>
                    <a:p>
                      <a:pPr algn="l" fontAlgn="b"/>
                      <a:r>
                        <a:rPr lang="en-US" sz="1400" b="0" i="0" u="none" strike="noStrike">
                          <a:solidFill>
                            <a:srgbClr val="000000"/>
                          </a:solidFill>
                          <a:latin typeface="Calibri"/>
                        </a:rPr>
                        <a:t>Medical aid contributions (50%)</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(1,800)</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(2,100)</a:t>
                      </a: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r>
                        <a:rPr lang="en-US" sz="1400" b="0" i="0" u="none" strike="noStrike">
                          <a:solidFill>
                            <a:srgbClr val="FF0000"/>
                          </a:solidFill>
                          <a:latin typeface="Calibri"/>
                        </a:rPr>
                        <a:t>0.5</a:t>
                      </a:r>
                    </a:p>
                  </a:txBody>
                  <a:tcPr marL="7620" marR="7620" marT="7620" marB="0" anchor="b">
                    <a:lnL>
                      <a:noFill/>
                    </a:lnL>
                    <a:lnR>
                      <a:noFill/>
                    </a:lnR>
                    <a:lnT>
                      <a:noFill/>
                    </a:lnT>
                    <a:lnB>
                      <a:noFill/>
                    </a:lnB>
                  </a:tcPr>
                </a:tc>
              </a:tr>
              <a:tr h="286657">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r>
              <a:tr h="286657">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13,778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9,985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r>
              <a:tr h="286657">
                <a:tc gridSpan="2">
                  <a:txBody>
                    <a:bodyPr/>
                    <a:lstStyle/>
                    <a:p>
                      <a:pPr algn="l" fontAlgn="b"/>
                      <a:r>
                        <a:rPr lang="en-US" sz="1400" b="0" i="0" u="none" strike="noStrike">
                          <a:solidFill>
                            <a:srgbClr val="000000"/>
                          </a:solidFill>
                          <a:latin typeface="Calibri"/>
                        </a:rPr>
                        <a:t>3% aids levy</a:t>
                      </a:r>
                    </a:p>
                  </a:txBody>
                  <a:tcPr marL="7620" marR="7620" marT="7620" marB="0" anchor="b">
                    <a:lnL>
                      <a:noFill/>
                    </a:lnL>
                    <a:lnR>
                      <a:noFill/>
                    </a:lnR>
                    <a:lnT>
                      <a:noFill/>
                    </a:lnT>
                    <a:lnB>
                      <a:noFill/>
                    </a:lnB>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413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300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r>
                        <a:rPr lang="en-US" sz="1400" b="0" i="0" u="none" strike="noStrike">
                          <a:solidFill>
                            <a:srgbClr val="FF0000"/>
                          </a:solidFill>
                          <a:latin typeface="Calibri"/>
                        </a:rPr>
                        <a:t>0.5</a:t>
                      </a:r>
                    </a:p>
                  </a:txBody>
                  <a:tcPr marL="7620" marR="7620" marT="7620" marB="0" anchor="b">
                    <a:lnL>
                      <a:noFill/>
                    </a:lnL>
                    <a:lnR>
                      <a:noFill/>
                    </a:lnR>
                    <a:lnT>
                      <a:noFill/>
                    </a:lnT>
                    <a:lnB>
                      <a:noFill/>
                    </a:lnB>
                  </a:tcPr>
                </a:tc>
              </a:tr>
              <a:tr h="286657">
                <a:tc gridSpan="3">
                  <a:txBody>
                    <a:bodyPr/>
                    <a:lstStyle/>
                    <a:p>
                      <a:pPr algn="l" fontAlgn="b"/>
                      <a:r>
                        <a:rPr lang="en-US" sz="1400" b="0" i="0" u="none" strike="noStrike">
                          <a:solidFill>
                            <a:srgbClr val="000000"/>
                          </a:solidFill>
                          <a:latin typeface="Calibri"/>
                        </a:rPr>
                        <a:t>Minimum tax payable</a:t>
                      </a:r>
                    </a:p>
                  </a:txBody>
                  <a:tcPr marL="7620" marR="7620" marT="762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14,191 </a:t>
                      </a: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US" sz="1400" b="0" i="0" u="none" strike="noStrike">
                          <a:solidFill>
                            <a:srgbClr val="000000"/>
                          </a:solidFill>
                          <a:latin typeface="Calibri"/>
                        </a:rPr>
                        <a:t>     10,285 </a:t>
                      </a: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4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ctr" fontAlgn="b"/>
                      <a:endParaRPr lang="en-US" sz="1400" b="0" i="0" u="none" strike="noStrike" dirty="0">
                        <a:solidFill>
                          <a:srgbClr val="FF0000"/>
                        </a:solidFill>
                        <a:latin typeface="Calibri"/>
                      </a:endParaRPr>
                    </a:p>
                  </a:txBody>
                  <a:tcPr marL="7620" marR="7620" marT="762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364162"/>
          </a:xfrm>
          <a:solidFill>
            <a:schemeClr val="accent6">
              <a:lumMod val="75000"/>
            </a:schemeClr>
          </a:solidFill>
        </p:spPr>
        <p:txBody>
          <a:bodyPr/>
          <a:lstStyle/>
          <a:p>
            <a:pPr>
              <a:defRPr/>
            </a:pPr>
            <a:r>
              <a:rPr lang="en-US" dirty="0" smtClean="0">
                <a:solidFill>
                  <a:schemeClr val="bg1"/>
                </a:solidFill>
              </a:rPr>
              <a:t>PRACTICE QUESTION :</a:t>
            </a:r>
            <a:br>
              <a:rPr lang="en-US" dirty="0" smtClean="0">
                <a:solidFill>
                  <a:schemeClr val="bg1"/>
                </a:solidFill>
              </a:rPr>
            </a:br>
            <a:r>
              <a:rPr lang="en-US" dirty="0" smtClean="0">
                <a:solidFill>
                  <a:schemeClr val="bg1"/>
                </a:solidFill>
              </a:rPr>
              <a:t>BORNFREE MOYO</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457200" y="457200"/>
          <a:ext cx="8458201" cy="5678424"/>
        </p:xfrm>
        <a:graphic>
          <a:graphicData uri="http://schemas.openxmlformats.org/drawingml/2006/table">
            <a:tbl>
              <a:tblPr/>
              <a:tblGrid>
                <a:gridCol w="755140"/>
                <a:gridCol w="756704"/>
                <a:gridCol w="961781"/>
                <a:gridCol w="239383"/>
                <a:gridCol w="413867"/>
                <a:gridCol w="144694"/>
                <a:gridCol w="574489"/>
                <a:gridCol w="312687"/>
                <a:gridCol w="578472"/>
                <a:gridCol w="1844857"/>
                <a:gridCol w="484667"/>
                <a:gridCol w="477061"/>
                <a:gridCol w="163948"/>
                <a:gridCol w="750451"/>
              </a:tblGrid>
              <a:tr h="171049">
                <a:tc gridSpan="4">
                  <a:txBody>
                    <a:bodyPr/>
                    <a:lstStyle/>
                    <a:p>
                      <a:pPr marL="0" marR="0">
                        <a:lnSpc>
                          <a:spcPct val="115000"/>
                        </a:lnSpc>
                        <a:spcBef>
                          <a:spcPts val="0"/>
                        </a:spcBef>
                        <a:spcAft>
                          <a:spcPts val="0"/>
                        </a:spcAft>
                      </a:pPr>
                      <a:r>
                        <a:rPr lang="en-US" sz="1800" b="1" dirty="0">
                          <a:solidFill>
                            <a:srgbClr val="FF0000"/>
                          </a:solidFill>
                          <a:latin typeface="Calibri"/>
                          <a:ea typeface="Times New Roman"/>
                          <a:cs typeface="Times New Roman"/>
                        </a:rPr>
                        <a:t>QUESTION : [30 MARKS]</a:t>
                      </a:r>
                      <a:endParaRPr lang="en-US" sz="1800" dirty="0">
                        <a:solidFill>
                          <a:srgbClr val="FF0000"/>
                        </a:solidFill>
                        <a:latin typeface="Calibri"/>
                        <a:ea typeface="Calibri"/>
                        <a:cs typeface="Times New Roman"/>
                      </a:endParaRPr>
                    </a:p>
                  </a:txBody>
                  <a:tcPr marL="60847" marR="60847"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pPr>
                        <a:lnSpc>
                          <a:spcPct val="115000"/>
                        </a:lnSpc>
                      </a:pPr>
                      <a:endParaRPr lang="en-US" sz="1600">
                        <a:latin typeface="Calibri"/>
                        <a:ea typeface="Times New Roman"/>
                      </a:endParaRPr>
                    </a:p>
                  </a:txBody>
                  <a:tcPr marL="60847" marR="60847" marT="0" marB="0" anchor="b">
                    <a:lnL>
                      <a:noFill/>
                    </a:lnL>
                    <a:lnR>
                      <a:noFill/>
                    </a:lnR>
                    <a:lnT>
                      <a:noFill/>
                    </a:lnT>
                    <a:lnB>
                      <a:noFill/>
                    </a:lnB>
                  </a:tcPr>
                </a:tc>
                <a:tc>
                  <a:txBody>
                    <a:bodyPr/>
                    <a:lstStyle/>
                    <a:p>
                      <a:endParaRPr lang="en-US" sz="1800" dirty="0"/>
                    </a:p>
                  </a:txBody>
                  <a:tcPr marL="60847" marR="60847" marT="0" marB="0" anchor="b">
                    <a:lnL>
                      <a:noFill/>
                    </a:lnL>
                    <a:lnR>
                      <a:noFill/>
                    </a:lnR>
                    <a:lnT>
                      <a:noFill/>
                    </a:lnT>
                    <a:lnB>
                      <a:noFill/>
                    </a:lnB>
                  </a:tcPr>
                </a:tc>
                <a:tc gridSpan="2">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gridSpan="2">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171049">
                <a:tc gridSpan="9">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Bornfree Moyo is a commercial farmer in Mashonaland West.</a:t>
                      </a:r>
                      <a:endParaRPr lang="en-US" sz="1800">
                        <a:latin typeface="Calibri"/>
                        <a:ea typeface="Calibri"/>
                        <a:cs typeface="Times New Roman"/>
                      </a:endParaRPr>
                    </a:p>
                  </a:txBody>
                  <a:tcPr marL="60847" marR="60847"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gridSpan="2">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171049">
                <a:tc gridSpan="14">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He submits the following accounts in respect of his mixed farming venture   in support of his return for the year ended </a:t>
                      </a:r>
                      <a:endParaRPr lang="en-US" sz="1800">
                        <a:latin typeface="Calibri"/>
                        <a:ea typeface="Calibri"/>
                        <a:cs typeface="Times New Roman"/>
                      </a:endParaRPr>
                    </a:p>
                  </a:txBody>
                  <a:tcPr marL="60847" marR="60847"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71049">
                <a:tc gridSpan="3">
                  <a:txBody>
                    <a:bodyPr/>
                    <a:lstStyle/>
                    <a:p>
                      <a:pPr marL="0" marR="0">
                        <a:lnSpc>
                          <a:spcPct val="115000"/>
                        </a:lnSpc>
                        <a:spcBef>
                          <a:spcPts val="0"/>
                        </a:spcBef>
                        <a:spcAft>
                          <a:spcPts val="0"/>
                        </a:spcAft>
                      </a:pPr>
                      <a:r>
                        <a:rPr lang="en-US" sz="1800" dirty="0">
                          <a:solidFill>
                            <a:srgbClr val="000000"/>
                          </a:solidFill>
                          <a:latin typeface="Calibri"/>
                          <a:ea typeface="Times New Roman"/>
                          <a:cs typeface="Times New Roman"/>
                        </a:rPr>
                        <a:t>31st December </a:t>
                      </a:r>
                      <a:r>
                        <a:rPr lang="en-US" sz="1800" dirty="0" smtClean="0">
                          <a:solidFill>
                            <a:srgbClr val="000000"/>
                          </a:solidFill>
                          <a:latin typeface="Calibri"/>
                          <a:ea typeface="Times New Roman"/>
                          <a:cs typeface="Times New Roman"/>
                        </a:rPr>
                        <a:t>2012</a:t>
                      </a:r>
                      <a:r>
                        <a:rPr lang="en-US" sz="1800" baseline="0" dirty="0" smtClean="0">
                          <a:solidFill>
                            <a:srgbClr val="000000"/>
                          </a:solidFill>
                          <a:latin typeface="Calibri"/>
                          <a:ea typeface="Times New Roman"/>
                          <a:cs typeface="Times New Roman"/>
                        </a:rPr>
                        <a:t> </a:t>
                      </a:r>
                      <a:r>
                        <a:rPr lang="en-US" sz="1800" dirty="0" smtClean="0">
                          <a:solidFill>
                            <a:srgbClr val="000000"/>
                          </a:solidFill>
                          <a:latin typeface="Calibri"/>
                          <a:ea typeface="Times New Roman"/>
                          <a:cs typeface="Times New Roman"/>
                        </a:rPr>
                        <a:t>:</a:t>
                      </a:r>
                      <a:endParaRPr lang="en-US" sz="1800" dirty="0">
                        <a:latin typeface="Calibri"/>
                        <a:ea typeface="Calibri"/>
                        <a:cs typeface="Times New Roman"/>
                      </a:endParaRPr>
                    </a:p>
                  </a:txBody>
                  <a:tcPr marL="60847" marR="60847" marT="0" marB="0" anchor="b">
                    <a:lnL>
                      <a:noFill/>
                    </a:lnL>
                    <a:lnR>
                      <a:noFill/>
                    </a:lnR>
                    <a:lnT>
                      <a:noFill/>
                    </a:lnT>
                    <a:lnB>
                      <a:noFill/>
                    </a:lnB>
                  </a:tcPr>
                </a:tc>
                <a:tc hMerge="1">
                  <a:txBody>
                    <a:bodyPr/>
                    <a:lstStyle/>
                    <a:p>
                      <a:endParaRPr lang="en-US"/>
                    </a:p>
                  </a:txBody>
                  <a:tcPr/>
                </a:tc>
                <a:tc hMerge="1">
                  <a:txBody>
                    <a:bodyPr/>
                    <a:lstStyle/>
                    <a:p>
                      <a:endParaRPr lang="en-US"/>
                    </a:p>
                  </a:txBody>
                  <a:tcPr/>
                </a:tc>
                <a:tc gridSpan="3">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hMerge="1">
                  <a:txBody>
                    <a:bodyPr/>
                    <a:lstStyle/>
                    <a:p>
                      <a:endParaRPr lang="en-US"/>
                    </a:p>
                  </a:txBody>
                  <a:tcPr/>
                </a:tc>
                <a:tc hMerge="1">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endParaRPr lang="en-US" dirty="0"/>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gridSpan="2">
                  <a:txBody>
                    <a:bodyPr/>
                    <a:lstStyle/>
                    <a:p>
                      <a:endParaRPr lang="en-US"/>
                    </a:p>
                  </a:txBody>
                  <a:tcPr marL="60847" marR="60847" marT="0" marB="0" anchor="b">
                    <a:lnL>
                      <a:noFill/>
                    </a:lnL>
                    <a:lnR>
                      <a:noFill/>
                    </a:lnR>
                    <a:lnT>
                      <a:noFill/>
                    </a:lnT>
                    <a:lnB>
                      <a:noFill/>
                    </a:lnB>
                  </a:tcPr>
                </a:tc>
                <a:tc hMerge="1">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171049">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dirty="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dirty="0">
                        <a:latin typeface="Calibri"/>
                        <a:ea typeface="Times New Roman"/>
                      </a:endParaRPr>
                    </a:p>
                  </a:txBody>
                  <a:tcPr marL="60847" marR="60847" marT="0" marB="0" anchor="b">
                    <a:lnL>
                      <a:noFill/>
                    </a:lnL>
                    <a:lnR>
                      <a:noFill/>
                    </a:lnR>
                    <a:lnT>
                      <a:noFill/>
                    </a:lnT>
                    <a:lnB>
                      <a:noFill/>
                    </a:lnB>
                  </a:tcPr>
                </a:tc>
                <a:tc gridSpan="3">
                  <a:txBody>
                    <a:bodyPr/>
                    <a:lstStyle/>
                    <a:p>
                      <a:pPr>
                        <a:lnSpc>
                          <a:spcPct val="115000"/>
                        </a:lnSpc>
                      </a:pPr>
                      <a:endParaRPr lang="en-US" sz="1800" dirty="0">
                        <a:latin typeface="Calibri"/>
                        <a:ea typeface="Times New Roman"/>
                      </a:endParaRPr>
                    </a:p>
                  </a:txBody>
                  <a:tcPr marL="60847" marR="60847" marT="0" marB="0" anchor="b">
                    <a:lnL>
                      <a:noFill/>
                    </a:lnL>
                    <a:lnR>
                      <a:noFill/>
                    </a:lnR>
                    <a:lnT>
                      <a:noFill/>
                    </a:lnT>
                    <a:lnB>
                      <a:noFill/>
                    </a:lnB>
                  </a:tcPr>
                </a:tc>
                <a:tc hMerge="1">
                  <a:txBody>
                    <a:bodyPr/>
                    <a:lstStyle/>
                    <a:p>
                      <a:endParaRPr lang="en-US"/>
                    </a:p>
                  </a:txBody>
                  <a:tcPr/>
                </a:tc>
                <a:tc hMerge="1">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endParaRPr lang="en-US"/>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gridSpan="2">
                  <a:txBody>
                    <a:bodyPr/>
                    <a:lstStyle/>
                    <a:p>
                      <a:endParaRPr lang="en-US"/>
                    </a:p>
                  </a:txBody>
                  <a:tcPr marL="60847" marR="60847" marT="0" marB="0" anchor="b">
                    <a:lnL>
                      <a:noFill/>
                    </a:lnL>
                    <a:lnR>
                      <a:noFill/>
                    </a:lnR>
                    <a:lnT>
                      <a:noFill/>
                    </a:lnT>
                    <a:lnB>
                      <a:noFill/>
                    </a:lnB>
                  </a:tcPr>
                </a:tc>
                <a:tc hMerge="1">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171049">
                <a:tc gridSpan="2">
                  <a:txBody>
                    <a:bodyPr/>
                    <a:lstStyle/>
                    <a:p>
                      <a:pPr marL="0" marR="0">
                        <a:lnSpc>
                          <a:spcPct val="115000"/>
                        </a:lnSpc>
                        <a:spcBef>
                          <a:spcPts val="0"/>
                        </a:spcBef>
                        <a:spcAft>
                          <a:spcPts val="0"/>
                        </a:spcAft>
                      </a:pPr>
                      <a:r>
                        <a:rPr lang="en-US" sz="1800" b="1" dirty="0">
                          <a:solidFill>
                            <a:srgbClr val="FF0000"/>
                          </a:solidFill>
                          <a:latin typeface="Calibri"/>
                          <a:ea typeface="Times New Roman"/>
                          <a:cs typeface="Times New Roman"/>
                        </a:rPr>
                        <a:t>Livestock account</a:t>
                      </a:r>
                      <a:endParaRPr lang="en-US" sz="1800" dirty="0">
                        <a:solidFill>
                          <a:srgbClr val="FF0000"/>
                        </a:solidFill>
                        <a:latin typeface="Calibri"/>
                        <a:ea typeface="Calibri"/>
                        <a:cs typeface="Times New Roman"/>
                      </a:endParaRPr>
                    </a:p>
                  </a:txBody>
                  <a:tcPr marL="60847" marR="60847"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800" dirty="0">
                        <a:solidFill>
                          <a:srgbClr val="FF0000"/>
                        </a:solidFill>
                        <a:latin typeface="Calibri"/>
                        <a:ea typeface="Times New Roman"/>
                      </a:endParaRPr>
                    </a:p>
                  </a:txBody>
                  <a:tcPr marL="60847" marR="60847" marT="0" marB="0" anchor="b">
                    <a:lnL>
                      <a:noFill/>
                    </a:lnL>
                    <a:lnR>
                      <a:noFill/>
                    </a:lnR>
                    <a:lnT>
                      <a:noFill/>
                    </a:lnT>
                    <a:lnB>
                      <a:noFill/>
                    </a:lnB>
                  </a:tcPr>
                </a:tc>
                <a:tc gridSpan="3">
                  <a:txBody>
                    <a:bodyPr/>
                    <a:lstStyle/>
                    <a:p>
                      <a:pPr>
                        <a:lnSpc>
                          <a:spcPct val="115000"/>
                        </a:lnSpc>
                      </a:pPr>
                      <a:endParaRPr lang="en-US" sz="1800" dirty="0">
                        <a:solidFill>
                          <a:srgbClr val="FF0000"/>
                        </a:solidFill>
                        <a:latin typeface="Calibri"/>
                        <a:ea typeface="Times New Roman"/>
                      </a:endParaRPr>
                    </a:p>
                  </a:txBody>
                  <a:tcPr marL="60847" marR="60847" marT="0" marB="0" anchor="b">
                    <a:lnL>
                      <a:noFill/>
                    </a:lnL>
                    <a:lnR>
                      <a:noFill/>
                    </a:lnR>
                    <a:lnT>
                      <a:noFill/>
                    </a:lnT>
                    <a:lnB>
                      <a:noFill/>
                    </a:lnB>
                  </a:tcPr>
                </a:tc>
                <a:tc hMerge="1">
                  <a:txBody>
                    <a:bodyPr/>
                    <a:lstStyle/>
                    <a:p>
                      <a:endParaRPr lang="en-US"/>
                    </a:p>
                  </a:txBody>
                  <a:tcPr/>
                </a:tc>
                <a:tc hMerge="1">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endParaRPr lang="en-US">
                        <a:solidFill>
                          <a:srgbClr val="FF0000"/>
                        </a:solidFill>
                      </a:endParaRPr>
                    </a:p>
                  </a:txBody>
                  <a:tcPr marL="60847" marR="60847" marT="0" marB="0" anchor="b">
                    <a:lnL>
                      <a:noFill/>
                    </a:lnL>
                    <a:lnR>
                      <a:noFill/>
                    </a:lnR>
                    <a:lnT>
                      <a:noFill/>
                    </a:lnT>
                    <a:lnB>
                      <a:noFill/>
                    </a:lnB>
                  </a:tcPr>
                </a:tc>
                <a:tc>
                  <a:txBody>
                    <a:bodyPr/>
                    <a:lstStyle/>
                    <a:p>
                      <a:pPr>
                        <a:lnSpc>
                          <a:spcPct val="115000"/>
                        </a:lnSpc>
                      </a:pPr>
                      <a:endParaRPr lang="en-US" sz="1800">
                        <a:solidFill>
                          <a:srgbClr val="FF0000"/>
                        </a:solidFill>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solidFill>
                          <a:srgbClr val="FF0000"/>
                        </a:solidFill>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solidFill>
                          <a:srgbClr val="FF0000"/>
                        </a:solidFill>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solidFill>
                          <a:srgbClr val="FF0000"/>
                        </a:solidFill>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solidFill>
                          <a:srgbClr val="FF0000"/>
                        </a:solidFill>
                        <a:latin typeface="Calibri"/>
                        <a:ea typeface="Times New Roman"/>
                      </a:endParaRPr>
                    </a:p>
                  </a:txBody>
                  <a:tcPr marL="60847" marR="60847" marT="0" marB="0" anchor="b">
                    <a:lnL>
                      <a:noFill/>
                    </a:lnL>
                    <a:lnR>
                      <a:noFill/>
                    </a:lnR>
                    <a:lnT>
                      <a:noFill/>
                    </a:lnT>
                    <a:lnB>
                      <a:noFill/>
                    </a:lnB>
                  </a:tcPr>
                </a:tc>
                <a:tc gridSpan="2">
                  <a:txBody>
                    <a:bodyPr/>
                    <a:lstStyle/>
                    <a:p>
                      <a:endParaRPr lang="en-US">
                        <a:solidFill>
                          <a:srgbClr val="FF0000"/>
                        </a:solidFill>
                      </a:endParaRPr>
                    </a:p>
                  </a:txBody>
                  <a:tcPr marL="60847" marR="60847" marT="0" marB="0" anchor="b">
                    <a:lnL>
                      <a:noFill/>
                    </a:lnL>
                    <a:lnR>
                      <a:noFill/>
                    </a:lnR>
                    <a:lnT>
                      <a:noFill/>
                    </a:lnT>
                    <a:lnB>
                      <a:noFill/>
                    </a:lnB>
                  </a:tcPr>
                </a:tc>
                <a:tc hMerge="1">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171049">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dirty="0">
                        <a:solidFill>
                          <a:srgbClr val="FF0000"/>
                        </a:solidFill>
                        <a:latin typeface="Calibri"/>
                        <a:ea typeface="Times New Roman"/>
                      </a:endParaRPr>
                    </a:p>
                  </a:txBody>
                  <a:tcPr marL="60847" marR="60847" marT="0" marB="0" anchor="b">
                    <a:lnL>
                      <a:noFill/>
                    </a:lnL>
                    <a:lnR>
                      <a:noFill/>
                    </a:lnR>
                    <a:lnT>
                      <a:noFill/>
                    </a:lnT>
                    <a:lnB>
                      <a:noFill/>
                    </a:lnB>
                  </a:tcPr>
                </a:tc>
                <a:tc>
                  <a:txBody>
                    <a:bodyPr/>
                    <a:lstStyle/>
                    <a:p>
                      <a:pPr marL="0" marR="0" algn="ctr">
                        <a:lnSpc>
                          <a:spcPct val="115000"/>
                        </a:lnSpc>
                        <a:spcBef>
                          <a:spcPts val="0"/>
                        </a:spcBef>
                        <a:spcAft>
                          <a:spcPts val="0"/>
                        </a:spcAft>
                      </a:pPr>
                      <a:r>
                        <a:rPr lang="en-US" sz="1800" b="1" dirty="0">
                          <a:solidFill>
                            <a:srgbClr val="FF0000"/>
                          </a:solidFill>
                          <a:latin typeface="Calibri"/>
                          <a:ea typeface="Times New Roman"/>
                          <a:cs typeface="Times New Roman"/>
                        </a:rPr>
                        <a:t> $ </a:t>
                      </a:r>
                      <a:endParaRPr lang="en-US" sz="1800" dirty="0">
                        <a:solidFill>
                          <a:srgbClr val="FF0000"/>
                        </a:solidFill>
                        <a:latin typeface="Calibri"/>
                        <a:ea typeface="Calibri"/>
                        <a:cs typeface="Times New Roman"/>
                      </a:endParaRPr>
                    </a:p>
                  </a:txBody>
                  <a:tcPr marL="60847" marR="60847" marT="0" marB="0" anchor="b">
                    <a:lnL>
                      <a:noFill/>
                    </a:lnL>
                    <a:lnR>
                      <a:noFill/>
                    </a:lnR>
                    <a:lnT>
                      <a:noFill/>
                    </a:lnT>
                    <a:lnB>
                      <a:noFill/>
                    </a:lnB>
                  </a:tcPr>
                </a:tc>
                <a:tc gridSpan="3">
                  <a:txBody>
                    <a:bodyPr/>
                    <a:lstStyle/>
                    <a:p>
                      <a:pPr marL="0" marR="0" algn="ctr">
                        <a:lnSpc>
                          <a:spcPct val="115000"/>
                        </a:lnSpc>
                        <a:spcBef>
                          <a:spcPts val="0"/>
                        </a:spcBef>
                        <a:spcAft>
                          <a:spcPts val="0"/>
                        </a:spcAft>
                      </a:pPr>
                      <a:r>
                        <a:rPr lang="en-US" sz="1800" b="1" dirty="0">
                          <a:solidFill>
                            <a:srgbClr val="FF0000"/>
                          </a:solidFill>
                          <a:latin typeface="Calibri"/>
                          <a:ea typeface="Times New Roman"/>
                          <a:cs typeface="Times New Roman"/>
                        </a:rPr>
                        <a:t> $ </a:t>
                      </a:r>
                      <a:endParaRPr lang="en-US" sz="1800" dirty="0">
                        <a:solidFill>
                          <a:srgbClr val="FF0000"/>
                        </a:solidFill>
                        <a:latin typeface="Calibri"/>
                        <a:ea typeface="Calibri"/>
                        <a:cs typeface="Times New Roman"/>
                      </a:endParaRPr>
                    </a:p>
                  </a:txBody>
                  <a:tcPr marL="60847" marR="60847" marT="0" marB="0" anchor="b">
                    <a:lnL>
                      <a:noFill/>
                    </a:lnL>
                    <a:lnR>
                      <a:noFill/>
                    </a:lnR>
                    <a:lnT>
                      <a:noFill/>
                    </a:lnT>
                    <a:lnB>
                      <a:noFill/>
                    </a:lnB>
                  </a:tcPr>
                </a:tc>
                <a:tc hMerge="1">
                  <a:txBody>
                    <a:bodyPr/>
                    <a:lstStyle/>
                    <a:p>
                      <a:endParaRPr lang="en-US"/>
                    </a:p>
                  </a:txBody>
                  <a:tcPr/>
                </a:tc>
                <a:tc hMerge="1">
                  <a:txBody>
                    <a:bodyPr/>
                    <a:lstStyle/>
                    <a:p>
                      <a:pPr marL="0" marR="0" algn="ctr">
                        <a:lnSpc>
                          <a:spcPct val="115000"/>
                        </a:lnSpc>
                        <a:spcBef>
                          <a:spcPts val="0"/>
                        </a:spcBef>
                        <a:spcAft>
                          <a:spcPts val="0"/>
                        </a:spcAft>
                      </a:pP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gn="ctr">
                        <a:lnSpc>
                          <a:spcPct val="115000"/>
                        </a:lnSpc>
                        <a:spcBef>
                          <a:spcPts val="0"/>
                        </a:spcBef>
                        <a:spcAft>
                          <a:spcPts val="0"/>
                        </a:spcAft>
                      </a:pPr>
                      <a:r>
                        <a:rPr lang="en-US" sz="1800" b="1">
                          <a:solidFill>
                            <a:srgbClr val="FF0000"/>
                          </a:solidFill>
                          <a:latin typeface="Calibri"/>
                          <a:ea typeface="Times New Roman"/>
                          <a:cs typeface="Times New Roman"/>
                        </a:rPr>
                        <a:t> $ </a:t>
                      </a:r>
                      <a:endParaRPr lang="en-US" sz="1800">
                        <a:solidFill>
                          <a:srgbClr val="FF0000"/>
                        </a:solidFill>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solidFill>
                          <a:srgbClr val="FF0000"/>
                        </a:solidFill>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solidFill>
                          <a:srgbClr val="FF0000"/>
                        </a:solidFill>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solidFill>
                          <a:srgbClr val="FF0000"/>
                        </a:solidFill>
                        <a:latin typeface="Calibri"/>
                        <a:ea typeface="Times New Roman"/>
                      </a:endParaRPr>
                    </a:p>
                  </a:txBody>
                  <a:tcPr marL="60847" marR="60847" marT="0" marB="0" anchor="b">
                    <a:lnL>
                      <a:noFill/>
                    </a:lnL>
                    <a:lnR>
                      <a:noFill/>
                    </a:lnR>
                    <a:lnT>
                      <a:noFill/>
                    </a:lnT>
                    <a:lnB>
                      <a:noFill/>
                    </a:lnB>
                  </a:tcPr>
                </a:tc>
                <a:tc>
                  <a:txBody>
                    <a:bodyPr/>
                    <a:lstStyle/>
                    <a:p>
                      <a:pPr marL="0" marR="0" algn="ctr">
                        <a:lnSpc>
                          <a:spcPct val="115000"/>
                        </a:lnSpc>
                        <a:spcBef>
                          <a:spcPts val="0"/>
                        </a:spcBef>
                        <a:spcAft>
                          <a:spcPts val="0"/>
                        </a:spcAft>
                      </a:pPr>
                      <a:r>
                        <a:rPr lang="en-US" sz="1800" b="1">
                          <a:solidFill>
                            <a:srgbClr val="FF0000"/>
                          </a:solidFill>
                          <a:latin typeface="Calibri"/>
                          <a:ea typeface="Times New Roman"/>
                          <a:cs typeface="Times New Roman"/>
                        </a:rPr>
                        <a:t> $ </a:t>
                      </a:r>
                      <a:endParaRPr lang="en-US" sz="1800">
                        <a:solidFill>
                          <a:srgbClr val="FF0000"/>
                        </a:solidFill>
                        <a:latin typeface="Calibri"/>
                        <a:ea typeface="Calibri"/>
                        <a:cs typeface="Times New Roman"/>
                      </a:endParaRPr>
                    </a:p>
                  </a:txBody>
                  <a:tcPr marL="60847" marR="60847" marT="0" marB="0" anchor="b">
                    <a:lnL>
                      <a:noFill/>
                    </a:lnL>
                    <a:lnR>
                      <a:noFill/>
                    </a:lnR>
                    <a:lnT>
                      <a:noFill/>
                    </a:lnT>
                    <a:lnB>
                      <a:noFill/>
                    </a:lnB>
                  </a:tcPr>
                </a:tc>
                <a:tc>
                  <a:txBody>
                    <a:bodyPr/>
                    <a:lstStyle/>
                    <a:p>
                      <a:pPr marL="0" marR="0" algn="ctr">
                        <a:lnSpc>
                          <a:spcPct val="115000"/>
                        </a:lnSpc>
                        <a:spcBef>
                          <a:spcPts val="0"/>
                        </a:spcBef>
                        <a:spcAft>
                          <a:spcPts val="0"/>
                        </a:spcAft>
                      </a:pPr>
                      <a:r>
                        <a:rPr lang="en-US" sz="1800" b="1">
                          <a:solidFill>
                            <a:srgbClr val="FF0000"/>
                          </a:solidFill>
                          <a:latin typeface="Calibri"/>
                          <a:ea typeface="Times New Roman"/>
                          <a:cs typeface="Times New Roman"/>
                        </a:rPr>
                        <a:t> $ </a:t>
                      </a:r>
                      <a:endParaRPr lang="en-US" sz="1800">
                        <a:solidFill>
                          <a:srgbClr val="FF0000"/>
                        </a:solidFill>
                        <a:latin typeface="Calibri"/>
                        <a:ea typeface="Calibri"/>
                        <a:cs typeface="Times New Roman"/>
                      </a:endParaRPr>
                    </a:p>
                  </a:txBody>
                  <a:tcPr marL="60847" marR="60847" marT="0" marB="0" anchor="b">
                    <a:lnL>
                      <a:noFill/>
                    </a:lnL>
                    <a:lnR>
                      <a:noFill/>
                    </a:lnR>
                    <a:lnT>
                      <a:noFill/>
                    </a:lnT>
                    <a:lnB>
                      <a:noFill/>
                    </a:lnB>
                  </a:tcPr>
                </a:tc>
                <a:tc gridSpan="2">
                  <a:txBody>
                    <a:bodyPr/>
                    <a:lstStyle/>
                    <a:p>
                      <a:pPr marL="0" marR="0" algn="ctr">
                        <a:lnSpc>
                          <a:spcPct val="115000"/>
                        </a:lnSpc>
                        <a:spcBef>
                          <a:spcPts val="0"/>
                        </a:spcBef>
                        <a:spcAft>
                          <a:spcPts val="0"/>
                        </a:spcAft>
                      </a:pPr>
                      <a:r>
                        <a:rPr lang="en-US" sz="1800" b="1">
                          <a:solidFill>
                            <a:srgbClr val="FF0000"/>
                          </a:solidFill>
                          <a:latin typeface="Calibri"/>
                          <a:ea typeface="Times New Roman"/>
                          <a:cs typeface="Times New Roman"/>
                        </a:rPr>
                        <a:t> $ </a:t>
                      </a:r>
                      <a:endParaRPr lang="en-US" sz="1800">
                        <a:solidFill>
                          <a:srgbClr val="FF0000"/>
                        </a:solidFill>
                        <a:latin typeface="Calibri"/>
                        <a:ea typeface="Calibri"/>
                        <a:cs typeface="Times New Roman"/>
                      </a:endParaRPr>
                    </a:p>
                  </a:txBody>
                  <a:tcPr marL="60847" marR="60847" marT="0" marB="0" anchor="b">
                    <a:lnL>
                      <a:noFill/>
                    </a:lnL>
                    <a:lnR>
                      <a:noFill/>
                    </a:lnR>
                    <a:lnT>
                      <a:noFill/>
                    </a:lnT>
                    <a:lnB>
                      <a:noFill/>
                    </a:lnB>
                  </a:tcPr>
                </a:tc>
                <a:tc hMerge="1">
                  <a:txBody>
                    <a:bodyPr/>
                    <a:lstStyle/>
                    <a:p>
                      <a:pPr marL="0" marR="0" algn="ctr">
                        <a:lnSpc>
                          <a:spcPct val="115000"/>
                        </a:lnSpc>
                        <a:spcBef>
                          <a:spcPts val="0"/>
                        </a:spcBef>
                        <a:spcAft>
                          <a:spcPts val="0"/>
                        </a:spcAft>
                      </a:pPr>
                      <a:endParaRPr lang="en-US" sz="1800">
                        <a:latin typeface="Calibri"/>
                        <a:ea typeface="Calibri"/>
                        <a:cs typeface="Times New Roman"/>
                      </a:endParaRPr>
                    </a:p>
                  </a:txBody>
                  <a:tcPr marL="60847" marR="60847" marT="0" marB="0" anchor="b">
                    <a:lnL>
                      <a:noFill/>
                    </a:lnL>
                    <a:lnR>
                      <a:noFill/>
                    </a:lnR>
                    <a:lnT>
                      <a:noFill/>
                    </a:lnT>
                    <a:lnB>
                      <a:noFill/>
                    </a:lnB>
                  </a:tcPr>
                </a:tc>
              </a:tr>
              <a:tr h="171049">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gridSpan="2">
                  <a:txBody>
                    <a:bodyPr/>
                    <a:lstStyle/>
                    <a:p>
                      <a:pPr marL="0" marR="0">
                        <a:lnSpc>
                          <a:spcPct val="115000"/>
                        </a:lnSpc>
                        <a:spcBef>
                          <a:spcPts val="0"/>
                        </a:spcBef>
                        <a:spcAft>
                          <a:spcPts val="0"/>
                        </a:spcAft>
                      </a:pPr>
                      <a:r>
                        <a:rPr lang="en-US" sz="1800" b="1" dirty="0">
                          <a:solidFill>
                            <a:srgbClr val="FF0000"/>
                          </a:solidFill>
                          <a:latin typeface="Calibri"/>
                          <a:ea typeface="Times New Roman"/>
                          <a:cs typeface="Times New Roman"/>
                        </a:rPr>
                        <a:t> Opening stock </a:t>
                      </a:r>
                      <a:endParaRPr lang="en-US" sz="1800" dirty="0">
                        <a:solidFill>
                          <a:srgbClr val="FF0000"/>
                        </a:solidFill>
                        <a:latin typeface="Calibri"/>
                        <a:ea typeface="Calibri"/>
                        <a:cs typeface="Times New Roman"/>
                      </a:endParaRPr>
                    </a:p>
                  </a:txBody>
                  <a:tcPr marL="60847" marR="60847" marT="0" marB="0" anchor="b">
                    <a:lnL>
                      <a:noFill/>
                    </a:lnL>
                    <a:lnR>
                      <a:noFill/>
                    </a:lnR>
                    <a:lnT>
                      <a:noFill/>
                    </a:lnT>
                    <a:lnB>
                      <a:noFill/>
                    </a:lnB>
                  </a:tcPr>
                </a:tc>
                <a:tc hMerge="1">
                  <a:txBody>
                    <a:bodyPr/>
                    <a:lstStyle/>
                    <a:p>
                      <a:endParaRPr lang="en-US"/>
                    </a:p>
                  </a:txBody>
                  <a:tcPr/>
                </a:tc>
                <a:tc gridSpan="3">
                  <a:txBody>
                    <a:bodyPr/>
                    <a:lstStyle/>
                    <a:p>
                      <a:pPr>
                        <a:lnSpc>
                          <a:spcPct val="115000"/>
                        </a:lnSpc>
                      </a:pPr>
                      <a:endParaRPr lang="en-US" sz="1800" dirty="0">
                        <a:solidFill>
                          <a:srgbClr val="FF0000"/>
                        </a:solidFill>
                        <a:latin typeface="Calibri"/>
                        <a:ea typeface="Times New Roman"/>
                      </a:endParaRPr>
                    </a:p>
                  </a:txBody>
                  <a:tcPr marL="60847" marR="60847" marT="0" marB="0" anchor="b">
                    <a:lnL>
                      <a:noFill/>
                    </a:lnL>
                    <a:lnR>
                      <a:noFill/>
                    </a:lnR>
                    <a:lnT>
                      <a:noFill/>
                    </a:lnT>
                    <a:lnB>
                      <a:noFill/>
                    </a:lnB>
                  </a:tcPr>
                </a:tc>
                <a:tc hMerge="1">
                  <a:txBody>
                    <a:bodyPr/>
                    <a:lstStyle/>
                    <a:p>
                      <a:endParaRPr lang="en-US"/>
                    </a:p>
                  </a:txBody>
                  <a:tcPr/>
                </a:tc>
                <a:tc hMerge="1">
                  <a:txBody>
                    <a:bodyPr/>
                    <a:lstStyle/>
                    <a:p>
                      <a:pPr>
                        <a:lnSpc>
                          <a:spcPct val="115000"/>
                        </a:lnSpc>
                      </a:pPr>
                      <a:endParaRPr lang="en-US" sz="1800" dirty="0">
                        <a:latin typeface="Calibri"/>
                        <a:ea typeface="Times New Roman"/>
                      </a:endParaRPr>
                    </a:p>
                  </a:txBody>
                  <a:tcPr marL="60847" marR="60847" marT="0" marB="0" anchor="b">
                    <a:lnL>
                      <a:noFill/>
                    </a:lnL>
                    <a:lnR>
                      <a:noFill/>
                    </a:lnR>
                    <a:lnT>
                      <a:noFill/>
                    </a:lnT>
                    <a:lnB>
                      <a:noFill/>
                    </a:lnB>
                  </a:tcPr>
                </a:tc>
                <a:tc>
                  <a:txBody>
                    <a:bodyPr/>
                    <a:lstStyle/>
                    <a:p>
                      <a:endParaRPr lang="en-US" dirty="0">
                        <a:solidFill>
                          <a:srgbClr val="FF0000"/>
                        </a:solidFill>
                      </a:endParaRPr>
                    </a:p>
                  </a:txBody>
                  <a:tcPr marL="60847" marR="60847" marT="0" marB="0" anchor="b">
                    <a:lnL>
                      <a:noFill/>
                    </a:lnL>
                    <a:lnR>
                      <a:noFill/>
                    </a:lnR>
                    <a:lnT>
                      <a:noFill/>
                    </a:lnT>
                    <a:lnB>
                      <a:noFill/>
                    </a:lnB>
                  </a:tcPr>
                </a:tc>
                <a:tc>
                  <a:txBody>
                    <a:bodyPr/>
                    <a:lstStyle/>
                    <a:p>
                      <a:pPr>
                        <a:lnSpc>
                          <a:spcPct val="115000"/>
                        </a:lnSpc>
                      </a:pPr>
                      <a:endParaRPr lang="en-US" sz="1800" dirty="0">
                        <a:solidFill>
                          <a:srgbClr val="FF0000"/>
                        </a:solidFill>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dirty="0">
                        <a:solidFill>
                          <a:srgbClr val="FF0000"/>
                        </a:solidFill>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dirty="0">
                        <a:solidFill>
                          <a:srgbClr val="FF0000"/>
                        </a:solidFill>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dirty="0">
                        <a:solidFill>
                          <a:srgbClr val="FF0000"/>
                        </a:solidFill>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dirty="0">
                        <a:solidFill>
                          <a:srgbClr val="FF0000"/>
                        </a:solidFill>
                        <a:latin typeface="Calibri"/>
                        <a:ea typeface="Times New Roman"/>
                      </a:endParaRPr>
                    </a:p>
                  </a:txBody>
                  <a:tcPr marL="60847" marR="60847" marT="0" marB="0" anchor="b">
                    <a:lnL>
                      <a:noFill/>
                    </a:lnL>
                    <a:lnR>
                      <a:noFill/>
                    </a:lnR>
                    <a:lnT>
                      <a:noFill/>
                    </a:lnT>
                    <a:lnB>
                      <a:noFill/>
                    </a:lnB>
                  </a:tcPr>
                </a:tc>
                <a:tc gridSpan="2">
                  <a:txBody>
                    <a:bodyPr/>
                    <a:lstStyle/>
                    <a:p>
                      <a:endParaRPr lang="en-US" dirty="0">
                        <a:solidFill>
                          <a:srgbClr val="FF0000"/>
                        </a:solidFill>
                      </a:endParaRPr>
                    </a:p>
                  </a:txBody>
                  <a:tcPr marL="60847" marR="60847" marT="0" marB="0" anchor="b">
                    <a:lnL>
                      <a:noFill/>
                    </a:lnL>
                    <a:lnR>
                      <a:noFill/>
                    </a:lnR>
                    <a:lnT>
                      <a:noFill/>
                    </a:lnT>
                    <a:lnB>
                      <a:noFill/>
                    </a:lnB>
                  </a:tcPr>
                </a:tc>
                <a:tc hMerge="1">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171049">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gridSpan="3">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hMerge="1">
                  <a:txBody>
                    <a:bodyPr/>
                    <a:lstStyle/>
                    <a:p>
                      <a:endParaRPr lang="en-US"/>
                    </a:p>
                  </a:txBody>
                  <a:tcPr/>
                </a:tc>
                <a:tc hMerge="1">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endParaRPr lang="en-US"/>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gridSpan="2">
                  <a:txBody>
                    <a:bodyPr/>
                    <a:lstStyle/>
                    <a:p>
                      <a:endParaRPr lang="en-US"/>
                    </a:p>
                  </a:txBody>
                  <a:tcPr marL="60847" marR="60847" marT="0" marB="0" anchor="b">
                    <a:lnL>
                      <a:noFill/>
                    </a:lnL>
                    <a:lnR>
                      <a:noFill/>
                    </a:lnR>
                    <a:lnT>
                      <a:noFill/>
                    </a:lnT>
                    <a:lnB>
                      <a:noFill/>
                    </a:lnB>
                  </a:tcPr>
                </a:tc>
                <a:tc hMerge="1">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342097">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2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Bulls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400 </a:t>
                      </a:r>
                      <a:endParaRPr lang="en-US" sz="1800">
                        <a:latin typeface="Calibri"/>
                        <a:ea typeface="Calibri"/>
                        <a:cs typeface="Times New Roman"/>
                      </a:endParaRPr>
                    </a:p>
                  </a:txBody>
                  <a:tcPr marL="60847" marR="60847" marT="0" marB="0" anchor="b">
                    <a:lnL>
                      <a:noFill/>
                    </a:lnL>
                    <a:lnR>
                      <a:noFill/>
                    </a:lnR>
                    <a:lnT>
                      <a:noFill/>
                    </a:lnT>
                    <a:lnB>
                      <a:noFill/>
                    </a:lnB>
                  </a:tcPr>
                </a:tc>
                <a:tc gridSpan="3">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800 </a:t>
                      </a:r>
                      <a:endParaRPr lang="en-US" sz="1800">
                        <a:latin typeface="Calibri"/>
                        <a:ea typeface="Calibri"/>
                        <a:cs typeface="Times New Roman"/>
                      </a:endParaRPr>
                    </a:p>
                  </a:txBody>
                  <a:tcPr marL="60847" marR="60847" marT="0" marB="0" anchor="b">
                    <a:lnL>
                      <a:noFill/>
                    </a:lnL>
                    <a:lnR>
                      <a:noFill/>
                    </a:lnR>
                    <a:lnT>
                      <a:noFill/>
                    </a:lnT>
                    <a:lnB>
                      <a:noFill/>
                    </a:lnB>
                  </a:tcPr>
                </a:tc>
                <a:tc hMerge="1">
                  <a:txBody>
                    <a:bodyPr/>
                    <a:lstStyle/>
                    <a:p>
                      <a:endParaRPr lang="en-US"/>
                    </a:p>
                  </a:txBody>
                  <a:tcPr/>
                </a:tc>
                <a:tc hMerge="1">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endParaRPr lang="en-US"/>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60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Sales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gridSpan="2">
                  <a:txBody>
                    <a:bodyPr/>
                    <a:lstStyle/>
                    <a:p>
                      <a:pPr marL="0" marR="0">
                        <a:lnSpc>
                          <a:spcPct val="115000"/>
                        </a:lnSpc>
                        <a:spcBef>
                          <a:spcPts val="0"/>
                        </a:spcBef>
                        <a:spcAft>
                          <a:spcPts val="0"/>
                        </a:spcAft>
                      </a:pPr>
                      <a:r>
                        <a:rPr lang="en-US" sz="1800" dirty="0">
                          <a:solidFill>
                            <a:srgbClr val="000000"/>
                          </a:solidFill>
                          <a:latin typeface="Calibri"/>
                          <a:ea typeface="Times New Roman"/>
                          <a:cs typeface="Times New Roman"/>
                        </a:rPr>
                        <a:t>     30,000 </a:t>
                      </a:r>
                      <a:endParaRPr lang="en-US" sz="1800" dirty="0">
                        <a:latin typeface="Calibri"/>
                        <a:ea typeface="Calibri"/>
                        <a:cs typeface="Times New Roman"/>
                      </a:endParaRPr>
                    </a:p>
                  </a:txBody>
                  <a:tcPr marL="60847" marR="60847" marT="0" marB="0" anchor="b">
                    <a:lnL>
                      <a:noFill/>
                    </a:lnL>
                    <a:lnR>
                      <a:noFill/>
                    </a:lnR>
                    <a:lnT>
                      <a:noFill/>
                    </a:lnT>
                    <a:lnB>
                      <a:noFill/>
                    </a:lnB>
                  </a:tcPr>
                </a:tc>
                <a:tc hMerge="1">
                  <a:txBody>
                    <a:bodyPr/>
                    <a:lstStyle/>
                    <a:p>
                      <a:pPr marL="0" marR="0">
                        <a:lnSpc>
                          <a:spcPct val="115000"/>
                        </a:lnSpc>
                        <a:spcBef>
                          <a:spcPts val="0"/>
                        </a:spcBef>
                        <a:spcAft>
                          <a:spcPts val="0"/>
                        </a:spcAft>
                      </a:pPr>
                      <a:endParaRPr lang="en-US" sz="1800" dirty="0">
                        <a:latin typeface="Calibri"/>
                        <a:ea typeface="Calibri"/>
                        <a:cs typeface="Times New Roman"/>
                      </a:endParaRPr>
                    </a:p>
                  </a:txBody>
                  <a:tcPr marL="60847" marR="60847" marT="0" marB="0" anchor="b">
                    <a:lnL>
                      <a:noFill/>
                    </a:lnL>
                    <a:lnR>
                      <a:noFill/>
                    </a:lnR>
                    <a:lnT>
                      <a:noFill/>
                    </a:lnT>
                    <a:lnB>
                      <a:noFill/>
                    </a:lnB>
                  </a:tcPr>
                </a:tc>
              </a:tr>
              <a:tr h="342097">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60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Cows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300 </a:t>
                      </a:r>
                      <a:endParaRPr lang="en-US" sz="1800">
                        <a:latin typeface="Calibri"/>
                        <a:ea typeface="Calibri"/>
                        <a:cs typeface="Times New Roman"/>
                      </a:endParaRPr>
                    </a:p>
                  </a:txBody>
                  <a:tcPr marL="60847" marR="60847" marT="0" marB="0" anchor="b">
                    <a:lnL>
                      <a:noFill/>
                    </a:lnL>
                    <a:lnR>
                      <a:noFill/>
                    </a:lnR>
                    <a:lnT>
                      <a:noFill/>
                    </a:lnT>
                    <a:lnB>
                      <a:noFill/>
                    </a:lnB>
                  </a:tcPr>
                </a:tc>
                <a:tc gridSpan="3">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18,000 </a:t>
                      </a:r>
                      <a:endParaRPr lang="en-US" sz="1800">
                        <a:latin typeface="Calibri"/>
                        <a:ea typeface="Calibri"/>
                        <a:cs typeface="Times New Roman"/>
                      </a:endParaRPr>
                    </a:p>
                  </a:txBody>
                  <a:tcPr marL="60847" marR="60847" marT="0" marB="0" anchor="b">
                    <a:lnL>
                      <a:noFill/>
                    </a:lnL>
                    <a:lnR>
                      <a:noFill/>
                    </a:lnR>
                    <a:lnT>
                      <a:noFill/>
                    </a:lnT>
                    <a:lnB>
                      <a:noFill/>
                    </a:lnB>
                  </a:tcPr>
                </a:tc>
                <a:tc hMerge="1">
                  <a:txBody>
                    <a:bodyPr/>
                    <a:lstStyle/>
                    <a:p>
                      <a:endParaRPr lang="en-US"/>
                    </a:p>
                  </a:txBody>
                  <a:tcPr/>
                </a:tc>
                <a:tc hMerge="1">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endParaRPr lang="en-US"/>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Deaths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gridSpan="2">
                  <a:txBody>
                    <a:bodyPr/>
                    <a:lstStyle/>
                    <a:p>
                      <a:endParaRPr lang="en-US"/>
                    </a:p>
                  </a:txBody>
                  <a:tcPr marL="60847" marR="60847" marT="0" marB="0" anchor="b">
                    <a:lnL>
                      <a:noFill/>
                    </a:lnL>
                    <a:lnR>
                      <a:noFill/>
                    </a:lnR>
                    <a:lnT>
                      <a:noFill/>
                    </a:lnT>
                    <a:lnB>
                      <a:noFill/>
                    </a:lnB>
                  </a:tcPr>
                </a:tc>
                <a:tc hMerge="1">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342097">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20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Oxen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250 </a:t>
                      </a:r>
                      <a:endParaRPr lang="en-US" sz="1800">
                        <a:latin typeface="Calibri"/>
                        <a:ea typeface="Calibri"/>
                        <a:cs typeface="Times New Roman"/>
                      </a:endParaRPr>
                    </a:p>
                  </a:txBody>
                  <a:tcPr marL="60847" marR="60847" marT="0" marB="0" anchor="b">
                    <a:lnL>
                      <a:noFill/>
                    </a:lnL>
                    <a:lnR>
                      <a:noFill/>
                    </a:lnR>
                    <a:lnT>
                      <a:noFill/>
                    </a:lnT>
                    <a:lnB>
                      <a:noFill/>
                    </a:lnB>
                  </a:tcPr>
                </a:tc>
                <a:tc gridSpan="3">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5,000 </a:t>
                      </a:r>
                      <a:endParaRPr lang="en-US" sz="1800">
                        <a:latin typeface="Calibri"/>
                        <a:ea typeface="Calibri"/>
                        <a:cs typeface="Times New Roman"/>
                      </a:endParaRPr>
                    </a:p>
                  </a:txBody>
                  <a:tcPr marL="60847" marR="60847" marT="0" marB="0" anchor="b">
                    <a:lnL>
                      <a:noFill/>
                    </a:lnL>
                    <a:lnR>
                      <a:noFill/>
                    </a:lnR>
                    <a:lnT>
                      <a:noFill/>
                    </a:lnT>
                    <a:lnB>
                      <a:noFill/>
                    </a:lnB>
                  </a:tcPr>
                </a:tc>
                <a:tc hMerge="1">
                  <a:txBody>
                    <a:bodyPr/>
                    <a:lstStyle/>
                    <a:p>
                      <a:endParaRPr lang="en-US"/>
                    </a:p>
                  </a:txBody>
                  <a:tcPr/>
                </a:tc>
                <a:tc hMerge="1">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endParaRPr lang="en-US"/>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gridSpan="2">
                  <a:txBody>
                    <a:bodyPr/>
                    <a:lstStyle/>
                    <a:p>
                      <a:endParaRPr lang="en-US" dirty="0"/>
                    </a:p>
                  </a:txBody>
                  <a:tcPr marL="60847" marR="60847" marT="0" marB="0" anchor="b">
                    <a:lnL>
                      <a:noFill/>
                    </a:lnL>
                    <a:lnR>
                      <a:noFill/>
                    </a:lnR>
                    <a:lnT>
                      <a:noFill/>
                    </a:lnT>
                    <a:lnB>
                      <a:noFill/>
                    </a:lnB>
                  </a:tcPr>
                </a:tc>
                <a:tc hMerge="1">
                  <a:txBody>
                    <a:bodyPr/>
                    <a:lstStyle/>
                    <a:p>
                      <a:pPr>
                        <a:lnSpc>
                          <a:spcPct val="115000"/>
                        </a:lnSpc>
                      </a:pPr>
                      <a:endParaRPr lang="en-US" sz="1800" dirty="0">
                        <a:latin typeface="Calibri"/>
                        <a:ea typeface="Times New Roman"/>
                      </a:endParaRPr>
                    </a:p>
                  </a:txBody>
                  <a:tcPr marL="60847" marR="60847" marT="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pPr eaLnBrk="0" hangingPunct="0"/>
            <a:endParaRPr lang="en-US"/>
          </a:p>
        </p:txBody>
      </p:sp>
      <p:graphicFrame>
        <p:nvGraphicFramePr>
          <p:cNvPr id="4" name="Table 3"/>
          <p:cNvGraphicFramePr>
            <a:graphicFrameLocks noGrp="1"/>
          </p:cNvGraphicFramePr>
          <p:nvPr/>
        </p:nvGraphicFramePr>
        <p:xfrm>
          <a:off x="228600" y="228600"/>
          <a:ext cx="8763000" cy="5047488"/>
        </p:xfrm>
        <a:graphic>
          <a:graphicData uri="http://schemas.openxmlformats.org/drawingml/2006/table">
            <a:tbl>
              <a:tblPr/>
              <a:tblGrid>
                <a:gridCol w="457200"/>
                <a:gridCol w="1109125"/>
                <a:gridCol w="567275"/>
                <a:gridCol w="762000"/>
                <a:gridCol w="914400"/>
                <a:gridCol w="152400"/>
                <a:gridCol w="685800"/>
                <a:gridCol w="1752600"/>
                <a:gridCol w="609600"/>
                <a:gridCol w="990600"/>
                <a:gridCol w="762000"/>
              </a:tblGrid>
              <a:tr h="342097">
                <a:tc>
                  <a:txBody>
                    <a:bodyPr/>
                    <a:lstStyle/>
                    <a:p>
                      <a:pPr marL="0" marR="0">
                        <a:lnSpc>
                          <a:spcPct val="115000"/>
                        </a:lnSpc>
                        <a:spcBef>
                          <a:spcPts val="0"/>
                        </a:spcBef>
                        <a:spcAft>
                          <a:spcPts val="0"/>
                        </a:spcAft>
                      </a:pPr>
                      <a:r>
                        <a:rPr lang="en-US" sz="1800" dirty="0">
                          <a:solidFill>
                            <a:srgbClr val="000000"/>
                          </a:solidFill>
                          <a:latin typeface="Calibri"/>
                          <a:ea typeface="Times New Roman"/>
                          <a:cs typeface="Times New Roman"/>
                        </a:rPr>
                        <a:t>             10 </a:t>
                      </a:r>
                      <a:endParaRPr lang="en-US" sz="1800" dirty="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Heifers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150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1,500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gridSpan="2">
                  <a:txBody>
                    <a:bodyPr/>
                    <a:lstStyle/>
                    <a:p>
                      <a:pPr marL="0" marR="0">
                        <a:lnSpc>
                          <a:spcPct val="115000"/>
                        </a:lnSpc>
                        <a:spcBef>
                          <a:spcPts val="0"/>
                        </a:spcBef>
                        <a:spcAft>
                          <a:spcPts val="0"/>
                        </a:spcAft>
                      </a:pPr>
                      <a:r>
                        <a:rPr lang="en-US" sz="1800" b="1" dirty="0">
                          <a:solidFill>
                            <a:srgbClr val="FF0000"/>
                          </a:solidFill>
                          <a:latin typeface="Calibri"/>
                          <a:ea typeface="Times New Roman"/>
                          <a:cs typeface="Times New Roman"/>
                        </a:rPr>
                        <a:t> Closing stock </a:t>
                      </a:r>
                      <a:endParaRPr lang="en-US" sz="1800" dirty="0">
                        <a:solidFill>
                          <a:srgbClr val="FF0000"/>
                        </a:solidFill>
                        <a:latin typeface="Calibri"/>
                        <a:ea typeface="Calibri"/>
                        <a:cs typeface="Times New Roman"/>
                      </a:endParaRPr>
                    </a:p>
                  </a:txBody>
                  <a:tcPr marL="60847" marR="60847"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342097">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40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Tollies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100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4,000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5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Bulls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400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2,000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513146">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50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Calves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50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2,500 </a:t>
                      </a:r>
                      <a:endParaRPr lang="en-US" sz="1800">
                        <a:latin typeface="Calibri"/>
                        <a:ea typeface="Calibri"/>
                        <a:cs typeface="Times New Roman"/>
                      </a:endParaRPr>
                    </a:p>
                  </a:txBody>
                  <a:tcPr marL="60847" marR="60847"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130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Cows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300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39,000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342097">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31,800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30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Oxen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250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7,500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dirty="0">
                        <a:latin typeface="Calibri"/>
                        <a:ea typeface="Times New Roman"/>
                      </a:endParaRPr>
                    </a:p>
                  </a:txBody>
                  <a:tcPr marL="60847" marR="60847" marT="0" marB="0" anchor="b">
                    <a:lnL>
                      <a:noFill/>
                    </a:lnL>
                    <a:lnR>
                      <a:noFill/>
                    </a:lnR>
                    <a:lnT>
                      <a:noFill/>
                    </a:lnT>
                    <a:lnB>
                      <a:noFill/>
                    </a:lnB>
                  </a:tcPr>
                </a:tc>
              </a:tr>
              <a:tr h="342097">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gridSpan="2">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Purchases </a:t>
                      </a:r>
                      <a:endParaRPr lang="en-US" sz="1800">
                        <a:latin typeface="Calibri"/>
                        <a:ea typeface="Calibri"/>
                        <a:cs typeface="Times New Roman"/>
                      </a:endParaRPr>
                    </a:p>
                  </a:txBody>
                  <a:tcPr marL="60847" marR="60847"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40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Heifers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150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6,000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342097">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Bull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800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40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Tollies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100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4,000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342097">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2 </a:t>
                      </a:r>
                      <a:endParaRPr lang="en-US" sz="1800">
                        <a:latin typeface="Calibri"/>
                        <a:ea typeface="Calibri"/>
                        <a:cs typeface="Times New Roman"/>
                      </a:endParaRPr>
                    </a:p>
                  </a:txBody>
                  <a:tcPr marL="60847" marR="60847" marT="0" marB="0" anchor="b">
                    <a:lnL>
                      <a:noFill/>
                    </a:lnL>
                    <a:lnR>
                      <a:noFill/>
                    </a:lnR>
                    <a:lnT>
                      <a:noFill/>
                    </a:lnT>
                    <a:lnB>
                      <a:noFill/>
                    </a:lnB>
                  </a:tcPr>
                </a:tc>
                <a:tc gridSpan="2">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Bulls @ $1,000 </a:t>
                      </a:r>
                      <a:endParaRPr lang="en-US" sz="1800">
                        <a:latin typeface="Calibri"/>
                        <a:ea typeface="Calibri"/>
                        <a:cs typeface="Times New Roman"/>
                      </a:endParaRPr>
                    </a:p>
                  </a:txBody>
                  <a:tcPr marL="60847" marR="60847" marT="0" marB="0" anchor="b">
                    <a:lnL>
                      <a:noFill/>
                    </a:lnL>
                    <a:lnR>
                      <a:noFill/>
                    </a:lnR>
                    <a:lnT>
                      <a:noFill/>
                    </a:lnT>
                    <a:lnB>
                      <a:noFill/>
                    </a:lnB>
                  </a:tcPr>
                </a:tc>
                <a:tc hMerge="1">
                  <a:txBody>
                    <a:bodyPr/>
                    <a:lstStyle/>
                    <a:p>
                      <a:endParaRPr lang="en-US"/>
                    </a:p>
                  </a:txBody>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2,000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60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Calves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50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3,000 </a:t>
                      </a:r>
                      <a:endParaRPr lang="en-US" sz="1800">
                        <a:latin typeface="Calibri"/>
                        <a:ea typeface="Calibri"/>
                        <a:cs typeface="Times New Roman"/>
                      </a:endParaRPr>
                    </a:p>
                  </a:txBody>
                  <a:tcPr marL="60847" marR="60847"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342097">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50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Cows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14,000 </a:t>
                      </a:r>
                      <a:endParaRPr lang="en-US" sz="1800">
                        <a:latin typeface="Calibri"/>
                        <a:ea typeface="Calibri"/>
                        <a:cs typeface="Times New Roman"/>
                      </a:endParaRPr>
                    </a:p>
                  </a:txBody>
                  <a:tcPr marL="60847" marR="60847"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15000"/>
                        </a:lnSpc>
                        <a:spcBef>
                          <a:spcPts val="0"/>
                        </a:spcBef>
                        <a:spcAft>
                          <a:spcPts val="0"/>
                        </a:spcAft>
                      </a:pPr>
                      <a:r>
                        <a:rPr lang="en-US" sz="1800" dirty="0">
                          <a:solidFill>
                            <a:srgbClr val="000000"/>
                          </a:solidFill>
                          <a:latin typeface="Calibri"/>
                          <a:ea typeface="Times New Roman"/>
                          <a:cs typeface="Times New Roman"/>
                        </a:rPr>
                        <a:t>     61,500 </a:t>
                      </a:r>
                      <a:endParaRPr lang="en-US" sz="1800" dirty="0">
                        <a:latin typeface="Calibri"/>
                        <a:ea typeface="Calibri"/>
                        <a:cs typeface="Times New Roman"/>
                      </a:endParaRPr>
                    </a:p>
                  </a:txBody>
                  <a:tcPr marL="60847" marR="60847" marT="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28600" y="228600"/>
          <a:ext cx="8763001" cy="3470148"/>
        </p:xfrm>
        <a:graphic>
          <a:graphicData uri="http://schemas.openxmlformats.org/drawingml/2006/table">
            <a:tbl>
              <a:tblPr/>
              <a:tblGrid>
                <a:gridCol w="782352"/>
                <a:gridCol w="783973"/>
                <a:gridCol w="635258"/>
                <a:gridCol w="147094"/>
                <a:gridCol w="890878"/>
                <a:gridCol w="921959"/>
                <a:gridCol w="147094"/>
                <a:gridCol w="599318"/>
                <a:gridCol w="1911339"/>
                <a:gridCol w="502132"/>
                <a:gridCol w="664110"/>
                <a:gridCol w="777494"/>
              </a:tblGrid>
              <a:tr h="342097">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gridSpan="2">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hMerge="1">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endParaRPr lang="en-US"/>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16,800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513146">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50 </a:t>
                      </a:r>
                      <a:endParaRPr lang="en-US" sz="1800">
                        <a:latin typeface="Calibri"/>
                        <a:ea typeface="Calibri"/>
                        <a:cs typeface="Times New Roman"/>
                      </a:endParaRPr>
                    </a:p>
                  </a:txBody>
                  <a:tcPr marL="60847" marR="60847" marT="0" marB="0" anchor="b">
                    <a:lnL>
                      <a:noFill/>
                    </a:lnL>
                    <a:lnR>
                      <a:noFill/>
                    </a:lnR>
                    <a:lnT>
                      <a:noFill/>
                    </a:lnT>
                    <a:lnB>
                      <a:noFill/>
                    </a:lnB>
                  </a:tcPr>
                </a:tc>
                <a:tc gridSpan="2">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Inherited </a:t>
                      </a:r>
                      <a:endParaRPr lang="en-US" sz="1800">
                        <a:latin typeface="Calibri"/>
                        <a:ea typeface="Calibri"/>
                        <a:cs typeface="Times New Roman"/>
                      </a:endParaRPr>
                    </a:p>
                  </a:txBody>
                  <a:tcPr marL="60847" marR="60847" marT="0" marB="0" anchor="b">
                    <a:lnL>
                      <a:noFill/>
                    </a:lnL>
                    <a:lnR>
                      <a:noFill/>
                    </a:lnR>
                    <a:lnT>
                      <a:noFill/>
                    </a:lnT>
                    <a:lnB>
                      <a:noFill/>
                    </a:lnB>
                  </a:tcPr>
                </a:tc>
                <a:tc hMerge="1">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endParaRPr lang="en-US"/>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342097">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90 </a:t>
                      </a:r>
                      <a:endParaRPr lang="en-US" sz="1800">
                        <a:latin typeface="Calibri"/>
                        <a:ea typeface="Calibri"/>
                        <a:cs typeface="Times New Roman"/>
                      </a:endParaRPr>
                    </a:p>
                  </a:txBody>
                  <a:tcPr marL="60847" marR="60847" marT="0" marB="0" anchor="b">
                    <a:lnL>
                      <a:noFill/>
                    </a:lnL>
                    <a:lnR>
                      <a:noFill/>
                    </a:lnR>
                    <a:lnT>
                      <a:noFill/>
                    </a:lnT>
                    <a:lnB>
                      <a:noFill/>
                    </a:lnB>
                  </a:tcPr>
                </a:tc>
                <a:tc gridSpan="2">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Births </a:t>
                      </a:r>
                      <a:endParaRPr lang="en-US" sz="1800">
                        <a:latin typeface="Calibri"/>
                        <a:ea typeface="Calibri"/>
                        <a:cs typeface="Times New Roman"/>
                      </a:endParaRPr>
                    </a:p>
                  </a:txBody>
                  <a:tcPr marL="60847" marR="60847" marT="0" marB="0" anchor="b">
                    <a:lnL>
                      <a:noFill/>
                    </a:lnL>
                    <a:lnR>
                      <a:noFill/>
                    </a:lnR>
                    <a:lnT>
                      <a:noFill/>
                    </a:lnT>
                    <a:lnB>
                      <a:noFill/>
                    </a:lnB>
                  </a:tcPr>
                </a:tc>
                <a:tc hMerge="1">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endParaRPr lang="en-US"/>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342097">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gridSpan="3">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Livestock profit </a:t>
                      </a:r>
                      <a:endParaRPr lang="en-US" sz="1800">
                        <a:latin typeface="Calibri"/>
                        <a:ea typeface="Calibri"/>
                        <a:cs typeface="Times New Roman"/>
                      </a:endParaRPr>
                    </a:p>
                  </a:txBody>
                  <a:tcPr marL="60847" marR="60847" marT="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42,900 </a:t>
                      </a:r>
                      <a:endParaRPr lang="en-US" sz="1800">
                        <a:latin typeface="Calibri"/>
                        <a:ea typeface="Calibri"/>
                        <a:cs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r>
              <a:tr h="171049">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gridSpan="2">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w="12700" cap="flat" cmpd="sng" algn="ctr">
                      <a:solidFill>
                        <a:srgbClr val="000000"/>
                      </a:solidFill>
                      <a:prstDash val="solid"/>
                      <a:round/>
                      <a:headEnd type="none" w="med" len="med"/>
                      <a:tailEnd type="none" w="med" len="med"/>
                    </a:lnB>
                  </a:tcPr>
                </a:tc>
              </a:tr>
              <a:tr h="342097">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375 </a:t>
                      </a:r>
                      <a:endParaRPr lang="en-US" sz="1800">
                        <a:latin typeface="Calibri"/>
                        <a:ea typeface="Calibri"/>
                        <a:cs typeface="Times New Roman"/>
                      </a:endParaRPr>
                    </a:p>
                  </a:txBody>
                  <a:tcPr marL="60847" marR="60847"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gridSpan="2">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91,500 </a:t>
                      </a:r>
                      <a:endParaRPr lang="en-US" sz="1800">
                        <a:latin typeface="Calibri"/>
                        <a:ea typeface="Calibri"/>
                        <a:cs typeface="Times New Roman"/>
                      </a:endParaRPr>
                    </a:p>
                  </a:txBody>
                  <a:tcPr marL="60847" marR="60847"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375 </a:t>
                      </a:r>
                      <a:endParaRPr lang="en-US" sz="1800">
                        <a:latin typeface="Calibri"/>
                        <a:ea typeface="Calibri"/>
                        <a:cs typeface="Times New Roman"/>
                      </a:endParaRPr>
                    </a:p>
                  </a:txBody>
                  <a:tcPr marL="60847" marR="60847"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47" marR="60847" marT="0" marB="0" anchor="b">
                    <a:lnL>
                      <a:noFill/>
                    </a:lnL>
                    <a:lnR>
                      <a:noFill/>
                    </a:lnR>
                    <a:lnT>
                      <a:noFill/>
                    </a:lnT>
                    <a:lnB>
                      <a:noFill/>
                    </a:lnB>
                  </a:tcPr>
                </a:tc>
                <a:tc>
                  <a:txBody>
                    <a:bodyPr/>
                    <a:lstStyle/>
                    <a:p>
                      <a:pPr marL="0" marR="0">
                        <a:lnSpc>
                          <a:spcPct val="115000"/>
                        </a:lnSpc>
                        <a:spcBef>
                          <a:spcPts val="0"/>
                        </a:spcBef>
                        <a:spcAft>
                          <a:spcPts val="0"/>
                        </a:spcAft>
                      </a:pPr>
                      <a:r>
                        <a:rPr lang="en-US" sz="1800" dirty="0">
                          <a:solidFill>
                            <a:srgbClr val="000000"/>
                          </a:solidFill>
                          <a:latin typeface="Calibri"/>
                          <a:ea typeface="Times New Roman"/>
                          <a:cs typeface="Times New Roman"/>
                        </a:rPr>
                        <a:t>     91,500 </a:t>
                      </a:r>
                      <a:endParaRPr lang="en-US" sz="1800" dirty="0">
                        <a:latin typeface="Calibri"/>
                        <a:ea typeface="Calibri"/>
                        <a:cs typeface="Times New Roman"/>
                      </a:endParaRPr>
                    </a:p>
                  </a:txBody>
                  <a:tcPr marL="60847" marR="60847"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28600" y="152400"/>
          <a:ext cx="8686800" cy="5362956"/>
        </p:xfrm>
        <a:graphic>
          <a:graphicData uri="http://schemas.openxmlformats.org/drawingml/2006/table">
            <a:tbl>
              <a:tblPr/>
              <a:tblGrid>
                <a:gridCol w="1468674"/>
                <a:gridCol w="209436"/>
                <a:gridCol w="771744"/>
                <a:gridCol w="598146"/>
                <a:gridCol w="992589"/>
                <a:gridCol w="314997"/>
                <a:gridCol w="582746"/>
                <a:gridCol w="1858483"/>
                <a:gridCol w="488246"/>
                <a:gridCol w="487339"/>
                <a:gridCol w="914400"/>
              </a:tblGrid>
              <a:tr h="170975">
                <a:tc gridSpan="2">
                  <a:txBody>
                    <a:bodyPr/>
                    <a:lstStyle/>
                    <a:p>
                      <a:pPr marL="0" marR="0">
                        <a:lnSpc>
                          <a:spcPct val="115000"/>
                        </a:lnSpc>
                        <a:spcBef>
                          <a:spcPts val="0"/>
                        </a:spcBef>
                        <a:spcAft>
                          <a:spcPts val="0"/>
                        </a:spcAft>
                      </a:pPr>
                      <a:r>
                        <a:rPr lang="en-US" sz="1800" b="1" dirty="0">
                          <a:solidFill>
                            <a:srgbClr val="FF0000"/>
                          </a:solidFill>
                          <a:latin typeface="Calibri"/>
                          <a:ea typeface="Times New Roman"/>
                          <a:cs typeface="Times New Roman"/>
                        </a:rPr>
                        <a:t>Income statement </a:t>
                      </a:r>
                      <a:endParaRPr lang="en-US" sz="1800" dirty="0">
                        <a:solidFill>
                          <a:srgbClr val="FF0000"/>
                        </a:solidFill>
                        <a:latin typeface="Calibri"/>
                        <a:ea typeface="Calibri"/>
                        <a:cs typeface="Times New Roman"/>
                      </a:endParaRPr>
                    </a:p>
                  </a:txBody>
                  <a:tcPr marL="60821" marR="60821"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800">
                        <a:solidFill>
                          <a:srgbClr val="FF0000"/>
                        </a:solidFill>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solidFill>
                          <a:srgbClr val="FF0000"/>
                        </a:solidFill>
                        <a:latin typeface="Calibri"/>
                        <a:ea typeface="Times New Roman"/>
                      </a:endParaRPr>
                    </a:p>
                  </a:txBody>
                  <a:tcPr marL="60821" marR="60821" marT="0" marB="0" anchor="b">
                    <a:lnL>
                      <a:noFill/>
                    </a:lnL>
                    <a:lnR>
                      <a:noFill/>
                    </a:lnR>
                    <a:lnT>
                      <a:noFill/>
                    </a:lnT>
                    <a:lnB>
                      <a:noFill/>
                    </a:lnB>
                  </a:tcPr>
                </a:tc>
                <a:tc>
                  <a:txBody>
                    <a:bodyPr/>
                    <a:lstStyle/>
                    <a:p>
                      <a:pPr marL="0" marR="0" algn="ctr">
                        <a:lnSpc>
                          <a:spcPct val="115000"/>
                        </a:lnSpc>
                        <a:spcBef>
                          <a:spcPts val="0"/>
                        </a:spcBef>
                        <a:spcAft>
                          <a:spcPts val="0"/>
                        </a:spcAft>
                      </a:pPr>
                      <a:r>
                        <a:rPr lang="en-US" sz="1800" b="1">
                          <a:solidFill>
                            <a:srgbClr val="FF0000"/>
                          </a:solidFill>
                          <a:latin typeface="Calibri"/>
                          <a:ea typeface="Times New Roman"/>
                          <a:cs typeface="Times New Roman"/>
                        </a:rPr>
                        <a:t> $ </a:t>
                      </a:r>
                      <a:endParaRPr lang="en-US" sz="1800">
                        <a:solidFill>
                          <a:srgbClr val="FF0000"/>
                        </a:solidFill>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solidFill>
                          <a:srgbClr val="FF0000"/>
                        </a:solidFill>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solidFill>
                          <a:srgbClr val="FF0000"/>
                        </a:solidFill>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solidFill>
                          <a:srgbClr val="FF0000"/>
                        </a:solidFill>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solidFill>
                          <a:srgbClr val="FF0000"/>
                        </a:solidFill>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solidFill>
                          <a:srgbClr val="FF0000"/>
                        </a:solidFill>
                        <a:latin typeface="Calibri"/>
                        <a:ea typeface="Times New Roman"/>
                      </a:endParaRPr>
                    </a:p>
                  </a:txBody>
                  <a:tcPr marL="60821" marR="60821" marT="0" marB="0" anchor="b">
                    <a:lnL>
                      <a:noFill/>
                    </a:lnL>
                    <a:lnR>
                      <a:noFill/>
                    </a:lnR>
                    <a:lnT>
                      <a:noFill/>
                    </a:lnT>
                    <a:lnB>
                      <a:noFill/>
                    </a:lnB>
                  </a:tcPr>
                </a:tc>
                <a:tc>
                  <a:txBody>
                    <a:bodyPr/>
                    <a:lstStyle/>
                    <a:p>
                      <a:pPr marL="0" marR="0" algn="ctr">
                        <a:lnSpc>
                          <a:spcPct val="115000"/>
                        </a:lnSpc>
                        <a:spcBef>
                          <a:spcPts val="0"/>
                        </a:spcBef>
                        <a:spcAft>
                          <a:spcPts val="0"/>
                        </a:spcAft>
                      </a:pPr>
                      <a:r>
                        <a:rPr lang="en-US" sz="1800" b="1">
                          <a:solidFill>
                            <a:srgbClr val="FF0000"/>
                          </a:solidFill>
                          <a:latin typeface="Calibri"/>
                          <a:ea typeface="Times New Roman"/>
                          <a:cs typeface="Times New Roman"/>
                        </a:rPr>
                        <a:t> $ </a:t>
                      </a:r>
                      <a:endParaRPr lang="en-US" sz="1800">
                        <a:solidFill>
                          <a:srgbClr val="FF0000"/>
                        </a:solidFill>
                        <a:latin typeface="Calibri"/>
                        <a:ea typeface="Calibri"/>
                        <a:cs typeface="Times New Roman"/>
                      </a:endParaRPr>
                    </a:p>
                  </a:txBody>
                  <a:tcPr marL="60821" marR="60821" marT="0" marB="0" anchor="b">
                    <a:lnL>
                      <a:noFill/>
                    </a:lnL>
                    <a:lnR>
                      <a:noFill/>
                    </a:lnR>
                    <a:lnT>
                      <a:noFill/>
                    </a:lnT>
                    <a:lnB>
                      <a:noFill/>
                    </a:lnB>
                  </a:tcPr>
                </a:tc>
              </a:tr>
              <a:tr h="170975">
                <a:tc gridSpan="2">
                  <a:txBody>
                    <a:bodyPr/>
                    <a:lstStyle/>
                    <a:p>
                      <a:pPr marL="0" marR="0">
                        <a:lnSpc>
                          <a:spcPct val="115000"/>
                        </a:lnSpc>
                        <a:spcBef>
                          <a:spcPts val="0"/>
                        </a:spcBef>
                        <a:spcAft>
                          <a:spcPts val="0"/>
                        </a:spcAft>
                      </a:pPr>
                      <a:r>
                        <a:rPr lang="en-US" sz="1800" b="1" dirty="0">
                          <a:solidFill>
                            <a:srgbClr val="FF0000"/>
                          </a:solidFill>
                          <a:latin typeface="Calibri"/>
                          <a:ea typeface="Times New Roman"/>
                          <a:cs typeface="Times New Roman"/>
                        </a:rPr>
                        <a:t> Expenditure </a:t>
                      </a:r>
                      <a:endParaRPr lang="en-US" sz="1800" dirty="0">
                        <a:solidFill>
                          <a:srgbClr val="FF0000"/>
                        </a:solidFill>
                        <a:latin typeface="Calibri"/>
                        <a:ea typeface="Calibri"/>
                        <a:cs typeface="Times New Roman"/>
                      </a:endParaRPr>
                    </a:p>
                  </a:txBody>
                  <a:tcPr marL="60821" marR="60821"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800" dirty="0">
                        <a:solidFill>
                          <a:srgbClr val="FF0000"/>
                        </a:solidFill>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dirty="0">
                        <a:solidFill>
                          <a:srgbClr val="FF0000"/>
                        </a:solidFill>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dirty="0">
                        <a:solidFill>
                          <a:srgbClr val="FF0000"/>
                        </a:solidFill>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dirty="0">
                        <a:solidFill>
                          <a:srgbClr val="FF0000"/>
                        </a:solidFill>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dirty="0">
                        <a:solidFill>
                          <a:srgbClr val="FF0000"/>
                        </a:solidFill>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b="1" dirty="0">
                          <a:solidFill>
                            <a:srgbClr val="FF0000"/>
                          </a:solidFill>
                          <a:latin typeface="Calibri"/>
                          <a:ea typeface="Times New Roman"/>
                          <a:cs typeface="Times New Roman"/>
                        </a:rPr>
                        <a:t> Income </a:t>
                      </a:r>
                      <a:endParaRPr lang="en-US" sz="1800" dirty="0">
                        <a:solidFill>
                          <a:srgbClr val="FF0000"/>
                        </a:solidFill>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dirty="0">
                        <a:solidFill>
                          <a:srgbClr val="FF0000"/>
                        </a:solidFill>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dirty="0">
                        <a:solidFill>
                          <a:srgbClr val="FF0000"/>
                        </a:solidFill>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dirty="0">
                        <a:solidFill>
                          <a:srgbClr val="FF0000"/>
                        </a:solidFill>
                        <a:latin typeface="Calibri"/>
                        <a:ea typeface="Times New Roman"/>
                      </a:endParaRPr>
                    </a:p>
                  </a:txBody>
                  <a:tcPr marL="60821" marR="60821" marT="0" marB="0" anchor="b">
                    <a:lnL>
                      <a:noFill/>
                    </a:lnL>
                    <a:lnR>
                      <a:noFill/>
                    </a:lnR>
                    <a:lnT>
                      <a:noFill/>
                    </a:lnT>
                    <a:lnB>
                      <a:noFill/>
                    </a:lnB>
                  </a:tcPr>
                </a:tc>
              </a:tr>
              <a:tr h="341950">
                <a:tc gridSpan="2">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Livestock expenses </a:t>
                      </a:r>
                      <a:endParaRPr lang="en-US" sz="1800">
                        <a:latin typeface="Calibri"/>
                        <a:ea typeface="Calibri"/>
                        <a:cs typeface="Times New Roman"/>
                      </a:endParaRPr>
                    </a:p>
                  </a:txBody>
                  <a:tcPr marL="60821" marR="60821"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38,000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Livestock profit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42,900 </a:t>
                      </a:r>
                      <a:endParaRPr lang="en-US" sz="1800">
                        <a:latin typeface="Calibri"/>
                        <a:ea typeface="Calibri"/>
                        <a:cs typeface="Times New Roman"/>
                      </a:endParaRPr>
                    </a:p>
                  </a:txBody>
                  <a:tcPr marL="60821" marR="60821" marT="0" marB="0" anchor="b">
                    <a:lnL>
                      <a:noFill/>
                    </a:lnL>
                    <a:lnR>
                      <a:noFill/>
                    </a:lnR>
                    <a:lnT>
                      <a:noFill/>
                    </a:lnT>
                    <a:lnB>
                      <a:noFill/>
                    </a:lnB>
                  </a:tcPr>
                </a:tc>
              </a:tr>
              <a:tr h="512924">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Labour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35,000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Tobacco sales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120,000 </a:t>
                      </a:r>
                      <a:endParaRPr lang="en-US" sz="1800">
                        <a:latin typeface="Calibri"/>
                        <a:ea typeface="Calibri"/>
                        <a:cs typeface="Times New Roman"/>
                      </a:endParaRPr>
                    </a:p>
                  </a:txBody>
                  <a:tcPr marL="60821" marR="60821" marT="0" marB="0" anchor="b">
                    <a:lnL>
                      <a:noFill/>
                    </a:lnL>
                    <a:lnR>
                      <a:noFill/>
                    </a:lnR>
                    <a:lnT>
                      <a:noFill/>
                    </a:lnT>
                    <a:lnB>
                      <a:noFill/>
                    </a:lnB>
                  </a:tcPr>
                </a:tc>
              </a:tr>
              <a:tr h="341950">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Fertiliser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30,000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Maize sales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40,000 </a:t>
                      </a:r>
                      <a:endParaRPr lang="en-US" sz="1800">
                        <a:latin typeface="Calibri"/>
                        <a:ea typeface="Calibri"/>
                        <a:cs typeface="Times New Roman"/>
                      </a:endParaRPr>
                    </a:p>
                  </a:txBody>
                  <a:tcPr marL="60821" marR="60821" marT="0" marB="0" anchor="b">
                    <a:lnL>
                      <a:noFill/>
                    </a:lnL>
                    <a:lnR>
                      <a:noFill/>
                    </a:lnR>
                    <a:lnT>
                      <a:noFill/>
                    </a:lnT>
                    <a:lnB>
                      <a:noFill/>
                    </a:lnB>
                  </a:tcPr>
                </a:tc>
              </a:tr>
              <a:tr h="341950">
                <a:tc gridSpan="3">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Electricity and telephones </a:t>
                      </a:r>
                      <a:endParaRPr lang="en-US" sz="1800">
                        <a:latin typeface="Calibri"/>
                        <a:ea typeface="Calibri"/>
                        <a:cs typeface="Times New Roman"/>
                      </a:endParaRPr>
                    </a:p>
                  </a:txBody>
                  <a:tcPr marL="60821" marR="60821" marT="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6,000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Insurance claim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15,000 </a:t>
                      </a:r>
                      <a:endParaRPr lang="en-US" sz="1800">
                        <a:latin typeface="Calibri"/>
                        <a:ea typeface="Calibri"/>
                        <a:cs typeface="Times New Roman"/>
                      </a:endParaRPr>
                    </a:p>
                  </a:txBody>
                  <a:tcPr marL="60821" marR="60821" marT="0" marB="0" anchor="b">
                    <a:lnL>
                      <a:noFill/>
                    </a:lnL>
                    <a:lnR>
                      <a:noFill/>
                    </a:lnR>
                    <a:lnT>
                      <a:noFill/>
                    </a:lnT>
                    <a:lnB>
                      <a:noFill/>
                    </a:lnB>
                  </a:tcPr>
                </a:tc>
              </a:tr>
              <a:tr h="341950">
                <a:tc gridSpan="3">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Motor vehicle expenses </a:t>
                      </a:r>
                      <a:endParaRPr lang="en-US" sz="1800">
                        <a:latin typeface="Calibri"/>
                        <a:ea typeface="Calibri"/>
                        <a:cs typeface="Times New Roman"/>
                      </a:endParaRPr>
                    </a:p>
                  </a:txBody>
                  <a:tcPr marL="60821" marR="60821" marT="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2,500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Other farm income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6,000 </a:t>
                      </a:r>
                      <a:endParaRPr lang="en-US" sz="1800">
                        <a:latin typeface="Calibri"/>
                        <a:ea typeface="Calibri"/>
                        <a:cs typeface="Times New Roman"/>
                      </a:endParaRPr>
                    </a:p>
                  </a:txBody>
                  <a:tcPr marL="60821" marR="60821" marT="0" marB="0" anchor="b">
                    <a:lnL>
                      <a:noFill/>
                    </a:lnL>
                    <a:lnR>
                      <a:noFill/>
                    </a:lnR>
                    <a:lnT>
                      <a:noFill/>
                    </a:lnT>
                    <a:lnB>
                      <a:noFill/>
                    </a:lnB>
                  </a:tcPr>
                </a:tc>
              </a:tr>
              <a:tr h="341950">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Repairs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950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Bank interest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5,000 </a:t>
                      </a:r>
                      <a:endParaRPr lang="en-US" sz="1800">
                        <a:latin typeface="Calibri"/>
                        <a:ea typeface="Calibri"/>
                        <a:cs typeface="Times New Roman"/>
                      </a:endParaRPr>
                    </a:p>
                  </a:txBody>
                  <a:tcPr marL="60821" marR="60821" marT="0" marB="0" anchor="b">
                    <a:lnL>
                      <a:noFill/>
                    </a:lnL>
                    <a:lnR>
                      <a:noFill/>
                    </a:lnR>
                    <a:lnT>
                      <a:noFill/>
                    </a:lnT>
                    <a:lnB>
                      <a:noFill/>
                    </a:lnB>
                  </a:tcPr>
                </a:tc>
              </a:tr>
              <a:tr h="341950">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Interest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2,000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Local company dividend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dirty="0">
                          <a:solidFill>
                            <a:srgbClr val="000000"/>
                          </a:solidFill>
                          <a:latin typeface="Calibri"/>
                          <a:ea typeface="Times New Roman"/>
                          <a:cs typeface="Times New Roman"/>
                        </a:rPr>
                        <a:t>       2,500 </a:t>
                      </a:r>
                      <a:endParaRPr lang="en-US" sz="1800" dirty="0">
                        <a:latin typeface="Calibri"/>
                        <a:ea typeface="Calibri"/>
                        <a:cs typeface="Times New Roman"/>
                      </a:endParaRPr>
                    </a:p>
                  </a:txBody>
                  <a:tcPr marL="60821" marR="60821" marT="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28600" y="304800"/>
          <a:ext cx="8686800" cy="3800014"/>
        </p:xfrm>
        <a:graphic>
          <a:graphicData uri="http://schemas.openxmlformats.org/drawingml/2006/table">
            <a:tbl>
              <a:tblPr/>
              <a:tblGrid>
                <a:gridCol w="1468674"/>
                <a:gridCol w="209436"/>
                <a:gridCol w="771745"/>
                <a:gridCol w="147042"/>
                <a:gridCol w="1443694"/>
                <a:gridCol w="314997"/>
                <a:gridCol w="582744"/>
                <a:gridCol w="1858484"/>
                <a:gridCol w="488246"/>
                <a:gridCol w="182538"/>
                <a:gridCol w="1219200"/>
              </a:tblGrid>
              <a:tr h="341950">
                <a:tc gridSpan="2">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General expenses </a:t>
                      </a:r>
                      <a:endParaRPr lang="en-US" sz="1800">
                        <a:latin typeface="Calibri"/>
                        <a:ea typeface="Calibri"/>
                        <a:cs typeface="Times New Roman"/>
                      </a:endParaRPr>
                    </a:p>
                  </a:txBody>
                  <a:tcPr marL="60821" marR="60821"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3,750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r>
              <a:tr h="341950">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Insurance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1,250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r>
              <a:tr h="341950">
                <a:tc gridSpan="2">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Sundry expenses </a:t>
                      </a:r>
                      <a:endParaRPr lang="en-US" sz="1800">
                        <a:latin typeface="Calibri"/>
                        <a:ea typeface="Calibri"/>
                        <a:cs typeface="Times New Roman"/>
                      </a:endParaRPr>
                    </a:p>
                  </a:txBody>
                  <a:tcPr marL="60821" marR="60821"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10,000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r>
              <a:tr h="341950">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Fencing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2,000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r>
              <a:tr h="341950">
                <a:tc gridSpan="2">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Hire of plant </a:t>
                      </a:r>
                      <a:endParaRPr lang="en-US" sz="1800">
                        <a:latin typeface="Calibri"/>
                        <a:ea typeface="Calibri"/>
                        <a:cs typeface="Times New Roman"/>
                      </a:endParaRPr>
                    </a:p>
                  </a:txBody>
                  <a:tcPr marL="60821" marR="60821"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11,000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r>
              <a:tr h="341950">
                <a:tc gridSpan="2">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Depreciation </a:t>
                      </a:r>
                      <a:endParaRPr lang="en-US" sz="1800">
                        <a:latin typeface="Calibri"/>
                        <a:ea typeface="Calibri"/>
                        <a:cs typeface="Times New Roman"/>
                      </a:endParaRPr>
                    </a:p>
                  </a:txBody>
                  <a:tcPr marL="60821" marR="60821"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12,000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r>
              <a:tr h="341950">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Net profit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76,950 </a:t>
                      </a:r>
                      <a:endParaRPr lang="en-US" sz="1800">
                        <a:latin typeface="Calibri"/>
                        <a:ea typeface="Calibri"/>
                        <a:cs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r>
              <a:tr h="170975">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w="12700" cap="flat" cmpd="sng" algn="ctr">
                      <a:solidFill>
                        <a:srgbClr val="000000"/>
                      </a:solidFill>
                      <a:prstDash val="solid"/>
                      <a:round/>
                      <a:headEnd type="none" w="med" len="med"/>
                      <a:tailEnd type="none" w="med" len="med"/>
                    </a:lnB>
                  </a:tcPr>
                </a:tc>
              </a:tr>
              <a:tr h="512924">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231,400 </a:t>
                      </a:r>
                      <a:endParaRPr lang="en-US" sz="1800">
                        <a:latin typeface="Calibri"/>
                        <a:ea typeface="Calibri"/>
                        <a:cs typeface="Times New Roman"/>
                      </a:endParaRPr>
                    </a:p>
                  </a:txBody>
                  <a:tcPr marL="60821" marR="60821" marT="0" marB="0" anchor="b">
                    <a:lnL>
                      <a:noFill/>
                    </a:lnL>
                    <a:lnR>
                      <a:noFill/>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0821" marR="60821" marT="0" marB="0" anchor="b">
                    <a:lnL>
                      <a:noFill/>
                    </a:lnL>
                    <a:lnR>
                      <a:noFill/>
                    </a:lnR>
                    <a:lnT>
                      <a:noFill/>
                    </a:lnT>
                    <a:lnB>
                      <a:noFill/>
                    </a:lnB>
                  </a:tcPr>
                </a:tc>
                <a:tc>
                  <a:txBody>
                    <a:bodyPr/>
                    <a:lstStyle/>
                    <a:p>
                      <a:pPr marL="0" marR="0">
                        <a:lnSpc>
                          <a:spcPct val="115000"/>
                        </a:lnSpc>
                        <a:spcBef>
                          <a:spcPts val="0"/>
                        </a:spcBef>
                        <a:spcAft>
                          <a:spcPts val="0"/>
                        </a:spcAft>
                      </a:pPr>
                      <a:r>
                        <a:rPr lang="en-US" sz="1800" dirty="0">
                          <a:solidFill>
                            <a:srgbClr val="000000"/>
                          </a:solidFill>
                          <a:latin typeface="Calibri"/>
                          <a:ea typeface="Times New Roman"/>
                          <a:cs typeface="Times New Roman"/>
                        </a:rPr>
                        <a:t>  231,400 </a:t>
                      </a:r>
                      <a:endParaRPr lang="en-US" sz="1800" dirty="0">
                        <a:latin typeface="Calibri"/>
                        <a:ea typeface="Calibri"/>
                        <a:cs typeface="Times New Roman"/>
                      </a:endParaRPr>
                    </a:p>
                  </a:txBody>
                  <a:tcPr marL="60821" marR="60821" marT="0" marB="0" anchor="b">
                    <a:lnL>
                      <a:noFill/>
                    </a:lnL>
                    <a:lnR>
                      <a:noFill/>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04800" y="0"/>
          <a:ext cx="8610600" cy="7053419"/>
        </p:xfrm>
        <a:graphic>
          <a:graphicData uri="http://schemas.openxmlformats.org/drawingml/2006/table">
            <a:tbl>
              <a:tblPr/>
              <a:tblGrid>
                <a:gridCol w="1055069"/>
                <a:gridCol w="1385850"/>
                <a:gridCol w="227625"/>
                <a:gridCol w="829104"/>
                <a:gridCol w="829104"/>
                <a:gridCol w="829104"/>
                <a:gridCol w="847148"/>
                <a:gridCol w="829104"/>
                <a:gridCol w="950247"/>
                <a:gridCol w="828245"/>
              </a:tblGrid>
              <a:tr h="277031">
                <a:tc gridSpan="3">
                  <a:txBody>
                    <a:bodyPr/>
                    <a:lstStyle/>
                    <a:p>
                      <a:pPr marL="0" marR="0">
                        <a:lnSpc>
                          <a:spcPct val="115000"/>
                        </a:lnSpc>
                        <a:spcBef>
                          <a:spcPts val="0"/>
                        </a:spcBef>
                        <a:spcAft>
                          <a:spcPts val="0"/>
                        </a:spcAft>
                      </a:pPr>
                      <a:r>
                        <a:rPr lang="en-US" sz="1600" b="1" dirty="0">
                          <a:solidFill>
                            <a:srgbClr val="FF0000"/>
                          </a:solidFill>
                          <a:latin typeface="Calibri"/>
                          <a:ea typeface="Times New Roman"/>
                          <a:cs typeface="Times New Roman"/>
                        </a:rPr>
                        <a:t>Notes to Income statement</a:t>
                      </a:r>
                      <a:endParaRPr lang="en-US" sz="1600" dirty="0">
                        <a:solidFill>
                          <a:srgbClr val="FF0000"/>
                        </a:solidFill>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277031">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537751">
                <a:tc gridSpan="10">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1. The taxpayer inherited 50 head of cattle from his late father's estate and incorporated them into his own</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77031">
                <a:tc gridSpan="4">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herd. The following is established :</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277031">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537751">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gridSpan="2">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Inheritance</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gridSpan="2">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FSV of deceased</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gridSpan="2">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Value for estate duty</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277031">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537751">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30 cows </a:t>
                      </a:r>
                      <a:endParaRPr lang="en-US" sz="1600">
                        <a:latin typeface="Calibri"/>
                        <a:ea typeface="Calibri"/>
                        <a:cs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gridSpan="2">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$200 each </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9,500 </a:t>
                      </a:r>
                      <a:endParaRPr lang="en-US" sz="1600">
                        <a:latin typeface="Calibri"/>
                        <a:ea typeface="Calibri"/>
                        <a:cs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537751">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20 oxen </a:t>
                      </a:r>
                      <a:endParaRPr lang="en-US" sz="1600">
                        <a:latin typeface="Calibri"/>
                        <a:ea typeface="Calibri"/>
                        <a:cs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gridSpan="2">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$150 each </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4,500 </a:t>
                      </a:r>
                      <a:endParaRPr lang="en-US" sz="1600">
                        <a:latin typeface="Calibri"/>
                        <a:ea typeface="Calibri"/>
                        <a:cs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277031">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537751">
                <a:tc gridSpan="10">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2. He farms in area that has been gazetted as a "drought stricken area". 10 cows were sold as a result of the</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537751">
                <a:tc gridSpan="10">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drought for $5,000.(these are included in the sales figure per livestock account). He makes an election in</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77031">
                <a:tc gridSpan="5">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terms of paragraph 5 of the 7th Schedule.</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277031">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537751">
                <a:tc gridSpan="10">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3. The interest paid was in respect of a loan of $100,000.Of this amount, $75,000 was used to build his house</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77031">
                <a:tc gridSpan="7">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The balance was used to finance farming operational expenses.</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277031">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323435">
                <a:tc gridSpan="10">
                  <a:txBody>
                    <a:bodyPr/>
                    <a:lstStyle/>
                    <a:p>
                      <a:pPr marL="0" marR="0">
                        <a:lnSpc>
                          <a:spcPct val="115000"/>
                        </a:lnSpc>
                        <a:spcBef>
                          <a:spcPts val="0"/>
                        </a:spcBef>
                        <a:spcAft>
                          <a:spcPts val="0"/>
                        </a:spcAft>
                      </a:pPr>
                      <a:endParaRPr lang="en-US" sz="1600" dirty="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304800" y="304800"/>
          <a:ext cx="8610601" cy="4101084"/>
        </p:xfrm>
        <a:graphic>
          <a:graphicData uri="http://schemas.openxmlformats.org/drawingml/2006/table">
            <a:tbl>
              <a:tblPr/>
              <a:tblGrid>
                <a:gridCol w="1055794"/>
                <a:gridCol w="1386805"/>
                <a:gridCol w="225293"/>
                <a:gridCol w="829675"/>
                <a:gridCol w="829675"/>
                <a:gridCol w="1311560"/>
                <a:gridCol w="365845"/>
                <a:gridCol w="829675"/>
                <a:gridCol w="950902"/>
                <a:gridCol w="825377"/>
              </a:tblGrid>
              <a:tr h="377010">
                <a:tc gridSpan="10">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4. The insurance claim was in respect of destruction, by fire of a grading shed. A new one was constructed for  $25,000.</a:t>
                      </a:r>
                      <a:endParaRPr lang="en-US" sz="1800">
                        <a:latin typeface="Calibri"/>
                        <a:ea typeface="Calibri"/>
                        <a:cs typeface="Times New Roman"/>
                      </a:endParaRPr>
                    </a:p>
                  </a:txBody>
                  <a:tcPr marL="67057" marR="67057"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88505">
                <a:tc gridSpan="2">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marL="0" marR="0">
                        <a:lnSpc>
                          <a:spcPct val="115000"/>
                        </a:lnSpc>
                        <a:spcBef>
                          <a:spcPts val="0"/>
                        </a:spcBef>
                        <a:spcAft>
                          <a:spcPts val="1000"/>
                        </a:spcAft>
                      </a:pPr>
                      <a:r>
                        <a:rPr lang="en-US" sz="1800">
                          <a:latin typeface="Calibri"/>
                          <a:ea typeface="Calibri"/>
                          <a:cs typeface="Times New Roman"/>
                        </a:rPr>
                        <a:t> </a:t>
                      </a:r>
                    </a:p>
                  </a:txBody>
                  <a:tcPr marL="0" marR="0" marT="0" marB="0" anchor="ctr">
                    <a:lnL>
                      <a:noFill/>
                    </a:lnL>
                    <a:lnR>
                      <a:noFill/>
                    </a:lnR>
                    <a:lnT>
                      <a:noFill/>
                    </a:lnT>
                    <a:lnB>
                      <a:noFill/>
                    </a:lnB>
                  </a:tcPr>
                </a:tc>
              </a:tr>
              <a:tr h="188505">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marL="0" marR="0">
                        <a:lnSpc>
                          <a:spcPct val="115000"/>
                        </a:lnSpc>
                        <a:spcBef>
                          <a:spcPts val="0"/>
                        </a:spcBef>
                        <a:spcAft>
                          <a:spcPts val="1000"/>
                        </a:spcAft>
                      </a:pPr>
                      <a:r>
                        <a:rPr lang="en-US" sz="1800">
                          <a:latin typeface="Calibri"/>
                          <a:ea typeface="Calibri"/>
                          <a:cs typeface="Times New Roman"/>
                        </a:rPr>
                        <a:t> </a:t>
                      </a:r>
                    </a:p>
                  </a:txBody>
                  <a:tcPr marL="0" marR="0" marT="0" marB="0" anchor="ctr">
                    <a:lnL>
                      <a:noFill/>
                    </a:lnL>
                    <a:lnR>
                      <a:noFill/>
                    </a:lnR>
                    <a:lnT>
                      <a:noFill/>
                    </a:lnT>
                    <a:lnB>
                      <a:noFill/>
                    </a:lnB>
                  </a:tcPr>
                </a:tc>
              </a:tr>
              <a:tr h="188505">
                <a:tc gridSpan="5">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5.The following schedules were submitted :</a:t>
                      </a:r>
                      <a:endParaRPr lang="en-US" sz="1800">
                        <a:latin typeface="Calibri"/>
                        <a:ea typeface="Calibri"/>
                        <a:cs typeface="Times New Roman"/>
                      </a:endParaRPr>
                    </a:p>
                  </a:txBody>
                  <a:tcPr marL="67057" marR="67057"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marL="0" marR="0">
                        <a:lnSpc>
                          <a:spcPct val="115000"/>
                        </a:lnSpc>
                        <a:spcBef>
                          <a:spcPts val="0"/>
                        </a:spcBef>
                        <a:spcAft>
                          <a:spcPts val="1000"/>
                        </a:spcAft>
                      </a:pPr>
                      <a:r>
                        <a:rPr lang="en-US" sz="1800">
                          <a:latin typeface="Calibri"/>
                          <a:ea typeface="Calibri"/>
                          <a:cs typeface="Times New Roman"/>
                        </a:rPr>
                        <a:t> </a:t>
                      </a:r>
                    </a:p>
                  </a:txBody>
                  <a:tcPr marL="0" marR="0" marT="0" marB="0" anchor="ctr">
                    <a:lnL>
                      <a:noFill/>
                    </a:lnL>
                    <a:lnR>
                      <a:noFill/>
                    </a:lnR>
                    <a:lnT>
                      <a:noFill/>
                    </a:lnT>
                    <a:lnB>
                      <a:noFill/>
                    </a:lnB>
                  </a:tcPr>
                </a:tc>
              </a:tr>
              <a:tr h="188505">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marL="0" marR="0">
                        <a:lnSpc>
                          <a:spcPct val="115000"/>
                        </a:lnSpc>
                        <a:spcBef>
                          <a:spcPts val="0"/>
                        </a:spcBef>
                        <a:spcAft>
                          <a:spcPts val="1000"/>
                        </a:spcAft>
                      </a:pPr>
                      <a:r>
                        <a:rPr lang="en-US" sz="1800">
                          <a:latin typeface="Calibri"/>
                          <a:ea typeface="Calibri"/>
                          <a:cs typeface="Times New Roman"/>
                        </a:rPr>
                        <a:t> </a:t>
                      </a:r>
                    </a:p>
                  </a:txBody>
                  <a:tcPr marL="0" marR="0" marT="0" marB="0" anchor="ctr">
                    <a:lnL>
                      <a:noFill/>
                    </a:lnL>
                    <a:lnR>
                      <a:noFill/>
                    </a:lnR>
                    <a:lnT>
                      <a:noFill/>
                    </a:lnT>
                    <a:lnB>
                      <a:noFill/>
                    </a:lnB>
                  </a:tcPr>
                </a:tc>
              </a:tr>
              <a:tr h="188505">
                <a:tc gridSpan="3">
                  <a:txBody>
                    <a:bodyPr/>
                    <a:lstStyle/>
                    <a:p>
                      <a:pPr marL="0" marR="0">
                        <a:lnSpc>
                          <a:spcPct val="115000"/>
                        </a:lnSpc>
                        <a:spcBef>
                          <a:spcPts val="0"/>
                        </a:spcBef>
                        <a:spcAft>
                          <a:spcPts val="0"/>
                        </a:spcAft>
                      </a:pPr>
                      <a:r>
                        <a:rPr lang="en-US" sz="1800" b="1">
                          <a:solidFill>
                            <a:srgbClr val="000000"/>
                          </a:solidFill>
                          <a:latin typeface="Calibri"/>
                          <a:ea typeface="Times New Roman"/>
                          <a:cs typeface="Times New Roman"/>
                        </a:rPr>
                        <a:t>    (a) General expenses</a:t>
                      </a:r>
                      <a:endParaRPr lang="en-US" sz="1800">
                        <a:latin typeface="Calibri"/>
                        <a:ea typeface="Calibri"/>
                        <a:cs typeface="Times New Roman"/>
                      </a:endParaRPr>
                    </a:p>
                  </a:txBody>
                  <a:tcPr marL="67057" marR="67057" marT="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marL="0" marR="0">
                        <a:lnSpc>
                          <a:spcPct val="115000"/>
                        </a:lnSpc>
                        <a:spcBef>
                          <a:spcPts val="0"/>
                        </a:spcBef>
                        <a:spcAft>
                          <a:spcPts val="1000"/>
                        </a:spcAft>
                      </a:pPr>
                      <a:r>
                        <a:rPr lang="en-US" sz="1800">
                          <a:latin typeface="Calibri"/>
                          <a:ea typeface="Calibri"/>
                          <a:cs typeface="Times New Roman"/>
                        </a:rPr>
                        <a:t> </a:t>
                      </a:r>
                    </a:p>
                  </a:txBody>
                  <a:tcPr marL="0" marR="0" marT="0" marB="0" anchor="ctr">
                    <a:lnL>
                      <a:noFill/>
                    </a:lnL>
                    <a:lnR>
                      <a:noFill/>
                    </a:lnR>
                    <a:lnT>
                      <a:noFill/>
                    </a:lnT>
                    <a:lnB>
                      <a:noFill/>
                    </a:lnB>
                  </a:tcPr>
                </a:tc>
              </a:tr>
              <a:tr h="377010">
                <a:tc gridSpan="6">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Legal expenses in respect of acquisition of water rights</a:t>
                      </a:r>
                      <a:endParaRPr lang="en-US" sz="1800">
                        <a:latin typeface="Calibri"/>
                        <a:ea typeface="Calibri"/>
                        <a:cs typeface="Times New Roman"/>
                      </a:endParaRPr>
                    </a:p>
                  </a:txBody>
                  <a:tcPr marL="67057" marR="67057"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1,750 </a:t>
                      </a:r>
                      <a:endParaRPr lang="en-US" sz="1800">
                        <a:latin typeface="Calibri"/>
                        <a:ea typeface="Calibri"/>
                        <a:cs typeface="Times New Roman"/>
                      </a:endParaRPr>
                    </a:p>
                  </a:txBody>
                  <a:tcPr marL="67057" marR="67057" marT="0" marB="0" anchor="b">
                    <a:lnL>
                      <a:noFill/>
                    </a:lnL>
                    <a:lnR>
                      <a:noFill/>
                    </a:lnR>
                    <a:lnT>
                      <a:noFill/>
                    </a:lnT>
                    <a:lnB>
                      <a:noFill/>
                    </a:lnB>
                  </a:tcPr>
                </a:tc>
                <a:tc>
                  <a:txBody>
                    <a:bodyPr/>
                    <a:lstStyle/>
                    <a:p>
                      <a:pPr marL="0" marR="0">
                        <a:lnSpc>
                          <a:spcPct val="115000"/>
                        </a:lnSpc>
                        <a:spcBef>
                          <a:spcPts val="0"/>
                        </a:spcBef>
                        <a:spcAft>
                          <a:spcPts val="1000"/>
                        </a:spcAft>
                      </a:pPr>
                      <a:r>
                        <a:rPr lang="en-US" sz="1800">
                          <a:latin typeface="Calibri"/>
                          <a:ea typeface="Calibri"/>
                          <a:cs typeface="Times New Roman"/>
                        </a:rPr>
                        <a:t> </a:t>
                      </a:r>
                    </a:p>
                  </a:txBody>
                  <a:tcPr marL="0" marR="0" marT="0" marB="0" anchor="ctr">
                    <a:lnL>
                      <a:noFill/>
                    </a:lnL>
                    <a:lnR>
                      <a:noFill/>
                    </a:lnR>
                    <a:lnT>
                      <a:noFill/>
                    </a:lnT>
                    <a:lnB>
                      <a:noFill/>
                    </a:lnB>
                  </a:tcPr>
                </a:tc>
              </a:tr>
              <a:tr h="377010">
                <a:tc gridSpan="3">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Packing materials</a:t>
                      </a:r>
                      <a:endParaRPr lang="en-US" sz="1800">
                        <a:latin typeface="Calibri"/>
                        <a:ea typeface="Calibri"/>
                        <a:cs typeface="Times New Roman"/>
                      </a:endParaRPr>
                    </a:p>
                  </a:txBody>
                  <a:tcPr marL="67057" marR="67057" marT="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2,000 </a:t>
                      </a:r>
                      <a:endParaRPr lang="en-US" sz="1800">
                        <a:latin typeface="Calibri"/>
                        <a:ea typeface="Calibri"/>
                        <a:cs typeface="Times New Roman"/>
                      </a:endParaRPr>
                    </a:p>
                  </a:txBody>
                  <a:tcPr marL="67057" marR="67057"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800">
                          <a:latin typeface="Calibri"/>
                          <a:ea typeface="Calibri"/>
                          <a:cs typeface="Times New Roman"/>
                        </a:rPr>
                        <a:t> </a:t>
                      </a:r>
                    </a:p>
                  </a:txBody>
                  <a:tcPr marL="0" marR="0" marT="0" marB="0" anchor="ctr">
                    <a:lnL>
                      <a:noFill/>
                    </a:lnL>
                    <a:lnR>
                      <a:noFill/>
                    </a:lnR>
                    <a:lnT>
                      <a:noFill/>
                    </a:lnT>
                    <a:lnB>
                      <a:noFill/>
                    </a:lnB>
                  </a:tcPr>
                </a:tc>
              </a:tr>
              <a:tr h="377010">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a:lnSpc>
                          <a:spcPct val="115000"/>
                        </a:lnSpc>
                      </a:pPr>
                      <a:endParaRPr lang="en-US" sz="1800">
                        <a:latin typeface="Calibri"/>
                        <a:ea typeface="Times New Roman"/>
                      </a:endParaRPr>
                    </a:p>
                  </a:txBody>
                  <a:tcPr marL="67057" marR="67057" marT="0" marB="0" anchor="b">
                    <a:lnL>
                      <a:noFill/>
                    </a:lnL>
                    <a:lnR>
                      <a:noFill/>
                    </a:lnR>
                    <a:lnT>
                      <a:noFill/>
                    </a:lnT>
                    <a:lnB>
                      <a:noFill/>
                    </a:lnB>
                  </a:tcPr>
                </a:tc>
                <a:tc>
                  <a:txBody>
                    <a:bodyPr/>
                    <a:lstStyle/>
                    <a:p>
                      <a:pPr marL="0" marR="0">
                        <a:lnSpc>
                          <a:spcPct val="115000"/>
                        </a:lnSpc>
                        <a:spcBef>
                          <a:spcPts val="0"/>
                        </a:spcBef>
                        <a:spcAft>
                          <a:spcPts val="0"/>
                        </a:spcAft>
                      </a:pPr>
                      <a:r>
                        <a:rPr lang="en-US" sz="1800">
                          <a:solidFill>
                            <a:srgbClr val="000000"/>
                          </a:solidFill>
                          <a:latin typeface="Calibri"/>
                          <a:ea typeface="Times New Roman"/>
                          <a:cs typeface="Times New Roman"/>
                        </a:rPr>
                        <a:t>          3,750 </a:t>
                      </a:r>
                      <a:endParaRPr lang="en-US" sz="1800">
                        <a:latin typeface="Calibri"/>
                        <a:ea typeface="Calibri"/>
                        <a:cs typeface="Times New Roman"/>
                      </a:endParaRPr>
                    </a:p>
                  </a:txBody>
                  <a:tcPr marL="67057" marR="67057"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800" dirty="0">
                          <a:latin typeface="Calibri"/>
                          <a:ea typeface="Calibri"/>
                          <a:cs typeface="Times New Roman"/>
                        </a:rPr>
                        <a:t> </a:t>
                      </a:r>
                    </a:p>
                  </a:txBody>
                  <a:tcPr marL="0" marR="0" marT="0" marB="0"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04800" y="228600"/>
          <a:ext cx="8534401" cy="4417568"/>
        </p:xfrm>
        <a:graphic>
          <a:graphicData uri="http://schemas.openxmlformats.org/drawingml/2006/table">
            <a:tbl>
              <a:tblPr/>
              <a:tblGrid>
                <a:gridCol w="1158166"/>
                <a:gridCol w="1521273"/>
                <a:gridCol w="241441"/>
                <a:gridCol w="910122"/>
                <a:gridCol w="910122"/>
                <a:gridCol w="910122"/>
                <a:gridCol w="929929"/>
                <a:gridCol w="910122"/>
                <a:gridCol w="1043104"/>
              </a:tblGrid>
              <a:tr h="162560">
                <a:tc gridSpan="2">
                  <a:txBody>
                    <a:bodyPr/>
                    <a:lstStyle/>
                    <a:p>
                      <a:pPr marL="0" marR="0">
                        <a:lnSpc>
                          <a:spcPct val="115000"/>
                        </a:lnSpc>
                        <a:spcBef>
                          <a:spcPts val="0"/>
                        </a:spcBef>
                        <a:spcAft>
                          <a:spcPts val="0"/>
                        </a:spcAft>
                      </a:pPr>
                      <a:r>
                        <a:rPr lang="en-US" sz="1600" b="1" dirty="0">
                          <a:solidFill>
                            <a:srgbClr val="000000"/>
                          </a:solidFill>
                          <a:latin typeface="Calibri"/>
                          <a:ea typeface="Times New Roman"/>
                          <a:cs typeface="Times New Roman"/>
                        </a:rPr>
                        <a:t>    (</a:t>
                      </a:r>
                      <a:r>
                        <a:rPr lang="en-US" sz="1600" b="1" dirty="0">
                          <a:solidFill>
                            <a:srgbClr val="FF0000"/>
                          </a:solidFill>
                          <a:latin typeface="Calibri"/>
                          <a:ea typeface="Times New Roman"/>
                          <a:cs typeface="Times New Roman"/>
                        </a:rPr>
                        <a:t>b) Insurance</a:t>
                      </a:r>
                      <a:endParaRPr lang="en-US" sz="1600" dirty="0">
                        <a:solidFill>
                          <a:srgbClr val="FF0000"/>
                        </a:solidFill>
                        <a:latin typeface="Calibri"/>
                        <a:ea typeface="Calibri"/>
                        <a:cs typeface="Times New Roman"/>
                      </a:endParaRPr>
                    </a:p>
                  </a:txBody>
                  <a:tcPr marL="57828" marR="57828"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r>
              <a:tr h="325120">
                <a:tc gridSpan="5">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Valuation fee (buildings ; fire insurance)</a:t>
                      </a:r>
                      <a:endParaRPr lang="en-US" sz="1600">
                        <a:latin typeface="Calibri"/>
                        <a:ea typeface="Calibri"/>
                        <a:cs typeface="Times New Roman"/>
                      </a:endParaRPr>
                    </a:p>
                  </a:txBody>
                  <a:tcPr marL="57828" marR="57828"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750 </a:t>
                      </a:r>
                      <a:endParaRPr lang="en-US" sz="1600">
                        <a:latin typeface="Calibri"/>
                        <a:ea typeface="Calibri"/>
                        <a:cs typeface="Times New Roman"/>
                      </a:endParaRPr>
                    </a:p>
                  </a:txBody>
                  <a:tcPr marL="57828" marR="57828" marT="0" marB="0" anchor="b">
                    <a:lnL>
                      <a:noFill/>
                    </a:lnL>
                    <a:lnR>
                      <a:noFill/>
                    </a:lnR>
                    <a:lnT>
                      <a:noFill/>
                    </a:lnT>
                    <a:lnB>
                      <a:noFill/>
                    </a:lnB>
                  </a:tcPr>
                </a:tc>
              </a:tr>
              <a:tr h="325120">
                <a:tc gridSpan="2">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Hail insurance</a:t>
                      </a:r>
                      <a:endParaRPr lang="en-US" sz="1600">
                        <a:latin typeface="Calibri"/>
                        <a:ea typeface="Calibri"/>
                        <a:cs typeface="Times New Roman"/>
                      </a:endParaRPr>
                    </a:p>
                  </a:txBody>
                  <a:tcPr marL="57828" marR="57828"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200 </a:t>
                      </a:r>
                      <a:endParaRPr lang="en-US" sz="1600">
                        <a:latin typeface="Calibri"/>
                        <a:ea typeface="Calibri"/>
                        <a:cs typeface="Times New Roman"/>
                      </a:endParaRPr>
                    </a:p>
                  </a:txBody>
                  <a:tcPr marL="57828" marR="57828" marT="0" marB="0" anchor="b">
                    <a:lnL>
                      <a:noFill/>
                    </a:lnL>
                    <a:lnR>
                      <a:noFill/>
                    </a:lnR>
                    <a:lnT>
                      <a:noFill/>
                    </a:lnT>
                    <a:lnB>
                      <a:noFill/>
                    </a:lnB>
                  </a:tcPr>
                </a:tc>
              </a:tr>
              <a:tr h="325120">
                <a:tc gridSpan="4">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Farmer B Moyos own's life</a:t>
                      </a:r>
                      <a:endParaRPr lang="en-US" sz="1600">
                        <a:latin typeface="Calibri"/>
                        <a:ea typeface="Calibri"/>
                        <a:cs typeface="Times New Roman"/>
                      </a:endParaRPr>
                    </a:p>
                  </a:txBody>
                  <a:tcPr marL="57828" marR="57828"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300 </a:t>
                      </a:r>
                      <a:endParaRPr lang="en-US" sz="1600">
                        <a:latin typeface="Calibri"/>
                        <a:ea typeface="Calibri"/>
                        <a:cs typeface="Times New Roman"/>
                      </a:endParaRPr>
                    </a:p>
                  </a:txBody>
                  <a:tcPr marL="57828" marR="57828" marT="0" marB="0" anchor="b">
                    <a:lnL>
                      <a:noFill/>
                    </a:lnL>
                    <a:lnR>
                      <a:noFill/>
                    </a:lnR>
                    <a:lnT>
                      <a:noFill/>
                    </a:lnT>
                    <a:lnB w="12700" cap="flat" cmpd="sng" algn="ctr">
                      <a:solidFill>
                        <a:srgbClr val="000000"/>
                      </a:solidFill>
                      <a:prstDash val="solid"/>
                      <a:round/>
                      <a:headEnd type="none" w="med" len="med"/>
                      <a:tailEnd type="none" w="med" len="med"/>
                    </a:lnB>
                  </a:tcPr>
                </a:tc>
              </a:tr>
              <a:tr h="325120">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dirty="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1,250 </a:t>
                      </a:r>
                      <a:endParaRPr lang="en-US" sz="1600">
                        <a:latin typeface="Calibri"/>
                        <a:ea typeface="Calibri"/>
                        <a:cs typeface="Times New Roman"/>
                      </a:endParaRPr>
                    </a:p>
                  </a:txBody>
                  <a:tcPr marL="57828" marR="57828"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gridSpan="3">
                  <a:txBody>
                    <a:bodyPr/>
                    <a:lstStyle/>
                    <a:p>
                      <a:pPr marL="0" marR="0">
                        <a:lnSpc>
                          <a:spcPct val="115000"/>
                        </a:lnSpc>
                        <a:spcBef>
                          <a:spcPts val="0"/>
                        </a:spcBef>
                        <a:spcAft>
                          <a:spcPts val="0"/>
                        </a:spcAft>
                      </a:pPr>
                      <a:r>
                        <a:rPr lang="en-US" sz="1600" b="1" dirty="0">
                          <a:solidFill>
                            <a:srgbClr val="000000"/>
                          </a:solidFill>
                          <a:latin typeface="Calibri"/>
                          <a:ea typeface="Times New Roman"/>
                          <a:cs typeface="Times New Roman"/>
                        </a:rPr>
                        <a:t>  </a:t>
                      </a:r>
                      <a:r>
                        <a:rPr lang="en-US" sz="1600" b="1" dirty="0">
                          <a:solidFill>
                            <a:srgbClr val="FF0000"/>
                          </a:solidFill>
                          <a:latin typeface="Calibri"/>
                          <a:ea typeface="Times New Roman"/>
                          <a:cs typeface="Times New Roman"/>
                        </a:rPr>
                        <a:t>  (c) Sundry expenses</a:t>
                      </a:r>
                      <a:endParaRPr lang="en-US" sz="1600" dirty="0">
                        <a:solidFill>
                          <a:srgbClr val="FF0000"/>
                        </a:solidFill>
                        <a:latin typeface="Calibri"/>
                        <a:ea typeface="Calibri"/>
                        <a:cs typeface="Times New Roman"/>
                      </a:endParaRPr>
                    </a:p>
                  </a:txBody>
                  <a:tcPr marL="57828" marR="57828" marT="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w="12700" cap="flat" cmpd="sng" algn="ctr">
                      <a:solidFill>
                        <a:srgbClr val="000000"/>
                      </a:solidFill>
                      <a:prstDash val="solid"/>
                      <a:round/>
                      <a:headEnd type="none" w="med" len="med"/>
                      <a:tailEnd type="none" w="med" len="med"/>
                    </a:lnT>
                    <a:lnB>
                      <a:noFill/>
                    </a:lnB>
                  </a:tcPr>
                </a:tc>
              </a:tr>
              <a:tr h="325120">
                <a:tc gridSpan="2">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Aerial survey</a:t>
                      </a:r>
                      <a:endParaRPr lang="en-US" sz="1600">
                        <a:latin typeface="Calibri"/>
                        <a:ea typeface="Calibri"/>
                        <a:cs typeface="Times New Roman"/>
                      </a:endParaRPr>
                    </a:p>
                  </a:txBody>
                  <a:tcPr marL="57828" marR="57828"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1,500 </a:t>
                      </a:r>
                      <a:endParaRPr lang="en-US" sz="1600">
                        <a:latin typeface="Calibri"/>
                        <a:ea typeface="Calibri"/>
                        <a:cs typeface="Times New Roman"/>
                      </a:endParaRPr>
                    </a:p>
                  </a:txBody>
                  <a:tcPr marL="57828" marR="57828" marT="0" marB="0" anchor="b">
                    <a:lnL>
                      <a:noFill/>
                    </a:lnL>
                    <a:lnR>
                      <a:noFill/>
                    </a:lnR>
                    <a:lnT>
                      <a:noFill/>
                    </a:lnT>
                    <a:lnB>
                      <a:noFill/>
                    </a:lnB>
                  </a:tcPr>
                </a:tc>
              </a:tr>
              <a:tr h="325120">
                <a:tc gridSpan="5">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Contour ridging to prevent soil erosion</a:t>
                      </a:r>
                      <a:endParaRPr lang="en-US" sz="1600">
                        <a:latin typeface="Calibri"/>
                        <a:ea typeface="Calibri"/>
                        <a:cs typeface="Times New Roman"/>
                      </a:endParaRPr>
                    </a:p>
                  </a:txBody>
                  <a:tcPr marL="57828" marR="57828"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1,000 </a:t>
                      </a:r>
                      <a:endParaRPr lang="en-US" sz="1600">
                        <a:latin typeface="Calibri"/>
                        <a:ea typeface="Calibri"/>
                        <a:cs typeface="Times New Roman"/>
                      </a:endParaRPr>
                    </a:p>
                  </a:txBody>
                  <a:tcPr marL="57828" marR="57828" marT="0" marB="0" anchor="b">
                    <a:lnL>
                      <a:noFill/>
                    </a:lnL>
                    <a:lnR>
                      <a:noFill/>
                    </a:lnR>
                    <a:lnT>
                      <a:noFill/>
                    </a:lnT>
                    <a:lnB>
                      <a:noFill/>
                    </a:lnB>
                  </a:tcPr>
                </a:tc>
              </a:tr>
              <a:tr h="325120">
                <a:tc gridSpan="3">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Temporary roads</a:t>
                      </a:r>
                      <a:endParaRPr lang="en-US" sz="1600">
                        <a:latin typeface="Calibri"/>
                        <a:ea typeface="Calibri"/>
                        <a:cs typeface="Times New Roman"/>
                      </a:endParaRPr>
                    </a:p>
                  </a:txBody>
                  <a:tcPr marL="57828" marR="57828" marT="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1,800 </a:t>
                      </a:r>
                      <a:endParaRPr lang="en-US" sz="1600">
                        <a:latin typeface="Calibri"/>
                        <a:ea typeface="Calibri"/>
                        <a:cs typeface="Times New Roman"/>
                      </a:endParaRPr>
                    </a:p>
                  </a:txBody>
                  <a:tcPr marL="57828" marR="57828" marT="0" marB="0" anchor="b">
                    <a:lnL>
                      <a:noFill/>
                    </a:lnL>
                    <a:lnR>
                      <a:noFill/>
                    </a:lnR>
                    <a:lnT>
                      <a:noFill/>
                    </a:lnT>
                    <a:lnB>
                      <a:noFill/>
                    </a:lnB>
                  </a:tcPr>
                </a:tc>
              </a:tr>
              <a:tr h="325120">
                <a:tc gridSpan="4">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Attendance at beef seminar</a:t>
                      </a:r>
                      <a:endParaRPr lang="en-US" sz="1600">
                        <a:latin typeface="Calibri"/>
                        <a:ea typeface="Calibri"/>
                        <a:cs typeface="Times New Roman"/>
                      </a:endParaRPr>
                    </a:p>
                  </a:txBody>
                  <a:tcPr marL="57828" marR="57828"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1,200 </a:t>
                      </a:r>
                      <a:endParaRPr lang="en-US" sz="1600">
                        <a:latin typeface="Calibri"/>
                        <a:ea typeface="Calibri"/>
                        <a:cs typeface="Times New Roman"/>
                      </a:endParaRPr>
                    </a:p>
                  </a:txBody>
                  <a:tcPr marL="57828" marR="57828" marT="0" marB="0" anchor="b">
                    <a:lnL>
                      <a:noFill/>
                    </a:lnL>
                    <a:lnR>
                      <a:noFill/>
                    </a:lnR>
                    <a:lnT>
                      <a:noFill/>
                    </a:lnT>
                    <a:lnB>
                      <a:noFill/>
                    </a:lnB>
                  </a:tcPr>
                </a:tc>
              </a:tr>
              <a:tr h="325120">
                <a:tc gridSpan="3">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Donation to church</a:t>
                      </a:r>
                      <a:endParaRPr lang="en-US" sz="1600">
                        <a:latin typeface="Calibri"/>
                        <a:ea typeface="Calibri"/>
                        <a:cs typeface="Times New Roman"/>
                      </a:endParaRPr>
                    </a:p>
                  </a:txBody>
                  <a:tcPr marL="57828" marR="57828" marT="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dirty="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500 </a:t>
                      </a:r>
                      <a:endParaRPr lang="en-US" sz="1600">
                        <a:latin typeface="Calibri"/>
                        <a:ea typeface="Calibri"/>
                        <a:cs typeface="Times New Roman"/>
                      </a:endParaRPr>
                    </a:p>
                  </a:txBody>
                  <a:tcPr marL="57828" marR="57828" marT="0" marB="0" anchor="b">
                    <a:lnL>
                      <a:noFill/>
                    </a:lnL>
                    <a:lnR>
                      <a:noFill/>
                    </a:lnR>
                    <a:lnT>
                      <a:noFill/>
                    </a:lnT>
                    <a:lnB>
                      <a:noFill/>
                    </a:lnB>
                  </a:tcPr>
                </a:tc>
              </a:tr>
              <a:tr h="325120">
                <a:tc gridSpan="5">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Loan raising fee (re : loan of $100,000)</a:t>
                      </a:r>
                      <a:endParaRPr lang="en-US" sz="1600">
                        <a:latin typeface="Calibri"/>
                        <a:ea typeface="Calibri"/>
                        <a:cs typeface="Times New Roman"/>
                      </a:endParaRPr>
                    </a:p>
                  </a:txBody>
                  <a:tcPr marL="57828" marR="57828"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4,000 </a:t>
                      </a:r>
                      <a:endParaRPr lang="en-US" sz="1600">
                        <a:latin typeface="Calibri"/>
                        <a:ea typeface="Calibri"/>
                        <a:cs typeface="Times New Roman"/>
                      </a:endParaRPr>
                    </a:p>
                  </a:txBody>
                  <a:tcPr marL="57828" marR="57828" marT="0" marB="0" anchor="b">
                    <a:lnL>
                      <a:noFill/>
                    </a:lnL>
                    <a:lnR>
                      <a:noFill/>
                    </a:lnR>
                    <a:lnT>
                      <a:noFill/>
                    </a:lnT>
                    <a:lnB w="12700" cap="flat" cmpd="sng" algn="ctr">
                      <a:solidFill>
                        <a:srgbClr val="000000"/>
                      </a:solidFill>
                      <a:prstDash val="solid"/>
                      <a:round/>
                      <a:headEnd type="none" w="med" len="med"/>
                      <a:tailEnd type="none" w="med" len="med"/>
                    </a:lnB>
                  </a:tcPr>
                </a:tc>
              </a:tr>
              <a:tr h="162560">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10,000 </a:t>
                      </a:r>
                      <a:endParaRPr lang="en-US" sz="1600">
                        <a:latin typeface="Calibri"/>
                        <a:ea typeface="Calibri"/>
                        <a:cs typeface="Times New Roman"/>
                      </a:endParaRPr>
                    </a:p>
                  </a:txBody>
                  <a:tcPr marL="57828" marR="57828"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5120">
                <a:tc>
                  <a:txBody>
                    <a:bodyPr/>
                    <a:lstStyle/>
                    <a:p>
                      <a:pPr marL="0" marR="0">
                        <a:lnSpc>
                          <a:spcPct val="115000"/>
                        </a:lnSpc>
                        <a:spcBef>
                          <a:spcPts val="0"/>
                        </a:spcBef>
                        <a:spcAft>
                          <a:spcPts val="0"/>
                        </a:spcAft>
                      </a:pPr>
                      <a:endParaRPr lang="en-US" sz="1600" dirty="0">
                        <a:latin typeface="Calibri"/>
                        <a:ea typeface="Calibri"/>
                        <a:cs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57828" marR="57828" marT="0" marB="0" anchor="b">
                    <a:lnL>
                      <a:noFill/>
                    </a:lnL>
                    <a:lnR>
                      <a:noFill/>
                    </a:lnR>
                    <a:lnT>
                      <a:noFill/>
                    </a:lnT>
                    <a:lnB>
                      <a:noFill/>
                    </a:lnB>
                  </a:tcPr>
                </a:tc>
                <a:tc>
                  <a:txBody>
                    <a:bodyPr/>
                    <a:lstStyle/>
                    <a:p>
                      <a:pPr>
                        <a:lnSpc>
                          <a:spcPct val="115000"/>
                        </a:lnSpc>
                      </a:pPr>
                      <a:endParaRPr lang="en-US" sz="1600" dirty="0">
                        <a:latin typeface="Calibri"/>
                        <a:ea typeface="Times New Roman"/>
                      </a:endParaRPr>
                    </a:p>
                  </a:txBody>
                  <a:tcPr marL="57828" marR="57828" marT="0" marB="0" anchor="b">
                    <a:lnL>
                      <a:noFill/>
                    </a:lnL>
                    <a:lnR>
                      <a:noFill/>
                    </a:lnR>
                    <a:lnT w="12700" cap="flat" cmpd="sng" algn="ctr">
                      <a:solidFill>
                        <a:srgbClr val="000000"/>
                      </a:solidFill>
                      <a:prstDash val="solid"/>
                      <a:round/>
                      <a:headEnd type="none" w="med" len="med"/>
                      <a:tailEnd type="none" w="med" len="med"/>
                    </a:lnT>
                    <a:lnB>
                      <a:noFill/>
                    </a:lnB>
                  </a:tcPr>
                </a:tc>
              </a:tr>
            </a:tbl>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04800" y="228600"/>
          <a:ext cx="8839203" cy="6449568"/>
        </p:xfrm>
        <a:graphic>
          <a:graphicData uri="http://schemas.openxmlformats.org/drawingml/2006/table">
            <a:tbl>
              <a:tblPr/>
              <a:tblGrid>
                <a:gridCol w="1083080"/>
                <a:gridCol w="1422643"/>
                <a:gridCol w="233668"/>
                <a:gridCol w="851116"/>
                <a:gridCol w="851116"/>
                <a:gridCol w="851116"/>
                <a:gridCol w="869638"/>
                <a:gridCol w="851116"/>
                <a:gridCol w="975475"/>
                <a:gridCol w="850235"/>
              </a:tblGrid>
              <a:tr h="353391">
                <a:tc>
                  <a:txBody>
                    <a:bodyPr/>
                    <a:lstStyle/>
                    <a:p>
                      <a:pPr marL="0" marR="0">
                        <a:lnSpc>
                          <a:spcPct val="115000"/>
                        </a:lnSpc>
                        <a:spcBef>
                          <a:spcPts val="0"/>
                        </a:spcBef>
                        <a:spcAft>
                          <a:spcPts val="0"/>
                        </a:spcAft>
                      </a:pPr>
                      <a:endParaRPr lang="en-US" sz="1600" dirty="0">
                        <a:latin typeface="Calibri"/>
                        <a:ea typeface="Calibri"/>
                        <a:cs typeface="Times New Roman"/>
                      </a:endParaRPr>
                    </a:p>
                    <a:p>
                      <a:pPr marL="0" marR="0">
                        <a:lnSpc>
                          <a:spcPct val="115000"/>
                        </a:lnSpc>
                        <a:spcBef>
                          <a:spcPts val="0"/>
                        </a:spcBef>
                        <a:spcAft>
                          <a:spcPts val="0"/>
                        </a:spcAft>
                      </a:pPr>
                      <a:r>
                        <a:rPr lang="en-US" sz="1600" b="1" dirty="0">
                          <a:solidFill>
                            <a:srgbClr val="FF0000"/>
                          </a:solidFill>
                          <a:latin typeface="Calibri"/>
                          <a:ea typeface="Times New Roman"/>
                          <a:cs typeface="Times New Roman"/>
                        </a:rPr>
                        <a:t>Assets</a:t>
                      </a:r>
                      <a:endParaRPr lang="en-US" sz="1600" dirty="0">
                        <a:solidFill>
                          <a:srgbClr val="FF0000"/>
                        </a:solidFill>
                        <a:latin typeface="Calibri"/>
                        <a:ea typeface="Calibri"/>
                        <a:cs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176696">
                <a:tc gridSpan="4">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Income tax values at 31 December 2010:</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353391">
                <a:tc gridSpan="6">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Grading shed ( constructed in 31 Dec 2010  cost $20,000)</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15,000 </a:t>
                      </a:r>
                      <a:endParaRPr lang="en-US" sz="1600">
                        <a:latin typeface="Calibri"/>
                        <a:ea typeface="Calibri"/>
                        <a:cs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353391">
                <a:tc gridSpan="6">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Plant and equipment (purchased in year ended 31 Dec 2010)</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12,000 </a:t>
                      </a:r>
                      <a:endParaRPr lang="en-US" sz="1600">
                        <a:latin typeface="Calibri"/>
                        <a:ea typeface="Calibri"/>
                        <a:cs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353391">
                <a:tc gridSpan="6">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Irrigation equipment (purchased in year ended 31 Dec 2010)</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15,000 </a:t>
                      </a:r>
                      <a:endParaRPr lang="en-US" sz="1600">
                        <a:latin typeface="Calibri"/>
                        <a:ea typeface="Calibri"/>
                        <a:cs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353391">
                <a:tc gridSpan="5">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Truck (purchased in year ended 31 Dec 2010)</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5,000 </a:t>
                      </a:r>
                      <a:endParaRPr lang="en-US" sz="1600">
                        <a:latin typeface="Calibri"/>
                        <a:ea typeface="Calibri"/>
                        <a:cs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176696">
                <a:tc gridSpan="5">
                  <a:txBody>
                    <a:bodyPr/>
                    <a:lstStyle/>
                    <a:p>
                      <a:pPr marL="0" marR="0">
                        <a:lnSpc>
                          <a:spcPct val="115000"/>
                        </a:lnSpc>
                        <a:spcBef>
                          <a:spcPts val="0"/>
                        </a:spcBef>
                        <a:spcAft>
                          <a:spcPts val="0"/>
                        </a:spcAft>
                      </a:pPr>
                      <a:r>
                        <a:rPr lang="en-US" sz="1600" b="1" dirty="0">
                          <a:solidFill>
                            <a:srgbClr val="FF0000"/>
                          </a:solidFill>
                          <a:latin typeface="Calibri"/>
                          <a:ea typeface="Times New Roman"/>
                          <a:cs typeface="Times New Roman"/>
                        </a:rPr>
                        <a:t>Other additions brought into use during the year :</a:t>
                      </a:r>
                      <a:endParaRPr lang="en-US" sz="1600" dirty="0">
                        <a:solidFill>
                          <a:srgbClr val="FF0000"/>
                        </a:solidFill>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353391">
                <a:tc gridSpan="3">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Grading shed replacement</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25,000 </a:t>
                      </a:r>
                      <a:endParaRPr lang="en-US" sz="1600">
                        <a:latin typeface="Calibri"/>
                        <a:ea typeface="Calibri"/>
                        <a:cs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353391">
                <a:tc gridSpan="2">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Homestead</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75,000 </a:t>
                      </a:r>
                      <a:endParaRPr lang="en-US" sz="1600">
                        <a:latin typeface="Calibri"/>
                        <a:ea typeface="Calibri"/>
                        <a:cs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353391">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Dam</a:t>
                      </a:r>
                      <a:endParaRPr lang="en-US" sz="1600">
                        <a:latin typeface="Calibri"/>
                        <a:ea typeface="Calibri"/>
                        <a:cs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15,000 </a:t>
                      </a:r>
                      <a:endParaRPr lang="en-US" sz="1600">
                        <a:latin typeface="Calibri"/>
                        <a:ea typeface="Calibri"/>
                        <a:cs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353391">
                <a:tc gridSpan="9">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All the assets were used for farming except the dam which was only used for farming in April 2012.</a:t>
                      </a:r>
                      <a:endParaRPr lang="en-US" sz="1600">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dirty="0">
                        <a:latin typeface="Calibri"/>
                        <a:ea typeface="Times New Roman"/>
                      </a:endParaRPr>
                    </a:p>
                  </a:txBody>
                  <a:tcPr marL="62856" marR="62856" marT="0" marB="0" anchor="b">
                    <a:lnL>
                      <a:noFill/>
                    </a:lnL>
                    <a:lnR>
                      <a:noFill/>
                    </a:lnR>
                    <a:lnT>
                      <a:noFill/>
                    </a:lnT>
                    <a:lnB>
                      <a:noFill/>
                    </a:lnB>
                  </a:tcPr>
                </a:tc>
              </a:tr>
              <a:tr h="176696">
                <a:tc gridSpan="2">
                  <a:txBody>
                    <a:bodyPr/>
                    <a:lstStyle/>
                    <a:p>
                      <a:pPr marL="0" marR="0">
                        <a:lnSpc>
                          <a:spcPct val="115000"/>
                        </a:lnSpc>
                        <a:spcBef>
                          <a:spcPts val="0"/>
                        </a:spcBef>
                        <a:spcAft>
                          <a:spcPts val="0"/>
                        </a:spcAft>
                      </a:pPr>
                      <a:r>
                        <a:rPr lang="en-US" sz="1600" b="1" dirty="0">
                          <a:solidFill>
                            <a:srgbClr val="FF0000"/>
                          </a:solidFill>
                          <a:latin typeface="Calibri"/>
                          <a:ea typeface="Times New Roman"/>
                          <a:cs typeface="Times New Roman"/>
                        </a:rPr>
                        <a:t>REQUIRED</a:t>
                      </a:r>
                      <a:endParaRPr lang="en-US" sz="1600" dirty="0">
                        <a:solidFill>
                          <a:srgbClr val="FF0000"/>
                        </a:solidFill>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dirty="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176696">
                <a:tc gridSpan="6">
                  <a:txBody>
                    <a:bodyPr/>
                    <a:lstStyle/>
                    <a:p>
                      <a:pPr marL="0" marR="0">
                        <a:lnSpc>
                          <a:spcPct val="115000"/>
                        </a:lnSpc>
                        <a:spcBef>
                          <a:spcPts val="0"/>
                        </a:spcBef>
                        <a:spcAft>
                          <a:spcPts val="0"/>
                        </a:spcAft>
                      </a:pPr>
                      <a:r>
                        <a:rPr lang="en-US" sz="1600" b="1" dirty="0">
                          <a:solidFill>
                            <a:srgbClr val="FF0000"/>
                          </a:solidFill>
                          <a:latin typeface="Calibri"/>
                          <a:ea typeface="Times New Roman"/>
                          <a:cs typeface="Times New Roman"/>
                        </a:rPr>
                        <a:t>Calculate the minimum taxable income of Mr.  B Moyo.</a:t>
                      </a:r>
                      <a:endParaRPr lang="en-US" sz="1600" b="1" dirty="0">
                        <a:solidFill>
                          <a:srgbClr val="FF0000"/>
                        </a:solidFill>
                        <a:latin typeface="Calibri"/>
                        <a:ea typeface="Calibri"/>
                        <a:cs typeface="Times New Roman"/>
                      </a:endParaRPr>
                    </a:p>
                  </a:txBody>
                  <a:tcPr marL="62856" marR="62856" marT="0"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r>
              <a:tr h="176696">
                <a:tc>
                  <a:txBody>
                    <a:bodyPr/>
                    <a:lstStyle/>
                    <a:p>
                      <a:pPr>
                        <a:lnSpc>
                          <a:spcPct val="115000"/>
                        </a:lnSpc>
                      </a:pPr>
                      <a:endParaRPr lang="en-US" sz="1600" dirty="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2856" marR="62856" marT="0" marB="0" anchor="b">
                    <a:lnL>
                      <a:noFill/>
                    </a:lnL>
                    <a:lnR>
                      <a:noFill/>
                    </a:lnR>
                    <a:lnT>
                      <a:noFill/>
                    </a:lnT>
                    <a:lnB>
                      <a:noFill/>
                    </a:lnB>
                  </a:tcPr>
                </a:tc>
                <a:tc>
                  <a:txBody>
                    <a:bodyPr/>
                    <a:lstStyle/>
                    <a:p>
                      <a:pPr>
                        <a:lnSpc>
                          <a:spcPct val="115000"/>
                        </a:lnSpc>
                      </a:pPr>
                      <a:endParaRPr lang="en-US" sz="1600" dirty="0">
                        <a:latin typeface="Calibri"/>
                        <a:ea typeface="Times New Roman"/>
                      </a:endParaRPr>
                    </a:p>
                  </a:txBody>
                  <a:tcPr marL="62856" marR="62856" marT="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04800" y="128588"/>
          <a:ext cx="8839200" cy="6729984"/>
        </p:xfrm>
        <a:graphic>
          <a:graphicData uri="http://schemas.openxmlformats.org/drawingml/2006/table">
            <a:tbl>
              <a:tblPr/>
              <a:tblGrid>
                <a:gridCol w="3222837"/>
                <a:gridCol w="895233"/>
                <a:gridCol w="765017"/>
                <a:gridCol w="781294"/>
                <a:gridCol w="781294"/>
                <a:gridCol w="748738"/>
                <a:gridCol w="749554"/>
                <a:gridCol w="895233"/>
              </a:tblGrid>
              <a:tr h="169333">
                <a:tc>
                  <a:txBody>
                    <a:bodyPr/>
                    <a:lstStyle/>
                    <a:p>
                      <a:pPr marL="0" marR="0">
                        <a:lnSpc>
                          <a:spcPct val="115000"/>
                        </a:lnSpc>
                        <a:spcBef>
                          <a:spcPts val="0"/>
                        </a:spcBef>
                        <a:spcAft>
                          <a:spcPts val="0"/>
                        </a:spcAft>
                      </a:pPr>
                      <a:r>
                        <a:rPr lang="en-US" sz="1600" b="1" dirty="0">
                          <a:solidFill>
                            <a:srgbClr val="FF0000"/>
                          </a:solidFill>
                          <a:latin typeface="Calibri"/>
                          <a:ea typeface="Times New Roman"/>
                          <a:cs typeface="Times New Roman"/>
                        </a:rPr>
                        <a:t>SUGGESTED SOLUTION : TEST 3</a:t>
                      </a:r>
                      <a:endParaRPr lang="en-US" sz="1600" dirty="0">
                        <a:solidFill>
                          <a:srgbClr val="FF0000"/>
                        </a:solidFill>
                        <a:latin typeface="Calibri"/>
                        <a:ea typeface="Calibri"/>
                        <a:cs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r>
              <a:tr h="169333">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r>
              <a:tr h="169333">
                <a:tc>
                  <a:txBody>
                    <a:bodyPr/>
                    <a:lstStyle/>
                    <a:p>
                      <a:pPr marL="0" marR="0">
                        <a:lnSpc>
                          <a:spcPct val="115000"/>
                        </a:lnSpc>
                        <a:spcBef>
                          <a:spcPts val="0"/>
                        </a:spcBef>
                        <a:spcAft>
                          <a:spcPts val="0"/>
                        </a:spcAft>
                      </a:pPr>
                      <a:r>
                        <a:rPr lang="en-US" sz="1600" b="1">
                          <a:solidFill>
                            <a:srgbClr val="FF0000"/>
                          </a:solidFill>
                          <a:latin typeface="Calibri"/>
                          <a:ea typeface="Times New Roman"/>
                          <a:cs typeface="Times New Roman"/>
                        </a:rPr>
                        <a:t>Computation of taxable income</a:t>
                      </a:r>
                      <a:endParaRPr lang="en-US" sz="1600">
                        <a:solidFill>
                          <a:srgbClr val="FF0000"/>
                        </a:solidFill>
                        <a:latin typeface="Calibri"/>
                        <a:ea typeface="Calibri"/>
                        <a:cs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r>
              <a:tr h="169333">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r>
              <a:tr h="169333">
                <a:tc>
                  <a:txBody>
                    <a:bodyPr/>
                    <a:lstStyle/>
                    <a:p>
                      <a:pPr marL="0" marR="0">
                        <a:lnSpc>
                          <a:spcPct val="115000"/>
                        </a:lnSpc>
                        <a:spcBef>
                          <a:spcPts val="0"/>
                        </a:spcBef>
                        <a:spcAft>
                          <a:spcPts val="0"/>
                        </a:spcAft>
                      </a:pPr>
                      <a:r>
                        <a:rPr lang="en-US" sz="1600" b="1" dirty="0">
                          <a:solidFill>
                            <a:srgbClr val="FF0000"/>
                          </a:solidFill>
                          <a:latin typeface="Calibri"/>
                          <a:ea typeface="Times New Roman"/>
                          <a:cs typeface="Times New Roman"/>
                        </a:rPr>
                        <a:t>Year ended 31st December 2012</a:t>
                      </a:r>
                      <a:endParaRPr lang="en-US" sz="1600" dirty="0">
                        <a:solidFill>
                          <a:srgbClr val="FF0000"/>
                        </a:solidFill>
                        <a:latin typeface="Calibri"/>
                        <a:ea typeface="Calibri"/>
                        <a:cs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dirty="0">
                        <a:solidFill>
                          <a:srgbClr val="FF0000"/>
                        </a:solidFill>
                        <a:latin typeface="Calibri"/>
                        <a:ea typeface="Times New Roman"/>
                      </a:endParaRPr>
                    </a:p>
                  </a:txBody>
                  <a:tcPr marL="60237" marR="60237" marT="0" marB="0" anchor="b">
                    <a:lnL>
                      <a:noFill/>
                    </a:lnL>
                    <a:lnR>
                      <a:noFill/>
                    </a:lnR>
                    <a:lnT>
                      <a:noFill/>
                    </a:lnT>
                    <a:lnB>
                      <a:noFill/>
                    </a:lnB>
                  </a:tcPr>
                </a:tc>
              </a:tr>
              <a:tr h="169333">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marL="0" marR="0" algn="ctr">
                        <a:lnSpc>
                          <a:spcPct val="115000"/>
                        </a:lnSpc>
                        <a:spcBef>
                          <a:spcPts val="0"/>
                        </a:spcBef>
                        <a:spcAft>
                          <a:spcPts val="0"/>
                        </a:spcAft>
                      </a:pPr>
                      <a:r>
                        <a:rPr lang="en-US" sz="1600" b="1">
                          <a:solidFill>
                            <a:srgbClr val="000000"/>
                          </a:solidFill>
                          <a:latin typeface="Calibri"/>
                          <a:ea typeface="Times New Roman"/>
                          <a:cs typeface="Times New Roman"/>
                        </a:rPr>
                        <a:t>+</a:t>
                      </a:r>
                      <a:endParaRPr lang="en-US" sz="1600">
                        <a:latin typeface="Calibri"/>
                        <a:ea typeface="Calibri"/>
                        <a:cs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marL="0" marR="0" algn="ctr">
                        <a:lnSpc>
                          <a:spcPct val="115000"/>
                        </a:lnSpc>
                        <a:spcBef>
                          <a:spcPts val="0"/>
                        </a:spcBef>
                        <a:spcAft>
                          <a:spcPts val="0"/>
                        </a:spcAft>
                      </a:pPr>
                      <a:r>
                        <a:rPr lang="en-US" sz="1600" b="1">
                          <a:solidFill>
                            <a:srgbClr val="000000"/>
                          </a:solidFill>
                          <a:latin typeface="Calibri"/>
                          <a:ea typeface="Times New Roman"/>
                          <a:cs typeface="Times New Roman"/>
                        </a:rPr>
                        <a:t>-</a:t>
                      </a:r>
                      <a:endParaRPr lang="en-US" sz="1600">
                        <a:latin typeface="Calibri"/>
                        <a:ea typeface="Calibri"/>
                        <a:cs typeface="Times New Roman"/>
                      </a:endParaRPr>
                    </a:p>
                  </a:txBody>
                  <a:tcPr marL="60237" marR="60237" marT="0" marB="0" anchor="b">
                    <a:lnL>
                      <a:noFill/>
                    </a:lnL>
                    <a:lnR>
                      <a:noFill/>
                    </a:lnR>
                    <a:lnT>
                      <a:noFill/>
                    </a:lnT>
                    <a:lnB>
                      <a:noFill/>
                    </a:lnB>
                  </a:tcPr>
                </a:tc>
              </a:tr>
              <a:tr h="169333">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marL="0" marR="0" algn="ctr">
                        <a:lnSpc>
                          <a:spcPct val="115000"/>
                        </a:lnSpc>
                        <a:spcBef>
                          <a:spcPts val="0"/>
                        </a:spcBef>
                        <a:spcAft>
                          <a:spcPts val="0"/>
                        </a:spcAft>
                      </a:pPr>
                      <a:r>
                        <a:rPr lang="en-US" sz="1600" b="1">
                          <a:solidFill>
                            <a:srgbClr val="000000"/>
                          </a:solidFill>
                          <a:latin typeface="Calibri"/>
                          <a:ea typeface="Times New Roman"/>
                          <a:cs typeface="Times New Roman"/>
                        </a:rPr>
                        <a:t> $ </a:t>
                      </a:r>
                      <a:endParaRPr lang="en-US" sz="1600">
                        <a:latin typeface="Calibri"/>
                        <a:ea typeface="Calibri"/>
                        <a:cs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marL="0" marR="0" algn="ctr">
                        <a:lnSpc>
                          <a:spcPct val="115000"/>
                        </a:lnSpc>
                        <a:spcBef>
                          <a:spcPts val="0"/>
                        </a:spcBef>
                        <a:spcAft>
                          <a:spcPts val="0"/>
                        </a:spcAft>
                      </a:pPr>
                      <a:r>
                        <a:rPr lang="en-US" sz="1600" b="1">
                          <a:solidFill>
                            <a:srgbClr val="000000"/>
                          </a:solidFill>
                          <a:latin typeface="Calibri"/>
                          <a:ea typeface="Times New Roman"/>
                          <a:cs typeface="Times New Roman"/>
                        </a:rPr>
                        <a:t> $ </a:t>
                      </a:r>
                      <a:endParaRPr lang="en-US" sz="1600">
                        <a:latin typeface="Calibri"/>
                        <a:ea typeface="Calibri"/>
                        <a:cs typeface="Times New Roman"/>
                      </a:endParaRPr>
                    </a:p>
                  </a:txBody>
                  <a:tcPr marL="60237" marR="60237" marT="0" marB="0" anchor="b">
                    <a:lnL>
                      <a:noFill/>
                    </a:lnL>
                    <a:lnR>
                      <a:noFill/>
                    </a:lnR>
                    <a:lnT>
                      <a:noFill/>
                    </a:lnT>
                    <a:lnB>
                      <a:noFill/>
                    </a:lnB>
                  </a:tcPr>
                </a:tc>
              </a:tr>
              <a:tr h="169333">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r>
              <a:tr h="338667">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Profit per accounts</a:t>
                      </a:r>
                      <a:endParaRPr lang="en-US" sz="1600">
                        <a:latin typeface="Calibri"/>
                        <a:ea typeface="Calibri"/>
                        <a:cs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76,950 </a:t>
                      </a:r>
                      <a:endParaRPr lang="en-US" sz="1600">
                        <a:latin typeface="Calibri"/>
                        <a:ea typeface="Calibri"/>
                        <a:cs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r>
              <a:tr h="338667">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Depreciation</a:t>
                      </a:r>
                      <a:endParaRPr lang="en-US" sz="1600">
                        <a:latin typeface="Calibri"/>
                        <a:ea typeface="Calibri"/>
                        <a:cs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12,000 </a:t>
                      </a:r>
                      <a:endParaRPr lang="en-US" sz="1600">
                        <a:latin typeface="Calibri"/>
                        <a:ea typeface="Calibri"/>
                        <a:cs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r>
              <a:tr h="338667">
                <a:tc gridSpan="2">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Inherited stock(9,500 +4,500 : estate valuation]</a:t>
                      </a:r>
                      <a:endParaRPr lang="en-US" sz="1600">
                        <a:latin typeface="Calibri"/>
                        <a:ea typeface="Calibri"/>
                        <a:cs typeface="Times New Roman"/>
                      </a:endParaRPr>
                    </a:p>
                  </a:txBody>
                  <a:tcPr marL="60237" marR="60237" marT="0" marB="0" anchor="b">
                    <a:lnL>
                      <a:noFill/>
                    </a:lnL>
                    <a:lnR>
                      <a:noFill/>
                    </a:lnR>
                    <a:lnT>
                      <a:noFill/>
                    </a:lnT>
                    <a:lnB>
                      <a:noFill/>
                    </a:lnB>
                  </a:tcPr>
                </a:tc>
                <a:tc hMerge="1">
                  <a:txBody>
                    <a:bodyPr/>
                    <a:lstStyle/>
                    <a:p>
                      <a:endParaRPr lang="en-US"/>
                    </a:p>
                  </a:txBody>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14,000 </a:t>
                      </a:r>
                      <a:endParaRPr lang="en-US" sz="1600">
                        <a:latin typeface="Calibri"/>
                        <a:ea typeface="Calibri"/>
                        <a:cs typeface="Times New Roman"/>
                      </a:endParaRPr>
                    </a:p>
                  </a:txBody>
                  <a:tcPr marL="60237" marR="60237" marT="0" marB="0" anchor="b">
                    <a:lnL>
                      <a:noFill/>
                    </a:lnL>
                    <a:lnR>
                      <a:noFill/>
                    </a:lnR>
                    <a:lnT>
                      <a:noFill/>
                    </a:lnT>
                    <a:lnB>
                      <a:noFill/>
                    </a:lnB>
                  </a:tcPr>
                </a:tc>
              </a:tr>
              <a:tr h="338667">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Private interest payable     (2,000 x 75/100)</a:t>
                      </a:r>
                      <a:endParaRPr lang="en-US" sz="1600">
                        <a:latin typeface="Calibri"/>
                        <a:ea typeface="Calibri"/>
                        <a:cs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1,500 </a:t>
                      </a:r>
                      <a:endParaRPr lang="en-US" sz="1600">
                        <a:latin typeface="Calibri"/>
                        <a:ea typeface="Calibri"/>
                        <a:cs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r>
              <a:tr h="338667">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Private loan raising fees      (4,000 x 75/100)</a:t>
                      </a:r>
                      <a:endParaRPr lang="en-US" sz="1600">
                        <a:latin typeface="Calibri"/>
                        <a:ea typeface="Calibri"/>
                        <a:cs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3,000 </a:t>
                      </a:r>
                      <a:endParaRPr lang="en-US" sz="1600">
                        <a:latin typeface="Calibri"/>
                        <a:ea typeface="Calibri"/>
                        <a:cs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r>
              <a:tr h="338667">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Dividend</a:t>
                      </a:r>
                      <a:endParaRPr lang="en-US" sz="1600">
                        <a:latin typeface="Calibri"/>
                        <a:ea typeface="Calibri"/>
                        <a:cs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2,500 </a:t>
                      </a:r>
                      <a:endParaRPr lang="en-US" sz="1600">
                        <a:latin typeface="Calibri"/>
                        <a:ea typeface="Calibri"/>
                        <a:cs typeface="Times New Roman"/>
                      </a:endParaRPr>
                    </a:p>
                  </a:txBody>
                  <a:tcPr marL="60237" marR="60237" marT="0" marB="0" anchor="b">
                    <a:lnL>
                      <a:noFill/>
                    </a:lnL>
                    <a:lnR>
                      <a:noFill/>
                    </a:lnR>
                    <a:lnT>
                      <a:noFill/>
                    </a:lnT>
                    <a:lnB>
                      <a:noFill/>
                    </a:lnB>
                  </a:tcPr>
                </a:tc>
              </a:tr>
              <a:tr h="338667">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Bank interest</a:t>
                      </a:r>
                      <a:endParaRPr lang="en-US" sz="1600">
                        <a:latin typeface="Calibri"/>
                        <a:ea typeface="Calibri"/>
                        <a:cs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5,000 </a:t>
                      </a:r>
                      <a:endParaRPr lang="en-US" sz="1600">
                        <a:latin typeface="Calibri"/>
                        <a:ea typeface="Calibri"/>
                        <a:cs typeface="Times New Roman"/>
                      </a:endParaRPr>
                    </a:p>
                  </a:txBody>
                  <a:tcPr marL="60237" marR="60237" marT="0" marB="0" anchor="b">
                    <a:lnL>
                      <a:noFill/>
                    </a:lnL>
                    <a:lnR>
                      <a:noFill/>
                    </a:lnR>
                    <a:lnT>
                      <a:noFill/>
                    </a:lnT>
                    <a:lnB>
                      <a:noFill/>
                    </a:lnB>
                  </a:tcPr>
                </a:tc>
              </a:tr>
              <a:tr h="338667">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Insurance claim </a:t>
                      </a:r>
                      <a:endParaRPr lang="en-US" sz="1600">
                        <a:latin typeface="Calibri"/>
                        <a:ea typeface="Calibri"/>
                        <a:cs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237" marR="60237" marT="0" marB="0" anchor="b">
                    <a:lnL>
                      <a:noFill/>
                    </a:lnL>
                    <a:lnR>
                      <a:noFill/>
                    </a:lnR>
                    <a:lnT>
                      <a:noFill/>
                    </a:lnT>
                    <a:lnB>
                      <a:noFill/>
                    </a:lnB>
                  </a:tcPr>
                </a:tc>
                <a:tc>
                  <a:txBody>
                    <a:bodyPr/>
                    <a:lstStyle/>
                    <a:p>
                      <a:pPr marL="0" marR="0">
                        <a:lnSpc>
                          <a:spcPct val="115000"/>
                        </a:lnSpc>
                        <a:spcBef>
                          <a:spcPts val="0"/>
                        </a:spcBef>
                        <a:spcAft>
                          <a:spcPts val="0"/>
                        </a:spcAft>
                      </a:pPr>
                      <a:r>
                        <a:rPr lang="en-US" sz="1600" dirty="0">
                          <a:solidFill>
                            <a:srgbClr val="000000"/>
                          </a:solidFill>
                          <a:latin typeface="Calibri"/>
                          <a:ea typeface="Times New Roman"/>
                          <a:cs typeface="Times New Roman"/>
                        </a:rPr>
                        <a:t>       15,000 </a:t>
                      </a:r>
                      <a:endParaRPr lang="en-US" sz="1600" dirty="0">
                        <a:latin typeface="Calibri"/>
                        <a:ea typeface="Calibri"/>
                        <a:cs typeface="Times New Roman"/>
                      </a:endParaRPr>
                    </a:p>
                  </a:txBody>
                  <a:tcPr marL="60237" marR="60237" marT="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304800" y="762000"/>
          <a:ext cx="8458199" cy="5410199"/>
        </p:xfrm>
        <a:graphic>
          <a:graphicData uri="http://schemas.openxmlformats.org/drawingml/2006/table">
            <a:tbl>
              <a:tblPr/>
              <a:tblGrid>
                <a:gridCol w="3083921"/>
                <a:gridCol w="856645"/>
                <a:gridCol w="732043"/>
                <a:gridCol w="747617"/>
                <a:gridCol w="747617"/>
                <a:gridCol w="716466"/>
                <a:gridCol w="717245"/>
                <a:gridCol w="856645"/>
              </a:tblGrid>
              <a:tr h="601133">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Legal expenses in re: of water rights</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1,750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601133">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Legal expenses in re: packing material</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601133">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Valuation fee (buildings ; fire insurance)</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300567">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Hail insurance</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601133">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Farmer B Moyo's own's life</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300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300567">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Aerial survey</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601133">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Contour ridging to prevent soil erosion</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300567">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Temporary roads</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300567">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Attendance at beef seminar</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601133">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Donation to church</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500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601133">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Drought sales c/fwd</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dirty="0">
                          <a:solidFill>
                            <a:srgbClr val="000000"/>
                          </a:solidFill>
                          <a:latin typeface="Calibri"/>
                          <a:ea typeface="Times New Roman"/>
                          <a:cs typeface="Times New Roman"/>
                        </a:rPr>
                        <a:t>             293 </a:t>
                      </a:r>
                      <a:endParaRPr lang="en-US" sz="1600" dirty="0">
                        <a:latin typeface="Calibri"/>
                        <a:ea typeface="Calibri"/>
                        <a:cs typeface="Times New Roman"/>
                      </a:endParaRPr>
                    </a:p>
                  </a:txBody>
                  <a:tcPr marL="60618" marR="60618" marT="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81000" y="228600"/>
          <a:ext cx="8534398" cy="2804160"/>
        </p:xfrm>
        <a:graphic>
          <a:graphicData uri="http://schemas.openxmlformats.org/drawingml/2006/table">
            <a:tbl>
              <a:tblPr/>
              <a:tblGrid>
                <a:gridCol w="3111704"/>
                <a:gridCol w="864362"/>
                <a:gridCol w="738638"/>
                <a:gridCol w="754352"/>
                <a:gridCol w="754352"/>
                <a:gridCol w="863191"/>
                <a:gridCol w="583437"/>
                <a:gridCol w="864362"/>
              </a:tblGrid>
              <a:tr h="170403">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Recooupment - grading shed</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   </a:t>
                      </a:r>
                      <a:endParaRPr lang="en-US" sz="1600">
                        <a:latin typeface="Calibri"/>
                        <a:ea typeface="Calibri"/>
                        <a:cs typeface="Times New Roman"/>
                      </a:endParaRPr>
                    </a:p>
                  </a:txBody>
                  <a:tcPr marL="60618" marR="60618" marT="0" marB="0" anchor="b">
                    <a:lnL>
                      <a:noFill/>
                    </a:lnL>
                    <a:lnR>
                      <a:noFill/>
                    </a:lnR>
                    <a:lnT>
                      <a:noFill/>
                    </a:lnT>
                    <a:lnB>
                      <a:noFill/>
                    </a:lnB>
                  </a:tcPr>
                </a:tc>
              </a:tr>
              <a:tr h="340806">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Capital allowances</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a:t>
                      </a:r>
                      <a:endParaRPr lang="en-US" sz="1600">
                        <a:latin typeface="Calibri"/>
                        <a:ea typeface="Calibri"/>
                        <a:cs typeface="Times New Roman"/>
                      </a:endParaRPr>
                    </a:p>
                  </a:txBody>
                  <a:tcPr marL="60618" marR="60618"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32,750 </a:t>
                      </a:r>
                      <a:endParaRPr lang="en-US" sz="1600">
                        <a:latin typeface="Calibri"/>
                        <a:ea typeface="Calibri"/>
                        <a:cs typeface="Times New Roman"/>
                      </a:endParaRPr>
                    </a:p>
                  </a:txBody>
                  <a:tcPr marL="60618" marR="60618" marT="0" marB="0" anchor="b">
                    <a:lnL>
                      <a:noFill/>
                    </a:lnL>
                    <a:lnR>
                      <a:noFill/>
                    </a:lnR>
                    <a:lnT>
                      <a:noFill/>
                    </a:lnT>
                    <a:lnB w="12700" cap="flat" cmpd="sng" algn="ctr">
                      <a:solidFill>
                        <a:srgbClr val="000000"/>
                      </a:solidFill>
                      <a:prstDash val="solid"/>
                      <a:round/>
                      <a:headEnd type="none" w="med" len="med"/>
                      <a:tailEnd type="none" w="med" len="med"/>
                    </a:lnB>
                  </a:tcPr>
                </a:tc>
              </a:tr>
              <a:tr h="340806">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96,000 </a:t>
                      </a:r>
                      <a:endParaRPr lang="en-US" sz="1600">
                        <a:latin typeface="Calibri"/>
                        <a:ea typeface="Calibri"/>
                        <a:cs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(69,543)</a:t>
                      </a:r>
                      <a:endParaRPr lang="en-US" sz="1600">
                        <a:latin typeface="Calibri"/>
                        <a:ea typeface="Calibri"/>
                        <a:cs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a:noFill/>
                    </a:lnB>
                  </a:tcPr>
                </a:tc>
              </a:tr>
              <a:tr h="511209">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(69,543)</a:t>
                      </a:r>
                      <a:endParaRPr lang="en-US" sz="1600">
                        <a:latin typeface="Calibri"/>
                        <a:ea typeface="Calibri"/>
                        <a:cs typeface="Times New Roman"/>
                      </a:endParaRPr>
                    </a:p>
                  </a:txBody>
                  <a:tcPr marL="60618" marR="60618"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340806">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Taxable income</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26,457 </a:t>
                      </a:r>
                      <a:endParaRPr lang="en-US" sz="1600">
                        <a:latin typeface="Calibri"/>
                        <a:ea typeface="Calibri"/>
                        <a:cs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dirty="0">
                        <a:latin typeface="Calibri"/>
                        <a:ea typeface="Times New Roman"/>
                      </a:endParaRPr>
                    </a:p>
                  </a:txBody>
                  <a:tcPr marL="60618" marR="60618" marT="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pPr eaLnBrk="0" hangingPunct="0"/>
            <a:endParaRPr lang="en-US"/>
          </a:p>
        </p:txBody>
      </p:sp>
      <p:graphicFrame>
        <p:nvGraphicFramePr>
          <p:cNvPr id="4" name="Table 3"/>
          <p:cNvGraphicFramePr>
            <a:graphicFrameLocks noGrp="1"/>
          </p:cNvGraphicFramePr>
          <p:nvPr/>
        </p:nvGraphicFramePr>
        <p:xfrm>
          <a:off x="2819400" y="228600"/>
          <a:ext cx="6423770" cy="4486656"/>
        </p:xfrm>
        <a:graphic>
          <a:graphicData uri="http://schemas.openxmlformats.org/drawingml/2006/table">
            <a:tbl>
              <a:tblPr/>
              <a:tblGrid>
                <a:gridCol w="971685"/>
                <a:gridCol w="830349"/>
                <a:gridCol w="1010236"/>
                <a:gridCol w="848016"/>
                <a:gridCol w="812682"/>
                <a:gridCol w="813566"/>
                <a:gridCol w="1137236"/>
              </a:tblGrid>
              <a:tr h="340806">
                <a:tc>
                  <a:txBody>
                    <a:bodyPr/>
                    <a:lstStyle/>
                    <a:p>
                      <a:pPr marL="0" marR="0" algn="ctr">
                        <a:lnSpc>
                          <a:spcPct val="115000"/>
                        </a:lnSpc>
                        <a:spcBef>
                          <a:spcPts val="0"/>
                        </a:spcBef>
                        <a:spcAft>
                          <a:spcPts val="0"/>
                        </a:spcAft>
                      </a:pPr>
                      <a:endParaRPr lang="en-US" sz="1600" dirty="0">
                        <a:solidFill>
                          <a:srgbClr val="FF0000"/>
                        </a:solidFill>
                        <a:latin typeface="Calibri"/>
                        <a:ea typeface="Calibri"/>
                        <a:cs typeface="Times New Roman"/>
                      </a:endParaRPr>
                    </a:p>
                    <a:p>
                      <a:pPr marL="0" marR="0" algn="ctr">
                        <a:lnSpc>
                          <a:spcPct val="115000"/>
                        </a:lnSpc>
                        <a:spcBef>
                          <a:spcPts val="0"/>
                        </a:spcBef>
                        <a:spcAft>
                          <a:spcPts val="0"/>
                        </a:spcAft>
                      </a:pPr>
                      <a:r>
                        <a:rPr lang="en-US" sz="1600" b="1" dirty="0">
                          <a:solidFill>
                            <a:srgbClr val="FF0000"/>
                          </a:solidFill>
                          <a:latin typeface="Calibri"/>
                          <a:ea typeface="Times New Roman"/>
                          <a:cs typeface="Times New Roman"/>
                        </a:rPr>
                        <a:t>ITV at</a:t>
                      </a:r>
                      <a:endParaRPr lang="en-US" sz="1600" dirty="0">
                        <a:solidFill>
                          <a:srgbClr val="FF0000"/>
                        </a:solidFill>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dirty="0">
                        <a:solidFill>
                          <a:srgbClr val="FF0000"/>
                        </a:solidFill>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dirty="0">
                        <a:solidFill>
                          <a:srgbClr val="FF0000"/>
                        </a:solidFill>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solidFill>
                          <a:srgbClr val="FF0000"/>
                        </a:solidFill>
                        <a:latin typeface="Calibri"/>
                        <a:ea typeface="Times New Roman"/>
                      </a:endParaRPr>
                    </a:p>
                  </a:txBody>
                  <a:tcPr marL="60618" marR="60618" marT="0" marB="0" anchor="b">
                    <a:lnL>
                      <a:noFill/>
                    </a:lnL>
                    <a:lnR>
                      <a:noFill/>
                    </a:lnR>
                    <a:lnT>
                      <a:noFill/>
                    </a:lnT>
                    <a:lnB>
                      <a:noFill/>
                    </a:lnB>
                  </a:tcPr>
                </a:tc>
                <a:tc>
                  <a:txBody>
                    <a:bodyPr/>
                    <a:lstStyle/>
                    <a:p>
                      <a:pPr marL="0" marR="0" algn="ctr">
                        <a:lnSpc>
                          <a:spcPct val="115000"/>
                        </a:lnSpc>
                        <a:spcBef>
                          <a:spcPts val="0"/>
                        </a:spcBef>
                        <a:spcAft>
                          <a:spcPts val="0"/>
                        </a:spcAft>
                      </a:pPr>
                      <a:endParaRPr lang="en-US" sz="1600">
                        <a:solidFill>
                          <a:srgbClr val="FF0000"/>
                        </a:solidFill>
                        <a:latin typeface="Calibri"/>
                        <a:ea typeface="Calibri"/>
                        <a:cs typeface="Times New Roman"/>
                      </a:endParaRPr>
                    </a:p>
                    <a:p>
                      <a:pPr marL="0" marR="0">
                        <a:lnSpc>
                          <a:spcPct val="115000"/>
                        </a:lnSpc>
                        <a:spcBef>
                          <a:spcPts val="0"/>
                        </a:spcBef>
                        <a:spcAft>
                          <a:spcPts val="0"/>
                        </a:spcAft>
                      </a:pPr>
                      <a:r>
                        <a:rPr lang="en-US" sz="1600" b="1">
                          <a:solidFill>
                            <a:srgbClr val="FF0000"/>
                          </a:solidFill>
                          <a:latin typeface="Calibri"/>
                          <a:ea typeface="Times New Roman"/>
                          <a:cs typeface="Times New Roman"/>
                        </a:rPr>
                        <a:t>ITV at</a:t>
                      </a:r>
                      <a:endParaRPr lang="en-US" sz="1600">
                        <a:solidFill>
                          <a:srgbClr val="FF0000"/>
                        </a:solidFill>
                        <a:latin typeface="Calibri"/>
                        <a:ea typeface="Calibri"/>
                        <a:cs typeface="Times New Roman"/>
                      </a:endParaRPr>
                    </a:p>
                  </a:txBody>
                  <a:tcPr marL="60618" marR="60618" marT="0" marB="0" anchor="b">
                    <a:lnL>
                      <a:noFill/>
                    </a:lnL>
                    <a:lnR>
                      <a:noFill/>
                    </a:lnR>
                    <a:lnT>
                      <a:noFill/>
                    </a:lnT>
                    <a:lnB>
                      <a:noFill/>
                    </a:lnB>
                  </a:tcPr>
                </a:tc>
              </a:tr>
              <a:tr h="170403">
                <a:tc>
                  <a:txBody>
                    <a:bodyPr/>
                    <a:lstStyle/>
                    <a:p>
                      <a:pPr marL="0" marR="0" algn="ctr">
                        <a:lnSpc>
                          <a:spcPct val="115000"/>
                        </a:lnSpc>
                        <a:spcBef>
                          <a:spcPts val="0"/>
                        </a:spcBef>
                        <a:spcAft>
                          <a:spcPts val="0"/>
                        </a:spcAft>
                      </a:pPr>
                      <a:r>
                        <a:rPr lang="en-US" sz="1600" b="1" dirty="0">
                          <a:solidFill>
                            <a:srgbClr val="FF0000"/>
                          </a:solidFill>
                          <a:latin typeface="Calibri"/>
                          <a:ea typeface="Times New Roman"/>
                          <a:cs typeface="Times New Roman"/>
                        </a:rPr>
                        <a:t>31.12.2011</a:t>
                      </a:r>
                      <a:endParaRPr lang="en-US" sz="1600" dirty="0">
                        <a:solidFill>
                          <a:srgbClr val="FF0000"/>
                        </a:solidFill>
                        <a:latin typeface="Calibri"/>
                        <a:ea typeface="Calibri"/>
                        <a:cs typeface="Times New Roman"/>
                      </a:endParaRPr>
                    </a:p>
                  </a:txBody>
                  <a:tcPr marL="60618" marR="60618" marT="0" marB="0" anchor="b">
                    <a:lnL>
                      <a:noFill/>
                    </a:lnL>
                    <a:lnR>
                      <a:noFill/>
                    </a:lnR>
                    <a:lnT>
                      <a:noFill/>
                    </a:lnT>
                    <a:lnB>
                      <a:noFill/>
                    </a:lnB>
                  </a:tcPr>
                </a:tc>
                <a:tc>
                  <a:txBody>
                    <a:bodyPr/>
                    <a:lstStyle/>
                    <a:p>
                      <a:pPr marL="0" marR="0" algn="ctr">
                        <a:lnSpc>
                          <a:spcPct val="115000"/>
                        </a:lnSpc>
                        <a:spcBef>
                          <a:spcPts val="0"/>
                        </a:spcBef>
                        <a:spcAft>
                          <a:spcPts val="0"/>
                        </a:spcAft>
                      </a:pPr>
                      <a:r>
                        <a:rPr lang="en-US" sz="1600" b="1" dirty="0">
                          <a:solidFill>
                            <a:srgbClr val="FF0000"/>
                          </a:solidFill>
                          <a:latin typeface="Calibri"/>
                          <a:ea typeface="Times New Roman"/>
                          <a:cs typeface="Times New Roman"/>
                        </a:rPr>
                        <a:t>Disposals</a:t>
                      </a:r>
                      <a:endParaRPr lang="en-US" sz="1600" dirty="0">
                        <a:solidFill>
                          <a:srgbClr val="FF0000"/>
                        </a:solidFill>
                        <a:latin typeface="Calibri"/>
                        <a:ea typeface="Calibri"/>
                        <a:cs typeface="Times New Roman"/>
                      </a:endParaRPr>
                    </a:p>
                  </a:txBody>
                  <a:tcPr marL="60618" marR="60618" marT="0" marB="0" anchor="b">
                    <a:lnL>
                      <a:noFill/>
                    </a:lnL>
                    <a:lnR>
                      <a:noFill/>
                    </a:lnR>
                    <a:lnT>
                      <a:noFill/>
                    </a:lnT>
                    <a:lnB>
                      <a:noFill/>
                    </a:lnB>
                  </a:tcPr>
                </a:tc>
                <a:tc>
                  <a:txBody>
                    <a:bodyPr/>
                    <a:lstStyle/>
                    <a:p>
                      <a:pPr marL="0" marR="0" algn="ctr">
                        <a:lnSpc>
                          <a:spcPct val="115000"/>
                        </a:lnSpc>
                        <a:spcBef>
                          <a:spcPts val="0"/>
                        </a:spcBef>
                        <a:spcAft>
                          <a:spcPts val="0"/>
                        </a:spcAft>
                      </a:pPr>
                      <a:r>
                        <a:rPr lang="en-US" sz="1600" b="1" dirty="0">
                          <a:solidFill>
                            <a:srgbClr val="FF0000"/>
                          </a:solidFill>
                          <a:latin typeface="Calibri"/>
                          <a:ea typeface="Times New Roman"/>
                          <a:cs typeface="Times New Roman"/>
                        </a:rPr>
                        <a:t>Additions</a:t>
                      </a:r>
                      <a:endParaRPr lang="en-US" sz="1600" dirty="0">
                        <a:solidFill>
                          <a:srgbClr val="FF0000"/>
                        </a:solidFill>
                        <a:latin typeface="Calibri"/>
                        <a:ea typeface="Calibri"/>
                        <a:cs typeface="Times New Roman"/>
                      </a:endParaRPr>
                    </a:p>
                  </a:txBody>
                  <a:tcPr marL="60618" marR="60618" marT="0" marB="0" anchor="b">
                    <a:lnL>
                      <a:noFill/>
                    </a:lnL>
                    <a:lnR>
                      <a:noFill/>
                    </a:lnR>
                    <a:lnT>
                      <a:noFill/>
                    </a:lnT>
                    <a:lnB>
                      <a:noFill/>
                    </a:lnB>
                  </a:tcPr>
                </a:tc>
                <a:tc>
                  <a:txBody>
                    <a:bodyPr/>
                    <a:lstStyle/>
                    <a:p>
                      <a:pPr marL="0" marR="0" algn="ctr">
                        <a:lnSpc>
                          <a:spcPct val="115000"/>
                        </a:lnSpc>
                        <a:spcBef>
                          <a:spcPts val="0"/>
                        </a:spcBef>
                        <a:spcAft>
                          <a:spcPts val="0"/>
                        </a:spcAft>
                      </a:pPr>
                      <a:r>
                        <a:rPr lang="en-US" sz="1600" b="1">
                          <a:solidFill>
                            <a:srgbClr val="FF0000"/>
                          </a:solidFill>
                          <a:latin typeface="Calibri"/>
                          <a:ea typeface="Times New Roman"/>
                          <a:cs typeface="Times New Roman"/>
                        </a:rPr>
                        <a:t>SIA</a:t>
                      </a:r>
                      <a:endParaRPr lang="en-US" sz="1600">
                        <a:solidFill>
                          <a:srgbClr val="FF0000"/>
                        </a:solidFill>
                        <a:latin typeface="Calibri"/>
                        <a:ea typeface="Calibri"/>
                        <a:cs typeface="Times New Roman"/>
                      </a:endParaRPr>
                    </a:p>
                  </a:txBody>
                  <a:tcPr marL="60618" marR="60618" marT="0" marB="0" anchor="b">
                    <a:lnL>
                      <a:noFill/>
                    </a:lnL>
                    <a:lnR>
                      <a:noFill/>
                    </a:lnR>
                    <a:lnT>
                      <a:noFill/>
                    </a:lnT>
                    <a:lnB>
                      <a:noFill/>
                    </a:lnB>
                  </a:tcPr>
                </a:tc>
                <a:tc>
                  <a:txBody>
                    <a:bodyPr/>
                    <a:lstStyle/>
                    <a:p>
                      <a:pPr marL="0" marR="0" algn="ctr">
                        <a:lnSpc>
                          <a:spcPct val="115000"/>
                        </a:lnSpc>
                        <a:spcBef>
                          <a:spcPts val="0"/>
                        </a:spcBef>
                        <a:spcAft>
                          <a:spcPts val="0"/>
                        </a:spcAft>
                      </a:pPr>
                      <a:r>
                        <a:rPr lang="en-US" sz="1600" b="1">
                          <a:solidFill>
                            <a:srgbClr val="FF0000"/>
                          </a:solidFill>
                          <a:latin typeface="Calibri"/>
                          <a:ea typeface="Times New Roman"/>
                          <a:cs typeface="Times New Roman"/>
                        </a:rPr>
                        <a:t>W&amp;T</a:t>
                      </a:r>
                      <a:endParaRPr lang="en-US" sz="1600">
                        <a:solidFill>
                          <a:srgbClr val="FF0000"/>
                        </a:solidFill>
                        <a:latin typeface="Calibri"/>
                        <a:ea typeface="Calibri"/>
                        <a:cs typeface="Times New Roman"/>
                      </a:endParaRPr>
                    </a:p>
                  </a:txBody>
                  <a:tcPr marL="60618" marR="60618" marT="0" marB="0" anchor="b">
                    <a:lnL>
                      <a:noFill/>
                    </a:lnL>
                    <a:lnR>
                      <a:noFill/>
                    </a:lnR>
                    <a:lnT>
                      <a:noFill/>
                    </a:lnT>
                    <a:lnB>
                      <a:noFill/>
                    </a:lnB>
                  </a:tcPr>
                </a:tc>
                <a:tc>
                  <a:txBody>
                    <a:bodyPr/>
                    <a:lstStyle/>
                    <a:p>
                      <a:pPr marL="0" marR="0" algn="ctr">
                        <a:lnSpc>
                          <a:spcPct val="115000"/>
                        </a:lnSpc>
                        <a:spcBef>
                          <a:spcPts val="0"/>
                        </a:spcBef>
                        <a:spcAft>
                          <a:spcPts val="0"/>
                        </a:spcAft>
                      </a:pPr>
                      <a:r>
                        <a:rPr lang="en-US" sz="1600" b="1">
                          <a:solidFill>
                            <a:srgbClr val="FF0000"/>
                          </a:solidFill>
                          <a:latin typeface="Calibri"/>
                          <a:ea typeface="Times New Roman"/>
                          <a:cs typeface="Times New Roman"/>
                        </a:rPr>
                        <a:t>7th Sched</a:t>
                      </a:r>
                      <a:endParaRPr lang="en-US" sz="1600">
                        <a:solidFill>
                          <a:srgbClr val="FF0000"/>
                        </a:solidFill>
                        <a:latin typeface="Calibri"/>
                        <a:ea typeface="Calibri"/>
                        <a:cs typeface="Times New Roman"/>
                      </a:endParaRPr>
                    </a:p>
                  </a:txBody>
                  <a:tcPr marL="60618" marR="60618" marT="0" marB="0" anchor="b">
                    <a:lnL>
                      <a:noFill/>
                    </a:lnL>
                    <a:lnR>
                      <a:noFill/>
                    </a:lnR>
                    <a:lnT>
                      <a:noFill/>
                    </a:lnT>
                    <a:lnB>
                      <a:noFill/>
                    </a:lnB>
                  </a:tcPr>
                </a:tc>
                <a:tc>
                  <a:txBody>
                    <a:bodyPr/>
                    <a:lstStyle/>
                    <a:p>
                      <a:pPr marL="0" marR="0" algn="ctr">
                        <a:lnSpc>
                          <a:spcPct val="115000"/>
                        </a:lnSpc>
                        <a:spcBef>
                          <a:spcPts val="0"/>
                        </a:spcBef>
                        <a:spcAft>
                          <a:spcPts val="0"/>
                        </a:spcAft>
                      </a:pPr>
                      <a:r>
                        <a:rPr lang="en-US" sz="1600" b="1" dirty="0">
                          <a:solidFill>
                            <a:srgbClr val="FF0000"/>
                          </a:solidFill>
                          <a:latin typeface="Calibri"/>
                          <a:ea typeface="Times New Roman"/>
                          <a:cs typeface="Times New Roman"/>
                        </a:rPr>
                        <a:t>31.12.2012</a:t>
                      </a:r>
                      <a:endParaRPr lang="en-US" sz="1600" dirty="0">
                        <a:solidFill>
                          <a:srgbClr val="FF0000"/>
                        </a:solidFill>
                        <a:latin typeface="Calibri"/>
                        <a:ea typeface="Calibri"/>
                        <a:cs typeface="Times New Roman"/>
                      </a:endParaRPr>
                    </a:p>
                  </a:txBody>
                  <a:tcPr marL="60618" marR="60618" marT="0" marB="0" anchor="b">
                    <a:lnL>
                      <a:noFill/>
                    </a:lnL>
                    <a:lnR>
                      <a:noFill/>
                    </a:lnR>
                    <a:lnT>
                      <a:noFill/>
                    </a:lnT>
                    <a:lnB>
                      <a:noFill/>
                    </a:lnB>
                  </a:tcPr>
                </a:tc>
              </a:tr>
              <a:tr h="176801">
                <a:tc>
                  <a:txBody>
                    <a:bodyPr/>
                    <a:lstStyle/>
                    <a:p>
                      <a:pPr>
                        <a:lnSpc>
                          <a:spcPct val="115000"/>
                        </a:lnSpc>
                      </a:pPr>
                      <a:endParaRPr lang="en-US" sz="1600" dirty="0">
                        <a:solidFill>
                          <a:srgbClr val="FF0000"/>
                        </a:solidFill>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dirty="0">
                        <a:solidFill>
                          <a:srgbClr val="FF0000"/>
                        </a:solidFill>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dirty="0">
                        <a:solidFill>
                          <a:srgbClr val="FF0000"/>
                        </a:solidFill>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dirty="0">
                        <a:solidFill>
                          <a:srgbClr val="FF0000"/>
                        </a:solidFill>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dirty="0">
                        <a:solidFill>
                          <a:srgbClr val="FF0000"/>
                        </a:solidFill>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dirty="0">
                        <a:solidFill>
                          <a:srgbClr val="FF0000"/>
                        </a:solidFill>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dirty="0">
                        <a:solidFill>
                          <a:srgbClr val="FF0000"/>
                        </a:solidFill>
                        <a:latin typeface="Calibri"/>
                        <a:ea typeface="Times New Roman"/>
                      </a:endParaRPr>
                    </a:p>
                  </a:txBody>
                  <a:tcPr marL="60618" marR="60618" marT="0" marB="0" anchor="b">
                    <a:lnL>
                      <a:noFill/>
                    </a:lnL>
                    <a:lnR>
                      <a:noFill/>
                    </a:lnR>
                    <a:lnT>
                      <a:noFill/>
                    </a:lnT>
                    <a:lnB>
                      <a:noFill/>
                    </a:lnB>
                  </a:tcPr>
                </a:tc>
              </a:tr>
              <a:tr h="170403">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10,000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(10,000)</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dirty="0">
                          <a:solidFill>
                            <a:srgbClr val="000000"/>
                          </a:solidFill>
                          <a:latin typeface="Calibri"/>
                          <a:ea typeface="Times New Roman"/>
                          <a:cs typeface="Times New Roman"/>
                        </a:rPr>
                        <a:t>                -   </a:t>
                      </a:r>
                      <a:endParaRPr lang="en-US" sz="1600" dirty="0">
                        <a:latin typeface="Calibri"/>
                        <a:ea typeface="Calibri"/>
                        <a:cs typeface="Times New Roman"/>
                      </a:endParaRPr>
                    </a:p>
                  </a:txBody>
                  <a:tcPr marL="60618" marR="60618" marT="0" marB="0" anchor="b">
                    <a:lnL>
                      <a:noFill/>
                    </a:lnL>
                    <a:lnR>
                      <a:noFill/>
                    </a:lnR>
                    <a:lnT>
                      <a:noFill/>
                    </a:lnT>
                    <a:lnB>
                      <a:noFill/>
                    </a:lnB>
                  </a:tcPr>
                </a:tc>
              </a:tr>
              <a:tr h="170403">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12,000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dirty="0">
                          <a:solidFill>
                            <a:srgbClr val="000000"/>
                          </a:solidFill>
                          <a:latin typeface="Calibri"/>
                          <a:ea typeface="Times New Roman"/>
                          <a:cs typeface="Times New Roman"/>
                        </a:rPr>
                        <a:t>     (4,000)</a:t>
                      </a:r>
                      <a:endParaRPr lang="en-US" sz="1600" dirty="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8,000 </a:t>
                      </a:r>
                      <a:endParaRPr lang="en-US" sz="1600">
                        <a:latin typeface="Calibri"/>
                        <a:ea typeface="Calibri"/>
                        <a:cs typeface="Times New Roman"/>
                      </a:endParaRPr>
                    </a:p>
                  </a:txBody>
                  <a:tcPr marL="60618" marR="60618" marT="0" marB="0" anchor="b">
                    <a:lnL>
                      <a:noFill/>
                    </a:lnL>
                    <a:lnR>
                      <a:noFill/>
                    </a:lnR>
                    <a:lnT>
                      <a:noFill/>
                    </a:lnT>
                    <a:lnB>
                      <a:noFill/>
                    </a:lnB>
                  </a:tcPr>
                </a:tc>
              </a:tr>
              <a:tr h="170403">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15,000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(5,000)</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10,000 </a:t>
                      </a:r>
                      <a:endParaRPr lang="en-US" sz="1600">
                        <a:latin typeface="Calibri"/>
                        <a:ea typeface="Calibri"/>
                        <a:cs typeface="Times New Roman"/>
                      </a:endParaRPr>
                    </a:p>
                  </a:txBody>
                  <a:tcPr marL="60618" marR="60618" marT="0" marB="0" anchor="b">
                    <a:lnL>
                      <a:noFill/>
                    </a:lnL>
                    <a:lnR>
                      <a:noFill/>
                    </a:lnR>
                    <a:lnT>
                      <a:noFill/>
                    </a:lnT>
                    <a:lnB>
                      <a:noFill/>
                    </a:lnB>
                  </a:tcPr>
                </a:tc>
              </a:tr>
              <a:tr h="170403">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7,500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(2,500)</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5,000 </a:t>
                      </a:r>
                      <a:endParaRPr lang="en-US" sz="1600">
                        <a:latin typeface="Calibri"/>
                        <a:ea typeface="Calibri"/>
                        <a:cs typeface="Times New Roman"/>
                      </a:endParaRPr>
                    </a:p>
                  </a:txBody>
                  <a:tcPr marL="60618" marR="60618" marT="0" marB="0" anchor="b">
                    <a:lnL>
                      <a:noFill/>
                    </a:lnL>
                    <a:lnR>
                      <a:noFill/>
                    </a:lnR>
                    <a:lnT>
                      <a:noFill/>
                    </a:lnT>
                    <a:lnB>
                      <a:noFill/>
                    </a:lnB>
                  </a:tcPr>
                </a:tc>
              </a:tr>
              <a:tr h="170403">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25,000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(6,250)</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18,750 </a:t>
                      </a:r>
                      <a:endParaRPr lang="en-US" sz="1600">
                        <a:latin typeface="Calibri"/>
                        <a:ea typeface="Calibri"/>
                        <a:cs typeface="Times New Roman"/>
                      </a:endParaRPr>
                    </a:p>
                  </a:txBody>
                  <a:tcPr marL="60618" marR="60618" marT="0" marB="0" anchor="b">
                    <a:lnL>
                      <a:noFill/>
                    </a:lnL>
                    <a:lnR>
                      <a:noFill/>
                    </a:lnR>
                    <a:lnT>
                      <a:noFill/>
                    </a:lnT>
                    <a:lnB>
                      <a:noFill/>
                    </a:lnB>
                  </a:tcPr>
                </a:tc>
              </a:tr>
              <a:tr h="170403">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75,000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dirty="0">
                          <a:solidFill>
                            <a:srgbClr val="000000"/>
                          </a:solidFill>
                          <a:latin typeface="Calibri"/>
                          <a:ea typeface="Times New Roman"/>
                          <a:cs typeface="Times New Roman"/>
                        </a:rPr>
                        <a:t>                -   </a:t>
                      </a:r>
                      <a:endParaRPr lang="en-US" sz="1600" dirty="0">
                        <a:latin typeface="Calibri"/>
                        <a:ea typeface="Calibri"/>
                        <a:cs typeface="Times New Roman"/>
                      </a:endParaRPr>
                    </a:p>
                  </a:txBody>
                  <a:tcPr marL="60618" marR="60618" marT="0" marB="0" anchor="b">
                    <a:lnL>
                      <a:noFill/>
                    </a:lnL>
                    <a:lnR>
                      <a:noFill/>
                    </a:lnR>
                    <a:lnT>
                      <a:noFill/>
                    </a:lnT>
                    <a:lnB>
                      <a:noFill/>
                    </a:lnB>
                  </a:tcPr>
                </a:tc>
              </a:tr>
            </a:tbl>
          </a:graphicData>
        </a:graphic>
      </p:graphicFrame>
      <p:graphicFrame>
        <p:nvGraphicFramePr>
          <p:cNvPr id="5" name="Table 4"/>
          <p:cNvGraphicFramePr>
            <a:graphicFrameLocks noGrp="1"/>
          </p:cNvGraphicFramePr>
          <p:nvPr/>
        </p:nvGraphicFramePr>
        <p:xfrm>
          <a:off x="381000" y="609600"/>
          <a:ext cx="3505200" cy="4114798"/>
        </p:xfrm>
        <a:graphic>
          <a:graphicData uri="http://schemas.openxmlformats.org/drawingml/2006/table">
            <a:tbl>
              <a:tblPr/>
              <a:tblGrid>
                <a:gridCol w="3505200"/>
              </a:tblGrid>
              <a:tr h="513785">
                <a:tc>
                  <a:txBody>
                    <a:bodyPr/>
                    <a:lstStyle/>
                    <a:p>
                      <a:pPr marL="0" marR="0" algn="ctr">
                        <a:lnSpc>
                          <a:spcPct val="115000"/>
                        </a:lnSpc>
                        <a:spcBef>
                          <a:spcPts val="0"/>
                        </a:spcBef>
                        <a:spcAft>
                          <a:spcPts val="0"/>
                        </a:spcAft>
                      </a:pPr>
                      <a:r>
                        <a:rPr lang="en-US" sz="1600" b="1" dirty="0">
                          <a:solidFill>
                            <a:srgbClr val="FF0000"/>
                          </a:solidFill>
                          <a:latin typeface="Calibri"/>
                          <a:ea typeface="Times New Roman"/>
                          <a:cs typeface="Times New Roman"/>
                        </a:rPr>
                        <a:t>Asset</a:t>
                      </a:r>
                      <a:endParaRPr lang="en-US" sz="1600" dirty="0">
                        <a:solidFill>
                          <a:srgbClr val="FF0000"/>
                        </a:solidFill>
                        <a:latin typeface="Calibri"/>
                        <a:ea typeface="Calibri"/>
                        <a:cs typeface="Times New Roman"/>
                      </a:endParaRPr>
                    </a:p>
                  </a:txBody>
                  <a:tcPr marL="60618" marR="60618" marT="0" marB="0" anchor="b">
                    <a:lnL>
                      <a:noFill/>
                    </a:lnL>
                    <a:lnR>
                      <a:noFill/>
                    </a:lnR>
                    <a:lnT>
                      <a:noFill/>
                    </a:lnT>
                    <a:lnB>
                      <a:noFill/>
                    </a:lnB>
                  </a:tcPr>
                </a:tc>
              </a:tr>
              <a:tr h="518303">
                <a:tc>
                  <a:txBody>
                    <a:bodyPr/>
                    <a:lstStyle/>
                    <a:p>
                      <a:pPr>
                        <a:lnSpc>
                          <a:spcPct val="115000"/>
                        </a:lnSpc>
                      </a:pPr>
                      <a:endParaRPr lang="en-US" sz="1600" dirty="0">
                        <a:solidFill>
                          <a:srgbClr val="FF0000"/>
                        </a:solidFill>
                        <a:latin typeface="Calibri"/>
                        <a:ea typeface="Times New Roman"/>
                      </a:endParaRPr>
                    </a:p>
                  </a:txBody>
                  <a:tcPr marL="60618" marR="60618" marT="0" marB="0" anchor="b">
                    <a:lnL>
                      <a:noFill/>
                    </a:lnL>
                    <a:lnR>
                      <a:noFill/>
                    </a:lnR>
                    <a:lnT>
                      <a:noFill/>
                    </a:lnT>
                    <a:lnB>
                      <a:noFill/>
                    </a:lnB>
                  </a:tcPr>
                </a:tc>
              </a:tr>
              <a:tr h="513785">
                <a:tc>
                  <a:txBody>
                    <a:bodyPr/>
                    <a:lstStyle/>
                    <a:p>
                      <a:pPr marL="0" marR="0">
                        <a:lnSpc>
                          <a:spcPct val="115000"/>
                        </a:lnSpc>
                        <a:spcBef>
                          <a:spcPts val="0"/>
                        </a:spcBef>
                        <a:spcAft>
                          <a:spcPts val="0"/>
                        </a:spcAft>
                      </a:pPr>
                      <a:r>
                        <a:rPr lang="en-US" sz="1600" dirty="0">
                          <a:solidFill>
                            <a:srgbClr val="000000"/>
                          </a:solidFill>
                          <a:latin typeface="Calibri"/>
                          <a:ea typeface="Times New Roman"/>
                          <a:cs typeface="Times New Roman"/>
                        </a:rPr>
                        <a:t>Grading shed</a:t>
                      </a:r>
                      <a:endParaRPr lang="en-US" sz="1600" dirty="0">
                        <a:latin typeface="Calibri"/>
                        <a:ea typeface="Calibri"/>
                        <a:cs typeface="Times New Roman"/>
                      </a:endParaRPr>
                    </a:p>
                  </a:txBody>
                  <a:tcPr marL="60618" marR="60618" marT="0" marB="0" anchor="b">
                    <a:lnL>
                      <a:noFill/>
                    </a:lnL>
                    <a:lnR>
                      <a:noFill/>
                    </a:lnR>
                    <a:lnT>
                      <a:noFill/>
                    </a:lnT>
                    <a:lnB>
                      <a:noFill/>
                    </a:lnB>
                  </a:tcPr>
                </a:tc>
              </a:tr>
              <a:tr h="513785">
                <a:tc>
                  <a:txBody>
                    <a:bodyPr/>
                    <a:lstStyle/>
                    <a:p>
                      <a:pPr marL="0" marR="0">
                        <a:lnSpc>
                          <a:spcPct val="115000"/>
                        </a:lnSpc>
                        <a:spcBef>
                          <a:spcPts val="0"/>
                        </a:spcBef>
                        <a:spcAft>
                          <a:spcPts val="0"/>
                        </a:spcAft>
                      </a:pPr>
                      <a:r>
                        <a:rPr lang="en-US" sz="1600" dirty="0">
                          <a:solidFill>
                            <a:srgbClr val="000000"/>
                          </a:solidFill>
                          <a:latin typeface="Calibri"/>
                          <a:ea typeface="Times New Roman"/>
                          <a:cs typeface="Times New Roman"/>
                        </a:rPr>
                        <a:t>Plant and equipment </a:t>
                      </a:r>
                      <a:endParaRPr lang="en-US" sz="1600" dirty="0">
                        <a:latin typeface="Calibri"/>
                        <a:ea typeface="Calibri"/>
                        <a:cs typeface="Times New Roman"/>
                      </a:endParaRPr>
                    </a:p>
                  </a:txBody>
                  <a:tcPr marL="60618" marR="60618" marT="0" marB="0" anchor="b">
                    <a:lnL>
                      <a:noFill/>
                    </a:lnL>
                    <a:lnR>
                      <a:noFill/>
                    </a:lnR>
                    <a:lnT>
                      <a:noFill/>
                    </a:lnT>
                    <a:lnB>
                      <a:noFill/>
                    </a:lnB>
                  </a:tcPr>
                </a:tc>
              </a:tr>
              <a:tr h="513785">
                <a:tc>
                  <a:txBody>
                    <a:bodyPr/>
                    <a:lstStyle/>
                    <a:p>
                      <a:pPr marL="0" marR="0">
                        <a:lnSpc>
                          <a:spcPct val="115000"/>
                        </a:lnSpc>
                        <a:spcBef>
                          <a:spcPts val="0"/>
                        </a:spcBef>
                        <a:spcAft>
                          <a:spcPts val="0"/>
                        </a:spcAft>
                      </a:pPr>
                      <a:r>
                        <a:rPr lang="en-US" sz="1600" dirty="0">
                          <a:solidFill>
                            <a:srgbClr val="000000"/>
                          </a:solidFill>
                          <a:latin typeface="Calibri"/>
                          <a:ea typeface="Times New Roman"/>
                          <a:cs typeface="Times New Roman"/>
                        </a:rPr>
                        <a:t>Irrigation equipment </a:t>
                      </a:r>
                      <a:endParaRPr lang="en-US" sz="1600" dirty="0">
                        <a:latin typeface="Calibri"/>
                        <a:ea typeface="Calibri"/>
                        <a:cs typeface="Times New Roman"/>
                      </a:endParaRPr>
                    </a:p>
                  </a:txBody>
                  <a:tcPr marL="60618" marR="60618" marT="0" marB="0" anchor="b">
                    <a:lnL>
                      <a:noFill/>
                    </a:lnL>
                    <a:lnR>
                      <a:noFill/>
                    </a:lnR>
                    <a:lnT>
                      <a:noFill/>
                    </a:lnT>
                    <a:lnB>
                      <a:noFill/>
                    </a:lnB>
                  </a:tcPr>
                </a:tc>
              </a:tr>
              <a:tr h="513785">
                <a:tc>
                  <a:txBody>
                    <a:bodyPr/>
                    <a:lstStyle/>
                    <a:p>
                      <a:pPr marL="0" marR="0">
                        <a:lnSpc>
                          <a:spcPct val="115000"/>
                        </a:lnSpc>
                        <a:spcBef>
                          <a:spcPts val="0"/>
                        </a:spcBef>
                        <a:spcAft>
                          <a:spcPts val="0"/>
                        </a:spcAft>
                      </a:pPr>
                      <a:r>
                        <a:rPr lang="en-US" sz="1600" dirty="0">
                          <a:solidFill>
                            <a:srgbClr val="000000"/>
                          </a:solidFill>
                          <a:latin typeface="Calibri"/>
                          <a:ea typeface="Times New Roman"/>
                          <a:cs typeface="Times New Roman"/>
                        </a:rPr>
                        <a:t>Truck </a:t>
                      </a:r>
                      <a:endParaRPr lang="en-US" sz="1600" dirty="0">
                        <a:latin typeface="Calibri"/>
                        <a:ea typeface="Calibri"/>
                        <a:cs typeface="Times New Roman"/>
                      </a:endParaRPr>
                    </a:p>
                  </a:txBody>
                  <a:tcPr marL="60618" marR="60618" marT="0" marB="0" anchor="b">
                    <a:lnL>
                      <a:noFill/>
                    </a:lnL>
                    <a:lnR>
                      <a:noFill/>
                    </a:lnR>
                    <a:lnT>
                      <a:noFill/>
                    </a:lnT>
                    <a:lnB>
                      <a:noFill/>
                    </a:lnB>
                  </a:tcPr>
                </a:tc>
              </a:tr>
              <a:tr h="513785">
                <a:tc>
                  <a:txBody>
                    <a:bodyPr/>
                    <a:lstStyle/>
                    <a:p>
                      <a:pPr marL="0" marR="0">
                        <a:lnSpc>
                          <a:spcPct val="115000"/>
                        </a:lnSpc>
                        <a:spcBef>
                          <a:spcPts val="0"/>
                        </a:spcBef>
                        <a:spcAft>
                          <a:spcPts val="0"/>
                        </a:spcAft>
                      </a:pPr>
                      <a:r>
                        <a:rPr lang="en-US" sz="1600" dirty="0">
                          <a:solidFill>
                            <a:srgbClr val="000000"/>
                          </a:solidFill>
                          <a:latin typeface="Calibri"/>
                          <a:ea typeface="Times New Roman"/>
                          <a:cs typeface="Times New Roman"/>
                        </a:rPr>
                        <a:t>Grading shed replacement</a:t>
                      </a:r>
                      <a:endParaRPr lang="en-US" sz="1600" dirty="0">
                        <a:latin typeface="Calibri"/>
                        <a:ea typeface="Calibri"/>
                        <a:cs typeface="Times New Roman"/>
                      </a:endParaRPr>
                    </a:p>
                  </a:txBody>
                  <a:tcPr marL="60618" marR="60618" marT="0" marB="0" anchor="b">
                    <a:lnL>
                      <a:noFill/>
                    </a:lnL>
                    <a:lnR>
                      <a:noFill/>
                    </a:lnR>
                    <a:lnT>
                      <a:noFill/>
                    </a:lnT>
                    <a:lnB>
                      <a:noFill/>
                    </a:lnB>
                  </a:tcPr>
                </a:tc>
              </a:tr>
              <a:tr h="513785">
                <a:tc>
                  <a:txBody>
                    <a:bodyPr/>
                    <a:lstStyle/>
                    <a:p>
                      <a:pPr marL="0" marR="0">
                        <a:lnSpc>
                          <a:spcPct val="115000"/>
                        </a:lnSpc>
                        <a:spcBef>
                          <a:spcPts val="0"/>
                        </a:spcBef>
                        <a:spcAft>
                          <a:spcPts val="0"/>
                        </a:spcAft>
                      </a:pPr>
                      <a:r>
                        <a:rPr lang="en-US" sz="1600" dirty="0">
                          <a:solidFill>
                            <a:srgbClr val="000000"/>
                          </a:solidFill>
                          <a:latin typeface="Calibri"/>
                          <a:ea typeface="Times New Roman"/>
                          <a:cs typeface="Times New Roman"/>
                        </a:rPr>
                        <a:t>Homestead</a:t>
                      </a:r>
                      <a:endParaRPr lang="en-US" sz="1600" dirty="0">
                        <a:latin typeface="Calibri"/>
                        <a:ea typeface="Calibri"/>
                        <a:cs typeface="Times New Roman"/>
                      </a:endParaRPr>
                    </a:p>
                  </a:txBody>
                  <a:tcPr marL="60618" marR="60618" marT="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304800"/>
          <a:ext cx="9143998" cy="3727332"/>
        </p:xfrm>
        <a:graphic>
          <a:graphicData uri="http://schemas.openxmlformats.org/drawingml/2006/table">
            <a:tbl>
              <a:tblPr/>
              <a:tblGrid>
                <a:gridCol w="2209797"/>
                <a:gridCol w="1219200"/>
                <a:gridCol w="1066800"/>
                <a:gridCol w="990600"/>
                <a:gridCol w="990600"/>
                <a:gridCol w="838200"/>
                <a:gridCol w="990600"/>
                <a:gridCol w="838201"/>
              </a:tblGrid>
              <a:tr h="511209">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Dam</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15,000 </a:t>
                      </a:r>
                      <a:endParaRPr lang="en-US" sz="1600">
                        <a:latin typeface="Calibri"/>
                        <a:ea typeface="Calibri"/>
                        <a:cs typeface="Times New Roman"/>
                      </a:endParaRPr>
                    </a:p>
                  </a:txBody>
                  <a:tcPr marL="60618" marR="60618"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(15,000)</a:t>
                      </a:r>
                      <a:endParaRPr lang="en-US" sz="1600">
                        <a:latin typeface="Calibri"/>
                        <a:ea typeface="Calibri"/>
                        <a:cs typeface="Times New Roman"/>
                      </a:endParaRPr>
                    </a:p>
                  </a:txBody>
                  <a:tcPr marL="60618" marR="60618"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   </a:t>
                      </a:r>
                      <a:endParaRPr lang="en-US" sz="1600">
                        <a:latin typeface="Calibri"/>
                        <a:ea typeface="Calibri"/>
                        <a:cs typeface="Times New Roman"/>
                      </a:endParaRPr>
                    </a:p>
                  </a:txBody>
                  <a:tcPr marL="60618" marR="60618" marT="0" marB="0" anchor="b">
                    <a:lnL>
                      <a:noFill/>
                    </a:lnL>
                    <a:lnR>
                      <a:noFill/>
                    </a:lnR>
                    <a:lnT>
                      <a:noFill/>
                    </a:lnT>
                    <a:lnB w="12700" cap="flat" cmpd="sng" algn="ctr">
                      <a:solidFill>
                        <a:srgbClr val="000000"/>
                      </a:solidFill>
                      <a:prstDash val="solid"/>
                      <a:round/>
                      <a:headEnd type="none" w="med" len="med"/>
                      <a:tailEnd type="none" w="med" len="med"/>
                    </a:lnB>
                  </a:tcPr>
                </a:tc>
              </a:tr>
              <a:tr h="511209">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44,500 </a:t>
                      </a:r>
                      <a:endParaRPr lang="en-US" sz="1600">
                        <a:latin typeface="Calibri"/>
                        <a:ea typeface="Calibri"/>
                        <a:cs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(10,000)</a:t>
                      </a:r>
                      <a:endParaRPr lang="en-US" sz="1600">
                        <a:latin typeface="Calibri"/>
                        <a:ea typeface="Calibri"/>
                        <a:cs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115,000 </a:t>
                      </a:r>
                      <a:endParaRPr lang="en-US" sz="1600">
                        <a:latin typeface="Calibri"/>
                        <a:ea typeface="Calibri"/>
                        <a:cs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(6,250)</a:t>
                      </a:r>
                      <a:endParaRPr lang="en-US" sz="1600">
                        <a:latin typeface="Calibri"/>
                        <a:ea typeface="Calibri"/>
                        <a:cs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(11,500)</a:t>
                      </a:r>
                      <a:endParaRPr lang="en-US" sz="1600">
                        <a:latin typeface="Calibri"/>
                        <a:ea typeface="Calibri"/>
                        <a:cs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(15,000)</a:t>
                      </a:r>
                      <a:endParaRPr lang="en-US" sz="1600">
                        <a:latin typeface="Calibri"/>
                        <a:ea typeface="Calibri"/>
                        <a:cs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41,750 </a:t>
                      </a:r>
                      <a:endParaRPr lang="en-US" sz="1600">
                        <a:latin typeface="Calibri"/>
                        <a:ea typeface="Calibri"/>
                        <a:cs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0403">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a:noFill/>
                    </a:lnB>
                  </a:tcPr>
                </a:tc>
              </a:tr>
              <a:tr h="170403">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dirty="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340806">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Drought sales</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5,000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340806">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FSV of sales (10 x 300)</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(3,000)</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340806">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Expenses </a:t>
                      </a:r>
                      <a:r>
                        <a:rPr lang="en-US" sz="1600" u="sng">
                          <a:solidFill>
                            <a:srgbClr val="000000"/>
                          </a:solidFill>
                          <a:latin typeface="Calibri"/>
                          <a:ea typeface="Times New Roman"/>
                          <a:cs typeface="Times New Roman"/>
                        </a:rPr>
                        <a:t>10 x 38,000</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u="sng">
                          <a:solidFill>
                            <a:srgbClr val="000000"/>
                          </a:solidFill>
                          <a:latin typeface="Calibri"/>
                          <a:ea typeface="Times New Roman"/>
                          <a:cs typeface="Times New Roman"/>
                        </a:rPr>
                        <a:t>     380,000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340806">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0.5(182 +305)</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marL="0" marR="0" algn="ctr">
                        <a:lnSpc>
                          <a:spcPct val="115000"/>
                        </a:lnSpc>
                        <a:spcBef>
                          <a:spcPts val="0"/>
                        </a:spcBef>
                        <a:spcAft>
                          <a:spcPts val="0"/>
                        </a:spcAft>
                      </a:pPr>
                      <a:r>
                        <a:rPr lang="en-US" sz="1600">
                          <a:solidFill>
                            <a:srgbClr val="000000"/>
                          </a:solidFill>
                          <a:latin typeface="Calibri"/>
                          <a:ea typeface="Times New Roman"/>
                          <a:cs typeface="Times New Roman"/>
                        </a:rPr>
                        <a:t> 243.5 </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(1,560)</a:t>
                      </a:r>
                      <a:endParaRPr lang="en-US" sz="1600">
                        <a:latin typeface="Calibri"/>
                        <a:ea typeface="Calibri"/>
                        <a:cs typeface="Times New Roman"/>
                      </a:endParaRPr>
                    </a:p>
                  </a:txBody>
                  <a:tcPr marL="60618" marR="60618"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340806">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440 </a:t>
                      </a:r>
                      <a:endParaRPr lang="en-US" sz="1600">
                        <a:latin typeface="Calibri"/>
                        <a:ea typeface="Calibri"/>
                        <a:cs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r>
              <a:tr h="340806">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2/3 carried forward</a:t>
                      </a:r>
                      <a:endParaRPr lang="en-US" sz="1600">
                        <a:latin typeface="Calibri"/>
                        <a:ea typeface="Calibri"/>
                        <a:cs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marL="0" marR="0">
                        <a:lnSpc>
                          <a:spcPct val="115000"/>
                        </a:lnSpc>
                        <a:spcBef>
                          <a:spcPts val="0"/>
                        </a:spcBef>
                        <a:spcAft>
                          <a:spcPts val="0"/>
                        </a:spcAft>
                      </a:pPr>
                      <a:r>
                        <a:rPr lang="en-US" sz="1600">
                          <a:solidFill>
                            <a:srgbClr val="000000"/>
                          </a:solidFill>
                          <a:latin typeface="Calibri"/>
                          <a:ea typeface="Times New Roman"/>
                          <a:cs typeface="Times New Roman"/>
                        </a:rPr>
                        <a:t>          293 </a:t>
                      </a:r>
                      <a:endParaRPr lang="en-US" sz="1600">
                        <a:latin typeface="Calibri"/>
                        <a:ea typeface="Calibri"/>
                        <a:cs typeface="Times New Roman"/>
                      </a:endParaRPr>
                    </a:p>
                  </a:txBody>
                  <a:tcPr marL="60618" marR="60618"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a:latin typeface="Calibri"/>
                        <a:ea typeface="Times New Roman"/>
                      </a:endParaRPr>
                    </a:p>
                  </a:txBody>
                  <a:tcPr marL="60618" marR="60618" marT="0" marB="0" anchor="b">
                    <a:lnL>
                      <a:noFill/>
                    </a:lnL>
                    <a:lnR>
                      <a:noFill/>
                    </a:lnR>
                    <a:lnT>
                      <a:noFill/>
                    </a:lnT>
                    <a:lnB>
                      <a:noFill/>
                    </a:lnB>
                  </a:tcPr>
                </a:tc>
                <a:tc>
                  <a:txBody>
                    <a:bodyPr/>
                    <a:lstStyle/>
                    <a:p>
                      <a:pPr>
                        <a:lnSpc>
                          <a:spcPct val="115000"/>
                        </a:lnSpc>
                      </a:pPr>
                      <a:endParaRPr lang="en-US" sz="1600" dirty="0">
                        <a:latin typeface="Calibri"/>
                        <a:ea typeface="Times New Roman"/>
                      </a:endParaRPr>
                    </a:p>
                  </a:txBody>
                  <a:tcPr marL="60618" marR="60618" marT="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364162"/>
          </a:xfrm>
          <a:solidFill>
            <a:schemeClr val="accent6">
              <a:lumMod val="75000"/>
            </a:schemeClr>
          </a:solidFill>
        </p:spPr>
        <p:txBody>
          <a:bodyPr/>
          <a:lstStyle/>
          <a:p>
            <a:pPr>
              <a:defRPr/>
            </a:pPr>
            <a:r>
              <a:rPr lang="en-US" dirty="0" smtClean="0">
                <a:solidFill>
                  <a:schemeClr val="bg1"/>
                </a:solidFill>
              </a:rPr>
              <a:t>PRACTICE QUESTION :</a:t>
            </a:r>
            <a:br>
              <a:rPr lang="en-US" dirty="0" smtClean="0">
                <a:solidFill>
                  <a:schemeClr val="bg1"/>
                </a:solidFill>
              </a:rPr>
            </a:br>
            <a:r>
              <a:rPr lang="en-US" dirty="0" smtClean="0">
                <a:solidFill>
                  <a:schemeClr val="bg1"/>
                </a:solidFill>
              </a:rPr>
              <a:t>MHOFU RANCHERS</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0" y="381000"/>
            <a:ext cx="4572000" cy="923925"/>
          </a:xfrm>
          <a:prstGeom prst="rect">
            <a:avLst/>
          </a:prstGeom>
          <a:noFill/>
          <a:ln w="9525">
            <a:noFill/>
            <a:miter lim="800000"/>
            <a:headEnd/>
            <a:tailEnd/>
          </a:ln>
        </p:spPr>
        <p:txBody>
          <a:bodyPr>
            <a:spAutoFit/>
          </a:bodyPr>
          <a:lstStyle/>
          <a:p>
            <a:r>
              <a:rPr lang="en-ZW" b="1">
                <a:solidFill>
                  <a:srgbClr val="C00000"/>
                </a:solidFill>
              </a:rPr>
              <a:t>Question 3</a:t>
            </a:r>
          </a:p>
          <a:p>
            <a:endParaRPr lang="en-ZW">
              <a:solidFill>
                <a:srgbClr val="C00000"/>
              </a:solidFill>
            </a:endParaRPr>
          </a:p>
          <a:p>
            <a:r>
              <a:rPr lang="en-ZW" b="1">
                <a:solidFill>
                  <a:srgbClr val="C00000"/>
                </a:solidFill>
              </a:rPr>
              <a:t>Farming</a:t>
            </a:r>
          </a:p>
        </p:txBody>
      </p:sp>
      <p:sp>
        <p:nvSpPr>
          <p:cNvPr id="66563" name="Rectangle 3"/>
          <p:cNvSpPr>
            <a:spLocks noChangeArrowheads="1"/>
          </p:cNvSpPr>
          <p:nvPr/>
        </p:nvSpPr>
        <p:spPr bwMode="auto">
          <a:xfrm>
            <a:off x="0" y="990600"/>
            <a:ext cx="8534400" cy="2586038"/>
          </a:xfrm>
          <a:prstGeom prst="rect">
            <a:avLst/>
          </a:prstGeom>
          <a:noFill/>
          <a:ln w="9525">
            <a:noFill/>
            <a:miter lim="800000"/>
            <a:headEnd/>
            <a:tailEnd/>
          </a:ln>
        </p:spPr>
        <p:txBody>
          <a:bodyPr>
            <a:spAutoFit/>
          </a:bodyPr>
          <a:lstStyle/>
          <a:p>
            <a:endParaRPr lang="en-ZW"/>
          </a:p>
          <a:p>
            <a:r>
              <a:rPr lang="en-ZW"/>
              <a:t> </a:t>
            </a:r>
          </a:p>
          <a:p>
            <a:r>
              <a:rPr lang="en-ZW">
                <a:solidFill>
                  <a:srgbClr val="002060"/>
                </a:solidFill>
              </a:rPr>
              <a:t>Mhofu Ranchers (PVT) Ltd was incorporated in January 2012. In March 2012, the company acquired a farm in Matabeleland North Province under the Government sponsored A2 land resettlement scheme and immediately commenced livestock farming operations.</a:t>
            </a:r>
          </a:p>
          <a:p>
            <a:endParaRPr lang="en-ZW">
              <a:solidFill>
                <a:srgbClr val="002060"/>
              </a:solidFill>
            </a:endParaRPr>
          </a:p>
          <a:p>
            <a:r>
              <a:rPr lang="en-ZW">
                <a:solidFill>
                  <a:srgbClr val="002060"/>
                </a:solidFill>
              </a:rPr>
              <a:t>The company paid an amount of $120,000 allocated to the farm improvements on the farm as follows:</a:t>
            </a:r>
          </a:p>
        </p:txBody>
      </p:sp>
      <p:sp>
        <p:nvSpPr>
          <p:cNvPr id="66564" name="Rectangle 4"/>
          <p:cNvSpPr>
            <a:spLocks noChangeArrowheads="1"/>
          </p:cNvSpPr>
          <p:nvPr/>
        </p:nvSpPr>
        <p:spPr bwMode="auto">
          <a:xfrm>
            <a:off x="0" y="3505200"/>
            <a:ext cx="7086600" cy="2032000"/>
          </a:xfrm>
          <a:prstGeom prst="rect">
            <a:avLst/>
          </a:prstGeom>
          <a:noFill/>
          <a:ln w="9525">
            <a:noFill/>
            <a:miter lim="800000"/>
            <a:headEnd/>
            <a:tailEnd/>
          </a:ln>
        </p:spPr>
        <p:txBody>
          <a:bodyPr>
            <a:spAutoFit/>
          </a:bodyPr>
          <a:lstStyle/>
          <a:p>
            <a:endParaRPr lang="en-ZW">
              <a:solidFill>
                <a:srgbClr val="002060"/>
              </a:solidFill>
            </a:endParaRPr>
          </a:p>
          <a:p>
            <a:r>
              <a:rPr lang="en-ZW">
                <a:solidFill>
                  <a:srgbClr val="002060"/>
                </a:solidFill>
              </a:rPr>
              <a:t>Ranching land				                  nil</a:t>
            </a:r>
          </a:p>
          <a:p>
            <a:r>
              <a:rPr lang="en-ZW">
                <a:solidFill>
                  <a:srgbClr val="002060"/>
                </a:solidFill>
              </a:rPr>
              <a:t>Farm manager’s house				20 000</a:t>
            </a:r>
          </a:p>
          <a:p>
            <a:r>
              <a:rPr lang="en-ZW">
                <a:solidFill>
                  <a:srgbClr val="002060"/>
                </a:solidFill>
              </a:rPr>
              <a:t>Staff housing(10 units)				30 000</a:t>
            </a:r>
          </a:p>
          <a:p>
            <a:r>
              <a:rPr lang="en-ZW">
                <a:solidFill>
                  <a:srgbClr val="002060"/>
                </a:solidFill>
              </a:rPr>
              <a:t>Dam 					               25 000</a:t>
            </a:r>
          </a:p>
          <a:p>
            <a:r>
              <a:rPr lang="en-ZW">
                <a:solidFill>
                  <a:srgbClr val="002060"/>
                </a:solidFill>
              </a:rPr>
              <a:t>Cattle transportation lorries			</a:t>
            </a:r>
            <a:r>
              <a:rPr lang="en-ZW" u="sng">
                <a:solidFill>
                  <a:srgbClr val="002060"/>
                </a:solidFill>
              </a:rPr>
              <a:t>45 000</a:t>
            </a:r>
          </a:p>
          <a:p>
            <a:r>
              <a:rPr lang="en-ZW">
                <a:solidFill>
                  <a:srgbClr val="002060"/>
                </a:solidFill>
              </a:rPr>
              <a:t>					             </a:t>
            </a:r>
            <a:r>
              <a:rPr lang="en-ZW" b="1" u="sng">
                <a:solidFill>
                  <a:srgbClr val="002060"/>
                </a:solidFill>
              </a:rPr>
              <a:t>120 000</a:t>
            </a:r>
            <a:endParaRPr lang="en-ZW" u="sng">
              <a:solidFill>
                <a:srgbClr val="002060"/>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52400" y="228600"/>
          <a:ext cx="8991603" cy="6324597"/>
        </p:xfrm>
        <a:graphic>
          <a:graphicData uri="http://schemas.openxmlformats.org/drawingml/2006/table">
            <a:tbl>
              <a:tblPr/>
              <a:tblGrid>
                <a:gridCol w="3496058"/>
                <a:gridCol w="1389915"/>
                <a:gridCol w="1364324"/>
                <a:gridCol w="375955"/>
                <a:gridCol w="115413"/>
                <a:gridCol w="1672873"/>
                <a:gridCol w="115413"/>
                <a:gridCol w="115413"/>
                <a:gridCol w="115413"/>
                <a:gridCol w="115413"/>
                <a:gridCol w="115413"/>
              </a:tblGrid>
              <a:tr h="373216">
                <a:tc gridSpan="7">
                  <a:txBody>
                    <a:bodyPr/>
                    <a:lstStyle/>
                    <a:p>
                      <a:pPr marL="0" marR="0" algn="just">
                        <a:lnSpc>
                          <a:spcPct val="115000"/>
                        </a:lnSpc>
                        <a:spcBef>
                          <a:spcPts val="0"/>
                        </a:spcBef>
                        <a:spcAft>
                          <a:spcPts val="1000"/>
                        </a:spcAft>
                      </a:pPr>
                      <a:r>
                        <a:rPr lang="en-ZW" sz="1800" dirty="0">
                          <a:solidFill>
                            <a:srgbClr val="303280"/>
                          </a:solidFill>
                          <a:latin typeface="Times New Roman"/>
                          <a:ea typeface="Calibri"/>
                          <a:cs typeface="Times New Roman"/>
                        </a:rPr>
                        <a:t>In </a:t>
                      </a:r>
                      <a:r>
                        <a:rPr lang="en-ZW" sz="1800" dirty="0" smtClean="0">
                          <a:solidFill>
                            <a:srgbClr val="303280"/>
                          </a:solidFill>
                          <a:latin typeface="Times New Roman"/>
                          <a:ea typeface="Calibri"/>
                          <a:cs typeface="Times New Roman"/>
                        </a:rPr>
                        <a:t>April 2012, </a:t>
                      </a:r>
                      <a:r>
                        <a:rPr lang="en-ZW" sz="1800" dirty="0">
                          <a:solidFill>
                            <a:srgbClr val="303280"/>
                          </a:solidFill>
                          <a:latin typeface="Times New Roman"/>
                          <a:ea typeface="Calibri"/>
                          <a:cs typeface="Times New Roman"/>
                        </a:rPr>
                        <a:t>the company purchased the following livestock:</a:t>
                      </a: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r h="346507">
                <a:tc>
                  <a:txBody>
                    <a:bodyPr/>
                    <a:lstStyle/>
                    <a:p>
                      <a:endParaRPr lang="en-ZW" sz="1800" dirty="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r h="404701">
                <a:tc>
                  <a:txBody>
                    <a:bodyPr/>
                    <a:lstStyle/>
                    <a:p>
                      <a:pPr marL="0" marR="0" algn="just">
                        <a:lnSpc>
                          <a:spcPct val="115000"/>
                        </a:lnSpc>
                        <a:spcBef>
                          <a:spcPts val="0"/>
                        </a:spcBef>
                        <a:spcAft>
                          <a:spcPts val="1000"/>
                        </a:spcAft>
                      </a:pPr>
                      <a:r>
                        <a:rPr lang="en-ZW" sz="1800" dirty="0" smtClean="0">
                          <a:solidFill>
                            <a:srgbClr val="303280"/>
                          </a:solidFill>
                          <a:latin typeface="Times New Roman"/>
                          <a:ea typeface="Calibri"/>
                          <a:cs typeface="Times New Roman"/>
                        </a:rPr>
                        <a:t>3Bulls                                                       </a:t>
                      </a: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a:txBody>
                    <a:bodyPr/>
                    <a:lstStyle/>
                    <a:p>
                      <a:pPr marL="0" marR="0" algn="just">
                        <a:lnSpc>
                          <a:spcPct val="115000"/>
                        </a:lnSpc>
                        <a:spcBef>
                          <a:spcPts val="0"/>
                        </a:spcBef>
                        <a:spcAft>
                          <a:spcPts val="1000"/>
                        </a:spcAft>
                      </a:pPr>
                      <a:r>
                        <a:rPr lang="en-ZW" sz="1800" dirty="0">
                          <a:solidFill>
                            <a:srgbClr val="303280"/>
                          </a:solidFill>
                          <a:latin typeface="Times New Roman"/>
                          <a:ea typeface="Calibri"/>
                          <a:cs typeface="Times New Roman"/>
                        </a:rPr>
                        <a:t>                           </a:t>
                      </a: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pPr marL="0" marR="0" algn="r">
                        <a:lnSpc>
                          <a:spcPct val="115000"/>
                        </a:lnSpc>
                        <a:spcBef>
                          <a:spcPts val="0"/>
                        </a:spcBef>
                        <a:spcAft>
                          <a:spcPts val="1000"/>
                        </a:spcAft>
                      </a:pPr>
                      <a:r>
                        <a:rPr lang="en-ZW" sz="1800">
                          <a:solidFill>
                            <a:srgbClr val="303280"/>
                          </a:solidFill>
                          <a:latin typeface="Times New Roman"/>
                          <a:ea typeface="Calibri"/>
                          <a:cs typeface="Times New Roman"/>
                        </a:rPr>
                        <a:t>2,400</a:t>
                      </a:r>
                      <a:endParaRPr lang="en-ZW" sz="1800">
                        <a:solidFill>
                          <a:srgbClr val="303280"/>
                        </a:solidFill>
                        <a:latin typeface="Calibri"/>
                        <a:ea typeface="Calibri"/>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r h="375074">
                <a:tc>
                  <a:txBody>
                    <a:bodyPr/>
                    <a:lstStyle/>
                    <a:p>
                      <a:pPr marL="0" marR="0" algn="just">
                        <a:lnSpc>
                          <a:spcPct val="115000"/>
                        </a:lnSpc>
                        <a:spcBef>
                          <a:spcPts val="0"/>
                        </a:spcBef>
                        <a:spcAft>
                          <a:spcPts val="1000"/>
                        </a:spcAft>
                      </a:pPr>
                      <a:r>
                        <a:rPr lang="en-ZW" sz="1800" dirty="0" smtClean="0">
                          <a:solidFill>
                            <a:srgbClr val="303280"/>
                          </a:solidFill>
                          <a:latin typeface="Times New Roman"/>
                          <a:ea typeface="Calibri"/>
                          <a:cs typeface="Times New Roman"/>
                        </a:rPr>
                        <a:t>150Cows                                                                                                                     </a:t>
                      </a:r>
                      <a:r>
                        <a:rPr lang="en-ZW" sz="1800" baseline="0" dirty="0" smtClean="0">
                          <a:solidFill>
                            <a:srgbClr val="303280"/>
                          </a:solidFill>
                          <a:latin typeface="Times New Roman"/>
                          <a:ea typeface="Calibri"/>
                          <a:cs typeface="Times New Roman"/>
                        </a:rPr>
                        <a:t>      </a:t>
                      </a: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a:txBody>
                    <a:bodyPr/>
                    <a:lstStyle/>
                    <a:p>
                      <a:pPr marL="0" marR="0" algn="just">
                        <a:lnSpc>
                          <a:spcPct val="115000"/>
                        </a:lnSpc>
                        <a:spcBef>
                          <a:spcPts val="0"/>
                        </a:spcBef>
                        <a:spcAft>
                          <a:spcPts val="1000"/>
                        </a:spcAft>
                      </a:pP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pPr marL="0" marR="0" algn="r">
                        <a:lnSpc>
                          <a:spcPct val="115000"/>
                        </a:lnSpc>
                        <a:spcBef>
                          <a:spcPts val="0"/>
                        </a:spcBef>
                        <a:spcAft>
                          <a:spcPts val="1000"/>
                        </a:spcAft>
                      </a:pPr>
                      <a:r>
                        <a:rPr lang="en-ZW" sz="1800">
                          <a:solidFill>
                            <a:srgbClr val="303280"/>
                          </a:solidFill>
                          <a:latin typeface="Times New Roman"/>
                          <a:ea typeface="Calibri"/>
                          <a:cs typeface="Times New Roman"/>
                        </a:rPr>
                        <a:t>60,000</a:t>
                      </a:r>
                      <a:endParaRPr lang="en-ZW" sz="1800">
                        <a:solidFill>
                          <a:srgbClr val="303280"/>
                        </a:solidFill>
                        <a:latin typeface="Calibri"/>
                        <a:ea typeface="Calibri"/>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r h="373216">
                <a:tc>
                  <a:txBody>
                    <a:bodyPr/>
                    <a:lstStyle/>
                    <a:p>
                      <a:pPr marL="0" marR="0" algn="just">
                        <a:lnSpc>
                          <a:spcPct val="115000"/>
                        </a:lnSpc>
                        <a:spcBef>
                          <a:spcPts val="0"/>
                        </a:spcBef>
                        <a:spcAft>
                          <a:spcPts val="1000"/>
                        </a:spcAft>
                      </a:pPr>
                      <a:r>
                        <a:rPr lang="en-ZW" sz="1800" dirty="0" smtClean="0">
                          <a:solidFill>
                            <a:srgbClr val="303280"/>
                          </a:solidFill>
                          <a:latin typeface="Times New Roman"/>
                          <a:ea typeface="Calibri"/>
                          <a:cs typeface="Times New Roman"/>
                        </a:rPr>
                        <a:t>90Oxen                                                                                                                   </a:t>
                      </a: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a:txBody>
                    <a:bodyPr/>
                    <a:lstStyle/>
                    <a:p>
                      <a:endParaRPr lang="en-ZW" sz="1800" dirty="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pPr marL="0" marR="0" algn="r">
                        <a:lnSpc>
                          <a:spcPct val="115000"/>
                        </a:lnSpc>
                        <a:spcBef>
                          <a:spcPts val="0"/>
                        </a:spcBef>
                        <a:spcAft>
                          <a:spcPts val="1000"/>
                        </a:spcAft>
                      </a:pPr>
                      <a:r>
                        <a:rPr lang="en-ZW" sz="1800">
                          <a:solidFill>
                            <a:srgbClr val="303280"/>
                          </a:solidFill>
                          <a:latin typeface="Times New Roman"/>
                          <a:ea typeface="Calibri"/>
                          <a:cs typeface="Times New Roman"/>
                        </a:rPr>
                        <a:t>32,000</a:t>
                      </a:r>
                      <a:endParaRPr lang="en-ZW" sz="1800">
                        <a:solidFill>
                          <a:srgbClr val="303280"/>
                        </a:solidFill>
                        <a:latin typeface="Calibri"/>
                        <a:ea typeface="Calibri"/>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r h="373216">
                <a:tc gridSpan="2">
                  <a:txBody>
                    <a:bodyPr/>
                    <a:lstStyle/>
                    <a:p>
                      <a:pPr marL="0" marR="0" algn="just">
                        <a:lnSpc>
                          <a:spcPct val="115000"/>
                        </a:lnSpc>
                        <a:spcBef>
                          <a:spcPts val="0"/>
                        </a:spcBef>
                        <a:spcAft>
                          <a:spcPts val="1000"/>
                        </a:spcAft>
                      </a:pPr>
                      <a:r>
                        <a:rPr lang="en-ZW" sz="1800" dirty="0" smtClean="0">
                          <a:solidFill>
                            <a:srgbClr val="303280"/>
                          </a:solidFill>
                          <a:latin typeface="Times New Roman"/>
                          <a:ea typeface="Calibri"/>
                          <a:cs typeface="Times New Roman"/>
                        </a:rPr>
                        <a:t>28Heifers                                                                                                                       </a:t>
                      </a: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a:txBody>
                    <a:bodyPr/>
                    <a:lstStyle/>
                    <a:p>
                      <a:endParaRPr lang="en-ZW" sz="1800" dirty="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pPr marL="0" marR="0" algn="r">
                        <a:lnSpc>
                          <a:spcPct val="115000"/>
                        </a:lnSpc>
                        <a:spcBef>
                          <a:spcPts val="0"/>
                        </a:spcBef>
                        <a:spcAft>
                          <a:spcPts val="1000"/>
                        </a:spcAft>
                      </a:pPr>
                      <a:r>
                        <a:rPr lang="en-ZW" sz="1800">
                          <a:solidFill>
                            <a:srgbClr val="303280"/>
                          </a:solidFill>
                          <a:latin typeface="Times New Roman"/>
                          <a:ea typeface="Calibri"/>
                          <a:cs typeface="Times New Roman"/>
                        </a:rPr>
                        <a:t>7,000</a:t>
                      </a:r>
                      <a:endParaRPr lang="en-ZW" sz="1800">
                        <a:solidFill>
                          <a:srgbClr val="303280"/>
                        </a:solidFill>
                        <a:latin typeface="Calibri"/>
                        <a:ea typeface="Calibri"/>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r h="373216">
                <a:tc gridSpan="2">
                  <a:txBody>
                    <a:bodyPr/>
                    <a:lstStyle/>
                    <a:p>
                      <a:pPr marL="0" marR="0" algn="just">
                        <a:lnSpc>
                          <a:spcPct val="115000"/>
                        </a:lnSpc>
                        <a:spcBef>
                          <a:spcPts val="0"/>
                        </a:spcBef>
                        <a:spcAft>
                          <a:spcPts val="1000"/>
                        </a:spcAft>
                      </a:pPr>
                      <a:r>
                        <a:rPr lang="en-ZW" sz="1800" dirty="0" smtClean="0">
                          <a:solidFill>
                            <a:srgbClr val="303280"/>
                          </a:solidFill>
                          <a:latin typeface="Times New Roman"/>
                          <a:ea typeface="Calibri"/>
                          <a:cs typeface="Times New Roman"/>
                        </a:rPr>
                        <a:t>35Tollies                                                                                                                      </a:t>
                      </a: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pPr marL="0" marR="0" algn="r">
                        <a:lnSpc>
                          <a:spcPct val="115000"/>
                        </a:lnSpc>
                        <a:spcBef>
                          <a:spcPts val="0"/>
                        </a:spcBef>
                        <a:spcAft>
                          <a:spcPts val="1000"/>
                        </a:spcAft>
                      </a:pPr>
                      <a:r>
                        <a:rPr lang="en-ZW" sz="1800">
                          <a:solidFill>
                            <a:srgbClr val="303280"/>
                          </a:solidFill>
                          <a:latin typeface="Times New Roman"/>
                          <a:ea typeface="Calibri"/>
                          <a:cs typeface="Times New Roman"/>
                        </a:rPr>
                        <a:t>5,600</a:t>
                      </a:r>
                      <a:endParaRPr lang="en-ZW" sz="1800">
                        <a:solidFill>
                          <a:srgbClr val="303280"/>
                        </a:solidFill>
                        <a:latin typeface="Calibri"/>
                        <a:ea typeface="Calibri"/>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r h="373216">
                <a:tc>
                  <a:txBody>
                    <a:bodyPr/>
                    <a:lstStyle/>
                    <a:p>
                      <a:pPr marL="0" marR="0" algn="just">
                        <a:lnSpc>
                          <a:spcPct val="115000"/>
                        </a:lnSpc>
                        <a:spcBef>
                          <a:spcPts val="0"/>
                        </a:spcBef>
                        <a:spcAft>
                          <a:spcPts val="1000"/>
                        </a:spcAft>
                      </a:pPr>
                      <a:r>
                        <a:rPr lang="en-ZW" sz="1800" dirty="0" smtClean="0">
                          <a:solidFill>
                            <a:srgbClr val="303280"/>
                          </a:solidFill>
                          <a:latin typeface="Times New Roman"/>
                          <a:ea typeface="Calibri"/>
                          <a:cs typeface="Times New Roman"/>
                        </a:rPr>
                        <a:t>50Calves                                                                                                                        </a:t>
                      </a: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a:txBody>
                    <a:bodyPr/>
                    <a:lstStyle/>
                    <a:p>
                      <a:endParaRPr lang="en-ZW" sz="1800" dirty="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pPr marL="0" marR="0" algn="r">
                        <a:lnSpc>
                          <a:spcPct val="115000"/>
                        </a:lnSpc>
                        <a:spcBef>
                          <a:spcPts val="0"/>
                        </a:spcBef>
                        <a:spcAft>
                          <a:spcPts val="1000"/>
                        </a:spcAft>
                      </a:pPr>
                      <a:r>
                        <a:rPr lang="en-ZW" sz="1800" u="sng">
                          <a:solidFill>
                            <a:srgbClr val="303280"/>
                          </a:solidFill>
                          <a:latin typeface="Times New Roman"/>
                          <a:ea typeface="Calibri"/>
                          <a:cs typeface="Times New Roman"/>
                        </a:rPr>
                        <a:t>5,200</a:t>
                      </a:r>
                      <a:endParaRPr lang="en-ZW" sz="1800">
                        <a:solidFill>
                          <a:srgbClr val="303280"/>
                        </a:solidFill>
                        <a:latin typeface="Calibri"/>
                        <a:ea typeface="Calibri"/>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r h="373216">
                <a:tc>
                  <a:txBody>
                    <a:bodyPr/>
                    <a:lstStyle/>
                    <a:p>
                      <a:pPr marL="0" marR="0" algn="just">
                        <a:lnSpc>
                          <a:spcPct val="115000"/>
                        </a:lnSpc>
                        <a:spcBef>
                          <a:spcPts val="0"/>
                        </a:spcBef>
                        <a:spcAft>
                          <a:spcPts val="1000"/>
                        </a:spcAft>
                      </a:pPr>
                      <a:r>
                        <a:rPr lang="en-ZW" sz="1800" dirty="0">
                          <a:solidFill>
                            <a:srgbClr val="303280"/>
                          </a:solidFill>
                          <a:latin typeface="Times New Roman"/>
                          <a:ea typeface="Calibri"/>
                          <a:cs typeface="Times New Roman"/>
                        </a:rPr>
                        <a:t>                                 </a:t>
                      </a:r>
                      <a:r>
                        <a:rPr lang="en-ZW" sz="1800" dirty="0" smtClean="0">
                          <a:solidFill>
                            <a:srgbClr val="303280"/>
                          </a:solidFill>
                          <a:latin typeface="Times New Roman"/>
                          <a:ea typeface="Calibri"/>
                          <a:cs typeface="Times New Roman"/>
                        </a:rPr>
                        <a:t>   </a:t>
                      </a: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pPr marL="0" marR="0" algn="r">
                        <a:lnSpc>
                          <a:spcPct val="115000"/>
                        </a:lnSpc>
                        <a:spcBef>
                          <a:spcPts val="0"/>
                        </a:spcBef>
                        <a:spcAft>
                          <a:spcPts val="1000"/>
                        </a:spcAft>
                      </a:pPr>
                      <a:r>
                        <a:rPr lang="en-ZW" sz="1800" b="1" u="sng">
                          <a:solidFill>
                            <a:srgbClr val="303280"/>
                          </a:solidFill>
                          <a:latin typeface="Times New Roman"/>
                          <a:ea typeface="Calibri"/>
                          <a:cs typeface="Times New Roman"/>
                        </a:rPr>
                        <a:t>112,200</a:t>
                      </a:r>
                      <a:endParaRPr lang="en-ZW" sz="1800">
                        <a:solidFill>
                          <a:srgbClr val="303280"/>
                        </a:solidFill>
                        <a:latin typeface="Calibri"/>
                        <a:ea typeface="Calibri"/>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r h="346507">
                <a:tc>
                  <a:txBody>
                    <a:bodyPr/>
                    <a:lstStyle/>
                    <a:p>
                      <a:endParaRPr lang="en-ZW" sz="1800" dirty="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r h="373216">
                <a:tc gridSpan="9">
                  <a:txBody>
                    <a:bodyPr/>
                    <a:lstStyle/>
                    <a:p>
                      <a:pPr marL="0" marR="0" algn="just">
                        <a:lnSpc>
                          <a:spcPct val="115000"/>
                        </a:lnSpc>
                        <a:spcBef>
                          <a:spcPts val="0"/>
                        </a:spcBef>
                        <a:spcAft>
                          <a:spcPts val="1000"/>
                        </a:spcAft>
                      </a:pPr>
                      <a:r>
                        <a:rPr lang="en-ZW" sz="1800" dirty="0">
                          <a:solidFill>
                            <a:srgbClr val="303280"/>
                          </a:solidFill>
                          <a:latin typeface="Times New Roman"/>
                          <a:ea typeface="Calibri"/>
                          <a:cs typeface="Times New Roman"/>
                        </a:rPr>
                        <a:t>Livestock movements between 1 </a:t>
                      </a:r>
                      <a:r>
                        <a:rPr lang="en-ZW" sz="1800" dirty="0" smtClean="0">
                          <a:solidFill>
                            <a:srgbClr val="303280"/>
                          </a:solidFill>
                          <a:latin typeface="Times New Roman"/>
                          <a:ea typeface="Calibri"/>
                          <a:cs typeface="Times New Roman"/>
                        </a:rPr>
                        <a:t>April</a:t>
                      </a:r>
                      <a:r>
                        <a:rPr lang="en-ZW" sz="1800" baseline="0" dirty="0" smtClean="0">
                          <a:solidFill>
                            <a:srgbClr val="303280"/>
                          </a:solidFill>
                          <a:latin typeface="Times New Roman"/>
                          <a:ea typeface="Calibri"/>
                          <a:cs typeface="Times New Roman"/>
                        </a:rPr>
                        <a:t> 2012 </a:t>
                      </a:r>
                      <a:r>
                        <a:rPr lang="en-ZW" sz="1800" dirty="0" smtClean="0">
                          <a:solidFill>
                            <a:srgbClr val="303280"/>
                          </a:solidFill>
                          <a:latin typeface="Times New Roman"/>
                          <a:ea typeface="Calibri"/>
                          <a:cs typeface="Times New Roman"/>
                        </a:rPr>
                        <a:t> </a:t>
                      </a:r>
                      <a:r>
                        <a:rPr lang="en-ZW" sz="1800" dirty="0">
                          <a:solidFill>
                            <a:srgbClr val="303280"/>
                          </a:solidFill>
                          <a:latin typeface="Times New Roman"/>
                          <a:ea typeface="Calibri"/>
                          <a:cs typeface="Times New Roman"/>
                        </a:rPr>
                        <a:t>and </a:t>
                      </a:r>
                      <a:r>
                        <a:rPr lang="en-ZW" sz="1800" dirty="0" smtClean="0">
                          <a:solidFill>
                            <a:srgbClr val="303280"/>
                          </a:solidFill>
                          <a:latin typeface="Times New Roman"/>
                          <a:ea typeface="Calibri"/>
                          <a:cs typeface="Times New Roman"/>
                        </a:rPr>
                        <a:t>31 December  2012 </a:t>
                      </a:r>
                      <a:r>
                        <a:rPr lang="en-ZW" sz="1800" dirty="0">
                          <a:solidFill>
                            <a:srgbClr val="303280"/>
                          </a:solidFill>
                          <a:latin typeface="Times New Roman"/>
                          <a:ea typeface="Calibri"/>
                          <a:cs typeface="Times New Roman"/>
                        </a:rPr>
                        <a:t>were as follows:</a:t>
                      </a: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r h="373216">
                <a:tc gridSpan="5">
                  <a:txBody>
                    <a:bodyPr/>
                    <a:lstStyle/>
                    <a:p>
                      <a:pPr marL="0" marR="0" algn="just">
                        <a:lnSpc>
                          <a:spcPct val="115000"/>
                        </a:lnSpc>
                        <a:spcBef>
                          <a:spcPts val="0"/>
                        </a:spcBef>
                        <a:spcAft>
                          <a:spcPts val="1000"/>
                        </a:spcAft>
                      </a:pPr>
                      <a:r>
                        <a:rPr lang="en-ZW" sz="1800" dirty="0">
                          <a:solidFill>
                            <a:srgbClr val="303280"/>
                          </a:solidFill>
                          <a:latin typeface="Times New Roman"/>
                          <a:ea typeface="Calibri"/>
                          <a:cs typeface="Times New Roman"/>
                        </a:rPr>
                        <a:t>●  25 calves were born on the farm during the year;</a:t>
                      </a: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r h="373216">
                <a:tc gridSpan="4">
                  <a:txBody>
                    <a:bodyPr/>
                    <a:lstStyle/>
                    <a:p>
                      <a:pPr marL="0" marR="0" algn="just">
                        <a:lnSpc>
                          <a:spcPct val="115000"/>
                        </a:lnSpc>
                        <a:spcBef>
                          <a:spcPts val="0"/>
                        </a:spcBef>
                        <a:spcAft>
                          <a:spcPts val="1000"/>
                        </a:spcAft>
                      </a:pPr>
                      <a:r>
                        <a:rPr lang="en-ZW" sz="1800" dirty="0">
                          <a:solidFill>
                            <a:srgbClr val="303280"/>
                          </a:solidFill>
                          <a:latin typeface="Times New Roman"/>
                          <a:ea typeface="Calibri"/>
                          <a:cs typeface="Times New Roman"/>
                        </a:rPr>
                        <a:t>●  40 calves were reclassified to heifers</a:t>
                      </a: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r h="373216">
                <a:tc gridSpan="4">
                  <a:txBody>
                    <a:bodyPr/>
                    <a:lstStyle/>
                    <a:p>
                      <a:pPr marL="0" marR="0" algn="just">
                        <a:lnSpc>
                          <a:spcPct val="115000"/>
                        </a:lnSpc>
                        <a:spcBef>
                          <a:spcPts val="0"/>
                        </a:spcBef>
                        <a:spcAft>
                          <a:spcPts val="1000"/>
                        </a:spcAft>
                      </a:pPr>
                      <a:r>
                        <a:rPr lang="en-ZW" sz="1800" dirty="0">
                          <a:solidFill>
                            <a:srgbClr val="303280"/>
                          </a:solidFill>
                          <a:latin typeface="Times New Roman"/>
                          <a:ea typeface="Calibri"/>
                          <a:cs typeface="Times New Roman"/>
                        </a:rPr>
                        <a:t>● 10 calves were reclassified to </a:t>
                      </a:r>
                      <a:r>
                        <a:rPr lang="en-ZW" sz="1800" dirty="0" err="1">
                          <a:solidFill>
                            <a:srgbClr val="303280"/>
                          </a:solidFill>
                          <a:latin typeface="Times New Roman"/>
                          <a:ea typeface="Calibri"/>
                          <a:cs typeface="Times New Roman"/>
                        </a:rPr>
                        <a:t>tollies</a:t>
                      </a:r>
                      <a:r>
                        <a:rPr lang="en-ZW" sz="1800" dirty="0">
                          <a:solidFill>
                            <a:srgbClr val="303280"/>
                          </a:solidFill>
                          <a:latin typeface="Times New Roman"/>
                          <a:ea typeface="Calibri"/>
                          <a:cs typeface="Times New Roman"/>
                        </a:rPr>
                        <a:t>;</a:t>
                      </a: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r h="373216">
                <a:tc gridSpan="4">
                  <a:txBody>
                    <a:bodyPr/>
                    <a:lstStyle/>
                    <a:p>
                      <a:pPr marL="0" marR="0" algn="just">
                        <a:lnSpc>
                          <a:spcPct val="115000"/>
                        </a:lnSpc>
                        <a:spcBef>
                          <a:spcPts val="0"/>
                        </a:spcBef>
                        <a:spcAft>
                          <a:spcPts val="1000"/>
                        </a:spcAft>
                      </a:pPr>
                      <a:r>
                        <a:rPr lang="en-ZW" sz="1800" dirty="0">
                          <a:solidFill>
                            <a:srgbClr val="303280"/>
                          </a:solidFill>
                          <a:latin typeface="Times New Roman"/>
                          <a:ea typeface="Calibri"/>
                          <a:cs typeface="Times New Roman"/>
                        </a:rPr>
                        <a:t>●  5 </a:t>
                      </a:r>
                      <a:r>
                        <a:rPr lang="en-ZW" sz="1800" dirty="0" err="1">
                          <a:solidFill>
                            <a:srgbClr val="303280"/>
                          </a:solidFill>
                          <a:latin typeface="Times New Roman"/>
                          <a:ea typeface="Calibri"/>
                          <a:cs typeface="Times New Roman"/>
                        </a:rPr>
                        <a:t>tollies</a:t>
                      </a:r>
                      <a:r>
                        <a:rPr lang="en-ZW" sz="1800" dirty="0">
                          <a:solidFill>
                            <a:srgbClr val="303280"/>
                          </a:solidFill>
                          <a:latin typeface="Times New Roman"/>
                          <a:ea typeface="Calibri"/>
                          <a:cs typeface="Times New Roman"/>
                        </a:rPr>
                        <a:t> were slaughtered for rations; </a:t>
                      </a: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r h="373216">
                <a:tc gridSpan="5">
                  <a:txBody>
                    <a:bodyPr/>
                    <a:lstStyle/>
                    <a:p>
                      <a:pPr marL="0" marR="0" algn="just">
                        <a:lnSpc>
                          <a:spcPct val="115000"/>
                        </a:lnSpc>
                        <a:spcBef>
                          <a:spcPts val="0"/>
                        </a:spcBef>
                        <a:spcAft>
                          <a:spcPts val="1000"/>
                        </a:spcAft>
                      </a:pPr>
                      <a:r>
                        <a:rPr lang="en-ZW" sz="1800" dirty="0">
                          <a:solidFill>
                            <a:srgbClr val="303280"/>
                          </a:solidFill>
                          <a:latin typeface="Times New Roman"/>
                          <a:ea typeface="Calibri"/>
                          <a:cs typeface="Times New Roman"/>
                        </a:rPr>
                        <a:t>●  20 </a:t>
                      </a:r>
                      <a:r>
                        <a:rPr lang="en-ZW" sz="1800" dirty="0" err="1">
                          <a:solidFill>
                            <a:srgbClr val="303280"/>
                          </a:solidFill>
                          <a:latin typeface="Times New Roman"/>
                          <a:ea typeface="Calibri"/>
                          <a:cs typeface="Times New Roman"/>
                        </a:rPr>
                        <a:t>tollies</a:t>
                      </a:r>
                      <a:r>
                        <a:rPr lang="en-ZW" sz="1800" dirty="0">
                          <a:solidFill>
                            <a:srgbClr val="303280"/>
                          </a:solidFill>
                          <a:latin typeface="Times New Roman"/>
                          <a:ea typeface="Calibri"/>
                          <a:cs typeface="Times New Roman"/>
                        </a:rPr>
                        <a:t> were reclassified to oxen; and</a:t>
                      </a: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r h="373216">
                <a:tc gridSpan="4">
                  <a:txBody>
                    <a:bodyPr/>
                    <a:lstStyle/>
                    <a:p>
                      <a:pPr marL="0" marR="0" algn="just">
                        <a:lnSpc>
                          <a:spcPct val="115000"/>
                        </a:lnSpc>
                        <a:spcBef>
                          <a:spcPts val="0"/>
                        </a:spcBef>
                        <a:spcAft>
                          <a:spcPts val="1000"/>
                        </a:spcAft>
                      </a:pPr>
                      <a:r>
                        <a:rPr lang="en-ZW" sz="1800" dirty="0">
                          <a:solidFill>
                            <a:srgbClr val="303280"/>
                          </a:solidFill>
                          <a:latin typeface="Times New Roman"/>
                          <a:ea typeface="Calibri"/>
                          <a:cs typeface="Times New Roman"/>
                        </a:rPr>
                        <a:t>●  22 heifers were reclassified to cows.</a:t>
                      </a:r>
                      <a:endParaRPr lang="en-ZW" sz="1800" dirty="0">
                        <a:solidFill>
                          <a:srgbClr val="303280"/>
                        </a:solidFill>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endParaRPr lang="en-ZW" sz="1800" dirty="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30328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a:solidFill>
                          <a:srgbClr val="C0000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800" dirty="0">
                        <a:solidFill>
                          <a:srgbClr val="C00000"/>
                        </a:solidFill>
                        <a:latin typeface="Calibri"/>
                        <a:ea typeface="Times New Roman"/>
                        <a:cs typeface="Times New Roman"/>
                      </a:endParaRPr>
                    </a:p>
                  </a:txBody>
                  <a:tcPr marL="27016" marR="27016" marT="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381000" y="228600"/>
          <a:ext cx="8458200" cy="8939008"/>
        </p:xfrm>
        <a:graphic>
          <a:graphicData uri="http://schemas.openxmlformats.org/drawingml/2006/table">
            <a:tbl>
              <a:tblPr/>
              <a:tblGrid>
                <a:gridCol w="3048616"/>
                <a:gridCol w="1333205"/>
                <a:gridCol w="1308659"/>
                <a:gridCol w="360616"/>
                <a:gridCol w="110704"/>
                <a:gridCol w="1604618"/>
                <a:gridCol w="110704"/>
                <a:gridCol w="60822"/>
                <a:gridCol w="92170"/>
                <a:gridCol w="97083"/>
                <a:gridCol w="64064"/>
                <a:gridCol w="110704"/>
                <a:gridCol w="64064"/>
                <a:gridCol w="92171"/>
              </a:tblGrid>
              <a:tr h="231616">
                <a:tc>
                  <a:txBody>
                    <a:bodyPr/>
                    <a:lstStyle/>
                    <a:p>
                      <a:pPr marL="0" marR="0" algn="just">
                        <a:lnSpc>
                          <a:spcPct val="115000"/>
                        </a:lnSpc>
                        <a:spcBef>
                          <a:spcPts val="0"/>
                        </a:spcBef>
                        <a:spcAft>
                          <a:spcPts val="1000"/>
                        </a:spcAft>
                      </a:pPr>
                      <a:r>
                        <a:rPr lang="en-ZW" sz="1600" b="1" dirty="0" smtClean="0">
                          <a:solidFill>
                            <a:srgbClr val="002060"/>
                          </a:solidFill>
                          <a:latin typeface="Times New Roman"/>
                          <a:ea typeface="Calibri"/>
                          <a:cs typeface="Times New Roman"/>
                        </a:rPr>
                        <a:t>Notes</a:t>
                      </a:r>
                      <a:endParaRPr lang="en-ZW" sz="1600" dirty="0">
                        <a:solidFill>
                          <a:srgbClr val="002060"/>
                        </a:solidFill>
                        <a:latin typeface="Calibri"/>
                        <a:ea typeface="Calibri"/>
                        <a:cs typeface="Times New Roman"/>
                      </a:endParaRPr>
                    </a:p>
                  </a:txBody>
                  <a:tcPr marL="27016" marR="27016"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gridSpan="2">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c gridSpan="2">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gridSpan="2">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r>
              <a:tr h="215040">
                <a:tc>
                  <a:txBody>
                    <a:bodyPr/>
                    <a:lstStyle/>
                    <a:p>
                      <a:endParaRPr lang="en-ZW" sz="1600" dirty="0">
                        <a:solidFill>
                          <a:srgbClr val="00206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gridSpan="2">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c gridSpan="2">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c>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gridSpan="2">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r>
              <a:tr h="304734">
                <a:tc gridSpan="14">
                  <a:txBody>
                    <a:bodyPr/>
                    <a:lstStyle/>
                    <a:p>
                      <a:pPr marL="514350" marR="0" indent="-117475" algn="just">
                        <a:lnSpc>
                          <a:spcPct val="115000"/>
                        </a:lnSpc>
                        <a:spcBef>
                          <a:spcPts val="0"/>
                        </a:spcBef>
                        <a:spcAft>
                          <a:spcPts val="1000"/>
                        </a:spcAft>
                        <a:buAutoNum type="romanLcParenBoth"/>
                      </a:pPr>
                      <a:r>
                        <a:rPr lang="en-ZW" sz="1600" dirty="0" smtClean="0">
                          <a:solidFill>
                            <a:srgbClr val="002060"/>
                          </a:solidFill>
                          <a:latin typeface="Times New Roman"/>
                          <a:ea typeface="Calibri"/>
                          <a:cs typeface="Times New Roman"/>
                        </a:rPr>
                        <a:t> 40 </a:t>
                      </a:r>
                      <a:r>
                        <a:rPr lang="en-ZW" sz="1600" dirty="0">
                          <a:solidFill>
                            <a:srgbClr val="002060"/>
                          </a:solidFill>
                          <a:latin typeface="Times New Roman"/>
                          <a:ea typeface="Calibri"/>
                          <a:cs typeface="Times New Roman"/>
                        </a:rPr>
                        <a:t>cows and 50 oxen were sold for $ 45,000 to some private abattoirs during </a:t>
                      </a:r>
                      <a:r>
                        <a:rPr lang="en-ZW" sz="1600" dirty="0" smtClean="0">
                          <a:solidFill>
                            <a:srgbClr val="002060"/>
                          </a:solidFill>
                          <a:latin typeface="Times New Roman"/>
                          <a:ea typeface="Calibri"/>
                          <a:cs typeface="Times New Roman"/>
                        </a:rPr>
                        <a:t> </a:t>
                      </a:r>
                    </a:p>
                    <a:p>
                      <a:pPr marL="514350" marR="0" indent="-117475" algn="just">
                        <a:lnSpc>
                          <a:spcPct val="115000"/>
                        </a:lnSpc>
                        <a:spcBef>
                          <a:spcPts val="0"/>
                        </a:spcBef>
                        <a:spcAft>
                          <a:spcPts val="1000"/>
                        </a:spcAft>
                        <a:buNone/>
                      </a:pPr>
                      <a:r>
                        <a:rPr lang="en-ZW" sz="1600" dirty="0" smtClean="0">
                          <a:solidFill>
                            <a:srgbClr val="002060"/>
                          </a:solidFill>
                          <a:latin typeface="Times New Roman"/>
                          <a:ea typeface="Calibri"/>
                          <a:cs typeface="Times New Roman"/>
                        </a:rPr>
                        <a:t>     the first </a:t>
                      </a:r>
                      <a:r>
                        <a:rPr lang="en-ZW" sz="1600" dirty="0">
                          <a:solidFill>
                            <a:srgbClr val="002060"/>
                          </a:solidFill>
                          <a:latin typeface="Times New Roman"/>
                          <a:ea typeface="Calibri"/>
                          <a:cs typeface="Times New Roman"/>
                        </a:rPr>
                        <a:t>half of the year. </a:t>
                      </a:r>
                      <a:endParaRPr lang="en-ZW" sz="1600" dirty="0">
                        <a:solidFill>
                          <a:srgbClr val="002060"/>
                        </a:solidFill>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r>
              <a:tr h="215040">
                <a:tc>
                  <a:txBody>
                    <a:bodyPr/>
                    <a:lstStyle/>
                    <a:p>
                      <a:endParaRPr lang="en-ZW" sz="1600" dirty="0">
                        <a:solidFill>
                          <a:srgbClr val="00206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gridSpan="2">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c gridSpan="2">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gridSpan="2">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r>
              <a:tr h="4447032">
                <a:tc gridSpan="12">
                  <a:txBody>
                    <a:bodyPr/>
                    <a:lstStyle/>
                    <a:p>
                      <a:pPr marL="396875" marR="0" indent="0" algn="just" defTabSz="914400" rtl="0" eaLnBrk="1" fontAlgn="auto" latinLnBrk="0" hangingPunct="1">
                        <a:lnSpc>
                          <a:spcPct val="115000"/>
                        </a:lnSpc>
                        <a:spcBef>
                          <a:spcPts val="0"/>
                        </a:spcBef>
                        <a:spcAft>
                          <a:spcPts val="1000"/>
                        </a:spcAft>
                        <a:buClrTx/>
                        <a:buSzTx/>
                        <a:buFontTx/>
                        <a:buNone/>
                        <a:tabLst/>
                        <a:defRPr/>
                      </a:pPr>
                      <a:r>
                        <a:rPr lang="en-ZW" sz="1600" dirty="0">
                          <a:solidFill>
                            <a:srgbClr val="002060"/>
                          </a:solidFill>
                          <a:latin typeface="Times New Roman"/>
                          <a:ea typeface="Calibri"/>
                          <a:cs typeface="Times New Roman"/>
                        </a:rPr>
                        <a:t>(ii) In July </a:t>
                      </a:r>
                      <a:r>
                        <a:rPr lang="en-ZW" sz="1600" dirty="0" smtClean="0">
                          <a:solidFill>
                            <a:srgbClr val="002060"/>
                          </a:solidFill>
                          <a:latin typeface="Times New Roman"/>
                          <a:ea typeface="Calibri"/>
                          <a:cs typeface="Times New Roman"/>
                        </a:rPr>
                        <a:t>2012, </a:t>
                      </a:r>
                      <a:r>
                        <a:rPr lang="en-ZW" sz="1600" dirty="0">
                          <a:solidFill>
                            <a:srgbClr val="002060"/>
                          </a:solidFill>
                          <a:latin typeface="Times New Roman"/>
                          <a:ea typeface="Calibri"/>
                          <a:cs typeface="Times New Roman"/>
                        </a:rPr>
                        <a:t>the farm was declared as an epidemic area by the Minister of </a:t>
                      </a:r>
                      <a:r>
                        <a:rPr lang="en-ZW" sz="1600" dirty="0" smtClean="0">
                          <a:solidFill>
                            <a:srgbClr val="002060"/>
                          </a:solidFill>
                          <a:latin typeface="Times New Roman"/>
                          <a:ea typeface="Calibri"/>
                          <a:cs typeface="Times New Roman"/>
                        </a:rPr>
                        <a:t>  </a:t>
                      </a:r>
                    </a:p>
                    <a:p>
                      <a:pPr marL="396875" marR="0" indent="0" algn="just" defTabSz="914400" rtl="0" eaLnBrk="1" fontAlgn="auto" latinLnBrk="0" hangingPunct="1">
                        <a:lnSpc>
                          <a:spcPct val="115000"/>
                        </a:lnSpc>
                        <a:spcBef>
                          <a:spcPts val="0"/>
                        </a:spcBef>
                        <a:spcAft>
                          <a:spcPts val="1000"/>
                        </a:spcAft>
                        <a:buClrTx/>
                        <a:buSzTx/>
                        <a:buFontTx/>
                        <a:buNone/>
                        <a:tabLst/>
                        <a:defRPr/>
                      </a:pPr>
                      <a:r>
                        <a:rPr lang="en-ZW" sz="1600" dirty="0" smtClean="0">
                          <a:solidFill>
                            <a:srgbClr val="002060"/>
                          </a:solidFill>
                          <a:latin typeface="Times New Roman"/>
                          <a:ea typeface="Calibri"/>
                          <a:cs typeface="Times New Roman"/>
                        </a:rPr>
                        <a:t>       Agriculture </a:t>
                      </a:r>
                      <a:r>
                        <a:rPr lang="en-ZW" sz="1600" dirty="0">
                          <a:solidFill>
                            <a:srgbClr val="002060"/>
                          </a:solidFill>
                          <a:latin typeface="Times New Roman"/>
                          <a:ea typeface="Calibri"/>
                          <a:cs typeface="Times New Roman"/>
                        </a:rPr>
                        <a:t>due to </a:t>
                      </a:r>
                      <a:r>
                        <a:rPr lang="en-ZW" sz="1600" dirty="0" smtClean="0">
                          <a:solidFill>
                            <a:srgbClr val="002060"/>
                          </a:solidFill>
                          <a:latin typeface="Times New Roman"/>
                          <a:ea typeface="Calibri"/>
                          <a:cs typeface="Times New Roman"/>
                        </a:rPr>
                        <a:t>an outbreak of foot and mouth disease. The    </a:t>
                      </a:r>
                    </a:p>
                    <a:p>
                      <a:pPr marL="396875" marR="0" indent="0" algn="just" defTabSz="914400" rtl="0" eaLnBrk="1" fontAlgn="auto" latinLnBrk="0" hangingPunct="1">
                        <a:lnSpc>
                          <a:spcPct val="115000"/>
                        </a:lnSpc>
                        <a:spcBef>
                          <a:spcPts val="0"/>
                        </a:spcBef>
                        <a:spcAft>
                          <a:spcPts val="1000"/>
                        </a:spcAft>
                        <a:buClrTx/>
                        <a:buSzTx/>
                        <a:buFontTx/>
                        <a:buNone/>
                        <a:tabLst/>
                        <a:defRPr/>
                      </a:pPr>
                      <a:r>
                        <a:rPr lang="en-ZW" sz="1600" dirty="0" smtClean="0">
                          <a:solidFill>
                            <a:srgbClr val="002060"/>
                          </a:solidFill>
                          <a:latin typeface="Times New Roman"/>
                          <a:ea typeface="Calibri"/>
                          <a:cs typeface="Times New Roman"/>
                        </a:rPr>
                        <a:t>       company was forced to sale 30 cows for $21,000 as  a result of the   </a:t>
                      </a:r>
                    </a:p>
                    <a:p>
                      <a:pPr marL="396875" marR="0" indent="0" algn="just" defTabSz="914400" rtl="0" eaLnBrk="1" fontAlgn="auto" latinLnBrk="0" hangingPunct="1">
                        <a:lnSpc>
                          <a:spcPct val="115000"/>
                        </a:lnSpc>
                        <a:spcBef>
                          <a:spcPts val="0"/>
                        </a:spcBef>
                        <a:spcAft>
                          <a:spcPts val="1000"/>
                        </a:spcAft>
                        <a:buClrTx/>
                        <a:buSzTx/>
                        <a:buFontTx/>
                        <a:buNone/>
                        <a:tabLst/>
                        <a:defRPr/>
                      </a:pPr>
                      <a:r>
                        <a:rPr lang="en-ZW" sz="1600" dirty="0" smtClean="0">
                          <a:solidFill>
                            <a:srgbClr val="002060"/>
                          </a:solidFill>
                          <a:latin typeface="Times New Roman"/>
                          <a:ea typeface="Calibri"/>
                          <a:cs typeface="Times New Roman"/>
                        </a:rPr>
                        <a:t>       epidemic disease.</a:t>
                      </a:r>
                      <a:endParaRPr lang="en-ZW" sz="1600" dirty="0" smtClean="0">
                        <a:solidFill>
                          <a:srgbClr val="002060"/>
                        </a:solidFill>
                        <a:latin typeface="Calibri"/>
                        <a:ea typeface="Calibri"/>
                        <a:cs typeface="Times New Roman"/>
                      </a:endParaRPr>
                    </a:p>
                    <a:p>
                      <a:pPr marL="457200" marR="0" indent="0" algn="just" defTabSz="914400" rtl="0" eaLnBrk="1" fontAlgn="auto" latinLnBrk="0" hangingPunct="1">
                        <a:lnSpc>
                          <a:spcPct val="115000"/>
                        </a:lnSpc>
                        <a:spcBef>
                          <a:spcPts val="0"/>
                        </a:spcBef>
                        <a:spcAft>
                          <a:spcPts val="1000"/>
                        </a:spcAft>
                        <a:buClrTx/>
                        <a:buSzTx/>
                        <a:buFontTx/>
                        <a:buNone/>
                        <a:tabLst/>
                        <a:defRPr/>
                      </a:pPr>
                      <a:r>
                        <a:rPr lang="en-ZW" sz="1600" dirty="0" smtClean="0">
                          <a:solidFill>
                            <a:srgbClr val="002060"/>
                          </a:solidFill>
                          <a:latin typeface="Times New Roman"/>
                          <a:ea typeface="Calibri"/>
                          <a:cs typeface="Times New Roman"/>
                        </a:rPr>
                        <a:t>iii) Eventually in October 2012, the epidemic disease was brought under control and the </a:t>
                      </a:r>
                    </a:p>
                    <a:p>
                      <a:pPr marL="457200" marR="0" indent="0" algn="just" defTabSz="914400" rtl="0" eaLnBrk="1" fontAlgn="auto" latinLnBrk="0" hangingPunct="1">
                        <a:lnSpc>
                          <a:spcPct val="115000"/>
                        </a:lnSpc>
                        <a:spcBef>
                          <a:spcPts val="0"/>
                        </a:spcBef>
                        <a:spcAft>
                          <a:spcPts val="1000"/>
                        </a:spcAft>
                        <a:buClrTx/>
                        <a:buSzTx/>
                        <a:buFontTx/>
                        <a:buNone/>
                        <a:tabLst/>
                        <a:defRPr/>
                      </a:pPr>
                      <a:r>
                        <a:rPr lang="en-ZW" sz="1600" dirty="0" smtClean="0">
                          <a:solidFill>
                            <a:srgbClr val="002060"/>
                          </a:solidFill>
                          <a:latin typeface="Times New Roman"/>
                          <a:ea typeface="Calibri"/>
                          <a:cs typeface="Times New Roman"/>
                        </a:rPr>
                        <a:t>      farm was declared by the Minister of Agriculture to be free from foot and mouth disease</a:t>
                      </a:r>
                      <a:endParaRPr lang="en-ZW" sz="1600" dirty="0" smtClean="0">
                        <a:solidFill>
                          <a:srgbClr val="002060"/>
                        </a:solidFill>
                        <a:latin typeface="+mn-lt"/>
                        <a:ea typeface="Calibri"/>
                        <a:cs typeface="Times New Roman"/>
                      </a:endParaRPr>
                    </a:p>
                    <a:p>
                      <a:pPr marL="457200" marR="0" indent="0" algn="just" defTabSz="914400" rtl="0" eaLnBrk="1" fontAlgn="auto" latinLnBrk="0" hangingPunct="1">
                        <a:lnSpc>
                          <a:spcPct val="115000"/>
                        </a:lnSpc>
                        <a:spcBef>
                          <a:spcPts val="0"/>
                        </a:spcBef>
                        <a:spcAft>
                          <a:spcPts val="1000"/>
                        </a:spcAft>
                        <a:buClrTx/>
                        <a:buSzTx/>
                        <a:buFontTx/>
                        <a:buNone/>
                        <a:tabLst/>
                        <a:defRPr/>
                      </a:pPr>
                      <a:r>
                        <a:rPr lang="en-ZW" sz="1600" dirty="0" smtClean="0">
                          <a:solidFill>
                            <a:srgbClr val="002060"/>
                          </a:solidFill>
                          <a:latin typeface="Times New Roman"/>
                          <a:ea typeface="Calibri"/>
                          <a:cs typeface="Times New Roman"/>
                        </a:rPr>
                        <a:t> (iv) The company restocked the farm with 50 cows which were purchased for $ 30,000 in </a:t>
                      </a:r>
                    </a:p>
                    <a:p>
                      <a:pPr marL="457200" marR="0" indent="0" algn="just" defTabSz="914400" rtl="0" eaLnBrk="1" fontAlgn="auto" latinLnBrk="0" hangingPunct="1">
                        <a:lnSpc>
                          <a:spcPct val="115000"/>
                        </a:lnSpc>
                        <a:spcBef>
                          <a:spcPts val="0"/>
                        </a:spcBef>
                        <a:spcAft>
                          <a:spcPts val="1000"/>
                        </a:spcAft>
                        <a:buClrTx/>
                        <a:buSzTx/>
                        <a:buFontTx/>
                        <a:buNone/>
                        <a:tabLst/>
                        <a:defRPr/>
                      </a:pPr>
                      <a:r>
                        <a:rPr lang="en-ZW" sz="1600" dirty="0" smtClean="0">
                          <a:solidFill>
                            <a:srgbClr val="002060"/>
                          </a:solidFill>
                          <a:latin typeface="Times New Roman"/>
                          <a:ea typeface="Calibri"/>
                          <a:cs typeface="Times New Roman"/>
                        </a:rPr>
                        <a:t>        October 2012.</a:t>
                      </a:r>
                      <a:endParaRPr lang="en-ZW" sz="1600" dirty="0" smtClean="0">
                        <a:solidFill>
                          <a:srgbClr val="002060"/>
                        </a:solidFill>
                        <a:latin typeface="+mn-lt"/>
                        <a:ea typeface="Calibri"/>
                        <a:cs typeface="Times New Roman"/>
                      </a:endParaRPr>
                    </a:p>
                    <a:p>
                      <a:pPr marL="457200" marR="0" indent="0" algn="just" defTabSz="914400" rtl="0" eaLnBrk="1" fontAlgn="auto" latinLnBrk="0" hangingPunct="1">
                        <a:lnSpc>
                          <a:spcPct val="115000"/>
                        </a:lnSpc>
                        <a:spcBef>
                          <a:spcPts val="0"/>
                        </a:spcBef>
                        <a:spcAft>
                          <a:spcPts val="1000"/>
                        </a:spcAft>
                        <a:buClrTx/>
                        <a:buSzTx/>
                        <a:buFontTx/>
                        <a:buNone/>
                        <a:tabLst/>
                        <a:defRPr/>
                      </a:pPr>
                      <a:r>
                        <a:rPr lang="en-ZW" sz="1600" dirty="0" smtClean="0">
                          <a:solidFill>
                            <a:srgbClr val="002060"/>
                          </a:solidFill>
                          <a:latin typeface="Times New Roman"/>
                          <a:ea typeface="Calibri"/>
                          <a:cs typeface="Times New Roman"/>
                        </a:rPr>
                        <a:t>(v) The department of AGRITEX determines the carrying capacity of the farm at 270 herd.</a:t>
                      </a:r>
                      <a:endParaRPr lang="en-ZW" sz="1600" dirty="0" smtClean="0">
                        <a:solidFill>
                          <a:srgbClr val="002060"/>
                        </a:solidFill>
                        <a:latin typeface="+mn-lt"/>
                        <a:ea typeface="Calibri"/>
                        <a:cs typeface="Times New Roman"/>
                      </a:endParaRPr>
                    </a:p>
                    <a:p>
                      <a:pPr marL="457200" marR="0" indent="0" algn="just" defTabSz="914400" rtl="0" eaLnBrk="1" fontAlgn="auto" latinLnBrk="0" hangingPunct="1">
                        <a:lnSpc>
                          <a:spcPct val="115000"/>
                        </a:lnSpc>
                        <a:spcBef>
                          <a:spcPts val="0"/>
                        </a:spcBef>
                        <a:spcAft>
                          <a:spcPts val="1000"/>
                        </a:spcAft>
                        <a:buClrTx/>
                        <a:buSzTx/>
                        <a:buFontTx/>
                        <a:buNone/>
                        <a:tabLst/>
                        <a:defRPr/>
                      </a:pPr>
                      <a:r>
                        <a:rPr lang="en-ZW" sz="1600" dirty="0" smtClean="0">
                          <a:solidFill>
                            <a:srgbClr val="002060"/>
                          </a:solidFill>
                          <a:latin typeface="Times New Roman"/>
                          <a:ea typeface="Calibri"/>
                          <a:cs typeface="Times New Roman"/>
                        </a:rPr>
                        <a:t>(vi) The herd’ direct running expenses for the year amounted to $ 8 000. All expenses are </a:t>
                      </a:r>
                    </a:p>
                    <a:p>
                      <a:pPr marL="457200" marR="0" indent="0" algn="just" defTabSz="914400" rtl="0" eaLnBrk="1" fontAlgn="auto" latinLnBrk="0" hangingPunct="1">
                        <a:lnSpc>
                          <a:spcPct val="115000"/>
                        </a:lnSpc>
                        <a:spcBef>
                          <a:spcPts val="0"/>
                        </a:spcBef>
                        <a:spcAft>
                          <a:spcPts val="1000"/>
                        </a:spcAft>
                        <a:buClrTx/>
                        <a:buSzTx/>
                        <a:buFontTx/>
                        <a:buNone/>
                        <a:tabLst/>
                        <a:defRPr/>
                      </a:pPr>
                      <a:r>
                        <a:rPr lang="en-ZW" sz="1600" dirty="0" smtClean="0">
                          <a:solidFill>
                            <a:srgbClr val="002060"/>
                          </a:solidFill>
                          <a:latin typeface="Times New Roman"/>
                          <a:ea typeface="Calibri"/>
                          <a:cs typeface="Times New Roman"/>
                        </a:rPr>
                        <a:t>       allowable </a:t>
                      </a:r>
                      <a:r>
                        <a:rPr lang="en-ZW" sz="1600" baseline="0" dirty="0" smtClean="0">
                          <a:solidFill>
                            <a:srgbClr val="002060"/>
                          </a:solidFill>
                          <a:latin typeface="+mn-lt"/>
                          <a:ea typeface="Calibri"/>
                          <a:cs typeface="Times New Roman"/>
                        </a:rPr>
                        <a:t> </a:t>
                      </a:r>
                      <a:r>
                        <a:rPr lang="en-ZW" sz="1600" dirty="0" smtClean="0">
                          <a:solidFill>
                            <a:srgbClr val="002060"/>
                          </a:solidFill>
                          <a:latin typeface="Times New Roman"/>
                          <a:ea typeface="Calibri"/>
                          <a:cs typeface="Times New Roman"/>
                        </a:rPr>
                        <a:t>for tax .</a:t>
                      </a:r>
                      <a:endParaRPr lang="en-ZW" sz="1600" dirty="0">
                        <a:solidFill>
                          <a:srgbClr val="002060"/>
                        </a:solidFill>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gridSpan="2">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r>
              <a:tr h="361944">
                <a:tc gridSpan="14">
                  <a:txBody>
                    <a:bodyPr/>
                    <a:lstStyle/>
                    <a:p>
                      <a:pPr marL="226695" marR="0" indent="-226695" algn="just">
                        <a:lnSpc>
                          <a:spcPct val="115000"/>
                        </a:lnSpc>
                        <a:spcBef>
                          <a:spcPts val="0"/>
                        </a:spcBef>
                        <a:spcAft>
                          <a:spcPts val="1000"/>
                        </a:spcAft>
                      </a:pPr>
                      <a:endParaRPr lang="en-ZW" sz="1600" dirty="0">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r>
              <a:tr h="215040">
                <a:tc gridSpan="3">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gridSpan="2">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c gridSpan="2">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c>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gridSpan="2">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r>
              <a:tr h="361944">
                <a:tc gridSpan="14">
                  <a:txBody>
                    <a:bodyPr/>
                    <a:lstStyle/>
                    <a:p>
                      <a:pPr marL="0" marR="0" algn="just">
                        <a:lnSpc>
                          <a:spcPct val="115000"/>
                        </a:lnSpc>
                        <a:spcBef>
                          <a:spcPts val="0"/>
                        </a:spcBef>
                        <a:spcAft>
                          <a:spcPts val="1000"/>
                        </a:spcAft>
                      </a:pPr>
                      <a:endParaRPr lang="en-ZW" sz="1600" dirty="0">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r>
              <a:tr h="215040">
                <a:tc gridSpan="7">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gridSpan="2">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c gridSpan="2">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c gridSpan="2">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sz="14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dirty="0"/>
                    </a:p>
                  </a:txBody>
                  <a:tcPr marL="27016" marR="27016" marT="0" marB="0" anchor="b">
                    <a:lnL>
                      <a:noFill/>
                    </a:lnL>
                    <a:lnR>
                      <a:noFill/>
                    </a:lnR>
                    <a:lnT>
                      <a:noFill/>
                    </a:lnT>
                    <a:lnB>
                      <a:noFill/>
                    </a:lnB>
                  </a:tcPr>
                </a:tc>
              </a:tr>
              <a:tr h="247296">
                <a:tc gridSpan="13">
                  <a:txBody>
                    <a:bodyPr/>
                    <a:lstStyle/>
                    <a:p>
                      <a:pPr marL="0" marR="0" algn="just">
                        <a:lnSpc>
                          <a:spcPct val="115000"/>
                        </a:lnSpc>
                        <a:spcBef>
                          <a:spcPts val="0"/>
                        </a:spcBef>
                        <a:spcAft>
                          <a:spcPts val="1000"/>
                        </a:spcAft>
                      </a:pPr>
                      <a:endParaRPr lang="en-ZW" sz="1600" dirty="0">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sz="14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p>
                  </a:txBody>
                  <a:tcPr marL="27016" marR="27016" marT="0" marB="0" anchor="b">
                    <a:lnL>
                      <a:noFill/>
                    </a:lnL>
                    <a:lnR>
                      <a:noFill/>
                    </a:lnR>
                    <a:lnT>
                      <a:noFill/>
                    </a:lnT>
                    <a:lnB>
                      <a:noFill/>
                    </a:lnB>
                  </a:tcPr>
                </a:tc>
              </a:tr>
              <a:tr h="316183">
                <a:tc>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gridSpan="2">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a:p>
                  </a:txBody>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gridSpan="3">
                  <a:txBody>
                    <a:bodyPr/>
                    <a:lstStyle/>
                    <a:p>
                      <a:endParaRPr lang="en-ZW" sz="1600" dirty="0"/>
                    </a:p>
                  </a:txBody>
                  <a:tcPr marL="27016" marR="27016" marT="0" marB="0" anchor="b">
                    <a:lnL>
                      <a:noFill/>
                    </a:lnL>
                    <a:lnR>
                      <a:noFill/>
                    </a:lnR>
                    <a:lnT>
                      <a:noFill/>
                    </a:lnT>
                    <a:lnB>
                      <a:noFill/>
                    </a:lnB>
                  </a:tcPr>
                </a:tc>
                <a:tc hMerge="1">
                  <a:txBody>
                    <a:bodyPr/>
                    <a:lstStyle/>
                    <a:p>
                      <a:endParaRPr lang="en-ZW" sz="14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sz="14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dirty="0"/>
                    </a:p>
                  </a:txBody>
                  <a:tcPr marL="27016" marR="27016" marT="0" marB="0" anchor="b">
                    <a:lnL>
                      <a:noFill/>
                    </a:lnL>
                    <a:lnR>
                      <a:noFill/>
                    </a:lnR>
                    <a:lnT>
                      <a:noFill/>
                    </a:lnT>
                    <a:lnB>
                      <a:noFill/>
                    </a:lnB>
                  </a:tcPr>
                </a:tc>
              </a:tr>
              <a:tr h="296209">
                <a:tc gridSpan="10">
                  <a:txBody>
                    <a:bodyPr/>
                    <a:lstStyle/>
                    <a:p>
                      <a:pPr marL="0" marR="0" algn="just">
                        <a:lnSpc>
                          <a:spcPct val="115000"/>
                        </a:lnSpc>
                        <a:spcBef>
                          <a:spcPts val="0"/>
                        </a:spcBef>
                        <a:spcAft>
                          <a:spcPts val="1000"/>
                        </a:spcAft>
                      </a:pPr>
                      <a:endParaRPr lang="en-ZW" sz="1600" dirty="0">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gridSpan="3">
                  <a:txBody>
                    <a:bodyPr/>
                    <a:lstStyle/>
                    <a:p>
                      <a:endParaRPr lang="en-ZW" sz="1600" dirty="0"/>
                    </a:p>
                  </a:txBody>
                  <a:tcPr marL="27016" marR="27016" marT="0" marB="0" anchor="b">
                    <a:lnL>
                      <a:noFill/>
                    </a:lnL>
                    <a:lnR>
                      <a:noFill/>
                    </a:lnR>
                    <a:lnT>
                      <a:noFill/>
                    </a:lnT>
                    <a:lnB>
                      <a:noFill/>
                    </a:lnB>
                  </a:tcPr>
                </a:tc>
                <a:tc hMerge="1">
                  <a:txBody>
                    <a:bodyPr/>
                    <a:lstStyle/>
                    <a:p>
                      <a:endParaRPr lang="en-ZW" sz="14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sz="14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dirty="0"/>
                    </a:p>
                  </a:txBody>
                  <a:tcPr marL="27016" marR="27016" marT="0" marB="0" anchor="b">
                    <a:lnL>
                      <a:noFill/>
                    </a:lnL>
                    <a:lnR>
                      <a:noFill/>
                    </a:lnR>
                    <a:lnT>
                      <a:noFill/>
                    </a:lnT>
                    <a:lnB>
                      <a:noFill/>
                    </a:lnB>
                  </a:tcPr>
                </a:tc>
              </a:tr>
              <a:tr h="50751">
                <a:tc>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dirty="0">
                        <a:latin typeface="Calibri"/>
                        <a:ea typeface="Times New Roman"/>
                        <a:cs typeface="Times New Roman"/>
                      </a:endParaRPr>
                    </a:p>
                  </a:txBody>
                  <a:tcPr marL="27016" marR="27016" marT="0" marB="0" anchor="b">
                    <a:lnL>
                      <a:noFill/>
                    </a:lnL>
                    <a:lnR>
                      <a:noFill/>
                    </a:lnR>
                    <a:lnT>
                      <a:noFill/>
                    </a:lnT>
                    <a:lnB>
                      <a:noFill/>
                    </a:lnB>
                  </a:tcPr>
                </a:tc>
                <a:tc gridSpan="2">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sz="14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dirty="0"/>
                    </a:p>
                  </a:txBody>
                  <a:tcPr marL="27016" marR="27016" marT="0" marB="0" anchor="b">
                    <a:lnL>
                      <a:noFill/>
                    </a:lnL>
                    <a:lnR>
                      <a:noFill/>
                    </a:lnR>
                    <a:lnT>
                      <a:noFill/>
                    </a:lnT>
                    <a:lnB>
                      <a:noFill/>
                    </a:lnB>
                  </a:tcPr>
                </a:tc>
                <a:tc>
                  <a:txBody>
                    <a:bodyPr/>
                    <a:lstStyle/>
                    <a:p>
                      <a:endParaRPr lang="en-ZW" sz="1600">
                        <a:latin typeface="Calibri"/>
                        <a:ea typeface="Times New Roman"/>
                        <a:cs typeface="Times New Roman"/>
                      </a:endParaRPr>
                    </a:p>
                  </a:txBody>
                  <a:tcPr marL="27016" marR="27016" marT="0" marB="0" anchor="b">
                    <a:lnL>
                      <a:noFill/>
                    </a:lnL>
                    <a:lnR>
                      <a:noFill/>
                    </a:lnR>
                    <a:lnT>
                      <a:noFill/>
                    </a:lnT>
                    <a:lnB>
                      <a:noFill/>
                    </a:lnB>
                  </a:tcPr>
                </a:tc>
                <a:tc gridSpan="3">
                  <a:txBody>
                    <a:bodyPr/>
                    <a:lstStyle/>
                    <a:p>
                      <a:endParaRPr lang="en-ZW" sz="1600" dirty="0"/>
                    </a:p>
                  </a:txBody>
                  <a:tcPr marL="27016" marR="27016" marT="0" marB="0" anchor="b">
                    <a:lnL>
                      <a:noFill/>
                    </a:lnL>
                    <a:lnR>
                      <a:noFill/>
                    </a:lnR>
                    <a:lnT>
                      <a:noFill/>
                    </a:lnT>
                    <a:lnB>
                      <a:noFill/>
                    </a:lnB>
                  </a:tcPr>
                </a:tc>
                <a:tc hMerge="1">
                  <a:txBody>
                    <a:bodyPr/>
                    <a:lstStyle/>
                    <a:p>
                      <a:endParaRPr lang="en-ZW" sz="1400">
                        <a:latin typeface="Calibri"/>
                        <a:ea typeface="Times New Roman"/>
                        <a:cs typeface="Times New Roman"/>
                      </a:endParaRPr>
                    </a:p>
                  </a:txBody>
                  <a:tcPr marL="27016" marR="27016" marT="0" marB="0" anchor="b">
                    <a:lnL>
                      <a:noFill/>
                    </a:lnL>
                    <a:lnR>
                      <a:noFill/>
                    </a:lnR>
                    <a:lnT>
                      <a:noFill/>
                    </a:lnT>
                    <a:lnB>
                      <a:noFill/>
                    </a:lnB>
                  </a:tcPr>
                </a:tc>
                <a:tc hMerge="1">
                  <a:txBody>
                    <a:bodyPr/>
                    <a:lstStyle/>
                    <a:p>
                      <a:endParaRPr lang="en-ZW" sz="1400">
                        <a:latin typeface="Calibri"/>
                        <a:ea typeface="Times New Roman"/>
                        <a:cs typeface="Times New Roman"/>
                      </a:endParaRPr>
                    </a:p>
                  </a:txBody>
                  <a:tcPr marL="27016" marR="27016" marT="0" marB="0" anchor="b">
                    <a:lnL>
                      <a:noFill/>
                    </a:lnL>
                    <a:lnR>
                      <a:noFill/>
                    </a:lnR>
                    <a:lnT>
                      <a:noFill/>
                    </a:lnT>
                    <a:lnB>
                      <a:noFill/>
                    </a:lnB>
                  </a:tcPr>
                </a:tc>
                <a:tc>
                  <a:txBody>
                    <a:bodyPr/>
                    <a:lstStyle/>
                    <a:p>
                      <a:endParaRPr lang="en-ZW" sz="1600"/>
                    </a:p>
                  </a:txBody>
                  <a:tcPr marL="27016" marR="27016" marT="0" marB="0" anchor="b">
                    <a:lnL>
                      <a:noFill/>
                    </a:lnL>
                    <a:lnR>
                      <a:noFill/>
                    </a:lnR>
                    <a:lnT>
                      <a:noFill/>
                    </a:lnT>
                    <a:lnB>
                      <a:noFill/>
                    </a:lnB>
                  </a:tcPr>
                </a:tc>
              </a:tr>
              <a:tr h="431751">
                <a:tc gridSpan="14">
                  <a:txBody>
                    <a:bodyPr/>
                    <a:lstStyle/>
                    <a:p>
                      <a:pPr marL="0" marR="0" algn="just">
                        <a:lnSpc>
                          <a:spcPct val="115000"/>
                        </a:lnSpc>
                        <a:spcBef>
                          <a:spcPts val="0"/>
                        </a:spcBef>
                        <a:spcAft>
                          <a:spcPts val="1000"/>
                        </a:spcAft>
                      </a:pPr>
                      <a:endParaRPr lang="en-ZW" sz="1600" dirty="0" smtClean="0">
                        <a:solidFill>
                          <a:srgbClr val="000000"/>
                        </a:solidFill>
                        <a:latin typeface="Times New Roman"/>
                        <a:ea typeface="Calibri"/>
                        <a:cs typeface="Times New Roman"/>
                      </a:endParaRPr>
                    </a:p>
                    <a:p>
                      <a:pPr marL="0" marR="0" algn="just">
                        <a:lnSpc>
                          <a:spcPct val="115000"/>
                        </a:lnSpc>
                        <a:spcBef>
                          <a:spcPts val="0"/>
                        </a:spcBef>
                        <a:spcAft>
                          <a:spcPts val="1000"/>
                        </a:spcAft>
                      </a:pPr>
                      <a:endParaRPr lang="en-ZW" sz="1600" dirty="0">
                        <a:latin typeface="Calibri"/>
                        <a:ea typeface="Calibri"/>
                        <a:cs typeface="Times New Roman"/>
                      </a:endParaRPr>
                    </a:p>
                  </a:txBody>
                  <a:tcPr marL="27016" marR="27016"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r>
            </a:tbl>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330200"/>
          <a:ext cx="9144001" cy="6545840"/>
        </p:xfrm>
        <a:graphic>
          <a:graphicData uri="http://schemas.openxmlformats.org/drawingml/2006/table">
            <a:tbl>
              <a:tblPr/>
              <a:tblGrid>
                <a:gridCol w="1012297"/>
                <a:gridCol w="140963"/>
                <a:gridCol w="1034378"/>
                <a:gridCol w="1924199"/>
                <a:gridCol w="118436"/>
                <a:gridCol w="4395372"/>
                <a:gridCol w="118436"/>
                <a:gridCol w="399920"/>
              </a:tblGrid>
              <a:tr h="258512">
                <a:tc gridSpan="7">
                  <a:txBody>
                    <a:bodyPr/>
                    <a:lstStyle/>
                    <a:p>
                      <a:pPr marL="0" marR="0" algn="just">
                        <a:lnSpc>
                          <a:spcPct val="115000"/>
                        </a:lnSpc>
                        <a:spcBef>
                          <a:spcPts val="0"/>
                        </a:spcBef>
                        <a:spcAft>
                          <a:spcPts val="1000"/>
                        </a:spcAft>
                      </a:pPr>
                      <a:r>
                        <a:rPr lang="en-ZW" sz="1600" dirty="0">
                          <a:solidFill>
                            <a:srgbClr val="002060"/>
                          </a:solidFill>
                          <a:latin typeface="Times New Roman"/>
                          <a:ea typeface="Calibri"/>
                          <a:cs typeface="Times New Roman"/>
                        </a:rPr>
                        <a:t>The following expenditure was incurred during the course of the year:</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r>
              <a:tr h="224793">
                <a:tc>
                  <a:txBody>
                    <a:bodyPr/>
                    <a:lstStyle/>
                    <a:p>
                      <a:endParaRPr lang="en-ZW" sz="14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r>
              <a:tr h="517025">
                <a:tc gridSpan="3">
                  <a:txBody>
                    <a:bodyPr/>
                    <a:lstStyle/>
                    <a:p>
                      <a:pPr marL="0" marR="0" algn="just">
                        <a:lnSpc>
                          <a:spcPct val="115000"/>
                        </a:lnSpc>
                        <a:spcBef>
                          <a:spcPts val="0"/>
                        </a:spcBef>
                        <a:spcAft>
                          <a:spcPts val="1000"/>
                        </a:spcAft>
                      </a:pPr>
                      <a:r>
                        <a:rPr lang="en-ZW" sz="1600" dirty="0">
                          <a:solidFill>
                            <a:srgbClr val="002060"/>
                          </a:solidFill>
                          <a:latin typeface="Times New Roman"/>
                          <a:ea typeface="Calibri"/>
                          <a:cs typeface="Times New Roman"/>
                        </a:rPr>
                        <a:t>Stumping </a:t>
                      </a:r>
                      <a:r>
                        <a:rPr lang="en-ZW" sz="1600" dirty="0" smtClean="0">
                          <a:solidFill>
                            <a:srgbClr val="002060"/>
                          </a:solidFill>
                          <a:latin typeface="Times New Roman"/>
                          <a:ea typeface="Calibri"/>
                          <a:cs typeface="Times New Roman"/>
                        </a:rPr>
                        <a:t>and clearing of land</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hMerge="1">
                  <a:txBody>
                    <a:bodyPr/>
                    <a:lstStyle/>
                    <a:p>
                      <a:endParaRPr lang="en-ZW"/>
                    </a:p>
                  </a:txBody>
                  <a:tcPr/>
                </a:tc>
                <a:tc hMerge="1">
                  <a:txBody>
                    <a:bodyPr/>
                    <a:lstStyle/>
                    <a:p>
                      <a:endParaRPr lang="en-ZW"/>
                    </a:p>
                  </a:txBody>
                  <a:tcPr/>
                </a:tc>
                <a:tc>
                  <a:txBody>
                    <a:bodyPr/>
                    <a:lstStyle/>
                    <a:p>
                      <a:pPr marL="0" marR="0" algn="just">
                        <a:lnSpc>
                          <a:spcPct val="115000"/>
                        </a:lnSpc>
                        <a:spcBef>
                          <a:spcPts val="0"/>
                        </a:spcBef>
                        <a:spcAft>
                          <a:spcPts val="1000"/>
                        </a:spcAft>
                      </a:pP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pPr marL="0" marR="0" algn="r">
                        <a:lnSpc>
                          <a:spcPct val="115000"/>
                        </a:lnSpc>
                        <a:spcBef>
                          <a:spcPts val="0"/>
                        </a:spcBef>
                        <a:spcAft>
                          <a:spcPts val="1000"/>
                        </a:spcAft>
                      </a:pPr>
                      <a:r>
                        <a:rPr lang="en-ZW" sz="1600" dirty="0" smtClean="0">
                          <a:solidFill>
                            <a:srgbClr val="002060"/>
                          </a:solidFill>
                          <a:latin typeface="Times New Roman"/>
                          <a:ea typeface="Calibri"/>
                          <a:cs typeface="Times New Roman"/>
                        </a:rPr>
                        <a:t>3,000 </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r>
              <a:tr h="258512">
                <a:tc gridSpan="4">
                  <a:txBody>
                    <a:bodyPr/>
                    <a:lstStyle/>
                    <a:p>
                      <a:pPr marL="0" marR="0" algn="just">
                        <a:lnSpc>
                          <a:spcPct val="115000"/>
                        </a:lnSpc>
                        <a:spcBef>
                          <a:spcPts val="0"/>
                        </a:spcBef>
                        <a:spcAft>
                          <a:spcPts val="1000"/>
                        </a:spcAft>
                      </a:pPr>
                      <a:r>
                        <a:rPr lang="en-ZW" sz="1600" dirty="0">
                          <a:solidFill>
                            <a:srgbClr val="002060"/>
                          </a:solidFill>
                          <a:latin typeface="Times New Roman"/>
                          <a:ea typeface="Calibri"/>
                          <a:cs typeface="Times New Roman"/>
                        </a:rPr>
                        <a:t>Sinking of boreholes and wells                                                                                                   </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pPr marL="0" marR="0" algn="r">
                        <a:lnSpc>
                          <a:spcPct val="115000"/>
                        </a:lnSpc>
                        <a:spcBef>
                          <a:spcPts val="0"/>
                        </a:spcBef>
                        <a:spcAft>
                          <a:spcPts val="1000"/>
                        </a:spcAft>
                      </a:pPr>
                      <a:r>
                        <a:rPr lang="en-ZW" sz="1600" dirty="0">
                          <a:solidFill>
                            <a:srgbClr val="002060"/>
                          </a:solidFill>
                          <a:latin typeface="Times New Roman"/>
                          <a:ea typeface="Calibri"/>
                          <a:cs typeface="Times New Roman"/>
                        </a:rPr>
                        <a:t>        </a:t>
                      </a:r>
                      <a:r>
                        <a:rPr lang="en-ZW" sz="1600" dirty="0" smtClean="0">
                          <a:solidFill>
                            <a:srgbClr val="002060"/>
                          </a:solidFill>
                          <a:latin typeface="Times New Roman"/>
                          <a:ea typeface="Calibri"/>
                          <a:cs typeface="Times New Roman"/>
                        </a:rPr>
                        <a:t>12,000 </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r>
              <a:tr h="424593">
                <a:tc gridSpan="2">
                  <a:txBody>
                    <a:bodyPr/>
                    <a:lstStyle/>
                    <a:p>
                      <a:pPr marL="0" marR="0" algn="just">
                        <a:lnSpc>
                          <a:spcPct val="115000"/>
                        </a:lnSpc>
                        <a:spcBef>
                          <a:spcPts val="0"/>
                        </a:spcBef>
                        <a:spcAft>
                          <a:spcPts val="1000"/>
                        </a:spcAft>
                      </a:pPr>
                      <a:r>
                        <a:rPr lang="en-ZW" sz="1600" dirty="0" smtClean="0">
                          <a:solidFill>
                            <a:srgbClr val="002060"/>
                          </a:solidFill>
                          <a:latin typeface="Times New Roman"/>
                          <a:ea typeface="Calibri"/>
                          <a:cs typeface="Times New Roman"/>
                        </a:rPr>
                        <a:t>New</a:t>
                      </a:r>
                      <a:r>
                        <a:rPr lang="en-ZW" sz="1600" baseline="0" dirty="0" smtClean="0">
                          <a:solidFill>
                            <a:srgbClr val="002060"/>
                          </a:solidFill>
                          <a:latin typeface="Times New Roman"/>
                          <a:ea typeface="Calibri"/>
                          <a:cs typeface="Times New Roman"/>
                        </a:rPr>
                        <a:t> fencing</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hMerge="1">
                  <a:txBody>
                    <a:bodyPr/>
                    <a:lstStyle/>
                    <a:p>
                      <a:endParaRPr lang="en-ZW"/>
                    </a:p>
                  </a:txBody>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pPr marL="0" marR="0" algn="just">
                        <a:lnSpc>
                          <a:spcPct val="115000"/>
                        </a:lnSpc>
                        <a:spcBef>
                          <a:spcPts val="0"/>
                        </a:spcBef>
                        <a:spcAft>
                          <a:spcPts val="1000"/>
                        </a:spcAft>
                      </a:pP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pPr marL="0" marR="0" algn="r">
                        <a:lnSpc>
                          <a:spcPct val="115000"/>
                        </a:lnSpc>
                        <a:spcBef>
                          <a:spcPts val="0"/>
                        </a:spcBef>
                        <a:spcAft>
                          <a:spcPts val="1000"/>
                        </a:spcAft>
                      </a:pPr>
                      <a:r>
                        <a:rPr lang="en-ZW" sz="1600" dirty="0">
                          <a:solidFill>
                            <a:srgbClr val="002060"/>
                          </a:solidFill>
                          <a:latin typeface="Times New Roman"/>
                          <a:ea typeface="Calibri"/>
                          <a:cs typeface="Times New Roman"/>
                        </a:rPr>
                        <a:t>        </a:t>
                      </a:r>
                      <a:r>
                        <a:rPr lang="en-ZW" sz="1600" dirty="0" smtClean="0">
                          <a:solidFill>
                            <a:srgbClr val="002060"/>
                          </a:solidFill>
                          <a:latin typeface="Times New Roman"/>
                          <a:ea typeface="Calibri"/>
                          <a:cs typeface="Times New Roman"/>
                        </a:rPr>
                        <a:t>2,600 </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r>
              <a:tr h="258512">
                <a:tc gridSpan="3">
                  <a:txBody>
                    <a:bodyPr/>
                    <a:lstStyle/>
                    <a:p>
                      <a:pPr marL="0" marR="0" algn="just">
                        <a:lnSpc>
                          <a:spcPct val="115000"/>
                        </a:lnSpc>
                        <a:spcBef>
                          <a:spcPts val="0"/>
                        </a:spcBef>
                        <a:spcAft>
                          <a:spcPts val="1000"/>
                        </a:spcAft>
                      </a:pPr>
                      <a:r>
                        <a:rPr lang="en-ZW" sz="1600" dirty="0">
                          <a:solidFill>
                            <a:srgbClr val="002060"/>
                          </a:solidFill>
                          <a:latin typeface="Times New Roman"/>
                          <a:ea typeface="Calibri"/>
                          <a:cs typeface="Times New Roman"/>
                        </a:rPr>
                        <a:t>Borehole equipment</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hMerge="1">
                  <a:txBody>
                    <a:bodyPr/>
                    <a:lstStyle/>
                    <a:p>
                      <a:endParaRPr lang="en-ZW"/>
                    </a:p>
                  </a:txBody>
                  <a:tcPr/>
                </a:tc>
                <a:tc hMerge="1">
                  <a:txBody>
                    <a:bodyPr/>
                    <a:lstStyle/>
                    <a:p>
                      <a:endParaRPr lang="en-ZW"/>
                    </a:p>
                  </a:txBody>
                  <a:tcPr/>
                </a:tc>
                <a:tc>
                  <a:txBody>
                    <a:bodyPr/>
                    <a:lstStyle/>
                    <a:p>
                      <a:pPr marL="0" marR="0" algn="just">
                        <a:lnSpc>
                          <a:spcPct val="115000"/>
                        </a:lnSpc>
                        <a:spcBef>
                          <a:spcPts val="0"/>
                        </a:spcBef>
                        <a:spcAft>
                          <a:spcPts val="1000"/>
                        </a:spcAft>
                      </a:pPr>
                      <a:r>
                        <a:rPr lang="en-ZW" sz="1600" dirty="0">
                          <a:solidFill>
                            <a:srgbClr val="002060"/>
                          </a:solidFill>
                          <a:latin typeface="Times New Roman"/>
                          <a:ea typeface="Calibri"/>
                          <a:cs typeface="Times New Roman"/>
                        </a:rPr>
                        <a:t>                                                               </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pPr marL="0" marR="0" algn="r">
                        <a:lnSpc>
                          <a:spcPct val="115000"/>
                        </a:lnSpc>
                        <a:spcBef>
                          <a:spcPts val="0"/>
                        </a:spcBef>
                        <a:spcAft>
                          <a:spcPts val="1000"/>
                        </a:spcAft>
                      </a:pPr>
                      <a:r>
                        <a:rPr lang="en-ZW" sz="1600" dirty="0">
                          <a:solidFill>
                            <a:srgbClr val="002060"/>
                          </a:solidFill>
                          <a:latin typeface="Times New Roman"/>
                          <a:ea typeface="Calibri"/>
                          <a:cs typeface="Times New Roman"/>
                        </a:rPr>
                        <a:t>       </a:t>
                      </a:r>
                      <a:r>
                        <a:rPr lang="en-ZW" sz="1600" dirty="0" smtClean="0">
                          <a:solidFill>
                            <a:srgbClr val="002060"/>
                          </a:solidFill>
                          <a:latin typeface="Times New Roman"/>
                          <a:ea typeface="Calibri"/>
                          <a:cs typeface="Times New Roman"/>
                        </a:rPr>
                        <a:t>15,000 </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r>
              <a:tr h="224793">
                <a:tc>
                  <a:txBody>
                    <a:bodyPr/>
                    <a:lstStyle/>
                    <a:p>
                      <a:endParaRPr lang="en-ZW" sz="14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r>
              <a:tr h="258512">
                <a:tc gridSpan="8">
                  <a:txBody>
                    <a:bodyPr/>
                    <a:lstStyle/>
                    <a:p>
                      <a:pPr marL="0" marR="0" algn="just">
                        <a:lnSpc>
                          <a:spcPct val="115000"/>
                        </a:lnSpc>
                        <a:spcBef>
                          <a:spcPts val="0"/>
                        </a:spcBef>
                        <a:spcAft>
                          <a:spcPts val="1000"/>
                        </a:spcAft>
                      </a:pPr>
                      <a:r>
                        <a:rPr lang="en-ZW" sz="1600" dirty="0">
                          <a:solidFill>
                            <a:srgbClr val="002060"/>
                          </a:solidFill>
                          <a:latin typeface="Times New Roman"/>
                          <a:ea typeface="Calibri"/>
                          <a:cs typeface="Times New Roman"/>
                        </a:rPr>
                        <a:t>The approved fixed standard values (FSVs') of the livestock are as follows: </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r>
              <a:tr h="244036">
                <a:tc gridSpan="2">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hMerge="1">
                  <a:txBody>
                    <a:bodyPr/>
                    <a:lstStyle/>
                    <a:p>
                      <a:endParaRPr lang="en-ZW" sz="1400">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r>
              <a:tr h="258512">
                <a:tc gridSpan="2">
                  <a:txBody>
                    <a:bodyPr/>
                    <a:lstStyle/>
                    <a:p>
                      <a:pPr marL="0" marR="0" algn="just">
                        <a:lnSpc>
                          <a:spcPct val="115000"/>
                        </a:lnSpc>
                        <a:spcBef>
                          <a:spcPts val="0"/>
                        </a:spcBef>
                        <a:spcAft>
                          <a:spcPts val="1000"/>
                        </a:spcAft>
                      </a:pPr>
                      <a:r>
                        <a:rPr lang="en-ZW" sz="1600" b="1" dirty="0">
                          <a:solidFill>
                            <a:srgbClr val="002060"/>
                          </a:solidFill>
                          <a:latin typeface="Times New Roman"/>
                          <a:ea typeface="Calibri"/>
                          <a:cs typeface="Times New Roman"/>
                        </a:rPr>
                        <a:t>Class</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hMerge="1">
                  <a:txBody>
                    <a:bodyPr/>
                    <a:lstStyle/>
                    <a:p>
                      <a:endParaRPr lang="en-ZW" sz="1400">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pPr marL="0" marR="0" indent="-57150" algn="just">
                        <a:lnSpc>
                          <a:spcPct val="115000"/>
                        </a:lnSpc>
                        <a:spcBef>
                          <a:spcPts val="0"/>
                        </a:spcBef>
                        <a:spcAft>
                          <a:spcPts val="1000"/>
                        </a:spcAft>
                      </a:pPr>
                      <a:r>
                        <a:rPr lang="en-ZW" sz="1600" b="1" dirty="0">
                          <a:solidFill>
                            <a:srgbClr val="002060"/>
                          </a:solidFill>
                          <a:latin typeface="Times New Roman"/>
                          <a:ea typeface="Calibri"/>
                          <a:cs typeface="Times New Roman"/>
                        </a:rPr>
                        <a:t>FSV($)</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r>
              <a:tr h="258512">
                <a:tc gridSpan="2">
                  <a:txBody>
                    <a:bodyPr/>
                    <a:lstStyle/>
                    <a:p>
                      <a:pPr marL="0" marR="0" algn="just">
                        <a:lnSpc>
                          <a:spcPct val="115000"/>
                        </a:lnSpc>
                        <a:spcBef>
                          <a:spcPts val="0"/>
                        </a:spcBef>
                        <a:spcAft>
                          <a:spcPts val="1000"/>
                        </a:spcAft>
                      </a:pPr>
                      <a:r>
                        <a:rPr lang="en-ZW" sz="1600" dirty="0">
                          <a:solidFill>
                            <a:srgbClr val="002060"/>
                          </a:solidFill>
                          <a:latin typeface="Times New Roman"/>
                          <a:ea typeface="Calibri"/>
                          <a:cs typeface="Times New Roman"/>
                        </a:rPr>
                        <a:t>Bulls</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hMerge="1">
                  <a:txBody>
                    <a:bodyPr/>
                    <a:lstStyle/>
                    <a:p>
                      <a:endParaRPr lang="en-ZW" sz="1400">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pPr marL="0" marR="0" algn="just">
                        <a:lnSpc>
                          <a:spcPct val="115000"/>
                        </a:lnSpc>
                        <a:spcBef>
                          <a:spcPts val="0"/>
                        </a:spcBef>
                        <a:spcAft>
                          <a:spcPts val="1000"/>
                        </a:spcAft>
                      </a:pPr>
                      <a:r>
                        <a:rPr lang="en-ZW" sz="1600" dirty="0" smtClean="0">
                          <a:solidFill>
                            <a:srgbClr val="002060"/>
                          </a:solidFill>
                          <a:latin typeface="Times New Roman"/>
                          <a:ea typeface="Calibri"/>
                          <a:cs typeface="Times New Roman"/>
                        </a:rPr>
                        <a:t> 800</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r>
              <a:tr h="258512">
                <a:tc gridSpan="2">
                  <a:txBody>
                    <a:bodyPr/>
                    <a:lstStyle/>
                    <a:p>
                      <a:pPr marL="0" marR="0" algn="just">
                        <a:lnSpc>
                          <a:spcPct val="115000"/>
                        </a:lnSpc>
                        <a:spcBef>
                          <a:spcPts val="0"/>
                        </a:spcBef>
                        <a:spcAft>
                          <a:spcPts val="1000"/>
                        </a:spcAft>
                      </a:pPr>
                      <a:r>
                        <a:rPr lang="en-ZW" sz="1600" dirty="0">
                          <a:solidFill>
                            <a:srgbClr val="002060"/>
                          </a:solidFill>
                          <a:latin typeface="Times New Roman"/>
                          <a:ea typeface="Calibri"/>
                          <a:cs typeface="Times New Roman"/>
                        </a:rPr>
                        <a:t>Cows</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hMerge="1">
                  <a:txBody>
                    <a:bodyPr/>
                    <a:lstStyle/>
                    <a:p>
                      <a:endParaRPr lang="en-ZW" sz="1400">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pPr marL="0" marR="0" algn="just">
                        <a:lnSpc>
                          <a:spcPct val="115000"/>
                        </a:lnSpc>
                        <a:spcBef>
                          <a:spcPts val="0"/>
                        </a:spcBef>
                        <a:spcAft>
                          <a:spcPts val="1000"/>
                        </a:spcAft>
                      </a:pPr>
                      <a:r>
                        <a:rPr lang="en-ZW" sz="1600" dirty="0">
                          <a:solidFill>
                            <a:srgbClr val="002060"/>
                          </a:solidFill>
                          <a:latin typeface="Times New Roman"/>
                          <a:ea typeface="Calibri"/>
                          <a:cs typeface="Times New Roman"/>
                        </a:rPr>
                        <a:t>600</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r>
              <a:tr h="258512">
                <a:tc gridSpan="2">
                  <a:txBody>
                    <a:bodyPr/>
                    <a:lstStyle/>
                    <a:p>
                      <a:pPr marL="0" marR="0" algn="just">
                        <a:lnSpc>
                          <a:spcPct val="115000"/>
                        </a:lnSpc>
                        <a:spcBef>
                          <a:spcPts val="0"/>
                        </a:spcBef>
                        <a:spcAft>
                          <a:spcPts val="1000"/>
                        </a:spcAft>
                      </a:pPr>
                      <a:r>
                        <a:rPr lang="en-ZW" sz="1600" dirty="0">
                          <a:solidFill>
                            <a:srgbClr val="002060"/>
                          </a:solidFill>
                          <a:latin typeface="Times New Roman"/>
                          <a:ea typeface="Calibri"/>
                          <a:cs typeface="Times New Roman"/>
                        </a:rPr>
                        <a:t>Heifers</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hMerge="1">
                  <a:txBody>
                    <a:bodyPr/>
                    <a:lstStyle/>
                    <a:p>
                      <a:endParaRPr lang="en-ZW" sz="1400">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pPr marL="0" marR="0" algn="just">
                        <a:lnSpc>
                          <a:spcPct val="115000"/>
                        </a:lnSpc>
                        <a:spcBef>
                          <a:spcPts val="0"/>
                        </a:spcBef>
                        <a:spcAft>
                          <a:spcPts val="1000"/>
                        </a:spcAft>
                      </a:pPr>
                      <a:r>
                        <a:rPr lang="en-ZW" sz="1600" dirty="0">
                          <a:solidFill>
                            <a:srgbClr val="002060"/>
                          </a:solidFill>
                          <a:latin typeface="Times New Roman"/>
                          <a:ea typeface="Calibri"/>
                          <a:cs typeface="Times New Roman"/>
                        </a:rPr>
                        <a:t>500</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r>
              <a:tr h="258512">
                <a:tc gridSpan="2">
                  <a:txBody>
                    <a:bodyPr/>
                    <a:lstStyle/>
                    <a:p>
                      <a:pPr marL="0" marR="0" algn="just">
                        <a:lnSpc>
                          <a:spcPct val="115000"/>
                        </a:lnSpc>
                        <a:spcBef>
                          <a:spcPts val="0"/>
                        </a:spcBef>
                        <a:spcAft>
                          <a:spcPts val="1000"/>
                        </a:spcAft>
                      </a:pPr>
                      <a:r>
                        <a:rPr lang="en-ZW" sz="1600" dirty="0">
                          <a:solidFill>
                            <a:srgbClr val="002060"/>
                          </a:solidFill>
                          <a:latin typeface="Times New Roman"/>
                          <a:ea typeface="Calibri"/>
                          <a:cs typeface="Times New Roman"/>
                        </a:rPr>
                        <a:t>Oxen</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hMerge="1">
                  <a:txBody>
                    <a:bodyPr/>
                    <a:lstStyle/>
                    <a:p>
                      <a:endParaRPr lang="en-ZW" sz="1400">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pPr marL="0" marR="0" algn="just">
                        <a:lnSpc>
                          <a:spcPct val="115000"/>
                        </a:lnSpc>
                        <a:spcBef>
                          <a:spcPts val="0"/>
                        </a:spcBef>
                        <a:spcAft>
                          <a:spcPts val="1000"/>
                        </a:spcAft>
                      </a:pPr>
                      <a:r>
                        <a:rPr lang="en-ZW" sz="1600" dirty="0">
                          <a:solidFill>
                            <a:srgbClr val="002060"/>
                          </a:solidFill>
                          <a:latin typeface="Times New Roman"/>
                          <a:ea typeface="Calibri"/>
                          <a:cs typeface="Times New Roman"/>
                        </a:rPr>
                        <a:t>450</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r>
              <a:tr h="258512">
                <a:tc gridSpan="2">
                  <a:txBody>
                    <a:bodyPr/>
                    <a:lstStyle/>
                    <a:p>
                      <a:pPr marL="0" marR="0" algn="just">
                        <a:lnSpc>
                          <a:spcPct val="115000"/>
                        </a:lnSpc>
                        <a:spcBef>
                          <a:spcPts val="0"/>
                        </a:spcBef>
                        <a:spcAft>
                          <a:spcPts val="1000"/>
                        </a:spcAft>
                      </a:pPr>
                      <a:r>
                        <a:rPr lang="en-ZW" sz="1600" dirty="0" err="1">
                          <a:solidFill>
                            <a:srgbClr val="002060"/>
                          </a:solidFill>
                          <a:latin typeface="Times New Roman"/>
                          <a:ea typeface="Calibri"/>
                          <a:cs typeface="Times New Roman"/>
                        </a:rPr>
                        <a:t>Tollies</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hMerge="1">
                  <a:txBody>
                    <a:bodyPr/>
                    <a:lstStyle/>
                    <a:p>
                      <a:endParaRPr lang="en-ZW" sz="1400">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pPr marL="0" marR="0" algn="just">
                        <a:lnSpc>
                          <a:spcPct val="115000"/>
                        </a:lnSpc>
                        <a:spcBef>
                          <a:spcPts val="0"/>
                        </a:spcBef>
                        <a:spcAft>
                          <a:spcPts val="1000"/>
                        </a:spcAft>
                      </a:pPr>
                      <a:r>
                        <a:rPr lang="en-ZW" sz="1600" dirty="0">
                          <a:solidFill>
                            <a:srgbClr val="002060"/>
                          </a:solidFill>
                          <a:latin typeface="Times New Roman"/>
                          <a:ea typeface="Calibri"/>
                          <a:cs typeface="Times New Roman"/>
                        </a:rPr>
                        <a:t>250</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r>
              <a:tr h="258512">
                <a:tc gridSpan="2">
                  <a:txBody>
                    <a:bodyPr/>
                    <a:lstStyle/>
                    <a:p>
                      <a:pPr marL="0" marR="0" algn="just">
                        <a:lnSpc>
                          <a:spcPct val="115000"/>
                        </a:lnSpc>
                        <a:spcBef>
                          <a:spcPts val="0"/>
                        </a:spcBef>
                        <a:spcAft>
                          <a:spcPts val="1000"/>
                        </a:spcAft>
                      </a:pPr>
                      <a:r>
                        <a:rPr lang="en-ZW" sz="1600" dirty="0">
                          <a:solidFill>
                            <a:srgbClr val="002060"/>
                          </a:solidFill>
                          <a:latin typeface="Times New Roman"/>
                          <a:ea typeface="Calibri"/>
                          <a:cs typeface="Times New Roman"/>
                        </a:rPr>
                        <a:t>Calves</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hMerge="1">
                  <a:txBody>
                    <a:bodyPr/>
                    <a:lstStyle/>
                    <a:p>
                      <a:endParaRPr lang="en-ZW" sz="1400">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pPr marL="0" marR="0" algn="just">
                        <a:lnSpc>
                          <a:spcPct val="115000"/>
                        </a:lnSpc>
                        <a:spcBef>
                          <a:spcPts val="0"/>
                        </a:spcBef>
                        <a:spcAft>
                          <a:spcPts val="1000"/>
                        </a:spcAft>
                      </a:pPr>
                      <a:r>
                        <a:rPr lang="en-ZW" sz="1600" dirty="0">
                          <a:solidFill>
                            <a:srgbClr val="002060"/>
                          </a:solidFill>
                          <a:latin typeface="Times New Roman"/>
                          <a:ea typeface="Calibri"/>
                          <a:cs typeface="Times New Roman"/>
                        </a:rPr>
                        <a:t>150</a:t>
                      </a:r>
                      <a:endParaRPr lang="en-ZW" sz="1600" dirty="0">
                        <a:solidFill>
                          <a:srgbClr val="002060"/>
                        </a:solidFill>
                        <a:latin typeface="Calibri"/>
                        <a:ea typeface="Calibri"/>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solidFill>
                          <a:srgbClr val="002060"/>
                        </a:solidFill>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solidFill>
                          <a:srgbClr val="002060"/>
                        </a:solidFill>
                        <a:latin typeface="Calibri"/>
                        <a:ea typeface="Times New Roman"/>
                        <a:cs typeface="Times New Roman"/>
                      </a:endParaRPr>
                    </a:p>
                  </a:txBody>
                  <a:tcPr marL="27030" marR="27030" marT="0" marB="0" anchor="b">
                    <a:lnL>
                      <a:noFill/>
                    </a:lnL>
                    <a:lnR>
                      <a:noFill/>
                    </a:lnR>
                    <a:lnT>
                      <a:noFill/>
                    </a:lnT>
                    <a:lnB>
                      <a:noFill/>
                    </a:lnB>
                  </a:tcPr>
                </a:tc>
              </a:tr>
              <a:tr h="1744123">
                <a:tc gridSpan="2">
                  <a:txBody>
                    <a:bodyPr/>
                    <a:lstStyle/>
                    <a:p>
                      <a:pPr marL="0" marR="0" algn="just">
                        <a:lnSpc>
                          <a:spcPct val="115000"/>
                        </a:lnSpc>
                        <a:spcBef>
                          <a:spcPts val="0"/>
                        </a:spcBef>
                        <a:spcAft>
                          <a:spcPts val="1000"/>
                        </a:spcAft>
                      </a:pPr>
                      <a:endParaRPr lang="en-ZW" sz="1600" b="1" dirty="0" smtClean="0">
                        <a:solidFill>
                          <a:srgbClr val="000000"/>
                        </a:solidFill>
                        <a:latin typeface="Times New Roman"/>
                        <a:ea typeface="Calibri"/>
                        <a:cs typeface="Times New Roman"/>
                      </a:endParaRPr>
                    </a:p>
                    <a:p>
                      <a:pPr marL="0" marR="0" algn="just">
                        <a:lnSpc>
                          <a:spcPct val="115000"/>
                        </a:lnSpc>
                        <a:spcBef>
                          <a:spcPts val="0"/>
                        </a:spcBef>
                        <a:spcAft>
                          <a:spcPts val="1000"/>
                        </a:spcAft>
                      </a:pPr>
                      <a:r>
                        <a:rPr lang="en-ZW" sz="1600" b="1" dirty="0" smtClean="0">
                          <a:solidFill>
                            <a:srgbClr val="000000"/>
                          </a:solidFill>
                          <a:latin typeface="Times New Roman"/>
                          <a:ea typeface="Calibri"/>
                          <a:cs typeface="Times New Roman"/>
                        </a:rPr>
                        <a:t>  </a:t>
                      </a:r>
                    </a:p>
                    <a:p>
                      <a:pPr marL="0" marR="0" indent="0" algn="just" defTabSz="914400" rtl="0" eaLnBrk="1" fontAlgn="auto" latinLnBrk="0" hangingPunct="1">
                        <a:lnSpc>
                          <a:spcPct val="115000"/>
                        </a:lnSpc>
                        <a:spcBef>
                          <a:spcPts val="0"/>
                        </a:spcBef>
                        <a:spcAft>
                          <a:spcPts val="1000"/>
                        </a:spcAft>
                        <a:buClrTx/>
                        <a:buSzTx/>
                        <a:buFontTx/>
                        <a:buNone/>
                        <a:tabLst/>
                        <a:defRPr/>
                      </a:pPr>
                      <a:r>
                        <a:rPr lang="en-ZW" sz="1600" dirty="0" smtClean="0">
                          <a:solidFill>
                            <a:srgbClr val="000000"/>
                          </a:solidFill>
                          <a:cs typeface="Calibri" pitchFamily="34" charset="0"/>
                        </a:rPr>
                        <a:t> </a:t>
                      </a:r>
                      <a:endParaRPr lang="en-ZW" sz="1600" dirty="0" smtClean="0">
                        <a:latin typeface="Calibri"/>
                        <a:ea typeface="Calibri"/>
                        <a:cs typeface="Times New Roman"/>
                      </a:endParaRPr>
                    </a:p>
                    <a:p>
                      <a:pPr marL="0" marR="0" algn="just">
                        <a:lnSpc>
                          <a:spcPct val="115000"/>
                        </a:lnSpc>
                        <a:spcBef>
                          <a:spcPts val="0"/>
                        </a:spcBef>
                        <a:spcAft>
                          <a:spcPts val="1000"/>
                        </a:spcAft>
                      </a:pPr>
                      <a:endParaRPr lang="en-ZW" sz="1600" b="1" dirty="0" smtClean="0">
                        <a:solidFill>
                          <a:srgbClr val="000000"/>
                        </a:solidFill>
                        <a:latin typeface="Times New Roman"/>
                        <a:ea typeface="Calibri"/>
                        <a:cs typeface="Times New Roman"/>
                      </a:endParaRPr>
                    </a:p>
                  </a:txBody>
                  <a:tcPr marL="27030" marR="27030" marT="0" marB="0" anchor="b">
                    <a:lnL>
                      <a:noFill/>
                    </a:lnL>
                    <a:lnR>
                      <a:noFill/>
                    </a:lnR>
                    <a:lnT>
                      <a:noFill/>
                    </a:lnT>
                    <a:lnB>
                      <a:noFill/>
                    </a:lnB>
                  </a:tcPr>
                </a:tc>
                <a:tc hMerge="1">
                  <a:txBody>
                    <a:bodyPr/>
                    <a:lstStyle/>
                    <a:p>
                      <a:endParaRPr lang="en-ZW" sz="1400" dirty="0">
                        <a:latin typeface="Calibri"/>
                        <a:ea typeface="Times New Roman"/>
                        <a:cs typeface="Times New Roman"/>
                      </a:endParaRPr>
                    </a:p>
                  </a:txBody>
                  <a:tcPr marL="27030" marR="27030" marT="0" marB="0" anchor="b">
                    <a:lnL>
                      <a:noFill/>
                    </a:lnL>
                    <a:lnR>
                      <a:noFill/>
                    </a:lnR>
                    <a:lnT>
                      <a:noFill/>
                    </a:lnT>
                    <a:lnB>
                      <a:noFill/>
                    </a:lnB>
                  </a:tcPr>
                </a:tc>
                <a:tc>
                  <a:txBody>
                    <a:bodyPr/>
                    <a:lstStyle/>
                    <a:p>
                      <a:r>
                        <a:rPr lang="en-ZW" sz="1600" dirty="0" smtClean="0">
                          <a:latin typeface="Calibri"/>
                          <a:ea typeface="Times New Roman"/>
                          <a:cs typeface="Times New Roman"/>
                        </a:rPr>
                        <a:t>  </a:t>
                      </a:r>
                      <a:endParaRPr lang="en-ZW" sz="1600" dirty="0">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a:latin typeface="Calibri"/>
                        <a:ea typeface="Times New Roman"/>
                        <a:cs typeface="Times New Roman"/>
                      </a:endParaRPr>
                    </a:p>
                  </a:txBody>
                  <a:tcPr marL="27030" marR="27030" marT="0" marB="0" anchor="b">
                    <a:lnL>
                      <a:noFill/>
                    </a:lnL>
                    <a:lnR>
                      <a:noFill/>
                    </a:lnR>
                    <a:lnT>
                      <a:noFill/>
                    </a:lnT>
                    <a:lnB>
                      <a:noFill/>
                    </a:lnB>
                  </a:tcPr>
                </a:tc>
                <a:tc>
                  <a:txBody>
                    <a:bodyPr/>
                    <a:lstStyle/>
                    <a:p>
                      <a:endParaRPr lang="en-ZW" sz="1600" dirty="0">
                        <a:latin typeface="Calibri"/>
                        <a:ea typeface="Times New Roman"/>
                        <a:cs typeface="Times New Roman"/>
                      </a:endParaRPr>
                    </a:p>
                  </a:txBody>
                  <a:tcPr marL="27030" marR="27030" marT="0" marB="0" anchor="b">
                    <a:lnL>
                      <a:noFill/>
                    </a:lnL>
                    <a:lnR>
                      <a:noFill/>
                    </a:lnR>
                    <a:lnT>
                      <a:noFill/>
                    </a:lnT>
                    <a:lnB>
                      <a:noFill/>
                    </a:lnB>
                  </a:tcPr>
                </a:tc>
              </a:tr>
            </a:tbl>
          </a:graphicData>
        </a:graphic>
      </p:graphicFrame>
      <p:sp>
        <p:nvSpPr>
          <p:cNvPr id="69741" name="Rectangle 1"/>
          <p:cNvSpPr>
            <a:spLocks noChangeArrowheads="1"/>
          </p:cNvSpPr>
          <p:nvPr/>
        </p:nvSpPr>
        <p:spPr bwMode="auto">
          <a:xfrm>
            <a:off x="0" y="5029200"/>
            <a:ext cx="9753600" cy="1370013"/>
          </a:xfrm>
          <a:prstGeom prst="rect">
            <a:avLst/>
          </a:prstGeom>
          <a:noFill/>
          <a:ln w="9525">
            <a:noFill/>
            <a:miter lim="800000"/>
            <a:headEnd/>
            <a:tailEnd/>
          </a:ln>
        </p:spPr>
        <p:txBody>
          <a:bodyPr anchor="ctr">
            <a:spAutoFit/>
          </a:bodyPr>
          <a:lstStyle/>
          <a:p>
            <a:pPr eaLnBrk="0" hangingPunct="0"/>
            <a:r>
              <a:rPr lang="en-ZW" sz="1100">
                <a:solidFill>
                  <a:srgbClr val="000000"/>
                </a:solidFill>
              </a:rPr>
              <a:t>                         </a:t>
            </a:r>
          </a:p>
          <a:p>
            <a:pPr eaLnBrk="0" hangingPunct="0"/>
            <a:r>
              <a:rPr lang="en-ZW" sz="1100">
                <a:solidFill>
                  <a:srgbClr val="000000"/>
                </a:solidFill>
              </a:rPr>
              <a:t>                                           </a:t>
            </a:r>
          </a:p>
          <a:p>
            <a:pPr eaLnBrk="0" hangingPunct="0"/>
            <a:r>
              <a:rPr lang="en-ZW" sz="1100" b="1">
                <a:solidFill>
                  <a:srgbClr val="C00000"/>
                </a:solidFill>
              </a:rPr>
              <a:t>        REQUIRED</a:t>
            </a:r>
          </a:p>
          <a:p>
            <a:pPr eaLnBrk="0" hangingPunct="0"/>
            <a:r>
              <a:rPr lang="en-ZW" sz="1600">
                <a:solidFill>
                  <a:srgbClr val="C00000"/>
                </a:solidFill>
              </a:rPr>
              <a:t>       Calculate the minimum taxable income or maximum tax loss for the year ended 31st Dec. 2012  </a:t>
            </a:r>
          </a:p>
          <a:p>
            <a:pPr eaLnBrk="0" hangingPunct="0"/>
            <a:r>
              <a:rPr lang="en-ZW" sz="1600">
                <a:solidFill>
                  <a:srgbClr val="C00000"/>
                </a:solidFill>
              </a:rPr>
              <a:t>        assuming  that the taxpayer elected the maximum relief and restocking allowances.        </a:t>
            </a:r>
            <a:r>
              <a:rPr lang="en-ZW" sz="1600">
                <a:solidFill>
                  <a:srgbClr val="000000"/>
                </a:solidFill>
              </a:rPr>
              <a:t>             </a:t>
            </a:r>
            <a:endParaRPr lang="en-ZW" sz="1600"/>
          </a:p>
          <a:p>
            <a:pPr eaLnBrk="0" hangingPunct="0"/>
            <a:endParaRPr lang="en-ZW"/>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52400" y="228600"/>
          <a:ext cx="9055172" cy="5876434"/>
        </p:xfrm>
        <a:graphic>
          <a:graphicData uri="http://schemas.openxmlformats.org/drawingml/2006/table">
            <a:tbl>
              <a:tblPr/>
              <a:tblGrid>
                <a:gridCol w="2326014"/>
                <a:gridCol w="833198"/>
                <a:gridCol w="833198"/>
                <a:gridCol w="833198"/>
                <a:gridCol w="833198"/>
                <a:gridCol w="833198"/>
                <a:gridCol w="833198"/>
                <a:gridCol w="896772"/>
                <a:gridCol w="833198"/>
              </a:tblGrid>
              <a:tr h="371969">
                <a:tc gridSpan="5">
                  <a:txBody>
                    <a:bodyPr/>
                    <a:lstStyle/>
                    <a:p>
                      <a:pPr algn="l" fontAlgn="b"/>
                      <a:r>
                        <a:rPr lang="en-ZW" sz="1600" b="1" i="0" u="none" strike="noStrike" dirty="0">
                          <a:solidFill>
                            <a:srgbClr val="C00000"/>
                          </a:solidFill>
                          <a:latin typeface="Calibri"/>
                        </a:rPr>
                        <a:t>      Livestock </a:t>
                      </a:r>
                      <a:r>
                        <a:rPr lang="en-ZW" sz="1600" b="1" i="0" u="none" strike="noStrike" dirty="0" err="1">
                          <a:solidFill>
                            <a:srgbClr val="C00000"/>
                          </a:solidFill>
                          <a:latin typeface="Calibri"/>
                        </a:rPr>
                        <a:t>reconcilliation</a:t>
                      </a:r>
                      <a:r>
                        <a:rPr lang="en-ZW" sz="1600" b="1" i="0" u="none" strike="noStrike" dirty="0">
                          <a:solidFill>
                            <a:srgbClr val="C00000"/>
                          </a:solidFill>
                          <a:latin typeface="Calibri"/>
                        </a:rPr>
                        <a:t> account                                                                 </a:t>
                      </a:r>
                    </a:p>
                  </a:txBody>
                  <a:tcPr marL="7061" marR="7061" marT="7061"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pPr algn="l" fontAlgn="b"/>
                      <a:endParaRPr lang="en-ZW" sz="1600" b="0" i="0" u="none" strike="noStrike">
                        <a:solidFill>
                          <a:srgbClr val="C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C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C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C00000"/>
                        </a:solidFill>
                        <a:latin typeface="Calibri"/>
                      </a:endParaRPr>
                    </a:p>
                  </a:txBody>
                  <a:tcPr marL="7061" marR="7061" marT="7061" marB="0" anchor="b">
                    <a:lnL>
                      <a:noFill/>
                    </a:lnL>
                    <a:lnR>
                      <a:noFill/>
                    </a:lnR>
                    <a:lnT>
                      <a:noFill/>
                    </a:lnT>
                    <a:lnB>
                      <a:noFill/>
                    </a:lnB>
                  </a:tcPr>
                </a:tc>
              </a:tr>
              <a:tr h="371969">
                <a:tc>
                  <a:txBody>
                    <a:bodyPr/>
                    <a:lstStyle/>
                    <a:p>
                      <a:pPr algn="l" fontAlgn="b"/>
                      <a:r>
                        <a:rPr lang="en-ZW" sz="1600" b="0" i="0" u="none" strike="noStrike" dirty="0">
                          <a:solidFill>
                            <a:srgbClr val="C00000"/>
                          </a:solidFill>
                          <a:latin typeface="Calibri"/>
                        </a:rPr>
                        <a:t>                Class   </a:t>
                      </a:r>
                    </a:p>
                  </a:txBody>
                  <a:tcPr marL="7061" marR="7061" marT="7061" marB="0" anchor="b">
                    <a:lnL>
                      <a:noFill/>
                    </a:lnL>
                    <a:lnR>
                      <a:noFill/>
                    </a:lnR>
                    <a:lnT>
                      <a:noFill/>
                    </a:lnT>
                    <a:lnB>
                      <a:noFill/>
                    </a:lnB>
                  </a:tcPr>
                </a:tc>
                <a:tc>
                  <a:txBody>
                    <a:bodyPr/>
                    <a:lstStyle/>
                    <a:p>
                      <a:pPr algn="l" fontAlgn="b"/>
                      <a:endParaRPr lang="en-ZW" sz="1600" b="0" i="0" u="none" strike="noStrike">
                        <a:solidFill>
                          <a:srgbClr val="C00000"/>
                        </a:solidFill>
                        <a:latin typeface="Calibri"/>
                      </a:endParaRPr>
                    </a:p>
                  </a:txBody>
                  <a:tcPr marL="7061" marR="7061" marT="7061" marB="0" anchor="b">
                    <a:lnL>
                      <a:noFill/>
                    </a:lnL>
                    <a:lnR>
                      <a:noFill/>
                    </a:lnR>
                    <a:lnT>
                      <a:noFill/>
                    </a:lnT>
                    <a:lnB>
                      <a:noFill/>
                    </a:lnB>
                  </a:tcPr>
                </a:tc>
                <a:tc>
                  <a:txBody>
                    <a:bodyPr/>
                    <a:lstStyle/>
                    <a:p>
                      <a:pPr algn="ctr" fontAlgn="b"/>
                      <a:r>
                        <a:rPr lang="en-ZW" sz="1600" b="1" i="0" u="none" strike="noStrike">
                          <a:solidFill>
                            <a:srgbClr val="C00000"/>
                          </a:solidFill>
                          <a:latin typeface="Calibri"/>
                        </a:rPr>
                        <a:t>   Bulls</a:t>
                      </a:r>
                    </a:p>
                  </a:txBody>
                  <a:tcPr marL="7061" marR="7061" marT="7061" marB="0" anchor="b">
                    <a:lnL>
                      <a:noFill/>
                    </a:lnL>
                    <a:lnR>
                      <a:noFill/>
                    </a:lnR>
                    <a:lnT>
                      <a:noFill/>
                    </a:lnT>
                    <a:lnB>
                      <a:noFill/>
                    </a:lnB>
                  </a:tcPr>
                </a:tc>
                <a:tc>
                  <a:txBody>
                    <a:bodyPr/>
                    <a:lstStyle/>
                    <a:p>
                      <a:pPr algn="ctr" fontAlgn="b"/>
                      <a:r>
                        <a:rPr lang="en-ZW" sz="1600" b="1" i="0" u="none" strike="noStrike">
                          <a:solidFill>
                            <a:srgbClr val="C00000"/>
                          </a:solidFill>
                          <a:latin typeface="Calibri"/>
                        </a:rPr>
                        <a:t>Cows</a:t>
                      </a:r>
                    </a:p>
                  </a:txBody>
                  <a:tcPr marL="7061" marR="7061" marT="7061" marB="0" anchor="b">
                    <a:lnL>
                      <a:noFill/>
                    </a:lnL>
                    <a:lnR>
                      <a:noFill/>
                    </a:lnR>
                    <a:lnT>
                      <a:noFill/>
                    </a:lnT>
                    <a:lnB>
                      <a:noFill/>
                    </a:lnB>
                  </a:tcPr>
                </a:tc>
                <a:tc>
                  <a:txBody>
                    <a:bodyPr/>
                    <a:lstStyle/>
                    <a:p>
                      <a:pPr algn="ctr" fontAlgn="b"/>
                      <a:r>
                        <a:rPr lang="en-ZW" sz="1600" b="1" i="0" u="none" strike="noStrike">
                          <a:solidFill>
                            <a:srgbClr val="C00000"/>
                          </a:solidFill>
                          <a:latin typeface="Calibri"/>
                        </a:rPr>
                        <a:t>Heifers</a:t>
                      </a:r>
                    </a:p>
                  </a:txBody>
                  <a:tcPr marL="7061" marR="7061" marT="7061" marB="0" anchor="b">
                    <a:lnL>
                      <a:noFill/>
                    </a:lnL>
                    <a:lnR>
                      <a:noFill/>
                    </a:lnR>
                    <a:lnT>
                      <a:noFill/>
                    </a:lnT>
                    <a:lnB>
                      <a:noFill/>
                    </a:lnB>
                  </a:tcPr>
                </a:tc>
                <a:tc>
                  <a:txBody>
                    <a:bodyPr/>
                    <a:lstStyle/>
                    <a:p>
                      <a:pPr algn="ctr" fontAlgn="b"/>
                      <a:r>
                        <a:rPr lang="en-ZW" sz="1600" b="1" i="0" u="none" strike="noStrike">
                          <a:solidFill>
                            <a:srgbClr val="C00000"/>
                          </a:solidFill>
                          <a:latin typeface="Calibri"/>
                        </a:rPr>
                        <a:t>Oxen</a:t>
                      </a:r>
                    </a:p>
                  </a:txBody>
                  <a:tcPr marL="7061" marR="7061" marT="7061" marB="0" anchor="b">
                    <a:lnL>
                      <a:noFill/>
                    </a:lnL>
                    <a:lnR>
                      <a:noFill/>
                    </a:lnR>
                    <a:lnT>
                      <a:noFill/>
                    </a:lnT>
                    <a:lnB>
                      <a:noFill/>
                    </a:lnB>
                  </a:tcPr>
                </a:tc>
                <a:tc>
                  <a:txBody>
                    <a:bodyPr/>
                    <a:lstStyle/>
                    <a:p>
                      <a:pPr algn="ctr" fontAlgn="b"/>
                      <a:r>
                        <a:rPr lang="en-ZW" sz="1600" b="1" i="0" u="none" strike="noStrike">
                          <a:solidFill>
                            <a:srgbClr val="C00000"/>
                          </a:solidFill>
                          <a:latin typeface="Calibri"/>
                        </a:rPr>
                        <a:t>Tollies</a:t>
                      </a:r>
                    </a:p>
                  </a:txBody>
                  <a:tcPr marL="7061" marR="7061" marT="7061" marB="0" anchor="b">
                    <a:lnL>
                      <a:noFill/>
                    </a:lnL>
                    <a:lnR>
                      <a:noFill/>
                    </a:lnR>
                    <a:lnT>
                      <a:noFill/>
                    </a:lnT>
                    <a:lnB>
                      <a:noFill/>
                    </a:lnB>
                  </a:tcPr>
                </a:tc>
                <a:tc>
                  <a:txBody>
                    <a:bodyPr/>
                    <a:lstStyle/>
                    <a:p>
                      <a:pPr algn="ctr" fontAlgn="b"/>
                      <a:r>
                        <a:rPr lang="en-ZW" sz="1600" b="1" i="0" u="none" strike="noStrike">
                          <a:solidFill>
                            <a:srgbClr val="C00000"/>
                          </a:solidFill>
                          <a:latin typeface="Calibri"/>
                        </a:rPr>
                        <a:t>Calves</a:t>
                      </a:r>
                    </a:p>
                  </a:txBody>
                  <a:tcPr marL="7061" marR="7061" marT="7061" marB="0" anchor="b">
                    <a:lnL>
                      <a:noFill/>
                    </a:lnL>
                    <a:lnR>
                      <a:noFill/>
                    </a:lnR>
                    <a:lnT>
                      <a:noFill/>
                    </a:lnT>
                    <a:lnB>
                      <a:noFill/>
                    </a:lnB>
                  </a:tcPr>
                </a:tc>
                <a:tc>
                  <a:txBody>
                    <a:bodyPr/>
                    <a:lstStyle/>
                    <a:p>
                      <a:pPr algn="ctr" fontAlgn="b"/>
                      <a:r>
                        <a:rPr lang="en-ZW" sz="1600" b="1" i="0" u="none" strike="noStrike" dirty="0">
                          <a:solidFill>
                            <a:srgbClr val="C00000"/>
                          </a:solidFill>
                          <a:latin typeface="Calibri"/>
                        </a:rPr>
                        <a:t>   Total</a:t>
                      </a:r>
                    </a:p>
                  </a:txBody>
                  <a:tcPr marL="7061" marR="7061" marT="7061" marB="0" anchor="b">
                    <a:lnL>
                      <a:noFill/>
                    </a:lnL>
                    <a:lnR>
                      <a:noFill/>
                    </a:lnR>
                    <a:lnT>
                      <a:noFill/>
                    </a:lnT>
                    <a:lnB>
                      <a:noFill/>
                    </a:lnB>
                  </a:tcPr>
                </a:tc>
              </a:tr>
              <a:tr h="371969">
                <a:tc>
                  <a:txBody>
                    <a:bodyPr/>
                    <a:lstStyle/>
                    <a:p>
                      <a:pPr algn="l" fontAlgn="b"/>
                      <a:endParaRPr lang="en-ZW" sz="16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r>
              <a:tr h="493631">
                <a:tc>
                  <a:txBody>
                    <a:bodyPr/>
                    <a:lstStyle/>
                    <a:p>
                      <a:pPr algn="l" fontAlgn="b"/>
                      <a:r>
                        <a:rPr lang="en-ZW" sz="1600" b="0" i="0" u="none" strike="noStrike">
                          <a:solidFill>
                            <a:srgbClr val="000000"/>
                          </a:solidFill>
                          <a:latin typeface="Calibri"/>
                        </a:rPr>
                        <a:t>         Purchases</a:t>
                      </a: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3 </a:t>
                      </a: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150 </a:t>
                      </a: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28 </a:t>
                      </a: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90 </a:t>
                      </a: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35 </a:t>
                      </a: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50 </a:t>
                      </a: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356 </a:t>
                      </a:r>
                    </a:p>
                  </a:txBody>
                  <a:tcPr marL="7061" marR="7061" marT="7061" marB="0" anchor="b">
                    <a:lnL>
                      <a:noFill/>
                    </a:lnL>
                    <a:lnR>
                      <a:noFill/>
                    </a:lnR>
                    <a:lnT>
                      <a:noFill/>
                    </a:lnT>
                    <a:lnB>
                      <a:noFill/>
                    </a:lnB>
                  </a:tcPr>
                </a:tc>
              </a:tr>
              <a:tr h="493631">
                <a:tc>
                  <a:txBody>
                    <a:bodyPr/>
                    <a:lstStyle/>
                    <a:p>
                      <a:pPr algn="l" fontAlgn="b"/>
                      <a:r>
                        <a:rPr lang="en-ZW" sz="1600" b="0" i="0" u="none" strike="noStrike">
                          <a:solidFill>
                            <a:srgbClr val="000000"/>
                          </a:solidFill>
                          <a:latin typeface="Calibri"/>
                        </a:rPr>
                        <a:t>         Purchases (restocking)</a:t>
                      </a: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50 </a:t>
                      </a: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50 </a:t>
                      </a:r>
                    </a:p>
                  </a:txBody>
                  <a:tcPr marL="7061" marR="7061" marT="7061" marB="0" anchor="b">
                    <a:lnL>
                      <a:noFill/>
                    </a:lnL>
                    <a:lnR>
                      <a:noFill/>
                    </a:lnR>
                    <a:lnT>
                      <a:noFill/>
                    </a:lnT>
                    <a:lnB>
                      <a:noFill/>
                    </a:lnB>
                  </a:tcPr>
                </a:tc>
              </a:tr>
              <a:tr h="371969">
                <a:tc>
                  <a:txBody>
                    <a:bodyPr/>
                    <a:lstStyle/>
                    <a:p>
                      <a:pPr algn="l" fontAlgn="b"/>
                      <a:r>
                        <a:rPr lang="en-ZW" sz="1600" b="0" i="0" u="none" strike="noStrike" dirty="0">
                          <a:solidFill>
                            <a:srgbClr val="000000"/>
                          </a:solidFill>
                          <a:latin typeface="Calibri"/>
                        </a:rPr>
                        <a:t>         Births</a:t>
                      </a: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ctr"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25 </a:t>
                      </a: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25 </a:t>
                      </a:r>
                    </a:p>
                  </a:txBody>
                  <a:tcPr marL="7061" marR="7061" marT="7061" marB="0" anchor="b">
                    <a:lnL>
                      <a:noFill/>
                    </a:lnL>
                    <a:lnR>
                      <a:noFill/>
                    </a:lnR>
                    <a:lnT>
                      <a:noFill/>
                    </a:lnT>
                    <a:lnB>
                      <a:noFill/>
                    </a:lnB>
                  </a:tcPr>
                </a:tc>
              </a:tr>
              <a:tr h="371969">
                <a:tc>
                  <a:txBody>
                    <a:bodyPr/>
                    <a:lstStyle/>
                    <a:p>
                      <a:pPr algn="l" fontAlgn="b"/>
                      <a:r>
                        <a:rPr lang="en-ZW" sz="1600" b="0" i="0" u="none" strike="noStrike">
                          <a:solidFill>
                            <a:srgbClr val="000000"/>
                          </a:solidFill>
                          <a:latin typeface="Calibri"/>
                        </a:rPr>
                        <a:t>         Prom. In</a:t>
                      </a: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40 </a:t>
                      </a: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10 </a:t>
                      </a: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50 </a:t>
                      </a:r>
                    </a:p>
                  </a:txBody>
                  <a:tcPr marL="7061" marR="7061" marT="7061" marB="0" anchor="b">
                    <a:lnL>
                      <a:noFill/>
                    </a:lnL>
                    <a:lnR>
                      <a:noFill/>
                    </a:lnR>
                    <a:lnT>
                      <a:noFill/>
                    </a:lnT>
                    <a:lnB>
                      <a:noFill/>
                    </a:lnB>
                  </a:tcPr>
                </a:tc>
              </a:tr>
              <a:tr h="519020">
                <a:tc>
                  <a:txBody>
                    <a:bodyPr/>
                    <a:lstStyle/>
                    <a:p>
                      <a:pPr algn="l" fontAlgn="b"/>
                      <a:r>
                        <a:rPr lang="en-ZW" sz="1600" b="0" i="0" u="none" strike="noStrike">
                          <a:solidFill>
                            <a:srgbClr val="000000"/>
                          </a:solidFill>
                          <a:latin typeface="Calibri"/>
                        </a:rPr>
                        <a:t>         Prom. Out</a:t>
                      </a: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22 </a:t>
                      </a: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(22)</a:t>
                      </a: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20 </a:t>
                      </a: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(20)</a:t>
                      </a: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(50)</a:t>
                      </a:r>
                    </a:p>
                  </a:txBody>
                  <a:tcPr marL="7061" marR="7061" marT="7061" marB="0" anchor="b">
                    <a:lnL>
                      <a:noFill/>
                    </a:lnL>
                    <a:lnR>
                      <a:noFill/>
                    </a:lnR>
                    <a:lnT>
                      <a:noFill/>
                    </a:lnT>
                    <a:lnB>
                      <a:noFill/>
                    </a:lnB>
                  </a:tcPr>
                </a:tc>
                <a:tc>
                  <a:txBody>
                    <a:bodyPr/>
                    <a:lstStyle/>
                    <a:p>
                      <a:pPr algn="l" fontAlgn="b"/>
                      <a:r>
                        <a:rPr lang="en-ZW" sz="1600" b="0" i="0" u="none" strike="noStrike" dirty="0">
                          <a:solidFill>
                            <a:srgbClr val="000000"/>
                          </a:solidFill>
                          <a:latin typeface="Calibri"/>
                        </a:rPr>
                        <a:t>          </a:t>
                      </a:r>
                      <a:r>
                        <a:rPr lang="en-ZW" sz="1600" b="0" i="0" u="none" strike="noStrike" dirty="0" smtClean="0">
                          <a:solidFill>
                            <a:srgbClr val="000000"/>
                          </a:solidFill>
                          <a:latin typeface="Calibri"/>
                        </a:rPr>
                        <a:t>(50) </a:t>
                      </a:r>
                      <a:endParaRPr lang="en-ZW" sz="1600" b="0" i="0" u="none" strike="noStrike" dirty="0">
                        <a:solidFill>
                          <a:srgbClr val="000000"/>
                        </a:solidFill>
                        <a:latin typeface="Calibri"/>
                      </a:endParaRPr>
                    </a:p>
                  </a:txBody>
                  <a:tcPr marL="7061" marR="7061" marT="7061" marB="0" anchor="b">
                    <a:lnL>
                      <a:noFill/>
                    </a:lnL>
                    <a:lnR>
                      <a:noFill/>
                    </a:lnR>
                    <a:lnT>
                      <a:noFill/>
                    </a:lnT>
                    <a:lnB>
                      <a:noFill/>
                    </a:lnB>
                  </a:tcPr>
                </a:tc>
              </a:tr>
              <a:tr h="519020">
                <a:tc>
                  <a:txBody>
                    <a:bodyPr/>
                    <a:lstStyle/>
                    <a:p>
                      <a:pPr algn="l" fontAlgn="b"/>
                      <a:r>
                        <a:rPr lang="en-ZW" sz="1600" b="0" i="0" u="none" strike="noStrike">
                          <a:solidFill>
                            <a:srgbClr val="000000"/>
                          </a:solidFill>
                          <a:latin typeface="Calibri"/>
                        </a:rPr>
                        <a:t>         Sales (normal)</a:t>
                      </a: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(40)</a:t>
                      </a: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(50)</a:t>
                      </a: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600" b="0" i="0" u="none" strike="noStrike" dirty="0">
                          <a:solidFill>
                            <a:srgbClr val="000000"/>
                          </a:solidFill>
                          <a:latin typeface="Calibri"/>
                        </a:rPr>
                        <a:t>           </a:t>
                      </a:r>
                      <a:r>
                        <a:rPr lang="en-ZW" sz="1600" b="0" i="0" u="none" strike="noStrike" dirty="0" smtClean="0">
                          <a:solidFill>
                            <a:srgbClr val="000000"/>
                          </a:solidFill>
                          <a:latin typeface="Calibri"/>
                        </a:rPr>
                        <a:t>   </a:t>
                      </a:r>
                    </a:p>
                    <a:p>
                      <a:pPr algn="l" fontAlgn="b"/>
                      <a:r>
                        <a:rPr lang="en-ZW" sz="1600" b="0" i="0" u="none" strike="noStrike" dirty="0" smtClean="0">
                          <a:solidFill>
                            <a:srgbClr val="000000"/>
                          </a:solidFill>
                          <a:latin typeface="Calibri"/>
                        </a:rPr>
                        <a:t>         (</a:t>
                      </a:r>
                      <a:r>
                        <a:rPr lang="en-ZW" sz="1600" b="0" i="0" u="none" strike="noStrike" dirty="0">
                          <a:solidFill>
                            <a:srgbClr val="000000"/>
                          </a:solidFill>
                          <a:latin typeface="Calibri"/>
                        </a:rPr>
                        <a:t>90)</a:t>
                      </a:r>
                    </a:p>
                  </a:txBody>
                  <a:tcPr marL="7061" marR="7061" marT="7061" marB="0" anchor="b">
                    <a:lnL>
                      <a:noFill/>
                    </a:lnL>
                    <a:lnR>
                      <a:noFill/>
                    </a:lnR>
                    <a:lnT>
                      <a:noFill/>
                    </a:lnT>
                    <a:lnB>
                      <a:noFill/>
                    </a:lnB>
                  </a:tcPr>
                </a:tc>
              </a:tr>
              <a:tr h="774827">
                <a:tc>
                  <a:txBody>
                    <a:bodyPr/>
                    <a:lstStyle/>
                    <a:p>
                      <a:pPr algn="l" fontAlgn="b"/>
                      <a:r>
                        <a:rPr lang="en-ZW" sz="1600" b="0" i="0" u="none" strike="noStrike">
                          <a:solidFill>
                            <a:srgbClr val="000000"/>
                          </a:solidFill>
                          <a:latin typeface="Calibri"/>
                        </a:rPr>
                        <a:t>         Sales (epidemic)</a:t>
                      </a: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(30)</a:t>
                      </a: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600" b="0" i="0" u="none" strike="noStrike" dirty="0">
                          <a:solidFill>
                            <a:srgbClr val="000000"/>
                          </a:solidFill>
                          <a:latin typeface="Calibri"/>
                        </a:rPr>
                        <a:t>           </a:t>
                      </a:r>
                      <a:endParaRPr lang="en-ZW" sz="1600" b="0" i="0" u="none" strike="noStrike" dirty="0" smtClean="0">
                        <a:solidFill>
                          <a:srgbClr val="000000"/>
                        </a:solidFill>
                        <a:latin typeface="Calibri"/>
                      </a:endParaRPr>
                    </a:p>
                    <a:p>
                      <a:pPr algn="l" fontAlgn="b"/>
                      <a:r>
                        <a:rPr lang="en-ZW" sz="1600" b="0" i="0" u="none" strike="noStrike" dirty="0" smtClean="0">
                          <a:solidFill>
                            <a:srgbClr val="000000"/>
                          </a:solidFill>
                          <a:latin typeface="Calibri"/>
                        </a:rPr>
                        <a:t>    </a:t>
                      </a:r>
                    </a:p>
                    <a:p>
                      <a:pPr algn="l" fontAlgn="b"/>
                      <a:r>
                        <a:rPr lang="en-ZW" sz="1600" b="0" i="0" u="none" strike="noStrike" dirty="0" smtClean="0">
                          <a:solidFill>
                            <a:srgbClr val="000000"/>
                          </a:solidFill>
                          <a:latin typeface="Calibri"/>
                        </a:rPr>
                        <a:t>           30</a:t>
                      </a:r>
                      <a:r>
                        <a:rPr lang="en-ZW" sz="1600" b="0" i="0" u="none" strike="noStrike" dirty="0">
                          <a:solidFill>
                            <a:srgbClr val="000000"/>
                          </a:solidFill>
                          <a:latin typeface="Calibri"/>
                        </a:rPr>
                        <a:t>)</a:t>
                      </a:r>
                    </a:p>
                  </a:txBody>
                  <a:tcPr marL="7061" marR="7061" marT="7061" marB="0" anchor="b">
                    <a:lnL>
                      <a:noFill/>
                    </a:lnL>
                    <a:lnR>
                      <a:noFill/>
                    </a:lnR>
                    <a:lnT>
                      <a:noFill/>
                    </a:lnT>
                    <a:lnB>
                      <a:noFill/>
                    </a:lnB>
                  </a:tcPr>
                </a:tc>
              </a:tr>
              <a:tr h="519020">
                <a:tc>
                  <a:txBody>
                    <a:bodyPr/>
                    <a:lstStyle/>
                    <a:p>
                      <a:pPr algn="l" fontAlgn="b"/>
                      <a:r>
                        <a:rPr lang="en-ZW" sz="1600" b="0" i="0" u="none" strike="noStrike">
                          <a:solidFill>
                            <a:srgbClr val="000000"/>
                          </a:solidFill>
                          <a:latin typeface="Calibri"/>
                        </a:rPr>
                        <a:t>         Slaughtered</a:t>
                      </a: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ZW" sz="1600" b="0" i="0" u="none" strike="noStrike">
                          <a:solidFill>
                            <a:srgbClr val="000000"/>
                          </a:solidFill>
                          <a:latin typeface="Calibri"/>
                        </a:rPr>
                        <a:t>             (5)</a:t>
                      </a:r>
                    </a:p>
                  </a:txBody>
                  <a:tcPr marL="7061" marR="7061" marT="706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ZW" sz="1600" b="0" i="0" u="none" strike="noStrike" dirty="0">
                          <a:solidFill>
                            <a:srgbClr val="000000"/>
                          </a:solidFill>
                          <a:latin typeface="Calibri"/>
                        </a:rPr>
                        <a:t>             </a:t>
                      </a:r>
                      <a:r>
                        <a:rPr lang="en-ZW" sz="1600" b="0" i="0" u="none" strike="noStrike" dirty="0" smtClean="0">
                          <a:solidFill>
                            <a:srgbClr val="000000"/>
                          </a:solidFill>
                          <a:latin typeface="Calibri"/>
                        </a:rPr>
                        <a:t>    </a:t>
                      </a:r>
                    </a:p>
                    <a:p>
                      <a:pPr algn="l" fontAlgn="b"/>
                      <a:r>
                        <a:rPr lang="en-ZW" sz="1600" b="0" i="0" u="none" strike="noStrike" dirty="0" smtClean="0">
                          <a:solidFill>
                            <a:srgbClr val="000000"/>
                          </a:solidFill>
                          <a:latin typeface="Calibri"/>
                        </a:rPr>
                        <a:t>          (</a:t>
                      </a:r>
                      <a:r>
                        <a:rPr lang="en-ZW" sz="1600" b="0" i="0" u="none" strike="noStrike" dirty="0">
                          <a:solidFill>
                            <a:srgbClr val="000000"/>
                          </a:solidFill>
                          <a:latin typeface="Calibri"/>
                        </a:rPr>
                        <a:t>5)</a:t>
                      </a:r>
                    </a:p>
                  </a:txBody>
                  <a:tcPr marL="7061" marR="7061" marT="7061" marB="0" anchor="b">
                    <a:lnL>
                      <a:noFill/>
                    </a:lnL>
                    <a:lnR>
                      <a:noFill/>
                    </a:lnR>
                    <a:lnT>
                      <a:noFill/>
                    </a:lnT>
                    <a:lnB w="6350" cap="flat" cmpd="sng" algn="ctr">
                      <a:solidFill>
                        <a:srgbClr val="000000"/>
                      </a:solidFill>
                      <a:prstDash val="solid"/>
                      <a:round/>
                      <a:headEnd type="none" w="med" len="med"/>
                      <a:tailEnd type="none" w="med" len="med"/>
                    </a:lnB>
                  </a:tcPr>
                </a:tc>
              </a:tr>
              <a:tr h="697440">
                <a:tc>
                  <a:txBody>
                    <a:bodyPr/>
                    <a:lstStyle/>
                    <a:p>
                      <a:pPr algn="l" fontAlgn="b"/>
                      <a:r>
                        <a:rPr lang="en-ZW" sz="1600" b="0" i="0" u="none" strike="noStrike" dirty="0">
                          <a:solidFill>
                            <a:srgbClr val="000000"/>
                          </a:solidFill>
                          <a:latin typeface="Calibri"/>
                        </a:rPr>
                        <a:t>    </a:t>
                      </a:r>
                      <a:r>
                        <a:rPr lang="en-ZW" sz="1600" b="0" i="0" u="none" strike="noStrike" dirty="0" smtClean="0">
                          <a:solidFill>
                            <a:srgbClr val="000000"/>
                          </a:solidFill>
                          <a:latin typeface="Calibri"/>
                        </a:rPr>
                        <a:t>Closing </a:t>
                      </a:r>
                      <a:r>
                        <a:rPr lang="en-ZW" sz="1600" b="0" i="0" u="none" strike="noStrike" dirty="0">
                          <a:solidFill>
                            <a:srgbClr val="000000"/>
                          </a:solidFill>
                          <a:latin typeface="Calibri"/>
                        </a:rPr>
                        <a:t>stock 31 </a:t>
                      </a:r>
                      <a:r>
                        <a:rPr lang="en-ZW" sz="1600" b="0" i="0" u="none" strike="noStrike" dirty="0" smtClean="0">
                          <a:solidFill>
                            <a:srgbClr val="000000"/>
                          </a:solidFill>
                          <a:latin typeface="Calibri"/>
                        </a:rPr>
                        <a:t>Dec 2012</a:t>
                      </a:r>
                      <a:endParaRPr lang="en-ZW" sz="16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6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600" b="0" i="0" u="none" strike="noStrike">
                          <a:solidFill>
                            <a:srgbClr val="000000"/>
                          </a:solidFill>
                          <a:latin typeface="Calibri"/>
                        </a:rPr>
                        <a:t>               3 </a:t>
                      </a:r>
                    </a:p>
                  </a:txBody>
                  <a:tcPr marL="7061" marR="7061" marT="706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ZW" sz="1600" b="0" i="0" u="none" strike="noStrike">
                          <a:solidFill>
                            <a:srgbClr val="000000"/>
                          </a:solidFill>
                          <a:latin typeface="Calibri"/>
                        </a:rPr>
                        <a:t>          152 </a:t>
                      </a:r>
                    </a:p>
                  </a:txBody>
                  <a:tcPr marL="7061" marR="7061" marT="706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ZW" sz="1600" b="0" i="0" u="none" strike="noStrike">
                          <a:solidFill>
                            <a:srgbClr val="000000"/>
                          </a:solidFill>
                          <a:latin typeface="Calibri"/>
                        </a:rPr>
                        <a:t>            46 </a:t>
                      </a:r>
                    </a:p>
                  </a:txBody>
                  <a:tcPr marL="7061" marR="7061" marT="706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ZW" sz="1600" b="0" i="0" u="none" strike="noStrike">
                          <a:solidFill>
                            <a:srgbClr val="000000"/>
                          </a:solidFill>
                          <a:latin typeface="Calibri"/>
                        </a:rPr>
                        <a:t>            60 </a:t>
                      </a:r>
                    </a:p>
                  </a:txBody>
                  <a:tcPr marL="7061" marR="7061" marT="706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ZW" sz="1600" b="0" i="0" u="none" strike="noStrike">
                          <a:solidFill>
                            <a:srgbClr val="000000"/>
                          </a:solidFill>
                          <a:latin typeface="Calibri"/>
                        </a:rPr>
                        <a:t>            20 </a:t>
                      </a:r>
                    </a:p>
                  </a:txBody>
                  <a:tcPr marL="7061" marR="7061" marT="706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ZW" sz="1600" b="0" i="0" u="none" strike="noStrike">
                          <a:solidFill>
                            <a:srgbClr val="000000"/>
                          </a:solidFill>
                          <a:latin typeface="Calibri"/>
                        </a:rPr>
                        <a:t>            25 </a:t>
                      </a:r>
                    </a:p>
                  </a:txBody>
                  <a:tcPr marL="7061" marR="7061" marT="706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ZW" sz="1600" b="0" i="0" u="none" strike="noStrike" dirty="0">
                          <a:solidFill>
                            <a:srgbClr val="000000"/>
                          </a:solidFill>
                          <a:latin typeface="Calibri"/>
                        </a:rPr>
                        <a:t>          306 </a:t>
                      </a:r>
                    </a:p>
                  </a:txBody>
                  <a:tcPr marL="7061" marR="7061" marT="706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228600" y="207963"/>
          <a:ext cx="8686799" cy="4418486"/>
        </p:xfrm>
        <a:graphic>
          <a:graphicData uri="http://schemas.openxmlformats.org/drawingml/2006/table">
            <a:tbl>
              <a:tblPr/>
              <a:tblGrid>
                <a:gridCol w="2438400"/>
                <a:gridCol w="613721"/>
                <a:gridCol w="804954"/>
                <a:gridCol w="804954"/>
                <a:gridCol w="804954"/>
                <a:gridCol w="804954"/>
                <a:gridCol w="804954"/>
                <a:gridCol w="804954"/>
                <a:gridCol w="804954"/>
              </a:tblGrid>
              <a:tr h="372294">
                <a:tc>
                  <a:txBody>
                    <a:bodyPr/>
                    <a:lstStyle/>
                    <a:p>
                      <a:pPr algn="l" fontAlgn="b"/>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dirty="0" smtClean="0">
                        <a:solidFill>
                          <a:srgbClr val="000000"/>
                        </a:solidFill>
                        <a:latin typeface="Calibri"/>
                      </a:endParaRPr>
                    </a:p>
                    <a:p>
                      <a:pPr algn="l" fontAlgn="b"/>
                      <a:r>
                        <a:rPr lang="en-ZW" sz="1800" b="0" i="0" u="none" strike="noStrike" dirty="0" smtClean="0">
                          <a:solidFill>
                            <a:srgbClr val="000000"/>
                          </a:solidFill>
                          <a:latin typeface="Calibri"/>
                        </a:rPr>
                        <a:t>Bulls</a:t>
                      </a:r>
                    </a:p>
                    <a:p>
                      <a:pPr algn="l" fontAlgn="b"/>
                      <a:endParaRPr lang="en-ZW" sz="1800" b="0" i="0" u="none" strike="noStrike" dirty="0" smtClean="0">
                        <a:solidFill>
                          <a:srgbClr val="000000"/>
                        </a:solidFill>
                        <a:latin typeface="Calibri"/>
                      </a:endParaRPr>
                    </a:p>
                    <a:p>
                      <a:pPr algn="l" fontAlgn="b"/>
                      <a:r>
                        <a:rPr lang="en-ZW" sz="1800" b="0" i="0" u="none" strike="noStrike" dirty="0" smtClean="0">
                          <a:solidFill>
                            <a:srgbClr val="000000"/>
                          </a:solidFill>
                          <a:latin typeface="Calibri"/>
                        </a:rPr>
                        <a:t>3</a:t>
                      </a:r>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marL="663575" indent="-663575" algn="l" fontAlgn="b"/>
                      <a:r>
                        <a:rPr lang="en-ZW" sz="1800" b="0" i="0" u="none" strike="noStrike" dirty="0" smtClean="0">
                          <a:solidFill>
                            <a:srgbClr val="000000"/>
                          </a:solidFill>
                          <a:latin typeface="Calibri"/>
                        </a:rPr>
                        <a:t>Cows      </a:t>
                      </a:r>
                    </a:p>
                    <a:p>
                      <a:pPr marL="663575" indent="0" algn="l" fontAlgn="b"/>
                      <a:endParaRPr lang="en-ZW" sz="1800" b="0" i="0" u="none" strike="noStrike" dirty="0" smtClean="0">
                        <a:solidFill>
                          <a:srgbClr val="000000"/>
                        </a:solidFill>
                        <a:latin typeface="Calibri"/>
                      </a:endParaRPr>
                    </a:p>
                    <a:p>
                      <a:pPr algn="l" fontAlgn="b"/>
                      <a:r>
                        <a:rPr lang="en-ZW" sz="1800" b="0" i="0" u="none" strike="noStrike" dirty="0" smtClean="0">
                          <a:solidFill>
                            <a:srgbClr val="000000"/>
                          </a:solidFill>
                          <a:latin typeface="Calibri"/>
                        </a:rPr>
                        <a:t>152</a:t>
                      </a:r>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800" b="0" i="0" u="none" strike="noStrike" dirty="0" smtClean="0">
                          <a:solidFill>
                            <a:srgbClr val="000000"/>
                          </a:solidFill>
                          <a:latin typeface="Calibri"/>
                        </a:rPr>
                        <a:t>46</a:t>
                      </a:r>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800" b="0" i="0" u="none" strike="noStrike" dirty="0" smtClean="0">
                          <a:solidFill>
                            <a:srgbClr val="000000"/>
                          </a:solidFill>
                          <a:latin typeface="Calibri"/>
                        </a:rPr>
                        <a:t>60</a:t>
                      </a:r>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800" b="0" i="0" u="none" strike="noStrike" dirty="0" smtClean="0">
                          <a:solidFill>
                            <a:srgbClr val="000000"/>
                          </a:solidFill>
                          <a:latin typeface="Calibri"/>
                        </a:rPr>
                        <a:t>20</a:t>
                      </a:r>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800" b="0" i="0" u="none" strike="noStrike" dirty="0" smtClean="0">
                          <a:solidFill>
                            <a:srgbClr val="000000"/>
                          </a:solidFill>
                          <a:latin typeface="Calibri"/>
                        </a:rPr>
                        <a:t>25</a:t>
                      </a:r>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r>
              <a:tr h="551628">
                <a:tc>
                  <a:txBody>
                    <a:bodyPr/>
                    <a:lstStyle/>
                    <a:p>
                      <a:pPr algn="l" fontAlgn="b"/>
                      <a:r>
                        <a:rPr lang="en-ZW" sz="1800" b="0" i="0" u="none" strike="noStrike">
                          <a:solidFill>
                            <a:srgbClr val="000000"/>
                          </a:solidFill>
                          <a:latin typeface="Calibri"/>
                        </a:rPr>
                        <a:t>         FSV</a:t>
                      </a:r>
                    </a:p>
                  </a:txBody>
                  <a:tcPr marL="7061" marR="7061" marT="7061" marB="0" anchor="b">
                    <a:lnL>
                      <a:noFill/>
                    </a:lnL>
                    <a:lnR>
                      <a:noFill/>
                    </a:lnR>
                    <a:lnT>
                      <a:noFill/>
                    </a:lnT>
                    <a:lnB>
                      <a:noFill/>
                    </a:lnB>
                  </a:tcPr>
                </a:tc>
                <a:tc>
                  <a:txBody>
                    <a:bodyPr/>
                    <a:lstStyle/>
                    <a:p>
                      <a:pPr algn="l" fontAlgn="b"/>
                      <a:r>
                        <a:rPr lang="en-ZW" sz="1800" b="0" i="0" u="none" strike="noStrike" dirty="0" smtClean="0">
                          <a:solidFill>
                            <a:srgbClr val="000000"/>
                          </a:solidFill>
                          <a:latin typeface="Calibri"/>
                        </a:rPr>
                        <a:t>800</a:t>
                      </a:r>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r" fontAlgn="b"/>
                      <a:r>
                        <a:rPr lang="en-ZW" sz="1800" b="0" i="0" u="none" strike="noStrike" dirty="0">
                          <a:solidFill>
                            <a:srgbClr val="000000"/>
                          </a:solidFill>
                          <a:latin typeface="Calibri"/>
                        </a:rPr>
                        <a:t>   </a:t>
                      </a:r>
                      <a:r>
                        <a:rPr lang="en-ZW" sz="1800" b="0" i="0" u="none" strike="noStrike" dirty="0" smtClean="0">
                          <a:solidFill>
                            <a:srgbClr val="000000"/>
                          </a:solidFill>
                          <a:latin typeface="Calibri"/>
                        </a:rPr>
                        <a:t>    </a:t>
                      </a:r>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800" b="0" i="0" u="none" strike="noStrike" dirty="0" smtClean="0">
                          <a:solidFill>
                            <a:srgbClr val="000000"/>
                          </a:solidFill>
                          <a:latin typeface="Calibri"/>
                        </a:rPr>
                        <a:t> 600 </a:t>
                      </a:r>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500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450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250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150 </a:t>
                      </a: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r>
              <a:tr h="551628">
                <a:tc>
                  <a:txBody>
                    <a:bodyPr/>
                    <a:lstStyle/>
                    <a:p>
                      <a:pPr algn="l" fontAlgn="b"/>
                      <a:r>
                        <a:rPr lang="en-ZW" sz="1800" b="0" i="0" u="none" strike="noStrike" dirty="0">
                          <a:solidFill>
                            <a:srgbClr val="000000"/>
                          </a:solidFill>
                          <a:latin typeface="Calibri"/>
                        </a:rPr>
                        <a:t>       Opening stock 1 Jan </a:t>
                      </a:r>
                      <a:r>
                        <a:rPr lang="en-ZW" sz="1800" b="0" i="0" u="none" strike="noStrike" dirty="0" smtClean="0">
                          <a:solidFill>
                            <a:srgbClr val="000000"/>
                          </a:solidFill>
                          <a:latin typeface="Calibri"/>
                        </a:rPr>
                        <a:t>2012</a:t>
                      </a:r>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800" b="0" i="0" u="none" strike="noStrike" dirty="0">
                          <a:solidFill>
                            <a:srgbClr val="000000"/>
                          </a:solidFill>
                          <a:latin typeface="Calibri"/>
                        </a:rPr>
                        <a:t>             -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   </a:t>
                      </a:r>
                    </a:p>
                  </a:txBody>
                  <a:tcPr marL="7061" marR="7061" marT="7061" marB="0" anchor="b">
                    <a:lnL>
                      <a:noFill/>
                    </a:lnL>
                    <a:lnR>
                      <a:noFill/>
                    </a:lnR>
                    <a:lnT>
                      <a:noFill/>
                    </a:lnT>
                    <a:lnB>
                      <a:noFill/>
                    </a:lnB>
                  </a:tcPr>
                </a:tc>
              </a:tr>
              <a:tr h="698053">
                <a:tc>
                  <a:txBody>
                    <a:bodyPr/>
                    <a:lstStyle/>
                    <a:p>
                      <a:pPr algn="l" fontAlgn="b"/>
                      <a:r>
                        <a:rPr lang="en-ZW" sz="1800" b="0" i="0" u="none" strike="noStrike" dirty="0">
                          <a:solidFill>
                            <a:srgbClr val="000000"/>
                          </a:solidFill>
                          <a:latin typeface="Calibri"/>
                        </a:rPr>
                        <a:t>       Closing stock 31 Dec </a:t>
                      </a:r>
                      <a:r>
                        <a:rPr lang="en-ZW" sz="1800" b="0" i="0" u="none" strike="noStrike" dirty="0" smtClean="0">
                          <a:solidFill>
                            <a:srgbClr val="000000"/>
                          </a:solidFill>
                          <a:latin typeface="Calibri"/>
                        </a:rPr>
                        <a:t>2012</a:t>
                      </a:r>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800" b="0" i="0" u="none" strike="noStrike" dirty="0" smtClean="0">
                          <a:solidFill>
                            <a:srgbClr val="000000"/>
                          </a:solidFill>
                          <a:latin typeface="Calibri"/>
                        </a:rPr>
                        <a:t>2400</a:t>
                      </a:r>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800" b="0" i="0" u="none" strike="noStrike" dirty="0">
                          <a:solidFill>
                            <a:srgbClr val="000000"/>
                          </a:solidFill>
                          <a:latin typeface="Calibri"/>
                        </a:rPr>
                        <a:t>       </a:t>
                      </a:r>
                      <a:r>
                        <a:rPr lang="en-ZW" sz="1800" b="0" i="0" u="none" strike="noStrike" dirty="0" smtClean="0">
                          <a:solidFill>
                            <a:srgbClr val="000000"/>
                          </a:solidFill>
                          <a:latin typeface="Calibri"/>
                        </a:rPr>
                        <a:t> </a:t>
                      </a:r>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91,200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23,000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27,000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5,000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3,750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152,350 </a:t>
                      </a:r>
                    </a:p>
                  </a:txBody>
                  <a:tcPr marL="7061" marR="7061" marT="7061" marB="0" anchor="b">
                    <a:lnL>
                      <a:noFill/>
                    </a:lnL>
                    <a:lnR>
                      <a:noFill/>
                    </a:lnR>
                    <a:lnT>
                      <a:noFill/>
                    </a:lnT>
                    <a:lnB>
                      <a:noFill/>
                    </a:lnB>
                  </a:tcPr>
                </a:tc>
              </a:tr>
              <a:tr h="372294">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r>
              <a:tr h="372294">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r>
              <a:tr h="372294">
                <a:tc>
                  <a:txBody>
                    <a:bodyPr/>
                    <a:lstStyle/>
                    <a:p>
                      <a:pPr algn="l" fontAlgn="b"/>
                      <a:endParaRPr lang="en-ZW" sz="1800" b="0" i="0" u="none" strike="noStrike">
                        <a:solidFill>
                          <a:srgbClr val="C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dirty="0">
                        <a:solidFill>
                          <a:srgbClr val="C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r>
              <a:tr h="387808">
                <a:tc>
                  <a:txBody>
                    <a:bodyPr/>
                    <a:lstStyle/>
                    <a:p>
                      <a:pPr algn="l" fontAlgn="b"/>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w="25400" cap="flat" cmpd="dbl" algn="ctr">
                      <a:noFill/>
                      <a:prstDash val="solid"/>
                      <a:round/>
                      <a:headEnd type="none" w="med" len="med"/>
                      <a:tailEnd type="none" w="med" len="med"/>
                    </a:lnT>
                    <a:lnB>
                      <a:noFill/>
                    </a:lnB>
                  </a:tcPr>
                </a:tc>
                <a:tc>
                  <a:txBody>
                    <a:bodyPr/>
                    <a:lstStyle/>
                    <a:p>
                      <a:pPr marL="0" indent="677863" algn="l" fontAlgn="b"/>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228600" y="152400"/>
          <a:ext cx="8686803" cy="6493512"/>
        </p:xfrm>
        <a:graphic>
          <a:graphicData uri="http://schemas.openxmlformats.org/drawingml/2006/table">
            <a:tbl>
              <a:tblPr/>
              <a:tblGrid>
                <a:gridCol w="1032096"/>
                <a:gridCol w="1032096"/>
                <a:gridCol w="1032096"/>
                <a:gridCol w="1290119"/>
                <a:gridCol w="1290119"/>
                <a:gridCol w="1720158"/>
                <a:gridCol w="1290119"/>
              </a:tblGrid>
              <a:tr h="330039">
                <a:tc gridSpan="3">
                  <a:txBody>
                    <a:bodyPr/>
                    <a:lstStyle/>
                    <a:p>
                      <a:pPr algn="l" fontAlgn="b"/>
                      <a:r>
                        <a:rPr lang="en-ZW" sz="2000" b="1" i="0" u="none" strike="noStrike" dirty="0" smtClean="0">
                          <a:solidFill>
                            <a:srgbClr val="FF0000"/>
                          </a:solidFill>
                          <a:latin typeface="Calibri"/>
                        </a:rPr>
                        <a:t>MHOFU </a:t>
                      </a:r>
                      <a:r>
                        <a:rPr lang="en-ZW" sz="2000" b="1" i="0" u="none" strike="noStrike" dirty="0">
                          <a:solidFill>
                            <a:srgbClr val="FF0000"/>
                          </a:solidFill>
                          <a:latin typeface="Calibri"/>
                        </a:rPr>
                        <a:t>RANCHER  (</a:t>
                      </a:r>
                      <a:r>
                        <a:rPr lang="en-ZW" sz="2000" b="1" i="0" u="none" strike="noStrike" dirty="0" err="1">
                          <a:solidFill>
                            <a:srgbClr val="FF0000"/>
                          </a:solidFill>
                          <a:latin typeface="Calibri"/>
                        </a:rPr>
                        <a:t>Pvt</a:t>
                      </a:r>
                      <a:r>
                        <a:rPr lang="en-ZW" sz="2000" b="1" i="0" u="none" strike="noStrike" dirty="0">
                          <a:solidFill>
                            <a:srgbClr val="FF0000"/>
                          </a:solidFill>
                          <a:latin typeface="Calibri"/>
                        </a:rPr>
                        <a:t>) Ltd</a:t>
                      </a: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618822">
                <a:tc gridSpan="2">
                  <a:txBody>
                    <a:bodyPr/>
                    <a:lstStyle/>
                    <a:p>
                      <a:pPr algn="l" fontAlgn="b"/>
                      <a:r>
                        <a:rPr lang="en-ZW" sz="2000" b="1" i="0" u="none" strike="noStrike" baseline="0" dirty="0" smtClean="0">
                          <a:solidFill>
                            <a:srgbClr val="FF0000"/>
                          </a:solidFill>
                          <a:latin typeface="Calibri"/>
                        </a:rPr>
                        <a:t>TX </a:t>
                      </a:r>
                      <a:r>
                        <a:rPr lang="en-ZW" sz="2000" b="1" i="0" u="none" strike="noStrike" dirty="0" smtClean="0">
                          <a:solidFill>
                            <a:srgbClr val="FF0000"/>
                          </a:solidFill>
                          <a:latin typeface="Calibri"/>
                        </a:rPr>
                        <a:t>COMPUTATION</a:t>
                      </a:r>
                      <a:endParaRPr lang="en-ZW" sz="2000" b="1" i="0" u="none" strike="noStrike" dirty="0">
                        <a:solidFill>
                          <a:srgbClr val="FF0000"/>
                        </a:solidFill>
                        <a:latin typeface="Calibri"/>
                      </a:endParaRPr>
                    </a:p>
                  </a:txBody>
                  <a:tcPr marL="7620" marR="7620" marT="7620" marB="0" anchor="b">
                    <a:lnL>
                      <a:noFill/>
                    </a:lnL>
                    <a:lnR>
                      <a:noFill/>
                    </a:lnR>
                    <a:lnT>
                      <a:noFill/>
                    </a:lnT>
                    <a:lnB>
                      <a:noFill/>
                    </a:lnB>
                  </a:tcPr>
                </a:tc>
                <a:tc hMerge="1">
                  <a:txBody>
                    <a:bodyPr/>
                    <a:lstStyle/>
                    <a:p>
                      <a:endParaRPr lang="en-ZW"/>
                    </a:p>
                  </a:txBody>
                  <a:tcPr/>
                </a:tc>
                <a:tc>
                  <a:txBody>
                    <a:bodyPr/>
                    <a:lstStyle/>
                    <a:p>
                      <a:pPr algn="l" fontAlgn="b"/>
                      <a:endParaRPr lang="en-ZW" sz="2000" b="0" i="0" u="none" strike="noStrike" dirty="0">
                        <a:solidFill>
                          <a:srgbClr val="FF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346539">
                <a:tc gridSpan="3">
                  <a:txBody>
                    <a:bodyPr/>
                    <a:lstStyle/>
                    <a:p>
                      <a:pPr algn="l" fontAlgn="b"/>
                      <a:r>
                        <a:rPr lang="en-ZW" sz="2000" b="1" i="0" u="none" strike="noStrike" dirty="0">
                          <a:solidFill>
                            <a:srgbClr val="FF0000"/>
                          </a:solidFill>
                          <a:latin typeface="Calibri"/>
                        </a:rPr>
                        <a:t>31st DECEMBER </a:t>
                      </a:r>
                      <a:r>
                        <a:rPr lang="en-ZW" sz="2000" b="1" i="0" u="none" strike="noStrike" dirty="0" smtClean="0">
                          <a:solidFill>
                            <a:srgbClr val="FF0000"/>
                          </a:solidFill>
                          <a:latin typeface="Calibri"/>
                        </a:rPr>
                        <a:t>2012</a:t>
                      </a:r>
                      <a:endParaRPr lang="en-ZW" sz="2000" b="1" i="0" u="none" strike="noStrike" dirty="0">
                        <a:solidFill>
                          <a:srgbClr val="FF0000"/>
                        </a:solidFill>
                        <a:latin typeface="Calibri"/>
                      </a:endParaRP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330039">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dirty="0">
                        <a:solidFill>
                          <a:srgbClr val="002060"/>
                        </a:solidFill>
                        <a:latin typeface="Calibri"/>
                      </a:endParaRPr>
                    </a:p>
                  </a:txBody>
                  <a:tcPr marL="7620" marR="7620" marT="7620" marB="0" anchor="b">
                    <a:lnL>
                      <a:noFill/>
                    </a:lnL>
                    <a:lnR>
                      <a:noFill/>
                    </a:lnR>
                    <a:lnT>
                      <a:noFill/>
                    </a:lnT>
                    <a:lnB>
                      <a:noFill/>
                    </a:lnB>
                  </a:tcPr>
                </a:tc>
              </a:tr>
              <a:tr h="330039">
                <a:tc gridSpan="2">
                  <a:txBody>
                    <a:bodyPr/>
                    <a:lstStyle/>
                    <a:p>
                      <a:pPr algn="l" fontAlgn="b"/>
                      <a:r>
                        <a:rPr lang="en-ZW" sz="2000" b="0" i="0" u="none" strike="noStrike" dirty="0">
                          <a:solidFill>
                            <a:srgbClr val="002060"/>
                          </a:solidFill>
                          <a:latin typeface="Calibri"/>
                        </a:rPr>
                        <a:t>Sales : Normal</a:t>
                      </a:r>
                    </a:p>
                  </a:txBody>
                  <a:tcPr marL="7620" marR="7620" marT="7620" marB="0" anchor="b">
                    <a:lnL>
                      <a:noFill/>
                    </a:lnL>
                    <a:lnR>
                      <a:noFill/>
                    </a:lnR>
                    <a:lnT>
                      <a:noFill/>
                    </a:lnT>
                    <a:lnB>
                      <a:noFill/>
                    </a:lnB>
                  </a:tcPr>
                </a:tc>
                <a:tc hMerge="1">
                  <a:txBody>
                    <a:bodyPr/>
                    <a:lstStyle/>
                    <a:p>
                      <a:endParaRPr lang="en-ZW"/>
                    </a:p>
                  </a:txBody>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dirty="0">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dirty="0">
                          <a:solidFill>
                            <a:srgbClr val="002060"/>
                          </a:solidFill>
                          <a:latin typeface="Calibri"/>
                        </a:rPr>
                        <a:t>     45,000 </a:t>
                      </a:r>
                    </a:p>
                  </a:txBody>
                  <a:tcPr marL="7620" marR="7620" marT="7620" marB="0" anchor="b">
                    <a:lnL>
                      <a:noFill/>
                    </a:lnL>
                    <a:lnR>
                      <a:noFill/>
                    </a:lnR>
                    <a:lnT>
                      <a:noFill/>
                    </a:lnT>
                    <a:lnB>
                      <a:noFill/>
                    </a:lnB>
                  </a:tcPr>
                </a:tc>
              </a:tr>
              <a:tr h="330039">
                <a:tc gridSpan="2">
                  <a:txBody>
                    <a:bodyPr/>
                    <a:lstStyle/>
                    <a:p>
                      <a:pPr algn="l" fontAlgn="b"/>
                      <a:r>
                        <a:rPr lang="en-ZW" sz="2000" b="0" i="0" u="none" strike="noStrike">
                          <a:solidFill>
                            <a:srgbClr val="002060"/>
                          </a:solidFill>
                          <a:latin typeface="Calibri"/>
                        </a:rPr>
                        <a:t>           : Epidermic</a:t>
                      </a:r>
                    </a:p>
                  </a:txBody>
                  <a:tcPr marL="7620" marR="7620" marT="7620" marB="0" anchor="b">
                    <a:lnL>
                      <a:noFill/>
                    </a:lnL>
                    <a:lnR>
                      <a:noFill/>
                    </a:lnR>
                    <a:lnT>
                      <a:noFill/>
                    </a:lnT>
                    <a:lnB>
                      <a:noFill/>
                    </a:lnB>
                  </a:tcPr>
                </a:tc>
                <a:tc hMerge="1">
                  <a:txBody>
                    <a:bodyPr/>
                    <a:lstStyle/>
                    <a:p>
                      <a:endParaRPr lang="en-ZW"/>
                    </a:p>
                  </a:txBody>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dirty="0">
                          <a:solidFill>
                            <a:srgbClr val="002060"/>
                          </a:solidFill>
                          <a:latin typeface="Calibri"/>
                        </a:rPr>
                        <a:t>     21,000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r>
              <a:tr h="330039">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dirty="0">
                          <a:solidFill>
                            <a:srgbClr val="002060"/>
                          </a:solidFill>
                          <a:latin typeface="Calibri"/>
                        </a:rPr>
                        <a:t>     66,000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r>
              <a:tr h="330039">
                <a:tc>
                  <a:txBody>
                    <a:bodyPr/>
                    <a:lstStyle/>
                    <a:p>
                      <a:pPr algn="l" fontAlgn="b"/>
                      <a:r>
                        <a:rPr lang="en-ZW" sz="2000" b="0" i="0" u="none" strike="noStrike">
                          <a:solidFill>
                            <a:srgbClr val="002060"/>
                          </a:solidFill>
                          <a:latin typeface="Calibri"/>
                        </a:rPr>
                        <a:t>Less:</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dirty="0">
                        <a:solidFill>
                          <a:srgbClr val="002060"/>
                        </a:solidFill>
                        <a:latin typeface="Calibri"/>
                      </a:endParaRPr>
                    </a:p>
                  </a:txBody>
                  <a:tcPr marL="7620" marR="7620" marT="7620" marB="0" anchor="b">
                    <a:lnL>
                      <a:noFill/>
                    </a:lnL>
                    <a:lnR>
                      <a:noFill/>
                    </a:lnR>
                    <a:lnT>
                      <a:noFill/>
                    </a:lnT>
                    <a:lnB>
                      <a:noFill/>
                    </a:lnB>
                  </a:tcPr>
                </a:tc>
              </a:tr>
              <a:tr h="330039">
                <a:tc gridSpan="3">
                  <a:txBody>
                    <a:bodyPr/>
                    <a:lstStyle/>
                    <a:p>
                      <a:pPr algn="l" fontAlgn="b"/>
                      <a:r>
                        <a:rPr lang="en-ZW" sz="2000" b="0" i="0" u="none" strike="noStrike" dirty="0">
                          <a:solidFill>
                            <a:srgbClr val="002060"/>
                          </a:solidFill>
                          <a:latin typeface="Calibri"/>
                        </a:rPr>
                        <a:t>Purchases  </a:t>
                      </a:r>
                      <a:r>
                        <a:rPr lang="en-ZW" sz="2000" b="0" i="0" u="none" strike="noStrike" dirty="0" smtClean="0">
                          <a:solidFill>
                            <a:srgbClr val="002060"/>
                          </a:solidFill>
                          <a:latin typeface="Calibri"/>
                        </a:rPr>
                        <a:t>April 2012</a:t>
                      </a:r>
                      <a:endParaRPr lang="en-ZW" sz="2000" b="0" i="0" u="none" strike="noStrike" dirty="0">
                        <a:solidFill>
                          <a:srgbClr val="002060"/>
                        </a:solidFill>
                        <a:latin typeface="Calibri"/>
                      </a:endParaRP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2060"/>
                          </a:solidFill>
                          <a:latin typeface="Calibri"/>
                        </a:rPr>
                        <a:t>         112,200 </a:t>
                      </a:r>
                    </a:p>
                  </a:txBody>
                  <a:tcPr marL="7620" marR="7620" marT="7620" marB="0" anchor="b">
                    <a:lnL>
                      <a:noFill/>
                    </a:lnL>
                    <a:lnR>
                      <a:noFill/>
                    </a:lnR>
                    <a:lnT>
                      <a:noFill/>
                    </a:lnT>
                    <a:lnB>
                      <a:noFill/>
                    </a:lnB>
                  </a:tcPr>
                </a:tc>
                <a:tc>
                  <a:txBody>
                    <a:bodyPr/>
                    <a:lstStyle/>
                    <a:p>
                      <a:pPr algn="l" fontAlgn="b"/>
                      <a:endParaRPr lang="en-ZW" sz="2000" b="0" i="0" u="none" strike="noStrike" dirty="0">
                        <a:solidFill>
                          <a:srgbClr val="002060"/>
                        </a:solidFill>
                        <a:latin typeface="Calibri"/>
                      </a:endParaRPr>
                    </a:p>
                  </a:txBody>
                  <a:tcPr marL="7620" marR="7620" marT="7620" marB="0" anchor="b">
                    <a:lnL>
                      <a:noFill/>
                    </a:lnL>
                    <a:lnR>
                      <a:noFill/>
                    </a:lnR>
                    <a:lnT>
                      <a:noFill/>
                    </a:lnT>
                    <a:lnB>
                      <a:noFill/>
                    </a:lnB>
                  </a:tcPr>
                </a:tc>
              </a:tr>
              <a:tr h="330039">
                <a:tc gridSpan="3">
                  <a:txBody>
                    <a:bodyPr/>
                    <a:lstStyle/>
                    <a:p>
                      <a:pPr algn="l" fontAlgn="b"/>
                      <a:r>
                        <a:rPr lang="en-ZW" sz="2000" b="0" i="0" u="none" strike="noStrike" dirty="0">
                          <a:solidFill>
                            <a:srgbClr val="002060"/>
                          </a:solidFill>
                          <a:latin typeface="Calibri"/>
                        </a:rPr>
                        <a:t>Purchases (restocking)</a:t>
                      </a: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2060"/>
                          </a:solidFill>
                          <a:latin typeface="Calibri"/>
                        </a:rPr>
                        <a:t>           30,000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ZW" sz="2000" b="0" i="0" u="none" strike="noStrike" dirty="0">
                        <a:solidFill>
                          <a:srgbClr val="002060"/>
                        </a:solidFill>
                        <a:latin typeface="Calibri"/>
                      </a:endParaRPr>
                    </a:p>
                  </a:txBody>
                  <a:tcPr marL="7620" marR="7620" marT="7620" marB="0" anchor="b">
                    <a:lnL>
                      <a:noFill/>
                    </a:lnL>
                    <a:lnR>
                      <a:noFill/>
                    </a:lnR>
                    <a:lnT>
                      <a:noFill/>
                    </a:lnT>
                    <a:lnB>
                      <a:noFill/>
                    </a:lnB>
                  </a:tcPr>
                </a:tc>
              </a:tr>
              <a:tr h="330039">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dirty="0">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2060"/>
                          </a:solidFill>
                          <a:latin typeface="Calibri"/>
                        </a:rPr>
                        <a:t>         142,200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ZW" sz="2000" b="0" i="0" u="none" strike="noStrike" dirty="0">
                        <a:solidFill>
                          <a:srgbClr val="002060"/>
                        </a:solidFill>
                        <a:latin typeface="Calibri"/>
                      </a:endParaRPr>
                    </a:p>
                  </a:txBody>
                  <a:tcPr marL="7620" marR="7620" marT="7620" marB="0" anchor="b">
                    <a:lnL>
                      <a:noFill/>
                    </a:lnL>
                    <a:lnR>
                      <a:noFill/>
                    </a:lnR>
                    <a:lnT>
                      <a:noFill/>
                    </a:lnT>
                    <a:lnB>
                      <a:noFill/>
                    </a:lnB>
                  </a:tcPr>
                </a:tc>
              </a:tr>
              <a:tr h="330039">
                <a:tc gridSpan="4">
                  <a:txBody>
                    <a:bodyPr/>
                    <a:lstStyle/>
                    <a:p>
                      <a:pPr algn="l" fontAlgn="b"/>
                      <a:r>
                        <a:rPr lang="en-ZW" sz="2000" b="0" i="0" u="none" strike="noStrike" dirty="0">
                          <a:solidFill>
                            <a:srgbClr val="002060"/>
                          </a:solidFill>
                          <a:latin typeface="Calibri"/>
                        </a:rPr>
                        <a:t>Closing stock as at 31st Dec </a:t>
                      </a:r>
                      <a:r>
                        <a:rPr lang="en-ZW" sz="2000" b="0" i="0" u="none" strike="noStrike" dirty="0" smtClean="0">
                          <a:solidFill>
                            <a:srgbClr val="002060"/>
                          </a:solidFill>
                          <a:latin typeface="Calibri"/>
                        </a:rPr>
                        <a:t>2012</a:t>
                      </a:r>
                      <a:endParaRPr lang="en-ZW" sz="2000" b="0" i="0" u="none" strike="noStrike" dirty="0">
                        <a:solidFill>
                          <a:srgbClr val="002060"/>
                        </a:solidFill>
                        <a:latin typeface="Calibri"/>
                      </a:endParaRP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2060"/>
                          </a:solidFill>
                          <a:latin typeface="Calibri"/>
                        </a:rPr>
                        <a:t>       (152,350)</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ZW" sz="2000" b="0" i="0" u="none" strike="noStrike" dirty="0">
                        <a:solidFill>
                          <a:srgbClr val="002060"/>
                        </a:solidFill>
                        <a:latin typeface="Calibri"/>
                      </a:endParaRPr>
                    </a:p>
                  </a:txBody>
                  <a:tcPr marL="7620" marR="7620" marT="7620" marB="0" anchor="b">
                    <a:lnL>
                      <a:noFill/>
                    </a:lnL>
                    <a:lnR>
                      <a:noFill/>
                    </a:lnR>
                    <a:lnT>
                      <a:noFill/>
                    </a:lnT>
                    <a:lnB>
                      <a:noFill/>
                    </a:lnB>
                  </a:tcPr>
                </a:tc>
              </a:tr>
              <a:tr h="330039">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dirty="0">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ZW" sz="2000" b="0" i="0" u="none" strike="noStrike" dirty="0">
                          <a:solidFill>
                            <a:srgbClr val="002060"/>
                          </a:solidFill>
                          <a:latin typeface="Calibri"/>
                        </a:rPr>
                        <a:t>     10,150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r>
              <a:tr h="330039">
                <a:tc gridSpan="2">
                  <a:txBody>
                    <a:bodyPr/>
                    <a:lstStyle/>
                    <a:p>
                      <a:pPr algn="l" fontAlgn="b"/>
                      <a:r>
                        <a:rPr lang="en-ZW" sz="2000" b="0" i="0" u="none" strike="noStrike">
                          <a:solidFill>
                            <a:srgbClr val="002060"/>
                          </a:solidFill>
                          <a:latin typeface="Calibri"/>
                        </a:rPr>
                        <a:t>Gross profit</a:t>
                      </a:r>
                    </a:p>
                  </a:txBody>
                  <a:tcPr marL="7620" marR="7620" marT="7620" marB="0" anchor="b">
                    <a:lnL>
                      <a:noFill/>
                    </a:lnL>
                    <a:lnR>
                      <a:noFill/>
                    </a:lnR>
                    <a:lnT>
                      <a:noFill/>
                    </a:lnT>
                    <a:lnB>
                      <a:noFill/>
                    </a:lnB>
                  </a:tcPr>
                </a:tc>
                <a:tc hMerge="1">
                  <a:txBody>
                    <a:bodyPr/>
                    <a:lstStyle/>
                    <a:p>
                      <a:endParaRPr lang="en-ZW"/>
                    </a:p>
                  </a:txBody>
                  <a:tcPr/>
                </a:tc>
                <a:tc>
                  <a:txBody>
                    <a:bodyPr/>
                    <a:lstStyle/>
                    <a:p>
                      <a:pPr algn="l" fontAlgn="b"/>
                      <a:endParaRPr lang="en-ZW" sz="2000" b="0" i="0" u="none" strike="noStrike" dirty="0">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dirty="0">
                        <a:solidFill>
                          <a:srgbClr val="00206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dirty="0">
                          <a:solidFill>
                            <a:srgbClr val="002060"/>
                          </a:solidFill>
                          <a:latin typeface="Calibri"/>
                        </a:rPr>
                        <a:t>     76,150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r>
              <a:tr h="618822">
                <a:tc gridSpan="2">
                  <a:txBody>
                    <a:bodyPr/>
                    <a:lstStyle/>
                    <a:p>
                      <a:pPr algn="l" fontAlgn="b"/>
                      <a:r>
                        <a:rPr lang="en-ZW" sz="2000" b="0" i="0" u="none" strike="noStrike">
                          <a:solidFill>
                            <a:srgbClr val="002060"/>
                          </a:solidFill>
                          <a:latin typeface="Calibri"/>
                        </a:rPr>
                        <a:t>Livestock expenses</a:t>
                      </a:r>
                    </a:p>
                  </a:txBody>
                  <a:tcPr marL="7620" marR="7620" marT="7620" marB="0" anchor="b">
                    <a:lnL>
                      <a:noFill/>
                    </a:lnL>
                    <a:lnR>
                      <a:noFill/>
                    </a:lnR>
                    <a:lnT>
                      <a:noFill/>
                    </a:lnT>
                    <a:lnB>
                      <a:noFill/>
                    </a:lnB>
                  </a:tcPr>
                </a:tc>
                <a:tc hMerge="1">
                  <a:txBody>
                    <a:bodyPr/>
                    <a:lstStyle/>
                    <a:p>
                      <a:endParaRPr lang="en-ZW"/>
                    </a:p>
                  </a:txBody>
                  <a:tcPr/>
                </a:tc>
                <a:tc>
                  <a:txBody>
                    <a:bodyPr/>
                    <a:lstStyle/>
                    <a:p>
                      <a:pPr algn="l" fontAlgn="b"/>
                      <a:endParaRPr lang="en-ZW" sz="2000" b="0" i="0" u="none" strike="noStrike" dirty="0">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dirty="0">
                          <a:solidFill>
                            <a:srgbClr val="002060"/>
                          </a:solidFill>
                          <a:latin typeface="Calibri"/>
                        </a:rPr>
                        <a:t>     (8,000)</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r>
              <a:tr h="330039">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dirty="0">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dirty="0">
                          <a:solidFill>
                            <a:srgbClr val="002060"/>
                          </a:solidFill>
                          <a:latin typeface="Calibri"/>
                        </a:rPr>
                        <a:t>     68,150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r>
              <a:tr h="618822">
                <a:tc gridSpan="2">
                  <a:txBody>
                    <a:bodyPr/>
                    <a:lstStyle/>
                    <a:p>
                      <a:pPr algn="l" fontAlgn="b"/>
                      <a:r>
                        <a:rPr lang="en-ZW" sz="2000" b="0" i="0" u="none" strike="noStrike" dirty="0">
                          <a:solidFill>
                            <a:srgbClr val="002060"/>
                          </a:solidFill>
                          <a:latin typeface="Calibri"/>
                        </a:rPr>
                        <a:t>Capital allowances</a:t>
                      </a:r>
                    </a:p>
                  </a:txBody>
                  <a:tcPr marL="7620" marR="7620" marT="7620" marB="0" anchor="b">
                    <a:lnL>
                      <a:noFill/>
                    </a:lnL>
                    <a:lnR>
                      <a:noFill/>
                    </a:lnR>
                    <a:lnT>
                      <a:noFill/>
                    </a:lnT>
                    <a:lnB>
                      <a:noFill/>
                    </a:lnB>
                  </a:tcPr>
                </a:tc>
                <a:tc hMerge="1">
                  <a:txBody>
                    <a:bodyPr/>
                    <a:lstStyle/>
                    <a:p>
                      <a:endParaRPr lang="en-ZW"/>
                    </a:p>
                  </a:txBody>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206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dirty="0">
                          <a:solidFill>
                            <a:srgbClr val="002060"/>
                          </a:solidFill>
                          <a:latin typeface="Calibri"/>
                        </a:rPr>
                        <a:t>   (</a:t>
                      </a:r>
                      <a:r>
                        <a:rPr lang="en-ZW" sz="2000" b="0" i="0" u="none" strike="noStrike" dirty="0" smtClean="0">
                          <a:solidFill>
                            <a:srgbClr val="002060"/>
                          </a:solidFill>
                          <a:latin typeface="Calibri"/>
                        </a:rPr>
                        <a:t>35,100)</a:t>
                      </a:r>
                      <a:endParaRPr lang="en-ZW" sz="2000" b="0" i="0" u="none" strike="noStrike" dirty="0">
                        <a:solidFill>
                          <a:srgbClr val="002060"/>
                        </a:solidFill>
                        <a:latin typeface="Calibri"/>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28600" y="228600"/>
          <a:ext cx="8686802" cy="6400790"/>
        </p:xfrm>
        <a:graphic>
          <a:graphicData uri="http://schemas.openxmlformats.org/drawingml/2006/table">
            <a:tbl>
              <a:tblPr/>
              <a:tblGrid>
                <a:gridCol w="1184564"/>
                <a:gridCol w="1184564"/>
                <a:gridCol w="1184564"/>
                <a:gridCol w="1184564"/>
                <a:gridCol w="1184564"/>
                <a:gridCol w="1579418"/>
                <a:gridCol w="1184564"/>
              </a:tblGrid>
              <a:tr h="379306">
                <a:tc>
                  <a:txBody>
                    <a:bodyPr/>
                    <a:lstStyle/>
                    <a:p>
                      <a:pPr algn="l" fontAlgn="b"/>
                      <a:endParaRPr lang="en-ZW" sz="2000" b="0" i="0" u="none" strike="noStrike" dirty="0">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dirty="0">
                          <a:solidFill>
                            <a:srgbClr val="000000"/>
                          </a:solidFill>
                          <a:latin typeface="Calibri"/>
                        </a:rPr>
                        <a:t>     </a:t>
                      </a:r>
                      <a:r>
                        <a:rPr lang="en-ZW" sz="2000" b="0" i="0" u="none" strike="noStrike" dirty="0" smtClean="0">
                          <a:solidFill>
                            <a:srgbClr val="000000"/>
                          </a:solidFill>
                          <a:latin typeface="Calibri"/>
                        </a:rPr>
                        <a:t>33,050 </a:t>
                      </a:r>
                      <a:endParaRPr lang="en-ZW" sz="2000" b="0" i="0" u="none" strike="noStrike" dirty="0">
                        <a:solidFill>
                          <a:srgbClr val="000000"/>
                        </a:solidFill>
                        <a:latin typeface="Calibri"/>
                      </a:endParaRPr>
                    </a:p>
                  </a:txBody>
                  <a:tcPr marL="7620" marR="7620" marT="7620" marB="0" anchor="b">
                    <a:lnL>
                      <a:noFill/>
                    </a:lnL>
                    <a:lnR>
                      <a:noFill/>
                    </a:lnR>
                    <a:lnT>
                      <a:noFill/>
                    </a:lnT>
                    <a:lnB>
                      <a:noFill/>
                    </a:lnB>
                  </a:tcPr>
                </a:tc>
              </a:tr>
              <a:tr h="379306">
                <a:tc>
                  <a:txBody>
                    <a:bodyPr/>
                    <a:lstStyle/>
                    <a:p>
                      <a:pPr algn="l" fontAlgn="b"/>
                      <a:r>
                        <a:rPr lang="en-ZW" sz="2000" b="0" i="0" u="none" strike="noStrike">
                          <a:solidFill>
                            <a:srgbClr val="000000"/>
                          </a:solidFill>
                          <a:latin typeface="Calibri"/>
                        </a:rPr>
                        <a:t>-</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dirty="0">
                          <a:solidFill>
                            <a:srgbClr val="000000"/>
                          </a:solidFill>
                          <a:latin typeface="Calibri"/>
                        </a:rPr>
                        <a:t>         (954)</a:t>
                      </a:r>
                    </a:p>
                  </a:txBody>
                  <a:tcPr marL="7620" marR="7620" marT="7620" marB="0" anchor="b">
                    <a:lnL>
                      <a:noFill/>
                    </a:lnL>
                    <a:lnR>
                      <a:noFill/>
                    </a:lnR>
                    <a:lnT>
                      <a:noFill/>
                    </a:lnT>
                    <a:lnB>
                      <a:noFill/>
                    </a:lnB>
                  </a:tcPr>
                </a:tc>
              </a:tr>
              <a:tr h="379306">
                <a:tc gridSpan="3">
                  <a:txBody>
                    <a:bodyPr/>
                    <a:lstStyle/>
                    <a:p>
                      <a:pPr algn="l" fontAlgn="b"/>
                      <a:r>
                        <a:rPr lang="en-ZW" sz="2000" b="0" i="0" u="none" strike="noStrike">
                          <a:solidFill>
                            <a:srgbClr val="000000"/>
                          </a:solidFill>
                          <a:latin typeface="Calibri"/>
                        </a:rPr>
                        <a:t>Restocking allowance</a:t>
                      </a: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dirty="0">
                          <a:solidFill>
                            <a:srgbClr val="000000"/>
                          </a:solidFill>
                          <a:latin typeface="Calibri"/>
                        </a:rPr>
                        <a:t>     (4,200)</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r>
              <a:tr h="379306">
                <a:tc gridSpan="2">
                  <a:txBody>
                    <a:bodyPr/>
                    <a:lstStyle/>
                    <a:p>
                      <a:pPr algn="l" fontAlgn="b"/>
                      <a:r>
                        <a:rPr lang="en-ZW" sz="2000" b="1" i="0" u="none" strike="noStrike" dirty="0">
                          <a:solidFill>
                            <a:srgbClr val="C00000"/>
                          </a:solidFill>
                          <a:latin typeface="Calibri"/>
                        </a:rPr>
                        <a:t>Taxable income</a:t>
                      </a:r>
                    </a:p>
                  </a:txBody>
                  <a:tcPr marL="7620" marR="7620" marT="7620" marB="0" anchor="b">
                    <a:lnL>
                      <a:noFill/>
                    </a:lnL>
                    <a:lnR>
                      <a:noFill/>
                    </a:lnR>
                    <a:lnT>
                      <a:noFill/>
                    </a:lnT>
                    <a:lnB>
                      <a:noFill/>
                    </a:lnB>
                  </a:tcPr>
                </a:tc>
                <a:tc hMerge="1">
                  <a:txBody>
                    <a:bodyPr/>
                    <a:lstStyle/>
                    <a:p>
                      <a:endParaRPr lang="en-ZW"/>
                    </a:p>
                  </a:txBody>
                  <a:tcPr/>
                </a:tc>
                <a:tc>
                  <a:txBody>
                    <a:bodyPr/>
                    <a:lstStyle/>
                    <a:p>
                      <a:pPr algn="l" fontAlgn="b"/>
                      <a:endParaRPr lang="en-ZW" sz="2000" b="0" i="0" u="none" strike="noStrike" dirty="0">
                        <a:solidFill>
                          <a:srgbClr val="C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dirty="0">
                        <a:solidFill>
                          <a:srgbClr val="C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dirty="0">
                        <a:solidFill>
                          <a:srgbClr val="C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dirty="0">
                        <a:solidFill>
                          <a:srgbClr val="C00000"/>
                        </a:solidFill>
                        <a:latin typeface="Calibri"/>
                      </a:endParaRPr>
                    </a:p>
                  </a:txBody>
                  <a:tcPr marL="7620" marR="7620" marT="7620" marB="0" anchor="b">
                    <a:lnL>
                      <a:noFill/>
                    </a:lnL>
                    <a:lnR>
                      <a:noFill/>
                    </a:lnR>
                    <a:lnT>
                      <a:noFill/>
                    </a:lnT>
                    <a:lnB>
                      <a:noFill/>
                    </a:lnB>
                  </a:tcPr>
                </a:tc>
                <a:tc>
                  <a:txBody>
                    <a:bodyPr/>
                    <a:lstStyle/>
                    <a:p>
                      <a:pPr algn="l" fontAlgn="b"/>
                      <a:r>
                        <a:rPr lang="en-ZW" sz="2000" b="1" i="0" u="none" strike="noStrike" dirty="0">
                          <a:solidFill>
                            <a:srgbClr val="C00000"/>
                          </a:solidFill>
                          <a:latin typeface="Calibri"/>
                        </a:rPr>
                        <a:t>    </a:t>
                      </a:r>
                      <a:r>
                        <a:rPr lang="en-ZW" sz="2000" b="1" i="0" u="none" strike="noStrike" dirty="0" smtClean="0">
                          <a:solidFill>
                            <a:srgbClr val="C00000"/>
                          </a:solidFill>
                          <a:latin typeface="Calibri"/>
                        </a:rPr>
                        <a:t>27,896 </a:t>
                      </a:r>
                      <a:endParaRPr lang="en-ZW" sz="2000" b="1" i="0" u="none" strike="noStrike" dirty="0">
                        <a:solidFill>
                          <a:srgbClr val="C00000"/>
                        </a:solidFill>
                        <a:latin typeface="Calibri"/>
                      </a:endParaRP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79306">
                <a:tc>
                  <a:txBody>
                    <a:bodyPr/>
                    <a:lstStyle/>
                    <a:p>
                      <a:pPr algn="l" fontAlgn="b"/>
                      <a:endParaRPr lang="en-ZW" sz="20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1" i="0" u="none" strike="noStrike">
                        <a:solidFill>
                          <a:srgbClr val="000000"/>
                        </a:solidFill>
                        <a:latin typeface="Calibri"/>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r>
              <a:tr h="379306">
                <a:tc gridSpan="2">
                  <a:txBody>
                    <a:bodyPr/>
                    <a:lstStyle/>
                    <a:p>
                      <a:pPr algn="l" fontAlgn="b"/>
                      <a:r>
                        <a:rPr lang="en-ZW" sz="2000" b="1" i="0" u="none" strike="noStrike" dirty="0">
                          <a:solidFill>
                            <a:srgbClr val="C00000"/>
                          </a:solidFill>
                          <a:latin typeface="Calibri"/>
                        </a:rPr>
                        <a:t>Epidemic sales</a:t>
                      </a:r>
                    </a:p>
                  </a:txBody>
                  <a:tcPr marL="7620" marR="7620" marT="7620" marB="0" anchor="b">
                    <a:lnL>
                      <a:noFill/>
                    </a:lnL>
                    <a:lnR>
                      <a:noFill/>
                    </a:lnR>
                    <a:lnT>
                      <a:noFill/>
                    </a:lnT>
                    <a:lnB>
                      <a:noFill/>
                    </a:lnB>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379306">
                <a:tc gridSpan="2">
                  <a:txBody>
                    <a:bodyPr/>
                    <a:lstStyle/>
                    <a:p>
                      <a:pPr algn="l" fontAlgn="b"/>
                      <a:r>
                        <a:rPr lang="en-ZW" sz="2000" b="0" i="0" u="none" strike="noStrike">
                          <a:solidFill>
                            <a:srgbClr val="000000"/>
                          </a:solidFill>
                          <a:latin typeface="Calibri"/>
                        </a:rPr>
                        <a:t>Epidemic sales</a:t>
                      </a:r>
                    </a:p>
                  </a:txBody>
                  <a:tcPr marL="7620" marR="7620" marT="7620" marB="0" anchor="b">
                    <a:lnL>
                      <a:noFill/>
                    </a:lnL>
                    <a:lnR>
                      <a:noFill/>
                    </a:lnR>
                    <a:lnT>
                      <a:noFill/>
                    </a:lnT>
                    <a:lnB>
                      <a:noFill/>
                    </a:lnB>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21,000 </a:t>
                      </a:r>
                    </a:p>
                  </a:txBody>
                  <a:tcPr marL="7620" marR="7620" marT="7620" marB="0" anchor="b">
                    <a:lnL>
                      <a:noFill/>
                    </a:lnL>
                    <a:lnR>
                      <a:noFill/>
                    </a:lnR>
                    <a:lnT>
                      <a:noFill/>
                    </a:lnT>
                    <a:lnB>
                      <a:noFill/>
                    </a:lnB>
                  </a:tcPr>
                </a:tc>
              </a:tr>
              <a:tr h="379306">
                <a:tc>
                  <a:txBody>
                    <a:bodyPr/>
                    <a:lstStyle/>
                    <a:p>
                      <a:pPr algn="l" fontAlgn="b"/>
                      <a:r>
                        <a:rPr lang="en-ZW" sz="2000" b="0" i="0" u="none" strike="noStrike">
                          <a:solidFill>
                            <a:srgbClr val="000000"/>
                          </a:solidFill>
                          <a:latin typeface="Calibri"/>
                        </a:rPr>
                        <a:t>Less:</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379306">
                <a:tc gridSpan="2">
                  <a:txBody>
                    <a:bodyPr/>
                    <a:lstStyle/>
                    <a:p>
                      <a:pPr algn="l" fontAlgn="b"/>
                      <a:r>
                        <a:rPr lang="en-ZW" sz="2000" b="0" i="0" u="none" strike="noStrike">
                          <a:solidFill>
                            <a:srgbClr val="000000"/>
                          </a:solidFill>
                          <a:latin typeface="Calibri"/>
                        </a:rPr>
                        <a:t>Cost at FSV:</a:t>
                      </a:r>
                    </a:p>
                  </a:txBody>
                  <a:tcPr marL="7620" marR="7620" marT="7620" marB="0" anchor="b">
                    <a:lnL>
                      <a:noFill/>
                    </a:lnL>
                    <a:lnR>
                      <a:noFill/>
                    </a:lnR>
                    <a:lnT>
                      <a:noFill/>
                    </a:lnT>
                    <a:lnB>
                      <a:noFill/>
                    </a:lnB>
                  </a:tcPr>
                </a:tc>
                <a:tc hMerge="1">
                  <a:txBody>
                    <a:bodyPr/>
                    <a:lstStyle/>
                    <a:p>
                      <a:endParaRPr lang="en-ZW"/>
                    </a:p>
                  </a:txBody>
                  <a:tcPr/>
                </a:tc>
                <a:tc gridSpan="2">
                  <a:txBody>
                    <a:bodyPr/>
                    <a:lstStyle/>
                    <a:p>
                      <a:pPr algn="l" fontAlgn="b"/>
                      <a:r>
                        <a:rPr lang="en-ZW" sz="2000" b="0" i="0" u="none" strike="noStrike">
                          <a:solidFill>
                            <a:srgbClr val="000000"/>
                          </a:solidFill>
                          <a:latin typeface="Calibri"/>
                        </a:rPr>
                        <a:t>30 cows @ 600</a:t>
                      </a:r>
                    </a:p>
                  </a:txBody>
                  <a:tcPr marL="7620" marR="7620" marT="7620" marB="0" anchor="b">
                    <a:lnL>
                      <a:noFill/>
                    </a:lnL>
                    <a:lnR>
                      <a:noFill/>
                    </a:lnR>
                    <a:lnT>
                      <a:noFill/>
                    </a:lnT>
                    <a:lnB>
                      <a:noFill/>
                    </a:lnB>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(18,000)</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r>
              <a:tr h="379306">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3,000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r>
              <a:tr h="379306">
                <a:tc>
                  <a:txBody>
                    <a:bodyPr/>
                    <a:lstStyle/>
                    <a:p>
                      <a:pPr algn="l" fontAlgn="b"/>
                      <a:r>
                        <a:rPr lang="en-ZW" sz="2000" b="0" i="0" u="none" strike="noStrike">
                          <a:solidFill>
                            <a:srgbClr val="000000"/>
                          </a:solidFill>
                          <a:latin typeface="Calibri"/>
                        </a:rPr>
                        <a:t>Less:</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379306">
                <a:tc gridSpan="3">
                  <a:txBody>
                    <a:bodyPr/>
                    <a:lstStyle/>
                    <a:p>
                      <a:pPr algn="l" fontAlgn="b"/>
                      <a:r>
                        <a:rPr lang="en-ZW" sz="2000" b="0" i="0" u="none" strike="noStrike">
                          <a:solidFill>
                            <a:srgbClr val="000000"/>
                          </a:solidFill>
                          <a:latin typeface="Calibri"/>
                        </a:rPr>
                        <a:t>Applicable livestock expenses:</a:t>
                      </a: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dirty="0">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711200">
                <a:tc gridSpan="3">
                  <a:txBody>
                    <a:bodyPr/>
                    <a:lstStyle/>
                    <a:p>
                      <a:pPr algn="l" fontAlgn="b"/>
                      <a:r>
                        <a:rPr lang="en-ZW" sz="2000" b="0" i="0" u="none" strike="noStrike">
                          <a:solidFill>
                            <a:srgbClr val="000000"/>
                          </a:solidFill>
                          <a:latin typeface="Calibri"/>
                        </a:rPr>
                        <a:t>Livestock expenses x forced sales</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379306">
                <a:tc gridSpan="4">
                  <a:txBody>
                    <a:bodyPr/>
                    <a:lstStyle/>
                    <a:p>
                      <a:pPr algn="l" fontAlgn="b"/>
                      <a:r>
                        <a:rPr lang="en-ZW" sz="2000" b="0" i="0" u="none" strike="noStrike">
                          <a:solidFill>
                            <a:srgbClr val="000000"/>
                          </a:solidFill>
                          <a:latin typeface="Calibri"/>
                        </a:rPr>
                        <a:t>1/2 ( opening stock + closing stock)</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379306">
                <a:tc>
                  <a:txBody>
                    <a:bodyPr/>
                    <a:lstStyle/>
                    <a:p>
                      <a:pPr algn="l" fontAlgn="b"/>
                      <a:r>
                        <a:rPr lang="en-ZW" sz="2000" b="0" i="0" u="none" strike="noStrike">
                          <a:solidFill>
                            <a:srgbClr val="000000"/>
                          </a:solidFill>
                          <a:latin typeface="Calibri"/>
                        </a:rPr>
                        <a:t>8,000 x 30</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379306">
                <a:tc gridSpan="2">
                  <a:txBody>
                    <a:bodyPr/>
                    <a:lstStyle/>
                    <a:p>
                      <a:pPr algn="l" fontAlgn="b"/>
                      <a:r>
                        <a:rPr lang="en-ZW" sz="2000" b="0" i="0" u="none" strike="noStrike">
                          <a:solidFill>
                            <a:srgbClr val="000000"/>
                          </a:solidFill>
                          <a:latin typeface="Calibri"/>
                        </a:rPr>
                        <a:t>1/2 (0+306)</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dirty="0">
                        <a:solidFill>
                          <a:srgbClr val="000000"/>
                        </a:solidFill>
                        <a:latin typeface="Calibri"/>
                      </a:endParaRPr>
                    </a:p>
                  </a:txBody>
                  <a:tcPr marL="7620" marR="7620" marT="762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52400" y="152400"/>
          <a:ext cx="8686802" cy="6442475"/>
        </p:xfrm>
        <a:graphic>
          <a:graphicData uri="http://schemas.openxmlformats.org/drawingml/2006/table">
            <a:tbl>
              <a:tblPr/>
              <a:tblGrid>
                <a:gridCol w="1184564"/>
                <a:gridCol w="1184564"/>
                <a:gridCol w="1184564"/>
                <a:gridCol w="1184564"/>
                <a:gridCol w="1184564"/>
                <a:gridCol w="1579418"/>
                <a:gridCol w="1184564"/>
              </a:tblGrid>
              <a:tr h="322052">
                <a:tc>
                  <a:txBody>
                    <a:bodyPr/>
                    <a:lstStyle/>
                    <a:p>
                      <a:pPr algn="l" fontAlgn="b"/>
                      <a:endParaRPr lang="en-ZW" sz="2000" b="0" i="0" u="none" strike="noStrike" dirty="0">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363741">
                <a:tc>
                  <a:txBody>
                    <a:bodyPr/>
                    <a:lstStyle/>
                    <a:p>
                      <a:pPr algn="r" fontAlgn="b"/>
                      <a:r>
                        <a:rPr lang="en-ZW" sz="2000" b="0" i="0" u="none" strike="noStrike">
                          <a:solidFill>
                            <a:srgbClr val="000000"/>
                          </a:solidFill>
                          <a:latin typeface="Calibri"/>
                        </a:rPr>
                        <a:t>240,000</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(1,569)</a:t>
                      </a:r>
                    </a:p>
                  </a:txBody>
                  <a:tcPr marL="7620" marR="7620" marT="7620" marB="0" anchor="b">
                    <a:lnL>
                      <a:noFill/>
                    </a:lnL>
                    <a:lnR>
                      <a:noFill/>
                    </a:lnR>
                    <a:lnT>
                      <a:noFill/>
                    </a:lnT>
                    <a:lnB>
                      <a:noFill/>
                    </a:lnB>
                  </a:tcPr>
                </a:tc>
              </a:tr>
              <a:tr h="322052">
                <a:tc>
                  <a:txBody>
                    <a:bodyPr/>
                    <a:lstStyle/>
                    <a:p>
                      <a:pPr algn="r" fontAlgn="b"/>
                      <a:r>
                        <a:rPr lang="en-ZW" sz="2000" b="0" i="0" u="none" strike="noStrike">
                          <a:solidFill>
                            <a:srgbClr val="000000"/>
                          </a:solidFill>
                          <a:latin typeface="Calibri"/>
                        </a:rPr>
                        <a:t>153</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r>
              <a:tr h="603850">
                <a:tc gridSpan="4">
                  <a:txBody>
                    <a:bodyPr/>
                    <a:lstStyle/>
                    <a:p>
                      <a:pPr algn="l" fontAlgn="b"/>
                      <a:r>
                        <a:rPr lang="en-ZW" sz="2000" b="0" i="0" u="none" strike="noStrike">
                          <a:solidFill>
                            <a:srgbClr val="000000"/>
                          </a:solidFill>
                          <a:latin typeface="Calibri"/>
                        </a:rPr>
                        <a:t>Taxed over 3 years per para 5 7th schedule</a:t>
                      </a: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1,431 </a:t>
                      </a: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2052">
                <a:tc gridSpan="2">
                  <a:txBody>
                    <a:bodyPr/>
                    <a:lstStyle/>
                    <a:p>
                      <a:pPr algn="l" fontAlgn="b"/>
                      <a:r>
                        <a:rPr lang="en-ZW" sz="2000" b="0" i="0" u="none" strike="noStrike">
                          <a:solidFill>
                            <a:srgbClr val="000000"/>
                          </a:solidFill>
                          <a:latin typeface="Calibri"/>
                        </a:rPr>
                        <a:t>2/3 carried forward</a:t>
                      </a:r>
                    </a:p>
                  </a:txBody>
                  <a:tcPr marL="7620" marR="7620" marT="7620" marB="0" anchor="b">
                    <a:lnL>
                      <a:noFill/>
                    </a:lnL>
                    <a:lnR>
                      <a:noFill/>
                    </a:lnR>
                    <a:lnT>
                      <a:noFill/>
                    </a:lnT>
                    <a:lnB>
                      <a:noFill/>
                    </a:lnB>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1" i="0" u="none" strike="noStrike">
                          <a:solidFill>
                            <a:srgbClr val="000000"/>
                          </a:solidFill>
                          <a:latin typeface="Calibri"/>
                        </a:rPr>
                        <a:t>          954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r>
              <a:tr h="322052">
                <a:tc>
                  <a:txBody>
                    <a:bodyPr/>
                    <a:lstStyle/>
                    <a:p>
                      <a:pPr algn="l" fontAlgn="b"/>
                      <a:endParaRPr lang="en-ZW" sz="2000" b="0" i="0" u="none" strike="noStrike">
                        <a:solidFill>
                          <a:srgbClr val="C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C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C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C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C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C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C00000"/>
                        </a:solidFill>
                        <a:latin typeface="Calibri"/>
                      </a:endParaRPr>
                    </a:p>
                  </a:txBody>
                  <a:tcPr marL="7620" marR="7620" marT="7620" marB="0" anchor="b">
                    <a:lnL>
                      <a:noFill/>
                    </a:lnL>
                    <a:lnR>
                      <a:noFill/>
                    </a:lnR>
                    <a:lnT>
                      <a:noFill/>
                    </a:lnT>
                    <a:lnB>
                      <a:noFill/>
                    </a:lnB>
                  </a:tcPr>
                </a:tc>
              </a:tr>
              <a:tr h="322052">
                <a:tc gridSpan="3">
                  <a:txBody>
                    <a:bodyPr/>
                    <a:lstStyle/>
                    <a:p>
                      <a:pPr algn="l" fontAlgn="b"/>
                      <a:r>
                        <a:rPr lang="en-ZW" sz="2000" b="1" i="0" u="none" strike="noStrike" dirty="0">
                          <a:solidFill>
                            <a:srgbClr val="C00000"/>
                          </a:solidFill>
                          <a:latin typeface="Calibri"/>
                        </a:rPr>
                        <a:t>Restocking allowance</a:t>
                      </a: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C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C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C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dirty="0">
                        <a:solidFill>
                          <a:srgbClr val="C00000"/>
                        </a:solidFill>
                        <a:latin typeface="Calibri"/>
                      </a:endParaRPr>
                    </a:p>
                  </a:txBody>
                  <a:tcPr marL="7620" marR="7620" marT="7620" marB="0" anchor="b">
                    <a:lnL>
                      <a:noFill/>
                    </a:lnL>
                    <a:lnR>
                      <a:noFill/>
                    </a:lnR>
                    <a:lnT>
                      <a:noFill/>
                    </a:lnT>
                    <a:lnB>
                      <a:noFill/>
                    </a:lnB>
                  </a:tcPr>
                </a:tc>
              </a:tr>
              <a:tr h="322052">
                <a:tc gridSpan="3">
                  <a:txBody>
                    <a:bodyPr/>
                    <a:lstStyle/>
                    <a:p>
                      <a:pPr algn="l" fontAlgn="b"/>
                      <a:r>
                        <a:rPr lang="en-ZW" sz="2000" b="0" i="0" u="none" strike="noStrike">
                          <a:solidFill>
                            <a:srgbClr val="000000"/>
                          </a:solidFill>
                          <a:latin typeface="Calibri"/>
                        </a:rPr>
                        <a:t>Purchases  ( February 2010)</a:t>
                      </a: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356 </a:t>
                      </a:r>
                    </a:p>
                  </a:txBody>
                  <a:tcPr marL="7620" marR="7620" marT="7620" marB="0" anchor="b">
                    <a:lnL>
                      <a:noFill/>
                    </a:lnL>
                    <a:lnR>
                      <a:noFill/>
                    </a:lnR>
                    <a:lnT>
                      <a:noFill/>
                    </a:lnT>
                    <a:lnB>
                      <a:noFill/>
                    </a:lnB>
                  </a:tcPr>
                </a:tc>
              </a:tr>
              <a:tr h="322052">
                <a:tc>
                  <a:txBody>
                    <a:bodyPr/>
                    <a:lstStyle/>
                    <a:p>
                      <a:pPr algn="l" fontAlgn="b"/>
                      <a:r>
                        <a:rPr lang="en-ZW" sz="2000" b="0" i="0" u="none" strike="noStrike">
                          <a:solidFill>
                            <a:srgbClr val="000000"/>
                          </a:solidFill>
                          <a:latin typeface="Calibri"/>
                        </a:rPr>
                        <a:t>Births</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25 </a:t>
                      </a:r>
                    </a:p>
                  </a:txBody>
                  <a:tcPr marL="7620" marR="7620" marT="7620" marB="0" anchor="b">
                    <a:lnL>
                      <a:noFill/>
                    </a:lnL>
                    <a:lnR>
                      <a:noFill/>
                    </a:lnR>
                    <a:lnT>
                      <a:noFill/>
                    </a:lnT>
                    <a:lnB>
                      <a:noFill/>
                    </a:lnB>
                  </a:tcPr>
                </a:tc>
              </a:tr>
              <a:tr h="322052">
                <a:tc gridSpan="2">
                  <a:txBody>
                    <a:bodyPr/>
                    <a:lstStyle/>
                    <a:p>
                      <a:pPr algn="l" fontAlgn="b"/>
                      <a:r>
                        <a:rPr lang="en-ZW" sz="2000" b="0" i="0" u="none" strike="noStrike">
                          <a:solidFill>
                            <a:srgbClr val="000000"/>
                          </a:solidFill>
                          <a:latin typeface="Calibri"/>
                        </a:rPr>
                        <a:t>Sales (90 + 30)</a:t>
                      </a:r>
                    </a:p>
                  </a:txBody>
                  <a:tcPr marL="7620" marR="7620" marT="7620" marB="0" anchor="b">
                    <a:lnL>
                      <a:noFill/>
                    </a:lnL>
                    <a:lnR>
                      <a:noFill/>
                    </a:lnR>
                    <a:lnT>
                      <a:noFill/>
                    </a:lnT>
                    <a:lnB>
                      <a:noFill/>
                    </a:lnB>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(120)</a:t>
                      </a:r>
                    </a:p>
                  </a:txBody>
                  <a:tcPr marL="7620" marR="7620" marT="7620" marB="0" anchor="b">
                    <a:lnL>
                      <a:noFill/>
                    </a:lnL>
                    <a:lnR>
                      <a:noFill/>
                    </a:lnR>
                    <a:lnT>
                      <a:noFill/>
                    </a:lnT>
                    <a:lnB>
                      <a:noFill/>
                    </a:lnB>
                  </a:tcPr>
                </a:tc>
              </a:tr>
              <a:tr h="322052">
                <a:tc>
                  <a:txBody>
                    <a:bodyPr/>
                    <a:lstStyle/>
                    <a:p>
                      <a:pPr algn="l" fontAlgn="b"/>
                      <a:r>
                        <a:rPr lang="en-ZW" sz="2000" b="0" i="0" u="none" strike="noStrike">
                          <a:solidFill>
                            <a:srgbClr val="000000"/>
                          </a:solidFill>
                          <a:latin typeface="Calibri"/>
                        </a:rPr>
                        <a:t>Deaths</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(5)</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r>
              <a:tr h="322052">
                <a:tc gridSpan="4">
                  <a:txBody>
                    <a:bodyPr/>
                    <a:lstStyle/>
                    <a:p>
                      <a:pPr algn="l" fontAlgn="b"/>
                      <a:r>
                        <a:rPr lang="en-ZW" sz="2000" b="0" i="0" u="none" strike="noStrike">
                          <a:solidFill>
                            <a:srgbClr val="000000"/>
                          </a:solidFill>
                          <a:latin typeface="Calibri"/>
                        </a:rPr>
                        <a:t>Livestock on hand prior to restocking</a:t>
                      </a: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256 </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r>
              <a:tr h="322052">
                <a:tc gridSpan="2">
                  <a:txBody>
                    <a:bodyPr/>
                    <a:lstStyle/>
                    <a:p>
                      <a:pPr algn="l" fontAlgn="b"/>
                      <a:r>
                        <a:rPr lang="en-ZW" sz="2000" b="0" i="0" u="none" strike="noStrike">
                          <a:solidFill>
                            <a:srgbClr val="000000"/>
                          </a:solidFill>
                          <a:latin typeface="Calibri"/>
                        </a:rPr>
                        <a:t>Restocking herd</a:t>
                      </a:r>
                    </a:p>
                  </a:txBody>
                  <a:tcPr marL="7620" marR="7620" marT="7620" marB="0" anchor="b">
                    <a:lnL>
                      <a:noFill/>
                    </a:lnL>
                    <a:lnR>
                      <a:noFill/>
                    </a:lnR>
                    <a:lnT>
                      <a:noFill/>
                    </a:lnT>
                    <a:lnB>
                      <a:noFill/>
                    </a:lnB>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50 </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r>
              <a:tr h="322052">
                <a:tc gridSpan="3">
                  <a:txBody>
                    <a:bodyPr/>
                    <a:lstStyle/>
                    <a:p>
                      <a:pPr algn="l" fontAlgn="b"/>
                      <a:r>
                        <a:rPr lang="en-ZW" sz="2000" b="0" i="0" u="none" strike="noStrike">
                          <a:solidFill>
                            <a:srgbClr val="000000"/>
                          </a:solidFill>
                          <a:latin typeface="Calibri"/>
                        </a:rPr>
                        <a:t>On hand on 31 December 2011</a:t>
                      </a: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306 </a:t>
                      </a: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2052">
                <a:tc gridSpan="4">
                  <a:txBody>
                    <a:bodyPr/>
                    <a:lstStyle/>
                    <a:p>
                      <a:pPr algn="l" fontAlgn="b"/>
                      <a:r>
                        <a:rPr lang="en-ZW" sz="2000" b="0" i="0" u="none" strike="noStrike">
                          <a:solidFill>
                            <a:srgbClr val="000000"/>
                          </a:solidFill>
                          <a:latin typeface="Calibri"/>
                        </a:rPr>
                        <a:t>Assessed carying capacity of land</a:t>
                      </a: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en-ZW" sz="2000" b="0" i="0" u="none" strike="noStrike">
                          <a:solidFill>
                            <a:srgbClr val="000000"/>
                          </a:solidFill>
                          <a:latin typeface="Calibri"/>
                        </a:rPr>
                        <a:t>270</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r>
              <a:tr h="322052">
                <a:tc gridSpan="4">
                  <a:txBody>
                    <a:bodyPr/>
                    <a:lstStyle/>
                    <a:p>
                      <a:pPr algn="l" fontAlgn="b"/>
                      <a:r>
                        <a:rPr lang="en-ZW" sz="2000" b="0" i="0" u="none" strike="noStrike">
                          <a:solidFill>
                            <a:srgbClr val="000000"/>
                          </a:solidFill>
                          <a:latin typeface="Calibri"/>
                        </a:rPr>
                        <a:t>Livestock on hand prior to restocking</a:t>
                      </a: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(256)</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r>
              <a:tr h="322052">
                <a:tc gridSpan="5">
                  <a:txBody>
                    <a:bodyPr/>
                    <a:lstStyle/>
                    <a:p>
                      <a:pPr algn="l" fontAlgn="b"/>
                      <a:r>
                        <a:rPr lang="en-ZW" sz="2000" b="0" i="0" u="none" strike="noStrike">
                          <a:solidFill>
                            <a:srgbClr val="000000"/>
                          </a:solidFill>
                          <a:latin typeface="Calibri"/>
                        </a:rPr>
                        <a:t>Difference which should not have been exceeded</a:t>
                      </a: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en-ZW" sz="2000" b="0" i="0" u="none" strike="noStrike">
                          <a:solidFill>
                            <a:srgbClr val="000000"/>
                          </a:solidFill>
                          <a:latin typeface="Calibri"/>
                        </a:rPr>
                        <a:t>14</a:t>
                      </a: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2052">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r>
              <a:tr h="322052">
                <a:tc gridSpan="6">
                  <a:txBody>
                    <a:bodyPr/>
                    <a:lstStyle/>
                    <a:p>
                      <a:pPr algn="l" fontAlgn="b"/>
                      <a:r>
                        <a:rPr lang="en-ZW" sz="2000" b="0" i="0" u="none" strike="noStrike">
                          <a:solidFill>
                            <a:srgbClr val="000000"/>
                          </a:solidFill>
                          <a:latin typeface="Calibri"/>
                        </a:rPr>
                        <a:t>Restocking allowance restricted ( 50% of 30,000 ) x 14/50</a:t>
                      </a: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pPr algn="l" fontAlgn="b"/>
                      <a:r>
                        <a:rPr lang="en-ZW" sz="2000" b="0" i="0" u="none" strike="noStrike" dirty="0">
                          <a:solidFill>
                            <a:srgbClr val="000000"/>
                          </a:solidFill>
                          <a:latin typeface="Calibri"/>
                        </a:rPr>
                        <a:t>   </a:t>
                      </a:r>
                      <a:r>
                        <a:rPr lang="en-ZW" sz="2000" b="0" i="0" u="none" strike="noStrike" dirty="0" smtClean="0">
                          <a:solidFill>
                            <a:srgbClr val="000000"/>
                          </a:solidFill>
                          <a:latin typeface="Calibri"/>
                        </a:rPr>
                        <a:t>      </a:t>
                      </a:r>
                      <a:r>
                        <a:rPr lang="en-ZW" sz="2000" b="0" i="0" u="none" strike="noStrike" dirty="0">
                          <a:solidFill>
                            <a:srgbClr val="000000"/>
                          </a:solidFill>
                          <a:latin typeface="Calibri"/>
                        </a:rPr>
                        <a:t>4,200 </a:t>
                      </a:r>
                    </a:p>
                  </a:txBody>
                  <a:tcPr marL="7620" marR="7620" marT="762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228600" y="207963"/>
          <a:ext cx="8686799" cy="6649758"/>
        </p:xfrm>
        <a:graphic>
          <a:graphicData uri="http://schemas.openxmlformats.org/drawingml/2006/table">
            <a:tbl>
              <a:tblPr/>
              <a:tblGrid>
                <a:gridCol w="2438400"/>
                <a:gridCol w="613721"/>
                <a:gridCol w="804954"/>
                <a:gridCol w="804954"/>
                <a:gridCol w="804954"/>
                <a:gridCol w="804954"/>
                <a:gridCol w="804954"/>
                <a:gridCol w="804954"/>
                <a:gridCol w="804954"/>
              </a:tblGrid>
              <a:tr h="372294">
                <a:tc>
                  <a:txBody>
                    <a:bodyPr/>
                    <a:lstStyle/>
                    <a:p>
                      <a:pPr algn="l" fontAlgn="b"/>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r>
              <a:tr h="551628">
                <a:tc>
                  <a:txBody>
                    <a:bodyPr/>
                    <a:lstStyle/>
                    <a:p>
                      <a:pPr algn="l" fontAlgn="b"/>
                      <a:r>
                        <a:rPr lang="en-ZW" sz="1800" b="0" i="0" u="none" strike="noStrike">
                          <a:solidFill>
                            <a:srgbClr val="000000"/>
                          </a:solidFill>
                          <a:latin typeface="Calibri"/>
                        </a:rPr>
                        <a:t>         FSV</a:t>
                      </a: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r" fontAlgn="b"/>
                      <a:r>
                        <a:rPr lang="en-ZW" sz="1800" b="0" i="0" u="none" strike="noStrike">
                          <a:solidFill>
                            <a:srgbClr val="000000"/>
                          </a:solidFill>
                          <a:latin typeface="Calibri"/>
                        </a:rPr>
                        <a:t>          800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600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500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450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250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150 </a:t>
                      </a: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r>
              <a:tr h="551628">
                <a:tc>
                  <a:txBody>
                    <a:bodyPr/>
                    <a:lstStyle/>
                    <a:p>
                      <a:pPr algn="l" fontAlgn="b"/>
                      <a:r>
                        <a:rPr lang="en-ZW" sz="1800" b="0" i="0" u="none" strike="noStrike">
                          <a:solidFill>
                            <a:srgbClr val="000000"/>
                          </a:solidFill>
                          <a:latin typeface="Calibri"/>
                        </a:rPr>
                        <a:t>       Opening stock 1 Jan 2010</a:t>
                      </a: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   </a:t>
                      </a:r>
                    </a:p>
                  </a:txBody>
                  <a:tcPr marL="7061" marR="7061" marT="7061" marB="0" anchor="b">
                    <a:lnL>
                      <a:noFill/>
                    </a:lnL>
                    <a:lnR>
                      <a:noFill/>
                    </a:lnR>
                    <a:lnT>
                      <a:noFill/>
                    </a:lnT>
                    <a:lnB>
                      <a:noFill/>
                    </a:lnB>
                  </a:tcPr>
                </a:tc>
              </a:tr>
              <a:tr h="698053">
                <a:tc>
                  <a:txBody>
                    <a:bodyPr/>
                    <a:lstStyle/>
                    <a:p>
                      <a:pPr algn="l" fontAlgn="b"/>
                      <a:r>
                        <a:rPr lang="en-ZW" sz="1800" b="0" i="0" u="none" strike="noStrike">
                          <a:solidFill>
                            <a:srgbClr val="000000"/>
                          </a:solidFill>
                          <a:latin typeface="Calibri"/>
                        </a:rPr>
                        <a:t>       Closing stock 31 Dec </a:t>
                      </a:r>
                      <a:r>
                        <a:rPr lang="en-ZW" sz="1800" b="0" i="0" u="none" strike="noStrike" smtClean="0">
                          <a:solidFill>
                            <a:srgbClr val="000000"/>
                          </a:solidFill>
                          <a:latin typeface="Calibri"/>
                        </a:rPr>
                        <a:t>2011</a:t>
                      </a:r>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2,400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91,200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23,000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27,000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5,000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3,750 </a:t>
                      </a: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152,350 </a:t>
                      </a:r>
                    </a:p>
                  </a:txBody>
                  <a:tcPr marL="7061" marR="7061" marT="7061" marB="0" anchor="b">
                    <a:lnL>
                      <a:noFill/>
                    </a:lnL>
                    <a:lnR>
                      <a:noFill/>
                    </a:lnR>
                    <a:lnT>
                      <a:noFill/>
                    </a:lnT>
                    <a:lnB>
                      <a:noFill/>
                    </a:lnB>
                  </a:tcPr>
                </a:tc>
              </a:tr>
              <a:tr h="372294">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r>
              <a:tr h="372294">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r>
              <a:tr h="372294">
                <a:tc>
                  <a:txBody>
                    <a:bodyPr/>
                    <a:lstStyle/>
                    <a:p>
                      <a:pPr algn="l" fontAlgn="b"/>
                      <a:endParaRPr lang="en-ZW" sz="1800" b="0" i="0" u="none" strike="noStrike">
                        <a:solidFill>
                          <a:srgbClr val="C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C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r>
              <a:tr h="372294">
                <a:tc>
                  <a:txBody>
                    <a:bodyPr/>
                    <a:lstStyle/>
                    <a:p>
                      <a:pPr algn="l" fontAlgn="b"/>
                      <a:r>
                        <a:rPr lang="en-ZW" sz="1800" b="1" i="0" u="none" strike="noStrike">
                          <a:solidFill>
                            <a:srgbClr val="C00000"/>
                          </a:solidFill>
                          <a:latin typeface="Calibri"/>
                        </a:rPr>
                        <a:t>CAPITAL ALLOWANCES</a:t>
                      </a:r>
                    </a:p>
                  </a:txBody>
                  <a:tcPr marL="7061" marR="7061" marT="7061" marB="0" anchor="b">
                    <a:lnL>
                      <a:noFill/>
                    </a:lnL>
                    <a:lnR>
                      <a:noFill/>
                    </a:lnR>
                    <a:lnT>
                      <a:noFill/>
                    </a:lnT>
                    <a:lnB>
                      <a:noFill/>
                    </a:lnB>
                  </a:tcPr>
                </a:tc>
                <a:tc>
                  <a:txBody>
                    <a:bodyPr/>
                    <a:lstStyle/>
                    <a:p>
                      <a:pPr algn="l" fontAlgn="b"/>
                      <a:endParaRPr lang="en-ZW" sz="1800" b="0" i="0" u="none" strike="noStrike">
                        <a:solidFill>
                          <a:srgbClr val="C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ctr" fontAlgn="b"/>
                      <a:r>
                        <a:rPr lang="en-ZW" sz="1800" b="1" i="0" u="none" strike="noStrike">
                          <a:solidFill>
                            <a:srgbClr val="000000"/>
                          </a:solidFill>
                          <a:latin typeface="Calibri"/>
                        </a:rPr>
                        <a:t> Us$ </a:t>
                      </a: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ctr" fontAlgn="b"/>
                      <a:r>
                        <a:rPr lang="en-ZW" sz="1800" b="1" i="0" u="none" strike="noStrike">
                          <a:solidFill>
                            <a:srgbClr val="000000"/>
                          </a:solidFill>
                          <a:latin typeface="Calibri"/>
                        </a:rPr>
                        <a:t> Us$ </a:t>
                      </a: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r>
              <a:tr h="372294">
                <a:tc>
                  <a:txBody>
                    <a:bodyPr/>
                    <a:lstStyle/>
                    <a:p>
                      <a:pPr algn="l" fontAlgn="b"/>
                      <a:r>
                        <a:rPr lang="en-ZW" sz="1800" b="1" i="0" u="none" strike="noStrike">
                          <a:solidFill>
                            <a:srgbClr val="C00000"/>
                          </a:solidFill>
                          <a:latin typeface="Calibri"/>
                        </a:rPr>
                        <a:t>Farm manager's house </a:t>
                      </a:r>
                    </a:p>
                  </a:txBody>
                  <a:tcPr marL="7061" marR="7061" marT="7061" marB="0" anchor="b">
                    <a:lnL>
                      <a:noFill/>
                    </a:lnL>
                    <a:lnR>
                      <a:noFill/>
                    </a:lnR>
                    <a:lnT>
                      <a:noFill/>
                    </a:lnT>
                    <a:lnB>
                      <a:noFill/>
                    </a:lnB>
                  </a:tcPr>
                </a:tc>
                <a:tc>
                  <a:txBody>
                    <a:bodyPr/>
                    <a:lstStyle/>
                    <a:p>
                      <a:pPr algn="l" fontAlgn="b"/>
                      <a:endParaRPr lang="en-ZW" sz="1800" b="0" i="0" u="none" strike="noStrike" dirty="0">
                        <a:solidFill>
                          <a:srgbClr val="C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r>
              <a:tr h="551628">
                <a:tc>
                  <a:txBody>
                    <a:bodyPr/>
                    <a:lstStyle/>
                    <a:p>
                      <a:pPr algn="l" fontAlgn="b"/>
                      <a:r>
                        <a:rPr lang="en-ZW" sz="1800" b="0" i="0" u="none" strike="noStrike">
                          <a:solidFill>
                            <a:srgbClr val="000000"/>
                          </a:solidFill>
                          <a:latin typeface="Calibri"/>
                        </a:rPr>
                        <a:t>Cost</a:t>
                      </a: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20,000 </a:t>
                      </a: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r>
              <a:tr h="551628">
                <a:tc>
                  <a:txBody>
                    <a:bodyPr/>
                    <a:lstStyle/>
                    <a:p>
                      <a:pPr algn="l" fontAlgn="b"/>
                      <a:r>
                        <a:rPr lang="en-ZW" sz="1800" b="0" i="0" u="none" strike="noStrike">
                          <a:solidFill>
                            <a:srgbClr val="000000"/>
                          </a:solidFill>
                          <a:latin typeface="Calibri"/>
                        </a:rPr>
                        <a:t>5% Wear &amp; Tear</a:t>
                      </a: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(1,000)</a:t>
                      </a:r>
                    </a:p>
                  </a:txBody>
                  <a:tcPr marL="7061" marR="7061" marT="706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1,000 </a:t>
                      </a: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r>
              <a:tr h="551628">
                <a:tc>
                  <a:txBody>
                    <a:bodyPr/>
                    <a:lstStyle/>
                    <a:p>
                      <a:pPr algn="l" fontAlgn="b"/>
                      <a:r>
                        <a:rPr lang="en-ZW" sz="1800" b="0" i="0" u="none" strike="noStrike" dirty="0">
                          <a:solidFill>
                            <a:srgbClr val="000000"/>
                          </a:solidFill>
                          <a:latin typeface="Calibri"/>
                        </a:rPr>
                        <a:t>I.T.V. @ </a:t>
                      </a:r>
                      <a:r>
                        <a:rPr lang="en-ZW" sz="1800" b="0" i="0" u="none" strike="noStrike" dirty="0" smtClean="0">
                          <a:solidFill>
                            <a:srgbClr val="000000"/>
                          </a:solidFill>
                          <a:latin typeface="Calibri"/>
                        </a:rPr>
                        <a:t>31.01.2011</a:t>
                      </a:r>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r>
                        <a:rPr lang="en-ZW" sz="1800" b="0" i="0" u="none" strike="noStrike">
                          <a:solidFill>
                            <a:srgbClr val="000000"/>
                          </a:solidFill>
                          <a:latin typeface="Calibri"/>
                        </a:rPr>
                        <a:t>     19,000 </a:t>
                      </a:r>
                    </a:p>
                  </a:txBody>
                  <a:tcPr marL="7061" marR="7061" marT="7061"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r>
              <a:tr h="387808">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w="25400" cap="flat" cmpd="dbl" algn="ctr">
                      <a:solidFill>
                        <a:srgbClr val="000000"/>
                      </a:solidFill>
                      <a:prstDash val="solid"/>
                      <a:round/>
                      <a:headEnd type="none" w="med" len="med"/>
                      <a:tailEnd type="none" w="med" len="med"/>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r>
              <a:tr h="551628">
                <a:tc>
                  <a:txBody>
                    <a:bodyPr/>
                    <a:lstStyle/>
                    <a:p>
                      <a:pPr algn="l" fontAlgn="b"/>
                      <a:r>
                        <a:rPr lang="en-ZW" sz="1800" b="1" i="0" u="none" strike="noStrike" dirty="0">
                          <a:solidFill>
                            <a:srgbClr val="000000"/>
                          </a:solidFill>
                          <a:latin typeface="Calibri"/>
                        </a:rPr>
                        <a:t>Staff housing (10 units )</a:t>
                      </a: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a:solidFill>
                          <a:srgbClr val="000000"/>
                        </a:solidFill>
                        <a:latin typeface="Calibri"/>
                      </a:endParaRPr>
                    </a:p>
                  </a:txBody>
                  <a:tcPr marL="7061" marR="7061" marT="7061" marB="0" anchor="b">
                    <a:lnL>
                      <a:noFill/>
                    </a:lnL>
                    <a:lnR>
                      <a:noFill/>
                    </a:lnR>
                    <a:lnT>
                      <a:noFill/>
                    </a:lnT>
                    <a:lnB>
                      <a:noFill/>
                    </a:lnB>
                  </a:tcPr>
                </a:tc>
                <a:tc>
                  <a:txBody>
                    <a:bodyPr/>
                    <a:lstStyle/>
                    <a:p>
                      <a:pPr algn="l" fontAlgn="b"/>
                      <a:endParaRPr lang="en-ZW" sz="1800" b="0" i="0" u="none" strike="noStrike" dirty="0">
                        <a:solidFill>
                          <a:srgbClr val="000000"/>
                        </a:solidFill>
                        <a:latin typeface="Calibri"/>
                      </a:endParaRPr>
                    </a:p>
                  </a:txBody>
                  <a:tcPr marL="7061" marR="7061" marT="7061"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52400" y="228600"/>
          <a:ext cx="8762995" cy="6830234"/>
        </p:xfrm>
        <a:graphic>
          <a:graphicData uri="http://schemas.openxmlformats.org/drawingml/2006/table">
            <a:tbl>
              <a:tblPr/>
              <a:tblGrid>
                <a:gridCol w="2498387"/>
                <a:gridCol w="894944"/>
                <a:gridCol w="894944"/>
                <a:gridCol w="894944"/>
                <a:gridCol w="894944"/>
                <a:gridCol w="894944"/>
                <a:gridCol w="894944"/>
                <a:gridCol w="894944"/>
              </a:tblGrid>
              <a:tr h="463463">
                <a:tc>
                  <a:txBody>
                    <a:bodyPr/>
                    <a:lstStyle/>
                    <a:p>
                      <a:pPr algn="l" fontAlgn="b"/>
                      <a:r>
                        <a:rPr lang="en-ZW" sz="2000" b="0" i="0" u="none" strike="noStrike">
                          <a:solidFill>
                            <a:srgbClr val="000000"/>
                          </a:solidFill>
                          <a:latin typeface="Calibri"/>
                        </a:rPr>
                        <a:t>Cost</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26,000 </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463463">
                <a:tc>
                  <a:txBody>
                    <a:bodyPr/>
                    <a:lstStyle/>
                    <a:p>
                      <a:pPr algn="l" fontAlgn="b"/>
                      <a:r>
                        <a:rPr lang="en-ZW" sz="2000" b="0" i="0" u="none" strike="noStrike">
                          <a:solidFill>
                            <a:srgbClr val="000000"/>
                          </a:solidFill>
                          <a:latin typeface="Calibri"/>
                        </a:rPr>
                        <a:t>5% Wear &amp; Tear</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(1,300)</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1,300 </a:t>
                      </a:r>
                    </a:p>
                  </a:txBody>
                  <a:tcPr marL="7620" marR="7620" marT="7620" marB="0" anchor="b">
                    <a:lnL>
                      <a:noFill/>
                    </a:lnL>
                    <a:lnR>
                      <a:noFill/>
                    </a:lnR>
                    <a:lnT>
                      <a:noFill/>
                    </a:lnT>
                    <a:lnB>
                      <a:noFill/>
                    </a:lnB>
                  </a:tcPr>
                </a:tc>
              </a:tr>
              <a:tr h="482774">
                <a:tc>
                  <a:txBody>
                    <a:bodyPr/>
                    <a:lstStyle/>
                    <a:p>
                      <a:pPr algn="l" fontAlgn="b"/>
                      <a:r>
                        <a:rPr lang="en-ZW" sz="2000" b="0" i="0" u="none" strike="noStrike">
                          <a:solidFill>
                            <a:srgbClr val="000000"/>
                          </a:solidFill>
                          <a:latin typeface="Calibri"/>
                        </a:rPr>
                        <a:t>I.T.V. @ 31.01.2010</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24,700 </a:t>
                      </a:r>
                    </a:p>
                  </a:txBody>
                  <a:tcPr marL="7620" marR="7620" marT="7620"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482774">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w="25400" cap="flat" cmpd="dbl" algn="ctr">
                      <a:solidFill>
                        <a:srgbClr val="000000"/>
                      </a:solidFill>
                      <a:prstDash val="solid"/>
                      <a:round/>
                      <a:headEnd type="none" w="med" len="med"/>
                      <a:tailEnd type="none" w="med" len="med"/>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463463">
                <a:tc>
                  <a:txBody>
                    <a:bodyPr/>
                    <a:lstStyle/>
                    <a:p>
                      <a:pPr algn="l" fontAlgn="b"/>
                      <a:r>
                        <a:rPr lang="en-ZW" sz="2000" b="1" i="0" u="none" strike="noStrike">
                          <a:solidFill>
                            <a:srgbClr val="000000"/>
                          </a:solidFill>
                          <a:latin typeface="Calibri"/>
                        </a:rPr>
                        <a:t>Cattle transportation lorry </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463463">
                <a:tc>
                  <a:txBody>
                    <a:bodyPr/>
                    <a:lstStyle/>
                    <a:p>
                      <a:pPr algn="l" fontAlgn="b"/>
                      <a:r>
                        <a:rPr lang="en-ZW" sz="2000" b="0" i="0" u="none" strike="noStrike">
                          <a:solidFill>
                            <a:srgbClr val="000000"/>
                          </a:solidFill>
                          <a:latin typeface="Calibri"/>
                        </a:rPr>
                        <a:t>Cost</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45,000 </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463463">
                <a:tc>
                  <a:txBody>
                    <a:bodyPr/>
                    <a:lstStyle/>
                    <a:p>
                      <a:pPr algn="l" fontAlgn="b"/>
                      <a:r>
                        <a:rPr lang="en-ZW" sz="2000" b="0" i="0" u="none" strike="noStrike">
                          <a:solidFill>
                            <a:srgbClr val="000000"/>
                          </a:solidFill>
                          <a:latin typeface="Calibri"/>
                        </a:rPr>
                        <a:t>25% S.I.A.</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(11,250)</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11,250 </a:t>
                      </a:r>
                    </a:p>
                  </a:txBody>
                  <a:tcPr marL="7620" marR="7620" marT="7620" marB="0" anchor="b">
                    <a:lnL>
                      <a:noFill/>
                    </a:lnL>
                    <a:lnR>
                      <a:noFill/>
                    </a:lnR>
                    <a:lnT>
                      <a:noFill/>
                    </a:lnT>
                    <a:lnB>
                      <a:noFill/>
                    </a:lnB>
                  </a:tcPr>
                </a:tc>
              </a:tr>
              <a:tr h="482774">
                <a:tc>
                  <a:txBody>
                    <a:bodyPr/>
                    <a:lstStyle/>
                    <a:p>
                      <a:pPr algn="l" fontAlgn="b"/>
                      <a:r>
                        <a:rPr lang="en-ZW" sz="2000" b="0" i="0" u="none" strike="noStrike">
                          <a:solidFill>
                            <a:srgbClr val="000000"/>
                          </a:solidFill>
                          <a:latin typeface="Calibri"/>
                        </a:rPr>
                        <a:t>I.T.V. @ 31.01.2010</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33,750 </a:t>
                      </a:r>
                    </a:p>
                  </a:txBody>
                  <a:tcPr marL="7620" marR="7620" marT="7620"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482774">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w="25400" cap="flat" cmpd="dbl" algn="ctr">
                      <a:solidFill>
                        <a:srgbClr val="000000"/>
                      </a:solidFill>
                      <a:prstDash val="solid"/>
                      <a:round/>
                      <a:headEnd type="none" w="med" len="med"/>
                      <a:tailEnd type="none" w="med" len="med"/>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463463">
                <a:tc>
                  <a:txBody>
                    <a:bodyPr/>
                    <a:lstStyle/>
                    <a:p>
                      <a:pPr algn="l" fontAlgn="b"/>
                      <a:r>
                        <a:rPr lang="en-ZW" sz="2000" b="1" i="0" u="none" strike="noStrike">
                          <a:solidFill>
                            <a:srgbClr val="000000"/>
                          </a:solidFill>
                          <a:latin typeface="Calibri"/>
                        </a:rPr>
                        <a:t>Dam</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463463">
                <a:tc gridSpan="4">
                  <a:txBody>
                    <a:bodyPr/>
                    <a:lstStyle/>
                    <a:p>
                      <a:pPr algn="l" fontAlgn="b"/>
                      <a:r>
                        <a:rPr lang="en-ZW" sz="2000" b="0" i="0" u="none" strike="noStrike">
                          <a:solidFill>
                            <a:srgbClr val="000000"/>
                          </a:solidFill>
                          <a:latin typeface="Calibri"/>
                        </a:rPr>
                        <a:t>Purchased asset does not rank for 7th Schedule allowance</a:t>
                      </a:r>
                    </a:p>
                  </a:txBody>
                  <a:tcPr marL="7620" marR="7620" marT="7620" marB="0" anchor="b">
                    <a:lnL>
                      <a:noFill/>
                    </a:lnL>
                    <a:lnR>
                      <a:noFill/>
                    </a:lnR>
                    <a:lnT>
                      <a:noFill/>
                    </a:lnT>
                    <a:lnB>
                      <a:noFill/>
                    </a:lnB>
                  </a:tcPr>
                </a:tc>
                <a:tc hMerge="1">
                  <a:txBody>
                    <a:bodyPr/>
                    <a:lstStyle/>
                    <a:p>
                      <a:endParaRPr lang="en-ZW"/>
                    </a:p>
                  </a:txBody>
                  <a:tcPr/>
                </a:tc>
                <a:tc hMerge="1">
                  <a:txBody>
                    <a:bodyPr/>
                    <a:lstStyle/>
                    <a:p>
                      <a:endParaRPr lang="en-ZW"/>
                    </a:p>
                  </a:txBody>
                  <a:tcPr/>
                </a:tc>
                <a:tc hMerge="1">
                  <a:txBody>
                    <a:bodyPr/>
                    <a:lstStyle/>
                    <a:p>
                      <a:endParaRPr lang="en-ZW"/>
                    </a:p>
                  </a:txBody>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ZW" sz="2000" b="0" i="0" u="none" strike="noStrike">
                          <a:solidFill>
                            <a:srgbClr val="000000"/>
                          </a:solidFill>
                          <a:latin typeface="Calibri"/>
                        </a:rPr>
                        <a:t>             -   </a:t>
                      </a: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r>
              <a:tr h="463463">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ZW" sz="2000" b="0" i="0" u="none" strike="noStrike" dirty="0">
                        <a:solidFill>
                          <a:srgbClr val="000000"/>
                        </a:solidFill>
                        <a:latin typeface="Calibri"/>
                      </a:endParaRPr>
                    </a:p>
                  </a:txBody>
                  <a:tcPr marL="7620" marR="7620" marT="7620" marB="0" anchor="b">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3855</Words>
  <Application>Microsoft Office PowerPoint</Application>
  <PresentationFormat>On-screen Show (4:3)</PresentationFormat>
  <Paragraphs>1052</Paragraphs>
  <Slides>53</Slides>
  <Notes>8</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FARMING </vt:lpstr>
      <vt:lpstr>Slide 2</vt:lpstr>
      <vt:lpstr>STAFF HOUSING </vt:lpstr>
      <vt:lpstr>FARM IMPROVEMENTS </vt:lpstr>
      <vt:lpstr>7th SCHEDULE ALLOWANCES  SPECIAL DEDUCTIONS AVAILABLE TO FARMERS </vt:lpstr>
      <vt:lpstr>7th Sched Allowances </vt:lpstr>
      <vt:lpstr>DISTINCTION BETWEEN 4TH AND 7TH SCHED  </vt:lpstr>
      <vt:lpstr>Example : Farming:   Capital Allowances  </vt:lpstr>
      <vt:lpstr>Slide 9</vt:lpstr>
      <vt:lpstr>Slide 10</vt:lpstr>
      <vt:lpstr>Slide 11</vt:lpstr>
      <vt:lpstr> Livestock Farming  </vt:lpstr>
      <vt:lpstr>LIVESTOCK VALUATION </vt:lpstr>
      <vt:lpstr>LIVESTOCK VALUATION </vt:lpstr>
      <vt:lpstr>Taxable income  from drought sales   </vt:lpstr>
      <vt:lpstr>Taxable income  from drought sales   </vt:lpstr>
      <vt:lpstr>Taxable income  from drought sales   </vt:lpstr>
      <vt:lpstr>RESTOCKING ALLOWANCE</vt:lpstr>
      <vt:lpstr>RESTOCKING ALLOWANCE</vt:lpstr>
      <vt:lpstr>RESTOCKING ALLOWANCE</vt:lpstr>
      <vt:lpstr>PRACTICE QUESTION 1 : Partnership / Farming </vt:lpstr>
      <vt:lpstr>PRACTICE QUESTION 1 : Partnership / Farming </vt:lpstr>
      <vt:lpstr>Slide 23</vt:lpstr>
      <vt:lpstr>Slide 24</vt:lpstr>
      <vt:lpstr>Slide 25</vt:lpstr>
      <vt:lpstr>Slide 26</vt:lpstr>
      <vt:lpstr>PRACTICE QUESTION : BORNFREE MOYO </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PRACTICE QUESTION : MHOFU RANCHERS </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Deftones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peter.mushure</dc:creator>
  <cp:lastModifiedBy>peter.mushure</cp:lastModifiedBy>
  <cp:revision>3</cp:revision>
  <dcterms:created xsi:type="dcterms:W3CDTF">2014-02-10T19:20:01Z</dcterms:created>
  <dcterms:modified xsi:type="dcterms:W3CDTF">2014-02-10T19:37:08Z</dcterms:modified>
</cp:coreProperties>
</file>