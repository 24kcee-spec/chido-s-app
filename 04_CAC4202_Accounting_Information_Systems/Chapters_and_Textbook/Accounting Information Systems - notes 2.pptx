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 id="2147483663" r:id="rId2"/>
  </p:sldMasterIdLst>
  <p:notesMasterIdLst>
    <p:notesMasterId r:id="rId31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36" r:id="rId183"/>
    <p:sldId id="437" r:id="rId184"/>
    <p:sldId id="438" r:id="rId185"/>
    <p:sldId id="439" r:id="rId186"/>
    <p:sldId id="440" r:id="rId187"/>
    <p:sldId id="441" r:id="rId188"/>
    <p:sldId id="442" r:id="rId189"/>
    <p:sldId id="443" r:id="rId190"/>
    <p:sldId id="444" r:id="rId191"/>
    <p:sldId id="445" r:id="rId192"/>
    <p:sldId id="446" r:id="rId193"/>
    <p:sldId id="447" r:id="rId194"/>
    <p:sldId id="448" r:id="rId195"/>
    <p:sldId id="449" r:id="rId196"/>
    <p:sldId id="450" r:id="rId197"/>
    <p:sldId id="451" r:id="rId198"/>
    <p:sldId id="452" r:id="rId199"/>
    <p:sldId id="453" r:id="rId200"/>
    <p:sldId id="454" r:id="rId201"/>
    <p:sldId id="455" r:id="rId202"/>
    <p:sldId id="456" r:id="rId203"/>
    <p:sldId id="457" r:id="rId204"/>
    <p:sldId id="458" r:id="rId205"/>
    <p:sldId id="459" r:id="rId206"/>
    <p:sldId id="460" r:id="rId207"/>
    <p:sldId id="461" r:id="rId208"/>
    <p:sldId id="462" r:id="rId209"/>
    <p:sldId id="463" r:id="rId210"/>
    <p:sldId id="464" r:id="rId211"/>
    <p:sldId id="465" r:id="rId212"/>
    <p:sldId id="466" r:id="rId213"/>
    <p:sldId id="467" r:id="rId214"/>
    <p:sldId id="468" r:id="rId215"/>
    <p:sldId id="469" r:id="rId216"/>
    <p:sldId id="470" r:id="rId217"/>
    <p:sldId id="471" r:id="rId218"/>
    <p:sldId id="472" r:id="rId219"/>
    <p:sldId id="473" r:id="rId220"/>
    <p:sldId id="474" r:id="rId221"/>
    <p:sldId id="475" r:id="rId222"/>
    <p:sldId id="476" r:id="rId223"/>
    <p:sldId id="477" r:id="rId224"/>
    <p:sldId id="478" r:id="rId225"/>
    <p:sldId id="479" r:id="rId226"/>
    <p:sldId id="480" r:id="rId227"/>
    <p:sldId id="481" r:id="rId228"/>
    <p:sldId id="482" r:id="rId229"/>
    <p:sldId id="483" r:id="rId230"/>
    <p:sldId id="484" r:id="rId231"/>
    <p:sldId id="485" r:id="rId232"/>
    <p:sldId id="486" r:id="rId233"/>
    <p:sldId id="487" r:id="rId234"/>
    <p:sldId id="488" r:id="rId235"/>
    <p:sldId id="489" r:id="rId236"/>
    <p:sldId id="490" r:id="rId237"/>
    <p:sldId id="491" r:id="rId238"/>
    <p:sldId id="492" r:id="rId239"/>
    <p:sldId id="493" r:id="rId240"/>
    <p:sldId id="494" r:id="rId241"/>
    <p:sldId id="495" r:id="rId242"/>
    <p:sldId id="496" r:id="rId243"/>
    <p:sldId id="497" r:id="rId244"/>
    <p:sldId id="498" r:id="rId245"/>
    <p:sldId id="499" r:id="rId246"/>
    <p:sldId id="500" r:id="rId247"/>
    <p:sldId id="501" r:id="rId248"/>
    <p:sldId id="502" r:id="rId249"/>
    <p:sldId id="503" r:id="rId250"/>
    <p:sldId id="504" r:id="rId251"/>
    <p:sldId id="505" r:id="rId252"/>
    <p:sldId id="506" r:id="rId253"/>
    <p:sldId id="507" r:id="rId254"/>
    <p:sldId id="508" r:id="rId255"/>
    <p:sldId id="509" r:id="rId256"/>
    <p:sldId id="510" r:id="rId257"/>
    <p:sldId id="511" r:id="rId258"/>
    <p:sldId id="512" r:id="rId259"/>
    <p:sldId id="513" r:id="rId260"/>
    <p:sldId id="514" r:id="rId261"/>
    <p:sldId id="515" r:id="rId262"/>
    <p:sldId id="516" r:id="rId263"/>
    <p:sldId id="517" r:id="rId264"/>
    <p:sldId id="518" r:id="rId265"/>
    <p:sldId id="519" r:id="rId266"/>
    <p:sldId id="520" r:id="rId267"/>
    <p:sldId id="521" r:id="rId268"/>
    <p:sldId id="522" r:id="rId269"/>
    <p:sldId id="523" r:id="rId270"/>
    <p:sldId id="524" r:id="rId271"/>
    <p:sldId id="525" r:id="rId272"/>
    <p:sldId id="526" r:id="rId273"/>
    <p:sldId id="527" r:id="rId274"/>
    <p:sldId id="528" r:id="rId275"/>
    <p:sldId id="529" r:id="rId276"/>
    <p:sldId id="530" r:id="rId277"/>
    <p:sldId id="531" r:id="rId278"/>
    <p:sldId id="532" r:id="rId279"/>
    <p:sldId id="533" r:id="rId280"/>
    <p:sldId id="534" r:id="rId281"/>
    <p:sldId id="535" r:id="rId282"/>
    <p:sldId id="536" r:id="rId283"/>
    <p:sldId id="537" r:id="rId284"/>
    <p:sldId id="538" r:id="rId285"/>
    <p:sldId id="539" r:id="rId286"/>
    <p:sldId id="540" r:id="rId287"/>
    <p:sldId id="541" r:id="rId288"/>
    <p:sldId id="542" r:id="rId289"/>
    <p:sldId id="543" r:id="rId290"/>
    <p:sldId id="544" r:id="rId291"/>
    <p:sldId id="545" r:id="rId292"/>
    <p:sldId id="546" r:id="rId293"/>
    <p:sldId id="547" r:id="rId294"/>
    <p:sldId id="548" r:id="rId295"/>
    <p:sldId id="549" r:id="rId296"/>
    <p:sldId id="550" r:id="rId297"/>
    <p:sldId id="551" r:id="rId298"/>
    <p:sldId id="552" r:id="rId299"/>
    <p:sldId id="553" r:id="rId300"/>
    <p:sldId id="554" r:id="rId301"/>
    <p:sldId id="555" r:id="rId302"/>
    <p:sldId id="556" r:id="rId303"/>
    <p:sldId id="557" r:id="rId304"/>
    <p:sldId id="558" r:id="rId305"/>
    <p:sldId id="559" r:id="rId306"/>
    <p:sldId id="560" r:id="rId307"/>
    <p:sldId id="561" r:id="rId308"/>
    <p:sldId id="562" r:id="rId309"/>
  </p:sldIdLst>
  <p:sldSz cx="9144000" cy="6858000" type="screen4x3"/>
  <p:notesSz cx="6669088" cy="9928225"/>
  <p:embeddedFontLst>
    <p:embeddedFont>
      <p:font typeface="Calibri" panose="020F0502020204030204" pitchFamily="34" charset="0"/>
      <p:regular r:id="rId311"/>
      <p:bold r:id="rId312"/>
      <p:italic r:id="rId313"/>
      <p:boldItalic r:id="rId314"/>
    </p:embeddedFont>
    <p:embeddedFont>
      <p:font typeface="Verdana" panose="020B0604030504040204" pitchFamily="34" charset="0"/>
      <p:regular r:id="rId315"/>
      <p:bold r:id="rId316"/>
      <p:italic r:id="rId317"/>
      <p:boldItalic r:id="rId318"/>
    </p:embeddedFont>
    <p:embeddedFont>
      <p:font typeface="Constantia" panose="02030602050306030303" pitchFamily="18" charset="0"/>
      <p:regular r:id="rId319"/>
      <p:bold r:id="rId320"/>
      <p:italic r:id="rId321"/>
      <p:boldItalic r:id="rId322"/>
    </p:embeddedFont>
    <p:embeddedFont>
      <p:font typeface="Lucida Sans" panose="020B0602030504020204" pitchFamily="34" charset="0"/>
      <p:regular r:id="rId323"/>
      <p:bold r:id="rId324"/>
      <p:italic r:id="rId325"/>
      <p:boldItalic r:id="rId3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naan Ncube"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EC689D-A61E-491C-9692-EBFBF9B0DCE2}">
  <a:tblStyle styleId="{59EC689D-A61E-491C-9692-EBFBF9B0DCE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99" Type="http://schemas.openxmlformats.org/officeDocument/2006/relationships/slide" Target="slides/slide297.xml"/><Relationship Id="rId303" Type="http://schemas.openxmlformats.org/officeDocument/2006/relationships/slide" Target="slides/slide301.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324" Type="http://schemas.openxmlformats.org/officeDocument/2006/relationships/font" Target="fonts/font14.fntdata"/><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slide" Target="slides/slide245.xml"/><Relationship Id="rId107" Type="http://schemas.openxmlformats.org/officeDocument/2006/relationships/slide" Target="slides/slide105.xml"/><Relationship Id="rId268" Type="http://schemas.openxmlformats.org/officeDocument/2006/relationships/slide" Target="slides/slide266.xml"/><Relationship Id="rId289" Type="http://schemas.openxmlformats.org/officeDocument/2006/relationships/slide" Target="slides/slide287.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314" Type="http://schemas.openxmlformats.org/officeDocument/2006/relationships/font" Target="fonts/font4.fntdata"/><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79" Type="http://schemas.openxmlformats.org/officeDocument/2006/relationships/slide" Target="slides/slide277.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290" Type="http://schemas.openxmlformats.org/officeDocument/2006/relationships/slide" Target="slides/slide288.xml"/><Relationship Id="rId304" Type="http://schemas.openxmlformats.org/officeDocument/2006/relationships/slide" Target="slides/slide302.xml"/><Relationship Id="rId325" Type="http://schemas.openxmlformats.org/officeDocument/2006/relationships/font" Target="fonts/font15.fntdata"/><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slide" Target="slides/slide267.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280" Type="http://schemas.openxmlformats.org/officeDocument/2006/relationships/slide" Target="slides/slide278.xml"/><Relationship Id="rId315" Type="http://schemas.openxmlformats.org/officeDocument/2006/relationships/font" Target="fonts/font5.fntdata"/><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slide" Target="slides/slide268.xml"/><Relationship Id="rId291" Type="http://schemas.openxmlformats.org/officeDocument/2006/relationships/slide" Target="slides/slide289.xml"/><Relationship Id="rId305" Type="http://schemas.openxmlformats.org/officeDocument/2006/relationships/slide" Target="slides/slide303.xml"/><Relationship Id="rId326" Type="http://schemas.openxmlformats.org/officeDocument/2006/relationships/font" Target="fonts/font16.fntdata"/><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281" Type="http://schemas.openxmlformats.org/officeDocument/2006/relationships/slide" Target="slides/slide279.xml"/><Relationship Id="rId316" Type="http://schemas.openxmlformats.org/officeDocument/2006/relationships/font" Target="fonts/font6.fntdata"/><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71" Type="http://schemas.openxmlformats.org/officeDocument/2006/relationships/slide" Target="slides/slide269.xml"/><Relationship Id="rId292" Type="http://schemas.openxmlformats.org/officeDocument/2006/relationships/slide" Target="slides/slide290.xml"/><Relationship Id="rId306" Type="http://schemas.openxmlformats.org/officeDocument/2006/relationships/slide" Target="slides/slide304.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327" Type="http://schemas.openxmlformats.org/officeDocument/2006/relationships/commentAuthors" Target="commentAuthors.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261" Type="http://schemas.openxmlformats.org/officeDocument/2006/relationships/slide" Target="slides/slide259.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282" Type="http://schemas.openxmlformats.org/officeDocument/2006/relationships/slide" Target="slides/slide280.xml"/><Relationship Id="rId317"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30" Type="http://schemas.openxmlformats.org/officeDocument/2006/relationships/slide" Target="slides/slide228.xml"/><Relationship Id="rId235" Type="http://schemas.openxmlformats.org/officeDocument/2006/relationships/slide" Target="slides/slide233.xml"/><Relationship Id="rId251" Type="http://schemas.openxmlformats.org/officeDocument/2006/relationships/slide" Target="slides/slide249.xml"/><Relationship Id="rId256" Type="http://schemas.openxmlformats.org/officeDocument/2006/relationships/slide" Target="slides/slide254.xml"/><Relationship Id="rId277" Type="http://schemas.openxmlformats.org/officeDocument/2006/relationships/slide" Target="slides/slide275.xml"/><Relationship Id="rId298" Type="http://schemas.openxmlformats.org/officeDocument/2006/relationships/slide" Target="slides/slide296.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72" Type="http://schemas.openxmlformats.org/officeDocument/2006/relationships/slide" Target="slides/slide270.xml"/><Relationship Id="rId293" Type="http://schemas.openxmlformats.org/officeDocument/2006/relationships/slide" Target="slides/slide291.xml"/><Relationship Id="rId302" Type="http://schemas.openxmlformats.org/officeDocument/2006/relationships/slide" Target="slides/slide300.xml"/><Relationship Id="rId307" Type="http://schemas.openxmlformats.org/officeDocument/2006/relationships/slide" Target="slides/slide305.xml"/><Relationship Id="rId323" Type="http://schemas.openxmlformats.org/officeDocument/2006/relationships/font" Target="fonts/font13.fntdata"/><Relationship Id="rId328"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241" Type="http://schemas.openxmlformats.org/officeDocument/2006/relationships/slide" Target="slides/slide239.xml"/><Relationship Id="rId246" Type="http://schemas.openxmlformats.org/officeDocument/2006/relationships/slide" Target="slides/slide244.xml"/><Relationship Id="rId267" Type="http://schemas.openxmlformats.org/officeDocument/2006/relationships/slide" Target="slides/slide265.xml"/><Relationship Id="rId288" Type="http://schemas.openxmlformats.org/officeDocument/2006/relationships/slide" Target="slides/slide286.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262" Type="http://schemas.openxmlformats.org/officeDocument/2006/relationships/slide" Target="slides/slide260.xml"/><Relationship Id="rId283" Type="http://schemas.openxmlformats.org/officeDocument/2006/relationships/slide" Target="slides/slide281.xml"/><Relationship Id="rId313" Type="http://schemas.openxmlformats.org/officeDocument/2006/relationships/font" Target="fonts/font3.fntdata"/><Relationship Id="rId318"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278" Type="http://schemas.openxmlformats.org/officeDocument/2006/relationships/slide" Target="slides/slide276.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slide" Target="slides/slide271.xml"/><Relationship Id="rId294" Type="http://schemas.openxmlformats.org/officeDocument/2006/relationships/slide" Target="slides/slide292.xml"/><Relationship Id="rId308" Type="http://schemas.openxmlformats.org/officeDocument/2006/relationships/slide" Target="slides/slide306.xml"/><Relationship Id="rId329" Type="http://schemas.openxmlformats.org/officeDocument/2006/relationships/viewProps" Target="viewProps.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284" Type="http://schemas.openxmlformats.org/officeDocument/2006/relationships/slide" Target="slides/slide282.xml"/><Relationship Id="rId319" Type="http://schemas.openxmlformats.org/officeDocument/2006/relationships/font" Target="fonts/font9.fntdata"/><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330" Type="http://schemas.openxmlformats.org/officeDocument/2006/relationships/theme" Target="theme/theme1.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4" Type="http://schemas.openxmlformats.org/officeDocument/2006/relationships/slide" Target="slides/slide272.xml"/><Relationship Id="rId295" Type="http://schemas.openxmlformats.org/officeDocument/2006/relationships/slide" Target="slides/slide293.xml"/><Relationship Id="rId309" Type="http://schemas.openxmlformats.org/officeDocument/2006/relationships/slide" Target="slides/slide307.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320" Type="http://schemas.openxmlformats.org/officeDocument/2006/relationships/font" Target="fonts/font10.fntdata"/><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285" Type="http://schemas.openxmlformats.org/officeDocument/2006/relationships/slide" Target="slides/slide28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310" Type="http://schemas.openxmlformats.org/officeDocument/2006/relationships/notesMaster" Target="notesMasters/notesMaster1.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331" Type="http://schemas.openxmlformats.org/officeDocument/2006/relationships/tableStyles" Target="tableStyles.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275" Type="http://schemas.openxmlformats.org/officeDocument/2006/relationships/slide" Target="slides/slide273.xml"/><Relationship Id="rId296" Type="http://schemas.openxmlformats.org/officeDocument/2006/relationships/slide" Target="slides/slide294.xml"/><Relationship Id="rId300" Type="http://schemas.openxmlformats.org/officeDocument/2006/relationships/slide" Target="slides/slide298.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321" Type="http://schemas.openxmlformats.org/officeDocument/2006/relationships/font" Target="fonts/font11.fntdata"/><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slide" Target="slides/slide263.xml"/><Relationship Id="rId286" Type="http://schemas.openxmlformats.org/officeDocument/2006/relationships/slide" Target="slides/slide284.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311" Type="http://schemas.openxmlformats.org/officeDocument/2006/relationships/font" Target="fonts/font1.fntdata"/><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276" Type="http://schemas.openxmlformats.org/officeDocument/2006/relationships/slide" Target="slides/slide274.xml"/><Relationship Id="rId297" Type="http://schemas.openxmlformats.org/officeDocument/2006/relationships/slide" Target="slides/slide295.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301" Type="http://schemas.openxmlformats.org/officeDocument/2006/relationships/slide" Target="slides/slide299.xml"/><Relationship Id="rId322" Type="http://schemas.openxmlformats.org/officeDocument/2006/relationships/font" Target="fonts/font12.fntdata"/><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266" Type="http://schemas.openxmlformats.org/officeDocument/2006/relationships/slide" Target="slides/slide264.xml"/><Relationship Id="rId287" Type="http://schemas.openxmlformats.org/officeDocument/2006/relationships/slide" Target="slides/slide285.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312" Type="http://schemas.openxmlformats.org/officeDocument/2006/relationships/font" Target="fonts/font2.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1-01-19T19:11:40.132" idx="1">
    <p:pos x="288" y="933"/>
    <p:text>I added this, it wasn't there. Check if this is what you wanted to say</p:text>
  </p:cm>
  <p:cm authorId="0" dt="2021-01-19T19:39:08.450" idx="2">
    <p:pos x="288" y="1033"/>
    <p:text>Did you want to say: What then in the Information System is reflected by the Accounting Information System? Please check and correct accordingly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889938" cy="49641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777607" y="0"/>
            <a:ext cx="2889938" cy="496411"/>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30091"/>
            <a:ext cx="2889938" cy="49641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273138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5088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6440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318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7717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5245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8216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3327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8105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9249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0224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9770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9553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6305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718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1333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007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0999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06777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1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4276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9049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22136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0364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1317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2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9422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933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0564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6750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2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89337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85561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3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68867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9854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48272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3: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4" name="Google Shape;414;p33: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05532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4: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1" name="Google Shape;421;p34: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10322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5: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35: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21656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6: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3" name="Google Shape;433;p36: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8645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3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3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1310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8: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5" name="Google Shape;445;p38: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00798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3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85930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4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304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4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4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93439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4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4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07340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4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49483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4: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44: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7456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5: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9" name="Google Shape;489;p45: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75163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4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7730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4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49142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8: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8" name="Google Shape;508;p48: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02316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9: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4" name="Google Shape;514;p49: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57400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0: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1" name="Google Shape;521;p50: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20102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1: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
        <p:nvSpPr>
          <p:cNvPr id="527" name="Google Shape;527;p51: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528" name="Google Shape;528;p51: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41371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52: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
        <p:nvSpPr>
          <p:cNvPr id="533" name="Google Shape;533;p52: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534" name="Google Shape;534;p52: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15614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3: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
        <p:nvSpPr>
          <p:cNvPr id="540" name="Google Shape;540;p53: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541" name="Google Shape;541;p53: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519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4: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
        <p:nvSpPr>
          <p:cNvPr id="547" name="Google Shape;547;p54: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548" name="Google Shape;548;p54: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29720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5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5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96207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5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5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896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5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3009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5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5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6754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5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5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3129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6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4" name="Google Shape;584;p6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10975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6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6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70199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62: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
        <p:nvSpPr>
          <p:cNvPr id="596" name="Google Shape;596;p62: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597" name="Google Shape;597;p62: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93100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63: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
        <p:nvSpPr>
          <p:cNvPr id="603" name="Google Shape;603;p63: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604" name="Google Shape;604;p63: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45916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6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p6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52247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5: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
        <p:nvSpPr>
          <p:cNvPr id="668" name="Google Shape;668;p65: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669" name="Google Shape;669;p65: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34158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66: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
        <p:nvSpPr>
          <p:cNvPr id="675" name="Google Shape;675;p66: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676" name="Google Shape;676;p66: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80897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67: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
        <p:nvSpPr>
          <p:cNvPr id="682" name="Google Shape;682;p67: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683" name="Google Shape;683;p67: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92426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68: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
        <p:nvSpPr>
          <p:cNvPr id="689" name="Google Shape;689;p68: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690" name="Google Shape;690;p68: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625902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69: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
        <p:nvSpPr>
          <p:cNvPr id="696" name="Google Shape;696;p69: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697" name="Google Shape;697;p69: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080083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7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3" name="Google Shape;703;p7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99426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71: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
        <p:nvSpPr>
          <p:cNvPr id="738" name="Google Shape;738;p71: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739" name="Google Shape;739;p71: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34655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7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5" name="Google Shape;745;p7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73380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73: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
        <p:nvSpPr>
          <p:cNvPr id="751" name="Google Shape;751;p73: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752" name="Google Shape;752;p73: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896818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7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8" name="Google Shape;758;p7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03096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75: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
        <p:nvSpPr>
          <p:cNvPr id="793" name="Google Shape;793;p75: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794" name="Google Shape;794;p75: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47493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76: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
        <p:nvSpPr>
          <p:cNvPr id="800" name="Google Shape;800;p76: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01" name="Google Shape;801;p76: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8724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77: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
        <p:nvSpPr>
          <p:cNvPr id="807" name="Google Shape;807;p77: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08" name="Google Shape;808;p77: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94314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7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4" name="Google Shape;814;p7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7969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7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0" name="Google Shape;820;p7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037288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8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8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328865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81: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81</a:t>
            </a:fld>
            <a:endParaRPr/>
          </a:p>
        </p:txBody>
      </p:sp>
      <p:sp>
        <p:nvSpPr>
          <p:cNvPr id="832" name="Google Shape;832;p81: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33" name="Google Shape;833;p81: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5126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82: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82</a:t>
            </a:fld>
            <a:endParaRPr/>
          </a:p>
        </p:txBody>
      </p:sp>
      <p:sp>
        <p:nvSpPr>
          <p:cNvPr id="839" name="Google Shape;839;p82: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40" name="Google Shape;840;p82: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501433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83: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83</a:t>
            </a:fld>
            <a:endParaRPr/>
          </a:p>
        </p:txBody>
      </p:sp>
      <p:sp>
        <p:nvSpPr>
          <p:cNvPr id="847" name="Google Shape;847;p83: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48" name="Google Shape;848;p83: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849046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84: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
        <p:nvSpPr>
          <p:cNvPr id="854" name="Google Shape;854;p84: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55" name="Google Shape;855;p84: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2860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85: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85</a:t>
            </a:fld>
            <a:endParaRPr/>
          </a:p>
        </p:txBody>
      </p:sp>
      <p:sp>
        <p:nvSpPr>
          <p:cNvPr id="861" name="Google Shape;861;p85: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62" name="Google Shape;862;p85: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849085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86: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86</a:t>
            </a:fld>
            <a:endParaRPr/>
          </a:p>
        </p:txBody>
      </p:sp>
      <p:sp>
        <p:nvSpPr>
          <p:cNvPr id="868" name="Google Shape;868;p86: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69" name="Google Shape;869;p86: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21408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87: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
        <p:nvSpPr>
          <p:cNvPr id="877" name="Google Shape;877;p87: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78" name="Google Shape;878;p87: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475079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88: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
        <p:nvSpPr>
          <p:cNvPr id="884" name="Google Shape;884;p88: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85" name="Google Shape;885;p88: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18790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89: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
        <p:nvSpPr>
          <p:cNvPr id="891" name="Google Shape;891;p89: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92" name="Google Shape;892;p89: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517377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90: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90</a:t>
            </a:fld>
            <a:endParaRPr/>
          </a:p>
        </p:txBody>
      </p:sp>
      <p:sp>
        <p:nvSpPr>
          <p:cNvPr id="898" name="Google Shape;898;p90: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899" name="Google Shape;899;p90: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62355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91: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91</a:t>
            </a:fld>
            <a:endParaRPr/>
          </a:p>
        </p:txBody>
      </p:sp>
      <p:sp>
        <p:nvSpPr>
          <p:cNvPr id="905" name="Google Shape;905;p91:notes"/>
          <p:cNvSpPr>
            <a:spLocks noGrp="1" noRot="1" noChangeAspect="1"/>
          </p:cNvSpPr>
          <p:nvPr>
            <p:ph type="sldImg" idx="2"/>
          </p:nvPr>
        </p:nvSpPr>
        <p:spPr>
          <a:xfrm>
            <a:off x="860425"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906" name="Google Shape;906;p91:notes"/>
          <p:cNvSpPr txBox="1">
            <a:spLocks noGrp="1"/>
          </p:cNvSpPr>
          <p:nvPr>
            <p:ph type="body" idx="1"/>
          </p:nvPr>
        </p:nvSpPr>
        <p:spPr>
          <a:xfrm>
            <a:off x="889366" y="4713610"/>
            <a:ext cx="4890357" cy="4467701"/>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487357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p9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2" name="Google Shape;912;p9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73052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9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8" name="Google Shape;918;p9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476427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9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4" name="Google Shape;924;p9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03867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95: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0" name="Google Shape;930;p95: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641383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96: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7" name="Google Shape;937;p96: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28296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97: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3" name="Google Shape;943;p97: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83529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98: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9" name="Google Shape;949;p98: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5414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99: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5" name="Google Shape;955;p99: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83646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100: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1" name="Google Shape;961;p100: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002700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101: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7" name="Google Shape;967;p101: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349942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p102: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3" name="Google Shape;973;p102: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98569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p103: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9" name="Google Shape;979;p103: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794600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104: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5" name="Google Shape;985;p104: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46336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105: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2" name="Google Shape;992;p105: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86811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106:notes"/>
          <p:cNvSpPr>
            <a:spLocks noGrp="1" noRot="1" noChangeAspect="1"/>
          </p:cNvSpPr>
          <p:nvPr>
            <p:ph type="sldImg" idx="2"/>
          </p:nvPr>
        </p:nvSpPr>
        <p:spPr>
          <a:xfrm>
            <a:off x="862013" y="750888"/>
            <a:ext cx="4945062" cy="3709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9" name="Google Shape;999;p106: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40433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10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5" name="Google Shape;1005;p10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064026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10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1" name="Google Shape;1011;p10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587805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p10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7" name="Google Shape;1017;p10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407394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p11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3" name="Google Shape;1023;p11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289631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11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9" name="Google Shape;1029;p11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207336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11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5" name="Google Shape;1035;p11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93593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p11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1" name="Google Shape;1041;p11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871289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11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 name="Google Shape;1047;p11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028319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1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 name="Google Shape;1053;p11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742953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p11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9" name="Google Shape;1059;p11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481417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11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5" name="Google Shape;1065;p11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715071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11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0" name="Google Shape;1070;p11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1714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11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5" name="Google Shape;1075;p11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433110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12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1" name="Google Shape;1081;p12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053024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p12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7" name="Google Shape;1087;p12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21582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p12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3" name="Google Shape;1093;p12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569243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2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p12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238271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p12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6" name="Google Shape;1106;p12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327351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p12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2" name="Google Shape;1112;p12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870505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p12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8" name="Google Shape;1118;p12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857793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p12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4" name="Google Shape;1124;p12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782267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12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0" name="Google Shape;1130;p12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375452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p12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6" name="Google Shape;1136;p12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82137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13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2" name="Google Shape;1142;p13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60401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13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8" name="Google Shape;1148;p13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5092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13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4" name="Google Shape;1154;p13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45608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p13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9" name="Google Shape;1159;p13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342127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p13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2" name="Google Shape;1192;p13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06723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p13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8" name="Google Shape;1198;p13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332562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p13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0" name="Google Shape;1220;p13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113603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p13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6" name="Google Shape;1226;p13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148670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13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2" name="Google Shape;1232;p13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505877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p13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8" name="Google Shape;1238;p13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13847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p14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4" name="Google Shape;1244;p14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768849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p14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0" name="Google Shape;1250;p14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100626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p14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6" name="Google Shape;1256;p14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56862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14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2" name="Google Shape;1262;p14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770059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p14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7" name="Google Shape;1267;p14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331017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14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2" name="Google Shape;1272;p14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51313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14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7" name="Google Shape;1277;p14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59252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p14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2" name="Google Shape;1282;p14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295530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p14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7" name="Google Shape;1287;p14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5158660"/>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p14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3" name="Google Shape;1293;p14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79050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p15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8" name="Google Shape;1298;p15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00700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5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3" name="Google Shape;1303;p15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985654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p15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8" name="Google Shape;1308;p15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432521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p15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3" name="Google Shape;1313;p15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942210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p15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8" name="Google Shape;1318;p15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975824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p15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3" name="Google Shape;1323;p15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060301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p15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8" name="Google Shape;1328;p15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57765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15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3" name="Google Shape;1333;p15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10716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p15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8" name="Google Shape;1338;p15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495895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p15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3" name="Google Shape;1343;p15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6231880"/>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p16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9" name="Google Shape;1349;p16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582731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16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5" name="Google Shape;1355;p16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834389"/>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8"/>
        <p:cNvGrpSpPr/>
        <p:nvPr/>
      </p:nvGrpSpPr>
      <p:grpSpPr>
        <a:xfrm>
          <a:off x="0" y="0"/>
          <a:ext cx="0" cy="0"/>
          <a:chOff x="0" y="0"/>
          <a:chExt cx="0" cy="0"/>
        </a:xfrm>
      </p:grpSpPr>
      <p:sp>
        <p:nvSpPr>
          <p:cNvPr id="1359" name="Google Shape;1359;p16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0" name="Google Shape;1360;p16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612965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4"/>
        <p:cNvGrpSpPr/>
        <p:nvPr/>
      </p:nvGrpSpPr>
      <p:grpSpPr>
        <a:xfrm>
          <a:off x="0" y="0"/>
          <a:ext cx="0" cy="0"/>
          <a:chOff x="0" y="0"/>
          <a:chExt cx="0" cy="0"/>
        </a:xfrm>
      </p:grpSpPr>
      <p:sp>
        <p:nvSpPr>
          <p:cNvPr id="1365" name="Google Shape;1365;p16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6" name="Google Shape;1366;p16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134720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p:cNvGrpSpPr/>
        <p:nvPr/>
      </p:nvGrpSpPr>
      <p:grpSpPr>
        <a:xfrm>
          <a:off x="0" y="0"/>
          <a:ext cx="0" cy="0"/>
          <a:chOff x="0" y="0"/>
          <a:chExt cx="0" cy="0"/>
        </a:xfrm>
      </p:grpSpPr>
      <p:sp>
        <p:nvSpPr>
          <p:cNvPr id="1371" name="Google Shape;1371;p16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2" name="Google Shape;1372;p16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4027847"/>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p:cNvGrpSpPr/>
        <p:nvPr/>
      </p:nvGrpSpPr>
      <p:grpSpPr>
        <a:xfrm>
          <a:off x="0" y="0"/>
          <a:ext cx="0" cy="0"/>
          <a:chOff x="0" y="0"/>
          <a:chExt cx="0" cy="0"/>
        </a:xfrm>
      </p:grpSpPr>
      <p:sp>
        <p:nvSpPr>
          <p:cNvPr id="1377" name="Google Shape;1377;p16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8" name="Google Shape;1378;p16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779462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p16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3" name="Google Shape;1383;p16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562949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p16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9" name="Google Shape;1389;p16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9644054"/>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p16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4" name="Google Shape;1394;p16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091313"/>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p16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0" name="Google Shape;1400;p16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7611028"/>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p17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6" name="Google Shape;1406;p17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651994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p17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2" name="Google Shape;1412;p17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0897088"/>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6"/>
        <p:cNvGrpSpPr/>
        <p:nvPr/>
      </p:nvGrpSpPr>
      <p:grpSpPr>
        <a:xfrm>
          <a:off x="0" y="0"/>
          <a:ext cx="0" cy="0"/>
          <a:chOff x="0" y="0"/>
          <a:chExt cx="0" cy="0"/>
        </a:xfrm>
      </p:grpSpPr>
      <p:sp>
        <p:nvSpPr>
          <p:cNvPr id="1417" name="Google Shape;1417;p17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8" name="Google Shape;1418;p17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16957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p17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4" name="Google Shape;1424;p17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16271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p17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9" name="Google Shape;1429;p17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751393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p17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5" name="Google Shape;1435;p17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421826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p17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0" name="Google Shape;1440;p17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644932"/>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p17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5" name="Google Shape;1445;p17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494367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p17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1" name="Google Shape;1451;p17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95452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p17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6" name="Google Shape;1456;p17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979974"/>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p18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2" name="Google Shape;1462;p18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089118"/>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p18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8" name="Google Shape;1468;p18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2034879"/>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1"/>
        <p:cNvGrpSpPr/>
        <p:nvPr/>
      </p:nvGrpSpPr>
      <p:grpSpPr>
        <a:xfrm>
          <a:off x="0" y="0"/>
          <a:ext cx="0" cy="0"/>
          <a:chOff x="0" y="0"/>
          <a:chExt cx="0" cy="0"/>
        </a:xfrm>
      </p:grpSpPr>
      <p:sp>
        <p:nvSpPr>
          <p:cNvPr id="1472" name="Google Shape;1472;p18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3" name="Google Shape;1473;p18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127352"/>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p18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9" name="Google Shape;1479;p18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6104012"/>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2"/>
        <p:cNvGrpSpPr/>
        <p:nvPr/>
      </p:nvGrpSpPr>
      <p:grpSpPr>
        <a:xfrm>
          <a:off x="0" y="0"/>
          <a:ext cx="0" cy="0"/>
          <a:chOff x="0" y="0"/>
          <a:chExt cx="0" cy="0"/>
        </a:xfrm>
      </p:grpSpPr>
      <p:sp>
        <p:nvSpPr>
          <p:cNvPr id="1483" name="Google Shape;1483;p18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4" name="Google Shape;1484;p18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5665403"/>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7"/>
        <p:cNvGrpSpPr/>
        <p:nvPr/>
      </p:nvGrpSpPr>
      <p:grpSpPr>
        <a:xfrm>
          <a:off x="0" y="0"/>
          <a:ext cx="0" cy="0"/>
          <a:chOff x="0" y="0"/>
          <a:chExt cx="0" cy="0"/>
        </a:xfrm>
      </p:grpSpPr>
      <p:sp>
        <p:nvSpPr>
          <p:cNvPr id="1488" name="Google Shape;1488;p18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9" name="Google Shape;1489;p18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34609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p18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4" name="Google Shape;1494;p18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368505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7"/>
        <p:cNvGrpSpPr/>
        <p:nvPr/>
      </p:nvGrpSpPr>
      <p:grpSpPr>
        <a:xfrm>
          <a:off x="0" y="0"/>
          <a:ext cx="0" cy="0"/>
          <a:chOff x="0" y="0"/>
          <a:chExt cx="0" cy="0"/>
        </a:xfrm>
      </p:grpSpPr>
      <p:sp>
        <p:nvSpPr>
          <p:cNvPr id="1498" name="Google Shape;1498;p18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9" name="Google Shape;1499;p18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305737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p18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5" name="Google Shape;1505;p18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797418"/>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9"/>
        <p:cNvGrpSpPr/>
        <p:nvPr/>
      </p:nvGrpSpPr>
      <p:grpSpPr>
        <a:xfrm>
          <a:off x="0" y="0"/>
          <a:ext cx="0" cy="0"/>
          <a:chOff x="0" y="0"/>
          <a:chExt cx="0" cy="0"/>
        </a:xfrm>
      </p:grpSpPr>
      <p:sp>
        <p:nvSpPr>
          <p:cNvPr id="1510" name="Google Shape;1510;p18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1" name="Google Shape;1511;p18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8505882"/>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4"/>
        <p:cNvGrpSpPr/>
        <p:nvPr/>
      </p:nvGrpSpPr>
      <p:grpSpPr>
        <a:xfrm>
          <a:off x="0" y="0"/>
          <a:ext cx="0" cy="0"/>
          <a:chOff x="0" y="0"/>
          <a:chExt cx="0" cy="0"/>
        </a:xfrm>
      </p:grpSpPr>
      <p:sp>
        <p:nvSpPr>
          <p:cNvPr id="1515" name="Google Shape;1515;p19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6" name="Google Shape;1516;p19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830686"/>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0"/>
        <p:cNvGrpSpPr/>
        <p:nvPr/>
      </p:nvGrpSpPr>
      <p:grpSpPr>
        <a:xfrm>
          <a:off x="0" y="0"/>
          <a:ext cx="0" cy="0"/>
          <a:chOff x="0" y="0"/>
          <a:chExt cx="0" cy="0"/>
        </a:xfrm>
      </p:grpSpPr>
      <p:sp>
        <p:nvSpPr>
          <p:cNvPr id="1521" name="Google Shape;1521;p19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2" name="Google Shape;1522;p19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989687"/>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p19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8" name="Google Shape;1528;p19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0157916"/>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p19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4" name="Google Shape;1534;p19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484400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p19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0" name="Google Shape;1540;p19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33232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p19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5" name="Google Shape;1545;p19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8600212"/>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p19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1" name="Google Shape;1551;p19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268490"/>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5"/>
        <p:cNvGrpSpPr/>
        <p:nvPr/>
      </p:nvGrpSpPr>
      <p:grpSpPr>
        <a:xfrm>
          <a:off x="0" y="0"/>
          <a:ext cx="0" cy="0"/>
          <a:chOff x="0" y="0"/>
          <a:chExt cx="0" cy="0"/>
        </a:xfrm>
      </p:grpSpPr>
      <p:sp>
        <p:nvSpPr>
          <p:cNvPr id="1556" name="Google Shape;1556;p19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7" name="Google Shape;1557;p19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0059750"/>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p19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2" name="Google Shape;1562;p19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9599666"/>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p:cNvGrpSpPr/>
        <p:nvPr/>
      </p:nvGrpSpPr>
      <p:grpSpPr>
        <a:xfrm>
          <a:off x="0" y="0"/>
          <a:ext cx="0" cy="0"/>
          <a:chOff x="0" y="0"/>
          <a:chExt cx="0" cy="0"/>
        </a:xfrm>
      </p:grpSpPr>
      <p:sp>
        <p:nvSpPr>
          <p:cNvPr id="1567" name="Google Shape;1567;p19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8" name="Google Shape;1568;p19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7461307"/>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p:cNvGrpSpPr/>
        <p:nvPr/>
      </p:nvGrpSpPr>
      <p:grpSpPr>
        <a:xfrm>
          <a:off x="0" y="0"/>
          <a:ext cx="0" cy="0"/>
          <a:chOff x="0" y="0"/>
          <a:chExt cx="0" cy="0"/>
        </a:xfrm>
      </p:grpSpPr>
      <p:sp>
        <p:nvSpPr>
          <p:cNvPr id="1573" name="Google Shape;1573;p20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4" name="Google Shape;1574;p20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28986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p20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9" name="Google Shape;1579;p20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934614"/>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20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5" name="Google Shape;1585;p20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398426"/>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Google Shape;1590;p20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1" name="Google Shape;1591;p20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918346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p:cNvGrpSpPr/>
        <p:nvPr/>
      </p:nvGrpSpPr>
      <p:grpSpPr>
        <a:xfrm>
          <a:off x="0" y="0"/>
          <a:ext cx="0" cy="0"/>
          <a:chOff x="0" y="0"/>
          <a:chExt cx="0" cy="0"/>
        </a:xfrm>
      </p:grpSpPr>
      <p:sp>
        <p:nvSpPr>
          <p:cNvPr id="1600" name="Google Shape;1600;p20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1" name="Google Shape;1601;p20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8937578"/>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p:cNvGrpSpPr/>
        <p:nvPr/>
      </p:nvGrpSpPr>
      <p:grpSpPr>
        <a:xfrm>
          <a:off x="0" y="0"/>
          <a:ext cx="0" cy="0"/>
          <a:chOff x="0" y="0"/>
          <a:chExt cx="0" cy="0"/>
        </a:xfrm>
      </p:grpSpPr>
      <p:sp>
        <p:nvSpPr>
          <p:cNvPr id="1609" name="Google Shape;1609;p20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0" name="Google Shape;1610;p20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719656"/>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Google Shape;1615;p20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6" name="Google Shape;1616;p20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8002244"/>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0"/>
        <p:cNvGrpSpPr/>
        <p:nvPr/>
      </p:nvGrpSpPr>
      <p:grpSpPr>
        <a:xfrm>
          <a:off x="0" y="0"/>
          <a:ext cx="0" cy="0"/>
          <a:chOff x="0" y="0"/>
          <a:chExt cx="0" cy="0"/>
        </a:xfrm>
      </p:grpSpPr>
      <p:sp>
        <p:nvSpPr>
          <p:cNvPr id="1621" name="Google Shape;1621;p20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2" name="Google Shape;1622;p20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3417960"/>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p20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8" name="Google Shape;1628;p20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0896103"/>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2"/>
        <p:cNvGrpSpPr/>
        <p:nvPr/>
      </p:nvGrpSpPr>
      <p:grpSpPr>
        <a:xfrm>
          <a:off x="0" y="0"/>
          <a:ext cx="0" cy="0"/>
          <a:chOff x="0" y="0"/>
          <a:chExt cx="0" cy="0"/>
        </a:xfrm>
      </p:grpSpPr>
      <p:sp>
        <p:nvSpPr>
          <p:cNvPr id="1633" name="Google Shape;1633;p20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4" name="Google Shape;1634;p20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107340"/>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p:cNvGrpSpPr/>
        <p:nvPr/>
      </p:nvGrpSpPr>
      <p:grpSpPr>
        <a:xfrm>
          <a:off x="0" y="0"/>
          <a:ext cx="0" cy="0"/>
          <a:chOff x="0" y="0"/>
          <a:chExt cx="0" cy="0"/>
        </a:xfrm>
      </p:grpSpPr>
      <p:sp>
        <p:nvSpPr>
          <p:cNvPr id="1639" name="Google Shape;1639;p21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0" name="Google Shape;1640;p21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9682485"/>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4"/>
        <p:cNvGrpSpPr/>
        <p:nvPr/>
      </p:nvGrpSpPr>
      <p:grpSpPr>
        <a:xfrm>
          <a:off x="0" y="0"/>
          <a:ext cx="0" cy="0"/>
          <a:chOff x="0" y="0"/>
          <a:chExt cx="0" cy="0"/>
        </a:xfrm>
      </p:grpSpPr>
      <p:sp>
        <p:nvSpPr>
          <p:cNvPr id="1645" name="Google Shape;1645;p21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6" name="Google Shape;1646;p21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1328917"/>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0"/>
        <p:cNvGrpSpPr/>
        <p:nvPr/>
      </p:nvGrpSpPr>
      <p:grpSpPr>
        <a:xfrm>
          <a:off x="0" y="0"/>
          <a:ext cx="0" cy="0"/>
          <a:chOff x="0" y="0"/>
          <a:chExt cx="0" cy="0"/>
        </a:xfrm>
      </p:grpSpPr>
      <p:sp>
        <p:nvSpPr>
          <p:cNvPr id="1651" name="Google Shape;1651;p21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2" name="Google Shape;1652;p21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1631549"/>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1"/>
        <p:cNvGrpSpPr/>
        <p:nvPr/>
      </p:nvGrpSpPr>
      <p:grpSpPr>
        <a:xfrm>
          <a:off x="0" y="0"/>
          <a:ext cx="0" cy="0"/>
          <a:chOff x="0" y="0"/>
          <a:chExt cx="0" cy="0"/>
        </a:xfrm>
      </p:grpSpPr>
      <p:sp>
        <p:nvSpPr>
          <p:cNvPr id="1672" name="Google Shape;1672;p21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3" name="Google Shape;1673;p21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77303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p21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9" name="Google Shape;1679;p21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5321183"/>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p21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5" name="Google Shape;1685;p21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352043"/>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p21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1" name="Google Shape;1691;p21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240366"/>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p21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7" name="Google Shape;1697;p21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306537"/>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1"/>
        <p:cNvGrpSpPr/>
        <p:nvPr/>
      </p:nvGrpSpPr>
      <p:grpSpPr>
        <a:xfrm>
          <a:off x="0" y="0"/>
          <a:ext cx="0" cy="0"/>
          <a:chOff x="0" y="0"/>
          <a:chExt cx="0" cy="0"/>
        </a:xfrm>
      </p:grpSpPr>
      <p:sp>
        <p:nvSpPr>
          <p:cNvPr id="1702" name="Google Shape;1702;p21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3" name="Google Shape;1703;p21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5437078"/>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p21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8" name="Google Shape;1708;p21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8222476"/>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p22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8" name="Google Shape;1718;p22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8086659"/>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7"/>
        <p:cNvGrpSpPr/>
        <p:nvPr/>
      </p:nvGrpSpPr>
      <p:grpSpPr>
        <a:xfrm>
          <a:off x="0" y="0"/>
          <a:ext cx="0" cy="0"/>
          <a:chOff x="0" y="0"/>
          <a:chExt cx="0" cy="0"/>
        </a:xfrm>
      </p:grpSpPr>
      <p:sp>
        <p:nvSpPr>
          <p:cNvPr id="1728" name="Google Shape;1728;p22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9" name="Google Shape;1729;p22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5791289"/>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6"/>
        <p:cNvGrpSpPr/>
        <p:nvPr/>
      </p:nvGrpSpPr>
      <p:grpSpPr>
        <a:xfrm>
          <a:off x="0" y="0"/>
          <a:ext cx="0" cy="0"/>
          <a:chOff x="0" y="0"/>
          <a:chExt cx="0" cy="0"/>
        </a:xfrm>
      </p:grpSpPr>
      <p:sp>
        <p:nvSpPr>
          <p:cNvPr id="1737" name="Google Shape;1737;p22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8" name="Google Shape;1738;p22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806730"/>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p22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8" name="Google Shape;1748;p22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5348250"/>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p22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9" name="Google Shape;1759;p22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6288625"/>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2"/>
        <p:cNvGrpSpPr/>
        <p:nvPr/>
      </p:nvGrpSpPr>
      <p:grpSpPr>
        <a:xfrm>
          <a:off x="0" y="0"/>
          <a:ext cx="0" cy="0"/>
          <a:chOff x="0" y="0"/>
          <a:chExt cx="0" cy="0"/>
        </a:xfrm>
      </p:grpSpPr>
      <p:sp>
        <p:nvSpPr>
          <p:cNvPr id="1763" name="Google Shape;1763;p22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4" name="Google Shape;1764;p22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0910198"/>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9"/>
        <p:cNvGrpSpPr/>
        <p:nvPr/>
      </p:nvGrpSpPr>
      <p:grpSpPr>
        <a:xfrm>
          <a:off x="0" y="0"/>
          <a:ext cx="0" cy="0"/>
          <a:chOff x="0" y="0"/>
          <a:chExt cx="0" cy="0"/>
        </a:xfrm>
      </p:grpSpPr>
      <p:sp>
        <p:nvSpPr>
          <p:cNvPr id="1780" name="Google Shape;1780;p22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1" name="Google Shape;1781;p22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88051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9"/>
        <p:cNvGrpSpPr/>
        <p:nvPr/>
      </p:nvGrpSpPr>
      <p:grpSpPr>
        <a:xfrm>
          <a:off x="0" y="0"/>
          <a:ext cx="0" cy="0"/>
          <a:chOff x="0" y="0"/>
          <a:chExt cx="0" cy="0"/>
        </a:xfrm>
      </p:grpSpPr>
      <p:sp>
        <p:nvSpPr>
          <p:cNvPr id="1790" name="Google Shape;1790;p22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1" name="Google Shape;1791;p22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3133680"/>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7"/>
        <p:cNvGrpSpPr/>
        <p:nvPr/>
      </p:nvGrpSpPr>
      <p:grpSpPr>
        <a:xfrm>
          <a:off x="0" y="0"/>
          <a:ext cx="0" cy="0"/>
          <a:chOff x="0" y="0"/>
          <a:chExt cx="0" cy="0"/>
        </a:xfrm>
      </p:grpSpPr>
      <p:sp>
        <p:nvSpPr>
          <p:cNvPr id="1798" name="Google Shape;1798;p22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9" name="Google Shape;1799;p22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9825702"/>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p22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5" name="Google Shape;1805;p22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505213"/>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p23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0" name="Google Shape;1810;p23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239550"/>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p23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4" name="Google Shape;1824;p23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6320489"/>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8"/>
        <p:cNvGrpSpPr/>
        <p:nvPr/>
      </p:nvGrpSpPr>
      <p:grpSpPr>
        <a:xfrm>
          <a:off x="0" y="0"/>
          <a:ext cx="0" cy="0"/>
          <a:chOff x="0" y="0"/>
          <a:chExt cx="0" cy="0"/>
        </a:xfrm>
      </p:grpSpPr>
      <p:sp>
        <p:nvSpPr>
          <p:cNvPr id="1829" name="Google Shape;1829;p23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0" name="Google Shape;1830;p23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324918"/>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4"/>
        <p:cNvGrpSpPr/>
        <p:nvPr/>
      </p:nvGrpSpPr>
      <p:grpSpPr>
        <a:xfrm>
          <a:off x="0" y="0"/>
          <a:ext cx="0" cy="0"/>
          <a:chOff x="0" y="0"/>
          <a:chExt cx="0" cy="0"/>
        </a:xfrm>
      </p:grpSpPr>
      <p:sp>
        <p:nvSpPr>
          <p:cNvPr id="1835" name="Google Shape;1835;p23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6" name="Google Shape;1836;p23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1983512"/>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0"/>
        <p:cNvGrpSpPr/>
        <p:nvPr/>
      </p:nvGrpSpPr>
      <p:grpSpPr>
        <a:xfrm>
          <a:off x="0" y="0"/>
          <a:ext cx="0" cy="0"/>
          <a:chOff x="0" y="0"/>
          <a:chExt cx="0" cy="0"/>
        </a:xfrm>
      </p:grpSpPr>
      <p:sp>
        <p:nvSpPr>
          <p:cNvPr id="1841" name="Google Shape;1841;p23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2" name="Google Shape;1842;p23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2835823"/>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6"/>
        <p:cNvGrpSpPr/>
        <p:nvPr/>
      </p:nvGrpSpPr>
      <p:grpSpPr>
        <a:xfrm>
          <a:off x="0" y="0"/>
          <a:ext cx="0" cy="0"/>
          <a:chOff x="0" y="0"/>
          <a:chExt cx="0" cy="0"/>
        </a:xfrm>
      </p:grpSpPr>
      <p:sp>
        <p:nvSpPr>
          <p:cNvPr id="1847" name="Google Shape;1847;p23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8" name="Google Shape;1848;p23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4508192"/>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p23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4" name="Google Shape;1854;p23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594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8"/>
        <p:cNvGrpSpPr/>
        <p:nvPr/>
      </p:nvGrpSpPr>
      <p:grpSpPr>
        <a:xfrm>
          <a:off x="0" y="0"/>
          <a:ext cx="0" cy="0"/>
          <a:chOff x="0" y="0"/>
          <a:chExt cx="0" cy="0"/>
        </a:xfrm>
      </p:grpSpPr>
      <p:sp>
        <p:nvSpPr>
          <p:cNvPr id="1859" name="Google Shape;1859;p23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0" name="Google Shape;1860;p23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029169"/>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4"/>
        <p:cNvGrpSpPr/>
        <p:nvPr/>
      </p:nvGrpSpPr>
      <p:grpSpPr>
        <a:xfrm>
          <a:off x="0" y="0"/>
          <a:ext cx="0" cy="0"/>
          <a:chOff x="0" y="0"/>
          <a:chExt cx="0" cy="0"/>
        </a:xfrm>
      </p:grpSpPr>
      <p:sp>
        <p:nvSpPr>
          <p:cNvPr id="1865" name="Google Shape;1865;p23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6" name="Google Shape;1866;p23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368102"/>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p23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2" name="Google Shape;1872;p23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462202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p24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8" name="Google Shape;1878;p24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7126856"/>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24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4" name="Google Shape;1884;p24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735210"/>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p24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0" name="Google Shape;1890;p24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3848008"/>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4"/>
        <p:cNvGrpSpPr/>
        <p:nvPr/>
      </p:nvGrpSpPr>
      <p:grpSpPr>
        <a:xfrm>
          <a:off x="0" y="0"/>
          <a:ext cx="0" cy="0"/>
          <a:chOff x="0" y="0"/>
          <a:chExt cx="0" cy="0"/>
        </a:xfrm>
      </p:grpSpPr>
      <p:sp>
        <p:nvSpPr>
          <p:cNvPr id="1895" name="Google Shape;1895;p24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6" name="Google Shape;1896;p24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0682399"/>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0"/>
        <p:cNvGrpSpPr/>
        <p:nvPr/>
      </p:nvGrpSpPr>
      <p:grpSpPr>
        <a:xfrm>
          <a:off x="0" y="0"/>
          <a:ext cx="0" cy="0"/>
          <a:chOff x="0" y="0"/>
          <a:chExt cx="0" cy="0"/>
        </a:xfrm>
      </p:grpSpPr>
      <p:sp>
        <p:nvSpPr>
          <p:cNvPr id="1901" name="Google Shape;1901;p24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2" name="Google Shape;1902;p24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79736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p:cNvGrpSpPr/>
        <p:nvPr/>
      </p:nvGrpSpPr>
      <p:grpSpPr>
        <a:xfrm>
          <a:off x="0" y="0"/>
          <a:ext cx="0" cy="0"/>
          <a:chOff x="0" y="0"/>
          <a:chExt cx="0" cy="0"/>
        </a:xfrm>
      </p:grpSpPr>
      <p:sp>
        <p:nvSpPr>
          <p:cNvPr id="1907" name="Google Shape;1907;p24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8" name="Google Shape;1908;p24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1152959"/>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2"/>
        <p:cNvGrpSpPr/>
        <p:nvPr/>
      </p:nvGrpSpPr>
      <p:grpSpPr>
        <a:xfrm>
          <a:off x="0" y="0"/>
          <a:ext cx="0" cy="0"/>
          <a:chOff x="0" y="0"/>
          <a:chExt cx="0" cy="0"/>
        </a:xfrm>
      </p:grpSpPr>
      <p:sp>
        <p:nvSpPr>
          <p:cNvPr id="1913" name="Google Shape;1913;p24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4" name="Google Shape;1914;p24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3061398"/>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8"/>
        <p:cNvGrpSpPr/>
        <p:nvPr/>
      </p:nvGrpSpPr>
      <p:grpSpPr>
        <a:xfrm>
          <a:off x="0" y="0"/>
          <a:ext cx="0" cy="0"/>
          <a:chOff x="0" y="0"/>
          <a:chExt cx="0" cy="0"/>
        </a:xfrm>
      </p:grpSpPr>
      <p:sp>
        <p:nvSpPr>
          <p:cNvPr id="1919" name="Google Shape;1919;p24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0" name="Google Shape;1920;p24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0009737"/>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3"/>
        <p:cNvGrpSpPr/>
        <p:nvPr/>
      </p:nvGrpSpPr>
      <p:grpSpPr>
        <a:xfrm>
          <a:off x="0" y="0"/>
          <a:ext cx="0" cy="0"/>
          <a:chOff x="0" y="0"/>
          <a:chExt cx="0" cy="0"/>
        </a:xfrm>
      </p:grpSpPr>
      <p:sp>
        <p:nvSpPr>
          <p:cNvPr id="1924" name="Google Shape;1924;p24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5" name="Google Shape;1925;p24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1760126"/>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p24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1" name="Google Shape;1931;p24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465253"/>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5"/>
        <p:cNvGrpSpPr/>
        <p:nvPr/>
      </p:nvGrpSpPr>
      <p:grpSpPr>
        <a:xfrm>
          <a:off x="0" y="0"/>
          <a:ext cx="0" cy="0"/>
          <a:chOff x="0" y="0"/>
          <a:chExt cx="0" cy="0"/>
        </a:xfrm>
      </p:grpSpPr>
      <p:sp>
        <p:nvSpPr>
          <p:cNvPr id="1936" name="Google Shape;1936;p25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7" name="Google Shape;1937;p25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630525"/>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p:cNvGrpSpPr/>
        <p:nvPr/>
      </p:nvGrpSpPr>
      <p:grpSpPr>
        <a:xfrm>
          <a:off x="0" y="0"/>
          <a:ext cx="0" cy="0"/>
          <a:chOff x="0" y="0"/>
          <a:chExt cx="0" cy="0"/>
        </a:xfrm>
      </p:grpSpPr>
      <p:sp>
        <p:nvSpPr>
          <p:cNvPr id="1941" name="Google Shape;1941;p25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2" name="Google Shape;1942;p25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1953146"/>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p:cNvGrpSpPr/>
        <p:nvPr/>
      </p:nvGrpSpPr>
      <p:grpSpPr>
        <a:xfrm>
          <a:off x="0" y="0"/>
          <a:ext cx="0" cy="0"/>
          <a:chOff x="0" y="0"/>
          <a:chExt cx="0" cy="0"/>
        </a:xfrm>
      </p:grpSpPr>
      <p:sp>
        <p:nvSpPr>
          <p:cNvPr id="1947" name="Google Shape;1947;p25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8" name="Google Shape;1948;p25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7017106"/>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2"/>
        <p:cNvGrpSpPr/>
        <p:nvPr/>
      </p:nvGrpSpPr>
      <p:grpSpPr>
        <a:xfrm>
          <a:off x="0" y="0"/>
          <a:ext cx="0" cy="0"/>
          <a:chOff x="0" y="0"/>
          <a:chExt cx="0" cy="0"/>
        </a:xfrm>
      </p:grpSpPr>
      <p:sp>
        <p:nvSpPr>
          <p:cNvPr id="1953" name="Google Shape;1953;p25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4" name="Google Shape;1954;p25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621010"/>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8"/>
        <p:cNvGrpSpPr/>
        <p:nvPr/>
      </p:nvGrpSpPr>
      <p:grpSpPr>
        <a:xfrm>
          <a:off x="0" y="0"/>
          <a:ext cx="0" cy="0"/>
          <a:chOff x="0" y="0"/>
          <a:chExt cx="0" cy="0"/>
        </a:xfrm>
      </p:grpSpPr>
      <p:sp>
        <p:nvSpPr>
          <p:cNvPr id="1959" name="Google Shape;1959;p25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0" name="Google Shape;1960;p25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7455833"/>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4"/>
        <p:cNvGrpSpPr/>
        <p:nvPr/>
      </p:nvGrpSpPr>
      <p:grpSpPr>
        <a:xfrm>
          <a:off x="0" y="0"/>
          <a:ext cx="0" cy="0"/>
          <a:chOff x="0" y="0"/>
          <a:chExt cx="0" cy="0"/>
        </a:xfrm>
      </p:grpSpPr>
      <p:sp>
        <p:nvSpPr>
          <p:cNvPr id="1965" name="Google Shape;1965;p25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6" name="Google Shape;1966;p25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5679642"/>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p25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1" name="Google Shape;1971;p256: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SAS 78 refers.</a:t>
            </a:r>
            <a:endParaRPr/>
          </a:p>
          <a:p>
            <a:pPr marL="0" lvl="0" indent="0" algn="l" rtl="0">
              <a:spcBef>
                <a:spcPts val="0"/>
              </a:spcBef>
              <a:spcAft>
                <a:spcPts val="0"/>
              </a:spcAft>
              <a:buNone/>
            </a:pPr>
            <a:endParaRPr/>
          </a:p>
        </p:txBody>
      </p:sp>
      <p:sp>
        <p:nvSpPr>
          <p:cNvPr id="1972" name="Google Shape;1972;p256: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256</a:t>
            </a:fld>
            <a:endParaRPr/>
          </a:p>
        </p:txBody>
      </p:sp>
    </p:spTree>
    <p:extLst>
      <p:ext uri="{BB962C8B-B14F-4D97-AF65-F5344CB8AC3E}">
        <p14:creationId xmlns:p14="http://schemas.microsoft.com/office/powerpoint/2010/main" val="3148766453"/>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5"/>
        <p:cNvGrpSpPr/>
        <p:nvPr/>
      </p:nvGrpSpPr>
      <p:grpSpPr>
        <a:xfrm>
          <a:off x="0" y="0"/>
          <a:ext cx="0" cy="0"/>
          <a:chOff x="0" y="0"/>
          <a:chExt cx="0" cy="0"/>
        </a:xfrm>
      </p:grpSpPr>
      <p:sp>
        <p:nvSpPr>
          <p:cNvPr id="1976" name="Google Shape;1976;p25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7" name="Google Shape;1977;p25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948506"/>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p:cNvGrpSpPr/>
        <p:nvPr/>
      </p:nvGrpSpPr>
      <p:grpSpPr>
        <a:xfrm>
          <a:off x="0" y="0"/>
          <a:ext cx="0" cy="0"/>
          <a:chOff x="0" y="0"/>
          <a:chExt cx="0" cy="0"/>
        </a:xfrm>
      </p:grpSpPr>
      <p:sp>
        <p:nvSpPr>
          <p:cNvPr id="1981" name="Google Shape;1981;p25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2" name="Google Shape;1982;p25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3699237"/>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5"/>
        <p:cNvGrpSpPr/>
        <p:nvPr/>
      </p:nvGrpSpPr>
      <p:grpSpPr>
        <a:xfrm>
          <a:off x="0" y="0"/>
          <a:ext cx="0" cy="0"/>
          <a:chOff x="0" y="0"/>
          <a:chExt cx="0" cy="0"/>
        </a:xfrm>
      </p:grpSpPr>
      <p:sp>
        <p:nvSpPr>
          <p:cNvPr id="1986" name="Google Shape;1986;p25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7" name="Google Shape;1987;p25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9686693"/>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0"/>
        <p:cNvGrpSpPr/>
        <p:nvPr/>
      </p:nvGrpSpPr>
      <p:grpSpPr>
        <a:xfrm>
          <a:off x="0" y="0"/>
          <a:ext cx="0" cy="0"/>
          <a:chOff x="0" y="0"/>
          <a:chExt cx="0" cy="0"/>
        </a:xfrm>
      </p:grpSpPr>
      <p:sp>
        <p:nvSpPr>
          <p:cNvPr id="1991" name="Google Shape;1991;p26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2" name="Google Shape;1992;p26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9825492"/>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5"/>
        <p:cNvGrpSpPr/>
        <p:nvPr/>
      </p:nvGrpSpPr>
      <p:grpSpPr>
        <a:xfrm>
          <a:off x="0" y="0"/>
          <a:ext cx="0" cy="0"/>
          <a:chOff x="0" y="0"/>
          <a:chExt cx="0" cy="0"/>
        </a:xfrm>
      </p:grpSpPr>
      <p:sp>
        <p:nvSpPr>
          <p:cNvPr id="1996" name="Google Shape;1996;p26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7" name="Google Shape;1997;p26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6049540"/>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0"/>
        <p:cNvGrpSpPr/>
        <p:nvPr/>
      </p:nvGrpSpPr>
      <p:grpSpPr>
        <a:xfrm>
          <a:off x="0" y="0"/>
          <a:ext cx="0" cy="0"/>
          <a:chOff x="0" y="0"/>
          <a:chExt cx="0" cy="0"/>
        </a:xfrm>
      </p:grpSpPr>
      <p:sp>
        <p:nvSpPr>
          <p:cNvPr id="2001" name="Google Shape;2001;p26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2" name="Google Shape;2002;p26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3714984"/>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5"/>
        <p:cNvGrpSpPr/>
        <p:nvPr/>
      </p:nvGrpSpPr>
      <p:grpSpPr>
        <a:xfrm>
          <a:off x="0" y="0"/>
          <a:ext cx="0" cy="0"/>
          <a:chOff x="0" y="0"/>
          <a:chExt cx="0" cy="0"/>
        </a:xfrm>
      </p:grpSpPr>
      <p:sp>
        <p:nvSpPr>
          <p:cNvPr id="2006" name="Google Shape;2006;p26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7" name="Google Shape;2007;p26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0735922"/>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p26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2" name="Google Shape;2012;p26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0802122"/>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5"/>
        <p:cNvGrpSpPr/>
        <p:nvPr/>
      </p:nvGrpSpPr>
      <p:grpSpPr>
        <a:xfrm>
          <a:off x="0" y="0"/>
          <a:ext cx="0" cy="0"/>
          <a:chOff x="0" y="0"/>
          <a:chExt cx="0" cy="0"/>
        </a:xfrm>
      </p:grpSpPr>
      <p:sp>
        <p:nvSpPr>
          <p:cNvPr id="2016" name="Google Shape;2016;p26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7" name="Google Shape;2017;p26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7709154"/>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1"/>
        <p:cNvGrpSpPr/>
        <p:nvPr/>
      </p:nvGrpSpPr>
      <p:grpSpPr>
        <a:xfrm>
          <a:off x="0" y="0"/>
          <a:ext cx="0" cy="0"/>
          <a:chOff x="0" y="0"/>
          <a:chExt cx="0" cy="0"/>
        </a:xfrm>
      </p:grpSpPr>
      <p:sp>
        <p:nvSpPr>
          <p:cNvPr id="2022" name="Google Shape;2022;p26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3" name="Google Shape;2023;p26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8783193"/>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7"/>
        <p:cNvGrpSpPr/>
        <p:nvPr/>
      </p:nvGrpSpPr>
      <p:grpSpPr>
        <a:xfrm>
          <a:off x="0" y="0"/>
          <a:ext cx="0" cy="0"/>
          <a:chOff x="0" y="0"/>
          <a:chExt cx="0" cy="0"/>
        </a:xfrm>
      </p:grpSpPr>
      <p:sp>
        <p:nvSpPr>
          <p:cNvPr id="2028" name="Google Shape;2028;p26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9" name="Google Shape;2029;p26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975562"/>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p26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5" name="Google Shape;2035;p26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3188745"/>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p:cNvGrpSpPr/>
        <p:nvPr/>
      </p:nvGrpSpPr>
      <p:grpSpPr>
        <a:xfrm>
          <a:off x="0" y="0"/>
          <a:ext cx="0" cy="0"/>
          <a:chOff x="0" y="0"/>
          <a:chExt cx="0" cy="0"/>
        </a:xfrm>
      </p:grpSpPr>
      <p:sp>
        <p:nvSpPr>
          <p:cNvPr id="2040" name="Google Shape;2040;p26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1" name="Google Shape;2041;p26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0057567"/>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5"/>
        <p:cNvGrpSpPr/>
        <p:nvPr/>
      </p:nvGrpSpPr>
      <p:grpSpPr>
        <a:xfrm>
          <a:off x="0" y="0"/>
          <a:ext cx="0" cy="0"/>
          <a:chOff x="0" y="0"/>
          <a:chExt cx="0" cy="0"/>
        </a:xfrm>
      </p:grpSpPr>
      <p:sp>
        <p:nvSpPr>
          <p:cNvPr id="2046" name="Google Shape;2046;p27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7" name="Google Shape;2047;p27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3440595"/>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1"/>
        <p:cNvGrpSpPr/>
        <p:nvPr/>
      </p:nvGrpSpPr>
      <p:grpSpPr>
        <a:xfrm>
          <a:off x="0" y="0"/>
          <a:ext cx="0" cy="0"/>
          <a:chOff x="0" y="0"/>
          <a:chExt cx="0" cy="0"/>
        </a:xfrm>
      </p:grpSpPr>
      <p:sp>
        <p:nvSpPr>
          <p:cNvPr id="2052" name="Google Shape;2052;p27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3" name="Google Shape;2053;p27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589975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p27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9" name="Google Shape;2059;p27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6948008"/>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p27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5" name="Google Shape;2065;p27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031082"/>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8"/>
        <p:cNvGrpSpPr/>
        <p:nvPr/>
      </p:nvGrpSpPr>
      <p:grpSpPr>
        <a:xfrm>
          <a:off x="0" y="0"/>
          <a:ext cx="0" cy="0"/>
          <a:chOff x="0" y="0"/>
          <a:chExt cx="0" cy="0"/>
        </a:xfrm>
      </p:grpSpPr>
      <p:sp>
        <p:nvSpPr>
          <p:cNvPr id="2069" name="Google Shape;2069;p27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0" name="Google Shape;2070;p27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4703515"/>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p27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6" name="Google Shape;2076;p27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813865"/>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0"/>
        <p:cNvGrpSpPr/>
        <p:nvPr/>
      </p:nvGrpSpPr>
      <p:grpSpPr>
        <a:xfrm>
          <a:off x="0" y="0"/>
          <a:ext cx="0" cy="0"/>
          <a:chOff x="0" y="0"/>
          <a:chExt cx="0" cy="0"/>
        </a:xfrm>
      </p:grpSpPr>
      <p:sp>
        <p:nvSpPr>
          <p:cNvPr id="2081" name="Google Shape;2081;p27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2" name="Google Shape;2082;p27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7009773"/>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6"/>
        <p:cNvGrpSpPr/>
        <p:nvPr/>
      </p:nvGrpSpPr>
      <p:grpSpPr>
        <a:xfrm>
          <a:off x="0" y="0"/>
          <a:ext cx="0" cy="0"/>
          <a:chOff x="0" y="0"/>
          <a:chExt cx="0" cy="0"/>
        </a:xfrm>
      </p:grpSpPr>
      <p:sp>
        <p:nvSpPr>
          <p:cNvPr id="2087" name="Google Shape;2087;p27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8" name="Google Shape;2088;p277:notes"/>
          <p:cNvSpPr txBox="1">
            <a:spLocks noGrp="1"/>
          </p:cNvSpPr>
          <p:nvPr>
            <p:ph type="body" idx="1"/>
          </p:nvPr>
        </p:nvSpPr>
        <p:spPr>
          <a:xfrm>
            <a:off x="666909" y="4715907"/>
            <a:ext cx="5335270" cy="446770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Can one do without either the general or application controls?</a:t>
            </a:r>
            <a:endParaRPr/>
          </a:p>
        </p:txBody>
      </p:sp>
      <p:sp>
        <p:nvSpPr>
          <p:cNvPr id="2089" name="Google Shape;2089;p277:notes"/>
          <p:cNvSpPr txBox="1">
            <a:spLocks noGrp="1"/>
          </p:cNvSpPr>
          <p:nvPr>
            <p:ph type="sldNum" idx="12"/>
          </p:nvPr>
        </p:nvSpPr>
        <p:spPr>
          <a:xfrm>
            <a:off x="3777607" y="9430091"/>
            <a:ext cx="2889938"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277</a:t>
            </a:fld>
            <a:endParaRPr/>
          </a:p>
        </p:txBody>
      </p:sp>
    </p:spTree>
    <p:extLst>
      <p:ext uri="{BB962C8B-B14F-4D97-AF65-F5344CB8AC3E}">
        <p14:creationId xmlns:p14="http://schemas.microsoft.com/office/powerpoint/2010/main" val="1236235323"/>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3"/>
        <p:cNvGrpSpPr/>
        <p:nvPr/>
      </p:nvGrpSpPr>
      <p:grpSpPr>
        <a:xfrm>
          <a:off x="0" y="0"/>
          <a:ext cx="0" cy="0"/>
          <a:chOff x="0" y="0"/>
          <a:chExt cx="0" cy="0"/>
        </a:xfrm>
      </p:grpSpPr>
      <p:sp>
        <p:nvSpPr>
          <p:cNvPr id="2094" name="Google Shape;2094;p27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5" name="Google Shape;2095;p27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6634765"/>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p:cNvGrpSpPr/>
        <p:nvPr/>
      </p:nvGrpSpPr>
      <p:grpSpPr>
        <a:xfrm>
          <a:off x="0" y="0"/>
          <a:ext cx="0" cy="0"/>
          <a:chOff x="0" y="0"/>
          <a:chExt cx="0" cy="0"/>
        </a:xfrm>
      </p:grpSpPr>
      <p:sp>
        <p:nvSpPr>
          <p:cNvPr id="2100" name="Google Shape;2100;p27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1" name="Google Shape;2101;p27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3364193"/>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5"/>
        <p:cNvGrpSpPr/>
        <p:nvPr/>
      </p:nvGrpSpPr>
      <p:grpSpPr>
        <a:xfrm>
          <a:off x="0" y="0"/>
          <a:ext cx="0" cy="0"/>
          <a:chOff x="0" y="0"/>
          <a:chExt cx="0" cy="0"/>
        </a:xfrm>
      </p:grpSpPr>
      <p:sp>
        <p:nvSpPr>
          <p:cNvPr id="2106" name="Google Shape;2106;p28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7" name="Google Shape;2107;p28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4121540"/>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0"/>
        <p:cNvGrpSpPr/>
        <p:nvPr/>
      </p:nvGrpSpPr>
      <p:grpSpPr>
        <a:xfrm>
          <a:off x="0" y="0"/>
          <a:ext cx="0" cy="0"/>
          <a:chOff x="0" y="0"/>
          <a:chExt cx="0" cy="0"/>
        </a:xfrm>
      </p:grpSpPr>
      <p:sp>
        <p:nvSpPr>
          <p:cNvPr id="2111" name="Google Shape;2111;p28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2" name="Google Shape;2112;p28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124654"/>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6"/>
        <p:cNvGrpSpPr/>
        <p:nvPr/>
      </p:nvGrpSpPr>
      <p:grpSpPr>
        <a:xfrm>
          <a:off x="0" y="0"/>
          <a:ext cx="0" cy="0"/>
          <a:chOff x="0" y="0"/>
          <a:chExt cx="0" cy="0"/>
        </a:xfrm>
      </p:grpSpPr>
      <p:sp>
        <p:nvSpPr>
          <p:cNvPr id="2137" name="Google Shape;2137;p28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8" name="Google Shape;2138;p28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430127"/>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2"/>
        <p:cNvGrpSpPr/>
        <p:nvPr/>
      </p:nvGrpSpPr>
      <p:grpSpPr>
        <a:xfrm>
          <a:off x="0" y="0"/>
          <a:ext cx="0" cy="0"/>
          <a:chOff x="0" y="0"/>
          <a:chExt cx="0" cy="0"/>
        </a:xfrm>
      </p:grpSpPr>
      <p:sp>
        <p:nvSpPr>
          <p:cNvPr id="2143" name="Google Shape;2143;p28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4" name="Google Shape;2144;p28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3143965"/>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p28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0" name="Google Shape;2150;p28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3279328"/>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p:cNvGrpSpPr/>
        <p:nvPr/>
      </p:nvGrpSpPr>
      <p:grpSpPr>
        <a:xfrm>
          <a:off x="0" y="0"/>
          <a:ext cx="0" cy="0"/>
          <a:chOff x="0" y="0"/>
          <a:chExt cx="0" cy="0"/>
        </a:xfrm>
      </p:grpSpPr>
      <p:sp>
        <p:nvSpPr>
          <p:cNvPr id="2154" name="Google Shape;2154;p28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5" name="Google Shape;2155;p28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9158386"/>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9"/>
        <p:cNvGrpSpPr/>
        <p:nvPr/>
      </p:nvGrpSpPr>
      <p:grpSpPr>
        <a:xfrm>
          <a:off x="0" y="0"/>
          <a:ext cx="0" cy="0"/>
          <a:chOff x="0" y="0"/>
          <a:chExt cx="0" cy="0"/>
        </a:xfrm>
      </p:grpSpPr>
      <p:sp>
        <p:nvSpPr>
          <p:cNvPr id="2160" name="Google Shape;2160;p28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1" name="Google Shape;2161;p28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9522182"/>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5"/>
        <p:cNvGrpSpPr/>
        <p:nvPr/>
      </p:nvGrpSpPr>
      <p:grpSpPr>
        <a:xfrm>
          <a:off x="0" y="0"/>
          <a:ext cx="0" cy="0"/>
          <a:chOff x="0" y="0"/>
          <a:chExt cx="0" cy="0"/>
        </a:xfrm>
      </p:grpSpPr>
      <p:sp>
        <p:nvSpPr>
          <p:cNvPr id="2166" name="Google Shape;2166;p28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7" name="Google Shape;2167;p28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661459"/>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0"/>
        <p:cNvGrpSpPr/>
        <p:nvPr/>
      </p:nvGrpSpPr>
      <p:grpSpPr>
        <a:xfrm>
          <a:off x="0" y="0"/>
          <a:ext cx="0" cy="0"/>
          <a:chOff x="0" y="0"/>
          <a:chExt cx="0" cy="0"/>
        </a:xfrm>
      </p:grpSpPr>
      <p:sp>
        <p:nvSpPr>
          <p:cNvPr id="2171" name="Google Shape;2171;p28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2" name="Google Shape;2172;p28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6840678"/>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5"/>
        <p:cNvGrpSpPr/>
        <p:nvPr/>
      </p:nvGrpSpPr>
      <p:grpSpPr>
        <a:xfrm>
          <a:off x="0" y="0"/>
          <a:ext cx="0" cy="0"/>
          <a:chOff x="0" y="0"/>
          <a:chExt cx="0" cy="0"/>
        </a:xfrm>
      </p:grpSpPr>
      <p:sp>
        <p:nvSpPr>
          <p:cNvPr id="2176" name="Google Shape;2176;p28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7" name="Google Shape;2177;p28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190517"/>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p29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4" name="Google Shape;2214;p29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026986"/>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7"/>
        <p:cNvGrpSpPr/>
        <p:nvPr/>
      </p:nvGrpSpPr>
      <p:grpSpPr>
        <a:xfrm>
          <a:off x="0" y="0"/>
          <a:ext cx="0" cy="0"/>
          <a:chOff x="0" y="0"/>
          <a:chExt cx="0" cy="0"/>
        </a:xfrm>
      </p:grpSpPr>
      <p:sp>
        <p:nvSpPr>
          <p:cNvPr id="2218" name="Google Shape;2218;p29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9" name="Google Shape;2219;p29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0256380"/>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2"/>
        <p:cNvGrpSpPr/>
        <p:nvPr/>
      </p:nvGrpSpPr>
      <p:grpSpPr>
        <a:xfrm>
          <a:off x="0" y="0"/>
          <a:ext cx="0" cy="0"/>
          <a:chOff x="0" y="0"/>
          <a:chExt cx="0" cy="0"/>
        </a:xfrm>
      </p:grpSpPr>
      <p:sp>
        <p:nvSpPr>
          <p:cNvPr id="2223" name="Google Shape;2223;p29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4" name="Google Shape;2224;p29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6715175"/>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7"/>
        <p:cNvGrpSpPr/>
        <p:nvPr/>
      </p:nvGrpSpPr>
      <p:grpSpPr>
        <a:xfrm>
          <a:off x="0" y="0"/>
          <a:ext cx="0" cy="0"/>
          <a:chOff x="0" y="0"/>
          <a:chExt cx="0" cy="0"/>
        </a:xfrm>
      </p:grpSpPr>
      <p:sp>
        <p:nvSpPr>
          <p:cNvPr id="2228" name="Google Shape;2228;p29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9" name="Google Shape;2229;p29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0450793"/>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2"/>
        <p:cNvGrpSpPr/>
        <p:nvPr/>
      </p:nvGrpSpPr>
      <p:grpSpPr>
        <a:xfrm>
          <a:off x="0" y="0"/>
          <a:ext cx="0" cy="0"/>
          <a:chOff x="0" y="0"/>
          <a:chExt cx="0" cy="0"/>
        </a:xfrm>
      </p:grpSpPr>
      <p:sp>
        <p:nvSpPr>
          <p:cNvPr id="2233" name="Google Shape;2233;p29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4" name="Google Shape;2234;p29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2088173"/>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p29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9" name="Google Shape;2239;p29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530087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2"/>
        <p:cNvGrpSpPr/>
        <p:nvPr/>
      </p:nvGrpSpPr>
      <p:grpSpPr>
        <a:xfrm>
          <a:off x="0" y="0"/>
          <a:ext cx="0" cy="0"/>
          <a:chOff x="0" y="0"/>
          <a:chExt cx="0" cy="0"/>
        </a:xfrm>
      </p:grpSpPr>
      <p:sp>
        <p:nvSpPr>
          <p:cNvPr id="2243" name="Google Shape;2243;p29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4" name="Google Shape;2244;p29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504103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p29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0" name="Google Shape;2250;p29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2182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3"/>
        <p:cNvGrpSpPr/>
        <p:nvPr/>
      </p:nvGrpSpPr>
      <p:grpSpPr>
        <a:xfrm>
          <a:off x="0" y="0"/>
          <a:ext cx="0" cy="0"/>
          <a:chOff x="0" y="0"/>
          <a:chExt cx="0" cy="0"/>
        </a:xfrm>
      </p:grpSpPr>
      <p:sp>
        <p:nvSpPr>
          <p:cNvPr id="2254" name="Google Shape;2254;p298: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5" name="Google Shape;2255;p298: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3619669"/>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9"/>
        <p:cNvGrpSpPr/>
        <p:nvPr/>
      </p:nvGrpSpPr>
      <p:grpSpPr>
        <a:xfrm>
          <a:off x="0" y="0"/>
          <a:ext cx="0" cy="0"/>
          <a:chOff x="0" y="0"/>
          <a:chExt cx="0" cy="0"/>
        </a:xfrm>
      </p:grpSpPr>
      <p:sp>
        <p:nvSpPr>
          <p:cNvPr id="2260" name="Google Shape;2260;p299: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1" name="Google Shape;2261;p299: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344865"/>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4"/>
        <p:cNvGrpSpPr/>
        <p:nvPr/>
      </p:nvGrpSpPr>
      <p:grpSpPr>
        <a:xfrm>
          <a:off x="0" y="0"/>
          <a:ext cx="0" cy="0"/>
          <a:chOff x="0" y="0"/>
          <a:chExt cx="0" cy="0"/>
        </a:xfrm>
      </p:grpSpPr>
      <p:sp>
        <p:nvSpPr>
          <p:cNvPr id="2265" name="Google Shape;2265;p300: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6" name="Google Shape;2266;p300: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383633"/>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p:cNvGrpSpPr/>
        <p:nvPr/>
      </p:nvGrpSpPr>
      <p:grpSpPr>
        <a:xfrm>
          <a:off x="0" y="0"/>
          <a:ext cx="0" cy="0"/>
          <a:chOff x="0" y="0"/>
          <a:chExt cx="0" cy="0"/>
        </a:xfrm>
      </p:grpSpPr>
      <p:sp>
        <p:nvSpPr>
          <p:cNvPr id="2271" name="Google Shape;2271;p301: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2" name="Google Shape;2272;p301: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7643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p302: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8" name="Google Shape;2278;p302: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260103"/>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2"/>
        <p:cNvGrpSpPr/>
        <p:nvPr/>
      </p:nvGrpSpPr>
      <p:grpSpPr>
        <a:xfrm>
          <a:off x="0" y="0"/>
          <a:ext cx="0" cy="0"/>
          <a:chOff x="0" y="0"/>
          <a:chExt cx="0" cy="0"/>
        </a:xfrm>
      </p:grpSpPr>
      <p:sp>
        <p:nvSpPr>
          <p:cNvPr id="2283" name="Google Shape;2283;p303: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4" name="Google Shape;2284;p303: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0338568"/>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8"/>
        <p:cNvGrpSpPr/>
        <p:nvPr/>
      </p:nvGrpSpPr>
      <p:grpSpPr>
        <a:xfrm>
          <a:off x="0" y="0"/>
          <a:ext cx="0" cy="0"/>
          <a:chOff x="0" y="0"/>
          <a:chExt cx="0" cy="0"/>
        </a:xfrm>
      </p:grpSpPr>
      <p:sp>
        <p:nvSpPr>
          <p:cNvPr id="2289" name="Google Shape;2289;p304: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0" name="Google Shape;2290;p304: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6395838"/>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4"/>
        <p:cNvGrpSpPr/>
        <p:nvPr/>
      </p:nvGrpSpPr>
      <p:grpSpPr>
        <a:xfrm>
          <a:off x="0" y="0"/>
          <a:ext cx="0" cy="0"/>
          <a:chOff x="0" y="0"/>
          <a:chExt cx="0" cy="0"/>
        </a:xfrm>
      </p:grpSpPr>
      <p:sp>
        <p:nvSpPr>
          <p:cNvPr id="2295" name="Google Shape;2295;p305: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6" name="Google Shape;2296;p305: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815682"/>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0"/>
        <p:cNvGrpSpPr/>
        <p:nvPr/>
      </p:nvGrpSpPr>
      <p:grpSpPr>
        <a:xfrm>
          <a:off x="0" y="0"/>
          <a:ext cx="0" cy="0"/>
          <a:chOff x="0" y="0"/>
          <a:chExt cx="0" cy="0"/>
        </a:xfrm>
      </p:grpSpPr>
      <p:sp>
        <p:nvSpPr>
          <p:cNvPr id="2301" name="Google Shape;2301;p306: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2" name="Google Shape;2302;p306: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9660982"/>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6"/>
        <p:cNvGrpSpPr/>
        <p:nvPr/>
      </p:nvGrpSpPr>
      <p:grpSpPr>
        <a:xfrm>
          <a:off x="0" y="0"/>
          <a:ext cx="0" cy="0"/>
          <a:chOff x="0" y="0"/>
          <a:chExt cx="0" cy="0"/>
        </a:xfrm>
      </p:grpSpPr>
      <p:sp>
        <p:nvSpPr>
          <p:cNvPr id="2307" name="Google Shape;2307;p307:notes"/>
          <p:cNvSpPr txBox="1">
            <a:spLocks noGrp="1"/>
          </p:cNvSpPr>
          <p:nvPr>
            <p:ph type="body" idx="1"/>
          </p:nvPr>
        </p:nvSpPr>
        <p:spPr>
          <a:xfrm>
            <a:off x="666909" y="4715907"/>
            <a:ext cx="533527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8" name="Google Shape;2308;p307:notes"/>
          <p:cNvSpPr>
            <a:spLocks noGrp="1" noRot="1" noChangeAspect="1"/>
          </p:cNvSpPr>
          <p:nvPr>
            <p:ph type="sldImg" idx="2"/>
          </p:nvPr>
        </p:nvSpPr>
        <p:spPr>
          <a:xfrm>
            <a:off x="854075" y="744538"/>
            <a:ext cx="4960938"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09409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9"/>
        <p:cNvGrpSpPr/>
        <p:nvPr/>
      </p:nvGrpSpPr>
      <p:grpSpPr>
        <a:xfrm>
          <a:off x="0" y="0"/>
          <a:ext cx="0" cy="0"/>
          <a:chOff x="0" y="0"/>
          <a:chExt cx="0" cy="0"/>
        </a:xfrm>
      </p:grpSpPr>
      <p:sp>
        <p:nvSpPr>
          <p:cNvPr id="20" name="Google Shape;20;p2"/>
          <p:cNvSpPr/>
          <p:nvPr/>
        </p:nvSpPr>
        <p:spPr>
          <a:xfrm>
            <a:off x="-2" y="4664147"/>
            <a:ext cx="9151089"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 name="Google Shape;21;p2"/>
          <p:cNvSpPr txBox="1">
            <a:spLocks noGrp="1"/>
          </p:cNvSpPr>
          <p:nvPr>
            <p:ph type="ctrTitle"/>
          </p:nvPr>
        </p:nvSpPr>
        <p:spPr>
          <a:xfrm>
            <a:off x="685800" y="1752601"/>
            <a:ext cx="7772400" cy="1829761"/>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dk2"/>
              </a:buClr>
              <a:buSzPts val="4800"/>
              <a:buFont typeface="Lucida Sans"/>
              <a:buNone/>
              <a:defRPr sz="48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685800" y="3611607"/>
            <a:ext cx="7772400" cy="1199704"/>
          </a:xfrm>
          <a:prstGeom prst="rect">
            <a:avLst/>
          </a:prstGeom>
          <a:noFill/>
          <a:ln>
            <a:noFill/>
          </a:ln>
        </p:spPr>
        <p:txBody>
          <a:bodyPr spcFirstLastPara="1" wrap="square" lIns="45700" tIns="45700" rIns="45700" bIns="45700" anchor="t" anchorCtr="0">
            <a:noAutofit/>
          </a:bodyPr>
          <a:lstStyle>
            <a:lvl1pPr marR="64008" lvl="0"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a:endParaRPr/>
          </a:p>
        </p:txBody>
      </p:sp>
      <p:grpSp>
        <p:nvGrpSpPr>
          <p:cNvPr id="23" name="Google Shape;23;p2"/>
          <p:cNvGrpSpPr/>
          <p:nvPr/>
        </p:nvGrpSpPr>
        <p:grpSpPr>
          <a:xfrm>
            <a:off x="-3765" y="4953000"/>
            <a:ext cx="9147765" cy="1912088"/>
            <a:chOff x="-3765" y="4832896"/>
            <a:chExt cx="9147765" cy="2032192"/>
          </a:xfrm>
        </p:grpSpPr>
        <p:sp>
          <p:nvSpPr>
            <p:cNvPr id="24" name="Google Shape;24;p2"/>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5" name="Google Shape;25;p2"/>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6" name="Google Shape;26;p2"/>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27" name="Google Shape;27;p2"/>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28" name="Google Shape;28;p2"/>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rgbClr val="E7F0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rgbClr val="FFFFFF"/>
                </a:solidFill>
                <a:latin typeface="Lucida Sans"/>
                <a:ea typeface="Lucida Sans"/>
                <a:cs typeface="Lucida Sans"/>
                <a:sym typeface="Lucida Sans"/>
              </a:defRPr>
            </a:lvl1pPr>
            <a:lvl2pPr marL="0" lvl="1" indent="0" algn="r">
              <a:spcBef>
                <a:spcPts val="0"/>
              </a:spcBef>
              <a:buNone/>
              <a:defRPr sz="1000" b="0">
                <a:solidFill>
                  <a:srgbClr val="FFFFFF"/>
                </a:solidFill>
                <a:latin typeface="Lucida Sans"/>
                <a:ea typeface="Lucida Sans"/>
                <a:cs typeface="Lucida Sans"/>
                <a:sym typeface="Lucida Sans"/>
              </a:defRPr>
            </a:lvl2pPr>
            <a:lvl3pPr marL="0" lvl="2" indent="0" algn="r">
              <a:spcBef>
                <a:spcPts val="0"/>
              </a:spcBef>
              <a:buNone/>
              <a:defRPr sz="1000" b="0">
                <a:solidFill>
                  <a:srgbClr val="FFFFFF"/>
                </a:solidFill>
                <a:latin typeface="Lucida Sans"/>
                <a:ea typeface="Lucida Sans"/>
                <a:cs typeface="Lucida Sans"/>
                <a:sym typeface="Lucida Sans"/>
              </a:defRPr>
            </a:lvl3pPr>
            <a:lvl4pPr marL="0" lvl="3" indent="0" algn="r">
              <a:spcBef>
                <a:spcPts val="0"/>
              </a:spcBef>
              <a:buNone/>
              <a:defRPr sz="1000" b="0">
                <a:solidFill>
                  <a:srgbClr val="FFFFFF"/>
                </a:solidFill>
                <a:latin typeface="Lucida Sans"/>
                <a:ea typeface="Lucida Sans"/>
                <a:cs typeface="Lucida Sans"/>
                <a:sym typeface="Lucida Sans"/>
              </a:defRPr>
            </a:lvl4pPr>
            <a:lvl5pPr marL="0" lvl="4" indent="0" algn="r">
              <a:spcBef>
                <a:spcPts val="0"/>
              </a:spcBef>
              <a:buNone/>
              <a:defRPr sz="1000" b="0">
                <a:solidFill>
                  <a:srgbClr val="FFFFFF"/>
                </a:solidFill>
                <a:latin typeface="Lucida Sans"/>
                <a:ea typeface="Lucida Sans"/>
                <a:cs typeface="Lucida Sans"/>
                <a:sym typeface="Lucida Sans"/>
              </a:defRPr>
            </a:lvl5pPr>
            <a:lvl6pPr marL="0" lvl="5" indent="0" algn="r">
              <a:spcBef>
                <a:spcPts val="0"/>
              </a:spcBef>
              <a:buNone/>
              <a:defRPr sz="1000" b="0">
                <a:solidFill>
                  <a:srgbClr val="FFFFFF"/>
                </a:solidFill>
                <a:latin typeface="Lucida Sans"/>
                <a:ea typeface="Lucida Sans"/>
                <a:cs typeface="Lucida Sans"/>
                <a:sym typeface="Lucida Sans"/>
              </a:defRPr>
            </a:lvl6pPr>
            <a:lvl7pPr marL="0" lvl="6" indent="0" algn="r">
              <a:spcBef>
                <a:spcPts val="0"/>
              </a:spcBef>
              <a:buNone/>
              <a:defRPr sz="1000" b="0">
                <a:solidFill>
                  <a:srgbClr val="FFFFFF"/>
                </a:solidFill>
                <a:latin typeface="Lucida Sans"/>
                <a:ea typeface="Lucida Sans"/>
                <a:cs typeface="Lucida Sans"/>
                <a:sym typeface="Lucida Sans"/>
              </a:defRPr>
            </a:lvl7pPr>
            <a:lvl8pPr marL="0" lvl="7" indent="0" algn="r">
              <a:spcBef>
                <a:spcPts val="0"/>
              </a:spcBef>
              <a:buNone/>
              <a:defRPr sz="1000" b="0">
                <a:solidFill>
                  <a:srgbClr val="FFFFFF"/>
                </a:solidFill>
                <a:latin typeface="Lucida Sans"/>
                <a:ea typeface="Lucida Sans"/>
                <a:cs typeface="Lucida Sans"/>
                <a:sym typeface="Lucida Sans"/>
              </a:defRPr>
            </a:lvl8pPr>
            <a:lvl9pPr marL="0" lvl="8" indent="0" algn="r">
              <a:spcBef>
                <a:spcPts val="0"/>
              </a:spcBef>
              <a:buNone/>
              <a:defRPr sz="1000" b="0">
                <a:solidFill>
                  <a:srgbClr val="FFFFFF"/>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3" name="Google Shape;33;p3"/>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6" name="Google Shape;3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7"/>
        <p:cNvGrpSpPr/>
        <p:nvPr/>
      </p:nvGrpSpPr>
      <p:grpSpPr>
        <a:xfrm>
          <a:off x="0" y="0"/>
          <a:ext cx="0" cy="0"/>
          <a:chOff x="0" y="0"/>
          <a:chExt cx="0" cy="0"/>
        </a:xfrm>
      </p:grpSpPr>
      <p:sp>
        <p:nvSpPr>
          <p:cNvPr id="38" name="Google Shape;38;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0" name="Google Shape;40;p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
        <p:nvSpPr>
          <p:cNvPr id="42" name="Google Shape;42;p5"/>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lt2"/>
              </a:buClr>
              <a:buSzPts val="4800"/>
              <a:buFont typeface="Lucida Sans"/>
              <a:buNone/>
              <a:defRPr sz="48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SzPts val="1564"/>
              <a:buNone/>
              <a:defRPr sz="2300">
                <a:solidFill>
                  <a:schemeClr val="lt1"/>
                </a:solidFill>
              </a:defRPr>
            </a:lvl1pPr>
            <a:lvl2pPr marL="914400" lvl="1" indent="-228600" algn="l">
              <a:spcBef>
                <a:spcPts val="324"/>
              </a:spcBef>
              <a:spcAft>
                <a:spcPts val="0"/>
              </a:spcAft>
              <a:buSzPts val="1800"/>
              <a:buNone/>
              <a:defRPr sz="1800">
                <a:solidFill>
                  <a:schemeClr val="lt1"/>
                </a:solidFill>
              </a:defRPr>
            </a:lvl2pPr>
            <a:lvl3pPr marL="1371600" lvl="2" indent="-228600" algn="l">
              <a:spcBef>
                <a:spcPts val="350"/>
              </a:spcBef>
              <a:spcAft>
                <a:spcPts val="0"/>
              </a:spcAft>
              <a:buSzPts val="1600"/>
              <a:buNone/>
              <a:defRPr sz="1600">
                <a:solidFill>
                  <a:schemeClr val="lt1"/>
                </a:solidFill>
              </a:defRPr>
            </a:lvl3pPr>
            <a:lvl4pPr marL="1828800" lvl="3" indent="-228600" algn="l">
              <a:spcBef>
                <a:spcPts val="350"/>
              </a:spcBef>
              <a:spcAft>
                <a:spcPts val="0"/>
              </a:spcAft>
              <a:buSzPts val="1400"/>
              <a:buNone/>
              <a:defRPr sz="1400">
                <a:solidFill>
                  <a:schemeClr val="lt1"/>
                </a:solidFill>
              </a:defRPr>
            </a:lvl4pPr>
            <a:lvl5pPr marL="2286000" lvl="4" indent="-228600" algn="l">
              <a:spcBef>
                <a:spcPts val="350"/>
              </a:spcBef>
              <a:spcAft>
                <a:spcPts val="0"/>
              </a:spcAft>
              <a:buSzPts val="1400"/>
              <a:buNone/>
              <a:defRPr sz="1400">
                <a:solidFill>
                  <a:schemeClr val="lt1"/>
                </a:solidFill>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8" name="Google Shape;48;p6"/>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1" name="Google Shape;51;p6"/>
          <p:cNvSpPr/>
          <p:nvPr/>
        </p:nvSpPr>
        <p:spPr>
          <a:xfrm>
            <a:off x="3636680"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52" name="Google Shape;52;p6"/>
          <p:cNvSpPr/>
          <p:nvPr/>
        </p:nvSpPr>
        <p:spPr>
          <a:xfrm>
            <a:off x="3450264"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53"/>
        <p:cNvGrpSpPr/>
        <p:nvPr/>
      </p:nvGrpSpPr>
      <p:grpSpPr>
        <a:xfrm>
          <a:off x="0" y="0"/>
          <a:ext cx="0" cy="0"/>
          <a:chOff x="0" y="0"/>
          <a:chExt cx="0" cy="0"/>
        </a:xfrm>
      </p:grpSpPr>
      <p:sp>
        <p:nvSpPr>
          <p:cNvPr id="54" name="Google Shape;54;p7"/>
          <p:cNvSpPr txBox="1">
            <a:spLocks noGrp="1"/>
          </p:cNvSpPr>
          <p:nvPr>
            <p:ph type="body" idx="1"/>
          </p:nvPr>
        </p:nvSpPr>
        <p:spPr>
          <a:xfrm>
            <a:off x="457200" y="1481328"/>
            <a:ext cx="4038600" cy="4525963"/>
          </a:xfrm>
          <a:prstGeom prst="rect">
            <a:avLst/>
          </a:prstGeom>
          <a:noFill/>
          <a:ln>
            <a:noFill/>
          </a:ln>
        </p:spPr>
        <p:txBody>
          <a:bodyPr spcFirstLastPara="1" wrap="square" lIns="91425" tIns="45700" rIns="91425" bIns="45700" anchor="t" anchorCtr="0">
            <a:no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5" name="Google Shape;55;p7"/>
          <p:cNvSpPr txBox="1">
            <a:spLocks noGrp="1"/>
          </p:cNvSpPr>
          <p:nvPr>
            <p:ph type="body" idx="2"/>
          </p:nvPr>
        </p:nvSpPr>
        <p:spPr>
          <a:xfrm>
            <a:off x="4648200" y="1481328"/>
            <a:ext cx="4038600" cy="4525963"/>
          </a:xfrm>
          <a:prstGeom prst="rect">
            <a:avLst/>
          </a:prstGeom>
          <a:noFill/>
          <a:ln>
            <a:noFill/>
          </a:ln>
        </p:spPr>
        <p:txBody>
          <a:bodyPr spcFirstLastPara="1" wrap="square" lIns="91425" tIns="45700" rIns="91425" bIns="45700" anchor="t" anchorCtr="0">
            <a:no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6" name="Google Shape;56;p7"/>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bg>
      <p:bgPr>
        <a:blipFill rotWithShape="1">
          <a:blip r:embed="rId2">
            <a:alphaModFix/>
          </a:blip>
          <a:tile tx="0" ty="0" sx="50000" sy="50000" flip="none" algn="tl"/>
        </a:blipFill>
        <a:effectLst/>
      </p:bgPr>
    </p:bg>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457200" y="273050"/>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8"/>
          <p:cNvSpPr txBox="1">
            <a:spLocks noGrp="1"/>
          </p:cNvSpPr>
          <p:nvPr>
            <p:ph type="body" idx="1"/>
          </p:nvPr>
        </p:nvSpPr>
        <p:spPr>
          <a:xfrm>
            <a:off x="457200" y="5410200"/>
            <a:ext cx="4040188"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3" name="Google Shape;63;p8"/>
          <p:cNvSpPr txBox="1">
            <a:spLocks noGrp="1"/>
          </p:cNvSpPr>
          <p:nvPr>
            <p:ph type="body" idx="2"/>
          </p:nvPr>
        </p:nvSpPr>
        <p:spPr>
          <a:xfrm>
            <a:off x="4645026" y="5410200"/>
            <a:ext cx="4041775"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4" name="Google Shape;64;p8"/>
          <p:cNvSpPr txBox="1">
            <a:spLocks noGrp="1"/>
          </p:cNvSpPr>
          <p:nvPr>
            <p:ph type="body" idx="3"/>
          </p:nvPr>
        </p:nvSpPr>
        <p:spPr>
          <a:xfrm>
            <a:off x="457200" y="1444294"/>
            <a:ext cx="4040188" cy="3941763"/>
          </a:xfrm>
          <a:prstGeom prst="rect">
            <a:avLst/>
          </a:prstGeom>
          <a:noFill/>
          <a:ln>
            <a:noFill/>
          </a:ln>
        </p:spPr>
        <p:txBody>
          <a:bodyPr spcFirstLastPara="1" wrap="square" lIns="91425" tIns="45700" rIns="91425" bIns="45700" anchor="t" anchorCtr="0">
            <a:noAutofit/>
          </a:bodyPr>
          <a:lstStyle>
            <a:lvl1pPr marL="457200" lvl="0" indent="-332232" algn="l">
              <a:spcBef>
                <a:spcPts val="40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5" name="Google Shape;65;p8"/>
          <p:cNvSpPr txBox="1">
            <a:spLocks noGrp="1"/>
          </p:cNvSpPr>
          <p:nvPr>
            <p:ph type="body" idx="4"/>
          </p:nvPr>
        </p:nvSpPr>
        <p:spPr>
          <a:xfrm>
            <a:off x="4645025" y="1444294"/>
            <a:ext cx="4041775" cy="3941763"/>
          </a:xfrm>
          <a:prstGeom prst="rect">
            <a:avLst/>
          </a:prstGeom>
          <a:noFill/>
          <a:ln>
            <a:noFill/>
          </a:ln>
        </p:spPr>
        <p:txBody>
          <a:bodyPr spcFirstLastPara="1" wrap="square" lIns="91425" tIns="45700" rIns="91425" bIns="45700" anchor="t" anchorCtr="0">
            <a:noAutofit/>
          </a:bodyPr>
          <a:lstStyle>
            <a:lvl1pPr marL="457200" lvl="0" indent="-332232" algn="l">
              <a:spcBef>
                <a:spcPts val="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6" name="Google Shape;66;p8"/>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69"/>
        <p:cNvGrpSpPr/>
        <p:nvPr/>
      </p:nvGrpSpPr>
      <p:grpSpPr>
        <a:xfrm>
          <a:off x="0" y="0"/>
          <a:ext cx="0" cy="0"/>
          <a:chOff x="0" y="0"/>
          <a:chExt cx="0" cy="0"/>
        </a:xfrm>
      </p:grpSpPr>
      <p:sp>
        <p:nvSpPr>
          <p:cNvPr id="70" name="Google Shape;70;p9"/>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3" name="Google Shape;73;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bg>
      <p:bgPr>
        <a:blipFill rotWithShape="1">
          <a:blip r:embed="rId2">
            <a:alphaModFix/>
          </a:blip>
          <a:tile tx="0" ty="0" sx="50000" sy="50000" flip="none" algn="tl"/>
        </a:blipFill>
        <a:effectLst/>
      </p:bgPr>
    </p:bg>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914400" y="4876800"/>
            <a:ext cx="7481776"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Clr>
                <a:schemeClr val="accent1"/>
              </a:buClr>
              <a:buSzPts val="2500"/>
              <a:buFont typeface="Lucida Sans"/>
              <a:buNone/>
              <a:defRPr sz="25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0"/>
          <p:cNvSpPr txBox="1">
            <a:spLocks noGrp="1"/>
          </p:cNvSpPr>
          <p:nvPr>
            <p:ph type="body" idx="1"/>
          </p:nvPr>
        </p:nvSpPr>
        <p:spPr>
          <a:xfrm>
            <a:off x="4419600" y="5355102"/>
            <a:ext cx="3974592" cy="914400"/>
          </a:xfrm>
          <a:prstGeom prst="rect">
            <a:avLst/>
          </a:prstGeom>
          <a:noFill/>
          <a:ln>
            <a:noFill/>
          </a:ln>
        </p:spPr>
        <p:txBody>
          <a:bodyPr spcFirstLastPara="1" wrap="square" lIns="91425" tIns="45700" rIns="91425" bIns="45700" anchor="t" anchorCtr="0">
            <a:noAutofit/>
          </a:bodyPr>
          <a:lstStyle>
            <a:lvl1pPr marL="457200" lvl="0" indent="-228600" algn="r">
              <a:spcBef>
                <a:spcPts val="400"/>
              </a:spcBef>
              <a:spcAft>
                <a:spcPts val="0"/>
              </a:spcAft>
              <a:buSzPts val="1088"/>
              <a:buNone/>
              <a:defRPr sz="1600"/>
            </a:lvl1pPr>
            <a:lvl2pPr marL="914400" lvl="1" indent="-228600" algn="l">
              <a:spcBef>
                <a:spcPts val="324"/>
              </a:spcBef>
              <a:spcAft>
                <a:spcPts val="0"/>
              </a:spcAft>
              <a:buSzPts val="1200"/>
              <a:buNone/>
              <a:defRPr sz="1200"/>
            </a:lvl2pPr>
            <a:lvl3pPr marL="1371600" lvl="2" indent="-228600" algn="l">
              <a:spcBef>
                <a:spcPts val="350"/>
              </a:spcBef>
              <a:spcAft>
                <a:spcPts val="0"/>
              </a:spcAft>
              <a:buSzPts val="1000"/>
              <a:buNone/>
              <a:defRPr sz="1000"/>
            </a:lvl3pPr>
            <a:lvl4pPr marL="1828800" lvl="3" indent="-228600" algn="l">
              <a:spcBef>
                <a:spcPts val="350"/>
              </a:spcBef>
              <a:spcAft>
                <a:spcPts val="0"/>
              </a:spcAft>
              <a:buSzPts val="900"/>
              <a:buNone/>
              <a:defRPr sz="900"/>
            </a:lvl4pPr>
            <a:lvl5pPr marL="2286000" lvl="4" indent="-228600" algn="l">
              <a:spcBef>
                <a:spcPts val="350"/>
              </a:spcBef>
              <a:spcAft>
                <a:spcPts val="0"/>
              </a:spcAft>
              <a:buSzPts val="900"/>
              <a:buNone/>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7" name="Google Shape;77;p10"/>
          <p:cNvSpPr txBox="1">
            <a:spLocks noGrp="1"/>
          </p:cNvSpPr>
          <p:nvPr>
            <p:ph type="body" idx="2"/>
          </p:nvPr>
        </p:nvSpPr>
        <p:spPr>
          <a:xfrm>
            <a:off x="914400" y="274320"/>
            <a:ext cx="7479792" cy="4572000"/>
          </a:xfrm>
          <a:prstGeom prst="rect">
            <a:avLst/>
          </a:prstGeom>
          <a:noFill/>
          <a:ln>
            <a:noFill/>
          </a:ln>
        </p:spPr>
        <p:txBody>
          <a:bodyPr spcFirstLastPara="1" wrap="square" lIns="91425" tIns="45700" rIns="91425" bIns="45700" anchor="t" anchorCtr="0">
            <a:noAutofit/>
          </a:bodyPr>
          <a:lstStyle>
            <a:lvl1pPr marL="457200" lvl="0" indent="-366776" algn="l">
              <a:spcBef>
                <a:spcPts val="400"/>
              </a:spcBef>
              <a:spcAft>
                <a:spcPts val="0"/>
              </a:spcAft>
              <a:buSzPts val="2176"/>
              <a:buChar char="🞂"/>
              <a:defRPr sz="3200"/>
            </a:lvl1pPr>
            <a:lvl2pPr marL="914400" lvl="1" indent="-406400" algn="l">
              <a:spcBef>
                <a:spcPts val="324"/>
              </a:spcBef>
              <a:spcAft>
                <a:spcPts val="0"/>
              </a:spcAft>
              <a:buSzPts val="2800"/>
              <a:buChar char="◦"/>
              <a:defRPr sz="2800"/>
            </a:lvl2pPr>
            <a:lvl3pPr marL="1371600" lvl="2" indent="-381000" algn="l">
              <a:spcBef>
                <a:spcPts val="350"/>
              </a:spcBef>
              <a:spcAft>
                <a:spcPts val="0"/>
              </a:spcAft>
              <a:buSzPts val="2400"/>
              <a:buChar char="●"/>
              <a:defRPr sz="2400"/>
            </a:lvl3pPr>
            <a:lvl4pPr marL="1828800" lvl="3" indent="-355600" algn="l">
              <a:spcBef>
                <a:spcPts val="350"/>
              </a:spcBef>
              <a:spcAft>
                <a:spcPts val="0"/>
              </a:spcAft>
              <a:buSzPts val="2000"/>
              <a:buChar char="●"/>
              <a:defRPr sz="2000"/>
            </a:lvl4pPr>
            <a:lvl5pPr marL="2286000" lvl="4" indent="-355600" algn="l">
              <a:spcBef>
                <a:spcPts val="350"/>
              </a:spcBef>
              <a:spcAft>
                <a:spcPts val="0"/>
              </a:spcAft>
              <a:buSzPts val="2000"/>
              <a:buChar char="●"/>
              <a:defRPr sz="20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8" name="Google Shape;78;p10"/>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81"/>
        <p:cNvGrpSpPr/>
        <p:nvPr/>
      </p:nvGrpSpPr>
      <p:grpSpPr>
        <a:xfrm>
          <a:off x="0" y="0"/>
          <a:ext cx="0" cy="0"/>
          <a:chOff x="0" y="0"/>
          <a:chExt cx="0" cy="0"/>
        </a:xfrm>
      </p:grpSpPr>
      <p:sp>
        <p:nvSpPr>
          <p:cNvPr id="82" name="Google Shape;82;p11"/>
          <p:cNvSpPr txBox="1">
            <a:spLocks noGrp="1"/>
          </p:cNvSpPr>
          <p:nvPr>
            <p:ph type="body" idx="1"/>
          </p:nvPr>
        </p:nvSpPr>
        <p:spPr>
          <a:xfrm>
            <a:off x="1141232" y="5443402"/>
            <a:ext cx="7162800" cy="648232"/>
          </a:xfrm>
          <a:prstGeom prst="rect">
            <a:avLst/>
          </a:prstGeom>
          <a:noFill/>
          <a:ln>
            <a:noFill/>
          </a:ln>
        </p:spPr>
        <p:txBody>
          <a:bodyPr spcFirstLastPara="1" wrap="square" lIns="91425" tIns="0" rIns="91425" bIns="45700" anchor="t" anchorCtr="0">
            <a:noAutofit/>
          </a:bodyPr>
          <a:lstStyle>
            <a:lvl1pPr marL="457200" marR="18288" lvl="0" indent="-228600" algn="r">
              <a:spcBef>
                <a:spcPts val="400"/>
              </a:spcBef>
              <a:spcAft>
                <a:spcPts val="0"/>
              </a:spcAft>
              <a:buSzPts val="952"/>
              <a:buNone/>
              <a:defRPr sz="1400"/>
            </a:lvl1pPr>
            <a:lvl2pPr marL="914400" lvl="1" indent="-304800" algn="l">
              <a:spcBef>
                <a:spcPts val="324"/>
              </a:spcBef>
              <a:spcAft>
                <a:spcPts val="0"/>
              </a:spcAft>
              <a:buSzPts val="1200"/>
              <a:buChar char="◦"/>
              <a:defRPr sz="1200"/>
            </a:lvl2pPr>
            <a:lvl3pPr marL="1371600" lvl="2" indent="-292100" algn="l">
              <a:spcBef>
                <a:spcPts val="350"/>
              </a:spcBef>
              <a:spcAft>
                <a:spcPts val="0"/>
              </a:spcAft>
              <a:buSzPts val="1000"/>
              <a:buChar char="●"/>
              <a:defRPr sz="1000"/>
            </a:lvl3pPr>
            <a:lvl4pPr marL="1828800" lvl="3" indent="-285750" algn="l">
              <a:spcBef>
                <a:spcPts val="350"/>
              </a:spcBef>
              <a:spcAft>
                <a:spcPts val="0"/>
              </a:spcAft>
              <a:buSzPts val="900"/>
              <a:buChar char="●"/>
              <a:defRPr sz="900"/>
            </a:lvl4pPr>
            <a:lvl5pPr marL="2286000" lvl="4" indent="-285750" algn="l">
              <a:spcBef>
                <a:spcPts val="350"/>
              </a:spcBef>
              <a:spcAft>
                <a:spcPts val="0"/>
              </a:spcAft>
              <a:buSzPts val="900"/>
              <a:buChar char="●"/>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83" name="Google Shape;83;p11"/>
          <p:cNvSpPr>
            <a:spLocks noGrp="1"/>
          </p:cNvSpPr>
          <p:nvPr>
            <p:ph type="pic" idx="2"/>
          </p:nvPr>
        </p:nvSpPr>
        <p:spPr>
          <a:xfrm>
            <a:off x="228600" y="189968"/>
            <a:ext cx="8686800" cy="438912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lvl1pPr marR="0" lvl="0" algn="l" rtl="0">
              <a:spcBef>
                <a:spcPts val="400"/>
              </a:spcBef>
              <a:spcAft>
                <a:spcPts val="0"/>
              </a:spcAft>
              <a:buClr>
                <a:schemeClr val="accent1"/>
              </a:buClr>
              <a:buSzPts val="2176"/>
              <a:buFont typeface="Noto Sans Symbols"/>
              <a:buNone/>
              <a:defRPr sz="3200" b="0" i="0" u="none" strike="noStrike" cap="none">
                <a:solidFill>
                  <a:schemeClr val="lt1"/>
                </a:solidFill>
                <a:latin typeface="Lucida Sans"/>
                <a:ea typeface="Lucida Sans"/>
                <a:cs typeface="Lucida Sans"/>
                <a:sym typeface="Lucida Sans"/>
              </a:defRPr>
            </a:lvl1pPr>
            <a:lvl2pPr marR="0" lvl="1" algn="l" rtl="0">
              <a:spcBef>
                <a:spcPts val="324"/>
              </a:spcBef>
              <a:spcAft>
                <a:spcPts val="0"/>
              </a:spcAft>
              <a:buClr>
                <a:schemeClr val="accent1"/>
              </a:buClr>
              <a:buSzPts val="2300"/>
              <a:buFont typeface="Verdana"/>
              <a:buChar char="◦"/>
              <a:defRPr sz="2300" b="0" i="0" u="none" strike="noStrike" cap="none">
                <a:solidFill>
                  <a:schemeClr val="lt1"/>
                </a:solidFill>
                <a:latin typeface="Lucida Sans"/>
                <a:ea typeface="Lucida Sans"/>
                <a:cs typeface="Lucida Sans"/>
                <a:sym typeface="Lucida Sans"/>
              </a:defRPr>
            </a:lvl2pPr>
            <a:lvl3pPr marR="0" lvl="2" algn="l" rtl="0">
              <a:spcBef>
                <a:spcPts val="350"/>
              </a:spcBef>
              <a:spcAft>
                <a:spcPts val="0"/>
              </a:spcAft>
              <a:buClr>
                <a:schemeClr val="accent2"/>
              </a:buClr>
              <a:buSzPts val="2100"/>
              <a:buFont typeface="Noto Sans Symbols"/>
              <a:buChar char="●"/>
              <a:defRPr sz="2100" b="0" i="0" u="none" strike="noStrike" cap="none">
                <a:solidFill>
                  <a:schemeClr val="lt1"/>
                </a:solidFill>
                <a:latin typeface="Lucida Sans"/>
                <a:ea typeface="Lucida Sans"/>
                <a:cs typeface="Lucida Sans"/>
                <a:sym typeface="Lucida Sans"/>
              </a:defRPr>
            </a:lvl3pPr>
            <a:lvl4pPr marR="0" lvl="3" algn="l" rtl="0">
              <a:spcBef>
                <a:spcPts val="350"/>
              </a:spcBef>
              <a:spcAft>
                <a:spcPts val="0"/>
              </a:spcAft>
              <a:buClr>
                <a:schemeClr val="accent2"/>
              </a:buClr>
              <a:buSzPts val="1900"/>
              <a:buFont typeface="Noto Sans Symbols"/>
              <a:buChar char="●"/>
              <a:defRPr sz="1900" b="0" i="0" u="none" strike="noStrike" cap="none">
                <a:solidFill>
                  <a:schemeClr val="lt1"/>
                </a:solidFill>
                <a:latin typeface="Lucida Sans"/>
                <a:ea typeface="Lucida Sans"/>
                <a:cs typeface="Lucida Sans"/>
                <a:sym typeface="Lucida Sans"/>
              </a:defRPr>
            </a:lvl4pPr>
            <a:lvl5pPr marR="0" lvl="4" algn="l" rtl="0">
              <a:spcBef>
                <a:spcPts val="350"/>
              </a:spcBef>
              <a:spcAft>
                <a:spcPts val="0"/>
              </a:spcAft>
              <a:buClr>
                <a:schemeClr val="accent2"/>
              </a:buClr>
              <a:buSzPts val="1800"/>
              <a:buFont typeface="Noto Sans Symbols"/>
              <a:buChar char="●"/>
              <a:defRPr sz="1800" b="0" i="0" u="none" strike="noStrike" cap="none">
                <a:solidFill>
                  <a:schemeClr val="lt1"/>
                </a:solidFill>
                <a:latin typeface="Lucida Sans"/>
                <a:ea typeface="Lucida Sans"/>
                <a:cs typeface="Lucida Sans"/>
                <a:sym typeface="Lucida Sans"/>
              </a:defRPr>
            </a:lvl5pPr>
            <a:lvl6pPr marR="0" lvl="5" algn="l" rtl="0">
              <a:spcBef>
                <a:spcPts val="350"/>
              </a:spcBef>
              <a:spcAft>
                <a:spcPts val="0"/>
              </a:spcAft>
              <a:buClr>
                <a:schemeClr val="accent3"/>
              </a:buClr>
              <a:buSzPts val="1800"/>
              <a:buFont typeface="Noto Sans Symbols"/>
              <a:buChar char="■"/>
              <a:defRPr sz="1800" b="0" i="0" u="none" strike="noStrike" cap="none">
                <a:solidFill>
                  <a:schemeClr val="lt1"/>
                </a:solidFill>
                <a:latin typeface="Lucida Sans"/>
                <a:ea typeface="Lucida Sans"/>
                <a:cs typeface="Lucida Sans"/>
                <a:sym typeface="Lucida Sans"/>
              </a:defRPr>
            </a:lvl6pPr>
            <a:lvl7pPr marR="0" lvl="6"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7pPr>
            <a:lvl8pPr marR="0" lvl="7"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8pPr>
            <a:lvl9pPr marR="0" lvl="8"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9pPr>
          </a:lstStyle>
          <a:p>
            <a:endParaRPr/>
          </a:p>
        </p:txBody>
      </p:sp>
      <p:sp>
        <p:nvSpPr>
          <p:cNvPr id="84" name="Google Shape;84;p11"/>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chemeClr val="lt1"/>
                </a:solidFill>
                <a:latin typeface="Lucida Sans"/>
                <a:ea typeface="Lucida Sans"/>
                <a:cs typeface="Lucida Sans"/>
                <a:sym typeface="Lucida Sans"/>
              </a:defRPr>
            </a:lvl1pPr>
            <a:lvl2pPr marL="0" lvl="1" indent="0" algn="r">
              <a:spcBef>
                <a:spcPts val="0"/>
              </a:spcBef>
              <a:buNone/>
              <a:defRPr sz="1000" b="0">
                <a:solidFill>
                  <a:schemeClr val="lt1"/>
                </a:solidFill>
                <a:latin typeface="Lucida Sans"/>
                <a:ea typeface="Lucida Sans"/>
                <a:cs typeface="Lucida Sans"/>
                <a:sym typeface="Lucida Sans"/>
              </a:defRPr>
            </a:lvl2pPr>
            <a:lvl3pPr marL="0" lvl="2" indent="0" algn="r">
              <a:spcBef>
                <a:spcPts val="0"/>
              </a:spcBef>
              <a:buNone/>
              <a:defRPr sz="1000" b="0">
                <a:solidFill>
                  <a:schemeClr val="lt1"/>
                </a:solidFill>
                <a:latin typeface="Lucida Sans"/>
                <a:ea typeface="Lucida Sans"/>
                <a:cs typeface="Lucida Sans"/>
                <a:sym typeface="Lucida Sans"/>
              </a:defRPr>
            </a:lvl3pPr>
            <a:lvl4pPr marL="0" lvl="3" indent="0" algn="r">
              <a:spcBef>
                <a:spcPts val="0"/>
              </a:spcBef>
              <a:buNone/>
              <a:defRPr sz="1000" b="0">
                <a:solidFill>
                  <a:schemeClr val="lt1"/>
                </a:solidFill>
                <a:latin typeface="Lucida Sans"/>
                <a:ea typeface="Lucida Sans"/>
                <a:cs typeface="Lucida Sans"/>
                <a:sym typeface="Lucida Sans"/>
              </a:defRPr>
            </a:lvl4pPr>
            <a:lvl5pPr marL="0" lvl="4" indent="0" algn="r">
              <a:spcBef>
                <a:spcPts val="0"/>
              </a:spcBef>
              <a:buNone/>
              <a:defRPr sz="1000" b="0">
                <a:solidFill>
                  <a:schemeClr val="lt1"/>
                </a:solidFill>
                <a:latin typeface="Lucida Sans"/>
                <a:ea typeface="Lucida Sans"/>
                <a:cs typeface="Lucida Sans"/>
                <a:sym typeface="Lucida Sans"/>
              </a:defRPr>
            </a:lvl5pPr>
            <a:lvl6pPr marL="0" lvl="5" indent="0" algn="r">
              <a:spcBef>
                <a:spcPts val="0"/>
              </a:spcBef>
              <a:buNone/>
              <a:defRPr sz="1000" b="0">
                <a:solidFill>
                  <a:schemeClr val="lt1"/>
                </a:solidFill>
                <a:latin typeface="Lucida Sans"/>
                <a:ea typeface="Lucida Sans"/>
                <a:cs typeface="Lucida Sans"/>
                <a:sym typeface="Lucida Sans"/>
              </a:defRPr>
            </a:lvl6pPr>
            <a:lvl7pPr marL="0" lvl="6" indent="0" algn="r">
              <a:spcBef>
                <a:spcPts val="0"/>
              </a:spcBef>
              <a:buNone/>
              <a:defRPr sz="1000" b="0">
                <a:solidFill>
                  <a:schemeClr val="lt1"/>
                </a:solidFill>
                <a:latin typeface="Lucida Sans"/>
                <a:ea typeface="Lucida Sans"/>
                <a:cs typeface="Lucida Sans"/>
                <a:sym typeface="Lucida Sans"/>
              </a:defRPr>
            </a:lvl7pPr>
            <a:lvl8pPr marL="0" lvl="7" indent="0" algn="r">
              <a:spcBef>
                <a:spcPts val="0"/>
              </a:spcBef>
              <a:buNone/>
              <a:defRPr sz="1000" b="0">
                <a:solidFill>
                  <a:schemeClr val="lt1"/>
                </a:solidFill>
                <a:latin typeface="Lucida Sans"/>
                <a:ea typeface="Lucida Sans"/>
                <a:cs typeface="Lucida Sans"/>
                <a:sym typeface="Lucida Sans"/>
              </a:defRPr>
            </a:lvl8pPr>
            <a:lvl9pPr marL="0" lvl="8" indent="0" algn="r">
              <a:spcBef>
                <a:spcPts val="0"/>
              </a:spcBef>
              <a:buNone/>
              <a:defRPr sz="1000" b="0">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87" name="Google Shape;87;p11"/>
          <p:cNvSpPr txBox="1">
            <a:spLocks noGrp="1"/>
          </p:cNvSpPr>
          <p:nvPr>
            <p:ph type="title"/>
          </p:nvPr>
        </p:nvSpPr>
        <p:spPr>
          <a:xfrm>
            <a:off x="228600" y="4865122"/>
            <a:ext cx="8075432" cy="562672"/>
          </a:xfrm>
          <a:prstGeom prst="rect">
            <a:avLst/>
          </a:prstGeom>
          <a:noFill/>
          <a:ln>
            <a:noFill/>
          </a:ln>
        </p:spPr>
        <p:txBody>
          <a:bodyPr spcFirstLastPara="1" wrap="square" lIns="91425" tIns="45700" rIns="91425" bIns="45700" anchor="t" anchorCtr="0">
            <a:noAutofit/>
          </a:bodyPr>
          <a:lstStyle>
            <a:lvl1pPr marR="0" lvl="0" algn="r">
              <a:spcBef>
                <a:spcPts val="0"/>
              </a:spcBef>
              <a:spcAft>
                <a:spcPts val="0"/>
              </a:spcAft>
              <a:buClr>
                <a:schemeClr val="accent1"/>
              </a:buClr>
              <a:buSzPts val="3000"/>
              <a:buFont typeface="Lucida Sans"/>
              <a:buNone/>
              <a:defRPr sz="30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1"/>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9" name="Google Shape;89;p11"/>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90" name="Google Shape;90;p11"/>
          <p:cNvSpPr/>
          <p:nvPr/>
        </p:nvSpPr>
        <p:spPr>
          <a:xfrm>
            <a:off x="-6042" y="5791253"/>
            <a:ext cx="3402314"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91" name="Google Shape;91;p11"/>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92" name="Google Shape;92;p11"/>
          <p:cNvSpPr/>
          <p:nvPr/>
        </p:nvSpPr>
        <p:spPr>
          <a:xfrm>
            <a:off x="8664112" y="4988440"/>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93" name="Google Shape;93;p11"/>
          <p:cNvSpPr/>
          <p:nvPr/>
        </p:nvSpPr>
        <p:spPr>
          <a:xfrm>
            <a:off x="8477696" y="4988440"/>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4"/>
        <p:cNvGrpSpPr/>
        <p:nvPr/>
      </p:nvGrpSpPr>
      <p:grpSpPr>
        <a:xfrm>
          <a:off x="0" y="0"/>
          <a:ext cx="0" cy="0"/>
          <a:chOff x="0" y="0"/>
          <a:chExt cx="0" cy="0"/>
        </a:xfrm>
      </p:grpSpPr>
      <p:sp>
        <p:nvSpPr>
          <p:cNvPr id="95" name="Google Shape;95;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2"/>
          <p:cNvSpPr txBox="1">
            <a:spLocks noGrp="1"/>
          </p:cNvSpPr>
          <p:nvPr>
            <p:ph type="body" idx="1"/>
          </p:nvPr>
        </p:nvSpPr>
        <p:spPr>
          <a:xfrm rot="5400000">
            <a:off x="2378964" y="-440436"/>
            <a:ext cx="4386071" cy="8229600"/>
          </a:xfrm>
          <a:prstGeom prst="rect">
            <a:avLst/>
          </a:prstGeom>
          <a:noFill/>
          <a:ln>
            <a:noFill/>
          </a:ln>
        </p:spPr>
        <p:txBody>
          <a:bodyPr spcFirstLastPara="1" wrap="square" lIns="91425" tIns="45700" rIns="91425" bIns="45700" anchor="t" anchorCtr="0">
            <a:no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7" name="Google Shape;97;p12"/>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rot="5400000">
            <a:off x="4936367" y="2182285"/>
            <a:ext cx="5592761" cy="17774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3"/>
          <p:cNvSpPr txBox="1">
            <a:spLocks noGrp="1"/>
          </p:cNvSpPr>
          <p:nvPr>
            <p:ph type="body" idx="1"/>
          </p:nvPr>
        </p:nvSpPr>
        <p:spPr>
          <a:xfrm rot="5400000">
            <a:off x="823120" y="-91279"/>
            <a:ext cx="5592760" cy="6324600"/>
          </a:xfrm>
          <a:prstGeom prst="rect">
            <a:avLst/>
          </a:prstGeom>
          <a:noFill/>
          <a:ln>
            <a:noFill/>
          </a:ln>
        </p:spPr>
        <p:txBody>
          <a:bodyPr spcFirstLastPara="1" wrap="square" lIns="91425" tIns="45700" rIns="91425" bIns="45700" anchor="t" anchorCtr="0">
            <a:no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103" name="Google Shape;103;p13"/>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3"/>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3"/>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116"/>
        <p:cNvGrpSpPr/>
        <p:nvPr/>
      </p:nvGrpSpPr>
      <p:grpSpPr>
        <a:xfrm>
          <a:off x="0" y="0"/>
          <a:ext cx="0" cy="0"/>
          <a:chOff x="0" y="0"/>
          <a:chExt cx="0" cy="0"/>
        </a:xfrm>
      </p:grpSpPr>
      <p:sp>
        <p:nvSpPr>
          <p:cNvPr id="117" name="Google Shape;117;p15"/>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lt2"/>
              </a:buClr>
              <a:buSzPts val="4800"/>
              <a:buFont typeface="Lucida Sans"/>
              <a:buNone/>
              <a:defRPr sz="48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5"/>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SzPts val="1564"/>
              <a:buNone/>
              <a:defRPr sz="2300">
                <a:solidFill>
                  <a:schemeClr val="lt1"/>
                </a:solidFill>
              </a:defRPr>
            </a:lvl1pPr>
            <a:lvl2pPr marL="914400" lvl="1" indent="-228600" algn="l">
              <a:spcBef>
                <a:spcPts val="324"/>
              </a:spcBef>
              <a:spcAft>
                <a:spcPts val="0"/>
              </a:spcAft>
              <a:buSzPts val="1800"/>
              <a:buNone/>
              <a:defRPr sz="1800">
                <a:solidFill>
                  <a:schemeClr val="lt1"/>
                </a:solidFill>
              </a:defRPr>
            </a:lvl2pPr>
            <a:lvl3pPr marL="1371600" lvl="2" indent="-228600" algn="l">
              <a:spcBef>
                <a:spcPts val="350"/>
              </a:spcBef>
              <a:spcAft>
                <a:spcPts val="0"/>
              </a:spcAft>
              <a:buSzPts val="1600"/>
              <a:buNone/>
              <a:defRPr sz="1600">
                <a:solidFill>
                  <a:schemeClr val="lt1"/>
                </a:solidFill>
              </a:defRPr>
            </a:lvl3pPr>
            <a:lvl4pPr marL="1828800" lvl="3" indent="-228600" algn="l">
              <a:spcBef>
                <a:spcPts val="350"/>
              </a:spcBef>
              <a:spcAft>
                <a:spcPts val="0"/>
              </a:spcAft>
              <a:buSzPts val="1400"/>
              <a:buNone/>
              <a:defRPr sz="1400">
                <a:solidFill>
                  <a:schemeClr val="lt1"/>
                </a:solidFill>
              </a:defRPr>
            </a:lvl4pPr>
            <a:lvl5pPr marL="2286000" lvl="4" indent="-228600" algn="l">
              <a:spcBef>
                <a:spcPts val="350"/>
              </a:spcBef>
              <a:spcAft>
                <a:spcPts val="0"/>
              </a:spcAft>
              <a:buSzPts val="1400"/>
              <a:buNone/>
              <a:defRPr sz="1400">
                <a:solidFill>
                  <a:schemeClr val="lt1"/>
                </a:solidFill>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119" name="Google Shape;119;p15"/>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5"/>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15"/>
          <p:cNvSpPr/>
          <p:nvPr/>
        </p:nvSpPr>
        <p:spPr>
          <a:xfrm>
            <a:off x="3636680"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23" name="Google Shape;123;p15"/>
          <p:cNvSpPr/>
          <p:nvPr/>
        </p:nvSpPr>
        <p:spPr>
          <a:xfrm>
            <a:off x="3450264"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124"/>
        <p:cNvGrpSpPr/>
        <p:nvPr/>
      </p:nvGrpSpPr>
      <p:grpSpPr>
        <a:xfrm>
          <a:off x="0" y="0"/>
          <a:ext cx="0" cy="0"/>
          <a:chOff x="0" y="0"/>
          <a:chExt cx="0" cy="0"/>
        </a:xfrm>
      </p:grpSpPr>
      <p:sp>
        <p:nvSpPr>
          <p:cNvPr id="125" name="Google Shape;125;p16"/>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8" name="Google Shape;128;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1" name="Google Shape;11;p1"/>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2" name="Google Shape;12;p1"/>
          <p:cNvSpPr/>
          <p:nvPr/>
        </p:nvSpPr>
        <p:spPr>
          <a:xfrm>
            <a:off x="-6042" y="5791253"/>
            <a:ext cx="3402314" cy="1080868"/>
          </a:xfrm>
          <a:prstGeom prst="rtTriangle">
            <a:avLst/>
          </a:prstGeom>
          <a:blipFill rotWithShape="1">
            <a:blip r:embed="rId14">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3" name="Google Shape;13;p1"/>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14" name="Google Shape;14;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sp>
        <p:nvSpPr>
          <p:cNvPr id="16" name="Google Shape;16;p1"/>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7" name="Google Shape;17;p1"/>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8" name="Google Shape;18;p1"/>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u="none">
                <a:solidFill>
                  <a:schemeClr val="dk1"/>
                </a:solidFill>
                <a:latin typeface="Lucida Sans"/>
                <a:ea typeface="Lucida Sans"/>
                <a:cs typeface="Lucida Sans"/>
                <a:sym typeface="Lucida Sans"/>
              </a:defRPr>
            </a:lvl1pPr>
            <a:lvl2pPr marL="0" marR="0" lvl="1" indent="0" algn="r" rtl="0">
              <a:spcBef>
                <a:spcPts val="0"/>
              </a:spcBef>
              <a:buNone/>
              <a:defRPr sz="1000" b="0" u="none">
                <a:solidFill>
                  <a:schemeClr val="dk1"/>
                </a:solidFill>
                <a:latin typeface="Lucida Sans"/>
                <a:ea typeface="Lucida Sans"/>
                <a:cs typeface="Lucida Sans"/>
                <a:sym typeface="Lucida Sans"/>
              </a:defRPr>
            </a:lvl2pPr>
            <a:lvl3pPr marL="0" marR="0" lvl="2" indent="0" algn="r" rtl="0">
              <a:spcBef>
                <a:spcPts val="0"/>
              </a:spcBef>
              <a:buNone/>
              <a:defRPr sz="1000" b="0" u="none">
                <a:solidFill>
                  <a:schemeClr val="dk1"/>
                </a:solidFill>
                <a:latin typeface="Lucida Sans"/>
                <a:ea typeface="Lucida Sans"/>
                <a:cs typeface="Lucida Sans"/>
                <a:sym typeface="Lucida Sans"/>
              </a:defRPr>
            </a:lvl3pPr>
            <a:lvl4pPr marL="0" marR="0" lvl="3" indent="0" algn="r" rtl="0">
              <a:spcBef>
                <a:spcPts val="0"/>
              </a:spcBef>
              <a:buNone/>
              <a:defRPr sz="1000" b="0" u="none">
                <a:solidFill>
                  <a:schemeClr val="dk1"/>
                </a:solidFill>
                <a:latin typeface="Lucida Sans"/>
                <a:ea typeface="Lucida Sans"/>
                <a:cs typeface="Lucida Sans"/>
                <a:sym typeface="Lucida Sans"/>
              </a:defRPr>
            </a:lvl4pPr>
            <a:lvl5pPr marL="0" marR="0" lvl="4" indent="0" algn="r" rtl="0">
              <a:spcBef>
                <a:spcPts val="0"/>
              </a:spcBef>
              <a:buNone/>
              <a:defRPr sz="1000" b="0" u="none">
                <a:solidFill>
                  <a:schemeClr val="dk1"/>
                </a:solidFill>
                <a:latin typeface="Lucida Sans"/>
                <a:ea typeface="Lucida Sans"/>
                <a:cs typeface="Lucida Sans"/>
                <a:sym typeface="Lucida Sans"/>
              </a:defRPr>
            </a:lvl5pPr>
            <a:lvl6pPr marL="0" marR="0" lvl="5" indent="0" algn="r" rtl="0">
              <a:spcBef>
                <a:spcPts val="0"/>
              </a:spcBef>
              <a:buNone/>
              <a:defRPr sz="1000" b="0" u="none">
                <a:solidFill>
                  <a:schemeClr val="dk1"/>
                </a:solidFill>
                <a:latin typeface="Lucida Sans"/>
                <a:ea typeface="Lucida Sans"/>
                <a:cs typeface="Lucida Sans"/>
                <a:sym typeface="Lucida Sans"/>
              </a:defRPr>
            </a:lvl6pPr>
            <a:lvl7pPr marL="0" marR="0" lvl="6" indent="0" algn="r" rtl="0">
              <a:spcBef>
                <a:spcPts val="0"/>
              </a:spcBef>
              <a:buNone/>
              <a:defRPr sz="1000" b="0" u="none">
                <a:solidFill>
                  <a:schemeClr val="dk1"/>
                </a:solidFill>
                <a:latin typeface="Lucida Sans"/>
                <a:ea typeface="Lucida Sans"/>
                <a:cs typeface="Lucida Sans"/>
                <a:sym typeface="Lucida Sans"/>
              </a:defRPr>
            </a:lvl7pPr>
            <a:lvl8pPr marL="0" marR="0" lvl="7" indent="0" algn="r" rtl="0">
              <a:spcBef>
                <a:spcPts val="0"/>
              </a:spcBef>
              <a:buNone/>
              <a:defRPr sz="1000" b="0" u="none">
                <a:solidFill>
                  <a:schemeClr val="dk1"/>
                </a:solidFill>
                <a:latin typeface="Lucida Sans"/>
                <a:ea typeface="Lucida Sans"/>
                <a:cs typeface="Lucida Sans"/>
                <a:sym typeface="Lucida Sans"/>
              </a:defRPr>
            </a:lvl8pPr>
            <a:lvl9pPr marL="0" marR="0" lvl="8" indent="0" algn="r" rtl="0">
              <a:spcBef>
                <a:spcPts val="0"/>
              </a:spcBef>
              <a:buNone/>
              <a:defRPr sz="1000" b="0" u="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6"/>
        <p:cNvGrpSpPr/>
        <p:nvPr/>
      </p:nvGrpSpPr>
      <p:grpSpPr>
        <a:xfrm>
          <a:off x="0" y="0"/>
          <a:ext cx="0" cy="0"/>
          <a:chOff x="0" y="0"/>
          <a:chExt cx="0" cy="0"/>
        </a:xfrm>
      </p:grpSpPr>
      <p:sp>
        <p:nvSpPr>
          <p:cNvPr id="107" name="Google Shape;107;p14"/>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8" name="Google Shape;108;p14"/>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9" name="Google Shape;109;p14"/>
          <p:cNvSpPr/>
          <p:nvPr/>
        </p:nvSpPr>
        <p:spPr>
          <a:xfrm>
            <a:off x="-6042" y="5791253"/>
            <a:ext cx="3402314" cy="1080868"/>
          </a:xfrm>
          <a:prstGeom prst="rtTriangle">
            <a:avLst/>
          </a:prstGeom>
          <a:blipFill rotWithShape="1">
            <a:blip r:embed="rId4">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10" name="Google Shape;110;p14"/>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111" name="Google Shape;11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lt2"/>
              </a:buClr>
              <a:buSzPts val="4100"/>
              <a:buFont typeface="Lucida Sans"/>
              <a:buNone/>
              <a:defRPr sz="4100" b="1" i="0" u="none" strike="noStrike" cap="none">
                <a:solidFill>
                  <a:schemeClr val="lt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2" name="Google Shape;112;p1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lt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lt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lt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lt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lt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lt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9pPr>
          </a:lstStyle>
          <a:p>
            <a:endParaRPr/>
          </a:p>
        </p:txBody>
      </p:sp>
      <p:sp>
        <p:nvSpPr>
          <p:cNvPr id="113" name="Google Shape;113;p14"/>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a:solidFill>
                  <a:schemeClr val="lt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9pPr>
          </a:lstStyle>
          <a:p>
            <a:endParaRPr/>
          </a:p>
        </p:txBody>
      </p:sp>
      <p:sp>
        <p:nvSpPr>
          <p:cNvPr id="114" name="Google Shape;114;p14"/>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000">
                <a:solidFill>
                  <a:schemeClr val="lt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9pPr>
          </a:lstStyle>
          <a:p>
            <a:endParaRPr/>
          </a:p>
        </p:txBody>
      </p:sp>
      <p:sp>
        <p:nvSpPr>
          <p:cNvPr id="115" name="Google Shape;115;p14"/>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u="none">
                <a:solidFill>
                  <a:schemeClr val="lt1"/>
                </a:solidFill>
                <a:latin typeface="Lucida Sans"/>
                <a:ea typeface="Lucida Sans"/>
                <a:cs typeface="Lucida Sans"/>
                <a:sym typeface="Lucida Sans"/>
              </a:defRPr>
            </a:lvl1pPr>
            <a:lvl2pPr marL="0" marR="0" lvl="1" indent="0" algn="r" rtl="0">
              <a:spcBef>
                <a:spcPts val="0"/>
              </a:spcBef>
              <a:buNone/>
              <a:defRPr sz="1000" b="0" u="none">
                <a:solidFill>
                  <a:schemeClr val="lt1"/>
                </a:solidFill>
                <a:latin typeface="Lucida Sans"/>
                <a:ea typeface="Lucida Sans"/>
                <a:cs typeface="Lucida Sans"/>
                <a:sym typeface="Lucida Sans"/>
              </a:defRPr>
            </a:lvl2pPr>
            <a:lvl3pPr marL="0" marR="0" lvl="2" indent="0" algn="r" rtl="0">
              <a:spcBef>
                <a:spcPts val="0"/>
              </a:spcBef>
              <a:buNone/>
              <a:defRPr sz="1000" b="0" u="none">
                <a:solidFill>
                  <a:schemeClr val="lt1"/>
                </a:solidFill>
                <a:latin typeface="Lucida Sans"/>
                <a:ea typeface="Lucida Sans"/>
                <a:cs typeface="Lucida Sans"/>
                <a:sym typeface="Lucida Sans"/>
              </a:defRPr>
            </a:lvl3pPr>
            <a:lvl4pPr marL="0" marR="0" lvl="3" indent="0" algn="r" rtl="0">
              <a:spcBef>
                <a:spcPts val="0"/>
              </a:spcBef>
              <a:buNone/>
              <a:defRPr sz="1000" b="0" u="none">
                <a:solidFill>
                  <a:schemeClr val="lt1"/>
                </a:solidFill>
                <a:latin typeface="Lucida Sans"/>
                <a:ea typeface="Lucida Sans"/>
                <a:cs typeface="Lucida Sans"/>
                <a:sym typeface="Lucida Sans"/>
              </a:defRPr>
            </a:lvl4pPr>
            <a:lvl5pPr marL="0" marR="0" lvl="4" indent="0" algn="r" rtl="0">
              <a:spcBef>
                <a:spcPts val="0"/>
              </a:spcBef>
              <a:buNone/>
              <a:defRPr sz="1000" b="0" u="none">
                <a:solidFill>
                  <a:schemeClr val="lt1"/>
                </a:solidFill>
                <a:latin typeface="Lucida Sans"/>
                <a:ea typeface="Lucida Sans"/>
                <a:cs typeface="Lucida Sans"/>
                <a:sym typeface="Lucida Sans"/>
              </a:defRPr>
            </a:lvl5pPr>
            <a:lvl6pPr marL="0" marR="0" lvl="5" indent="0" algn="r" rtl="0">
              <a:spcBef>
                <a:spcPts val="0"/>
              </a:spcBef>
              <a:buNone/>
              <a:defRPr sz="1000" b="0" u="none">
                <a:solidFill>
                  <a:schemeClr val="lt1"/>
                </a:solidFill>
                <a:latin typeface="Lucida Sans"/>
                <a:ea typeface="Lucida Sans"/>
                <a:cs typeface="Lucida Sans"/>
                <a:sym typeface="Lucida Sans"/>
              </a:defRPr>
            </a:lvl6pPr>
            <a:lvl7pPr marL="0" marR="0" lvl="6" indent="0" algn="r" rtl="0">
              <a:spcBef>
                <a:spcPts val="0"/>
              </a:spcBef>
              <a:buNone/>
              <a:defRPr sz="1000" b="0" u="none">
                <a:solidFill>
                  <a:schemeClr val="lt1"/>
                </a:solidFill>
                <a:latin typeface="Lucida Sans"/>
                <a:ea typeface="Lucida Sans"/>
                <a:cs typeface="Lucida Sans"/>
                <a:sym typeface="Lucida Sans"/>
              </a:defRPr>
            </a:lvl7pPr>
            <a:lvl8pPr marL="0" marR="0" lvl="7" indent="0" algn="r" rtl="0">
              <a:spcBef>
                <a:spcPts val="0"/>
              </a:spcBef>
              <a:buNone/>
              <a:defRPr sz="1000" b="0" u="none">
                <a:solidFill>
                  <a:schemeClr val="lt1"/>
                </a:solidFill>
                <a:latin typeface="Lucida Sans"/>
                <a:ea typeface="Lucida Sans"/>
                <a:cs typeface="Lucida Sans"/>
                <a:sym typeface="Lucida Sans"/>
              </a:defRPr>
            </a:lvl8pPr>
            <a:lvl9pPr marL="0" marR="0" lvl="8" indent="0" algn="r" rtl="0">
              <a:spcBef>
                <a:spcPts val="0"/>
              </a:spcBef>
              <a:buNone/>
              <a:defRPr sz="1000" b="0" u="none">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3.xml"/><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hyperlink" Target="http://www.nypost.com/p/news/local/mta_contract_for_nd_scandal_firm_UtBXsXrOl0zBTWzKRZvbRO" TargetMode="External"/><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hyperlink" Target="http://www.computerworld.com/s/article/9217154/Oracle_says_ERP_software_woes_are_school_s_own_fault" TargetMode="External"/><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hyperlink" Target="http://www.computerworlduk.com/news/it-business/3302164/lawson-embroiled-in-erp-lawsuit-with-customers/" TargetMode="External"/><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3.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4.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4.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4.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4.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14.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4.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4.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4.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14.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13.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65.xml"/><Relationship Id="rId1" Type="http://schemas.openxmlformats.org/officeDocument/2006/relationships/slideLayout" Target="../slideLayouts/slideLayout13.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66.xml"/><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13.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13.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70.xml"/><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71.xml"/><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72.xml"/><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73.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74.xml"/><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75.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276.xml"/><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279.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280.xml"/><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285.xml"/><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86.xml"/><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298.xml"/><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301.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302.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303.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304.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305.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306.xml"/><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30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85800" y="1752601"/>
            <a:ext cx="7772400" cy="18297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800"/>
              <a:buFont typeface="Lucida Sans"/>
              <a:buNone/>
            </a:pPr>
            <a:r>
              <a:rPr lang="en-US"/>
              <a:t>Accounting Information Systems</a:t>
            </a:r>
            <a:endParaRPr/>
          </a:p>
        </p:txBody>
      </p:sp>
      <p:sp>
        <p:nvSpPr>
          <p:cNvPr id="134" name="Google Shape;134;p17"/>
          <p:cNvSpPr txBox="1">
            <a:spLocks noGrp="1"/>
          </p:cNvSpPr>
          <p:nvPr>
            <p:ph type="subTitle" idx="1"/>
          </p:nvPr>
        </p:nvSpPr>
        <p:spPr>
          <a:xfrm>
            <a:off x="685800" y="3611607"/>
            <a:ext cx="7772400" cy="1199704"/>
          </a:xfrm>
          <a:prstGeom prst="rect">
            <a:avLst/>
          </a:prstGeom>
          <a:noFill/>
          <a:ln>
            <a:noFill/>
          </a:ln>
        </p:spPr>
        <p:txBody>
          <a:bodyPr spcFirstLastPara="1" wrap="square" lIns="45700" tIns="45700" rIns="45700" bIns="45700" anchor="t" anchorCtr="0">
            <a:noAutofit/>
          </a:bodyPr>
          <a:lstStyle/>
          <a:p>
            <a:pPr marL="0" marR="64008" lvl="0" indent="0" algn="r" rtl="0">
              <a:spcBef>
                <a:spcPts val="0"/>
              </a:spcBef>
              <a:spcAft>
                <a:spcPts val="0"/>
              </a:spcAft>
              <a:buSzPts val="1836"/>
              <a:buNone/>
            </a:pPr>
            <a:r>
              <a:rPr lang="en-US"/>
              <a:t>CAC 4103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8"/>
          <p:cNvSpPr txBox="1">
            <a:spLocks noGrp="1"/>
          </p:cNvSpPr>
          <p:nvPr>
            <p:ph type="body" idx="1"/>
          </p:nvPr>
        </p:nvSpPr>
        <p:spPr>
          <a:xfrm>
            <a:off x="457200" y="1219200"/>
            <a:ext cx="8382000" cy="5105400"/>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Introduction</a:t>
            </a:r>
            <a:endParaRPr/>
          </a:p>
          <a:p>
            <a:pPr marL="365760" lvl="0" indent="-256032" algn="just" rtl="0">
              <a:lnSpc>
                <a:spcPct val="90000"/>
              </a:lnSpc>
              <a:spcBef>
                <a:spcPts val="400"/>
              </a:spcBef>
              <a:spcAft>
                <a:spcPts val="0"/>
              </a:spcAft>
              <a:buSzPts val="1836"/>
              <a:buChar char="🞂"/>
            </a:pPr>
            <a:r>
              <a:rPr lang="en-US"/>
              <a:t>Accounting As An Information System</a:t>
            </a:r>
            <a:endParaRPr/>
          </a:p>
          <a:p>
            <a:pPr marL="365760" lvl="0" indent="-256032" algn="just" rtl="0">
              <a:lnSpc>
                <a:spcPct val="90000"/>
              </a:lnSpc>
              <a:spcBef>
                <a:spcPts val="400"/>
              </a:spcBef>
              <a:spcAft>
                <a:spcPts val="0"/>
              </a:spcAft>
              <a:buSzPts val="1836"/>
              <a:buChar char="🞂"/>
            </a:pPr>
            <a:r>
              <a:rPr lang="en-US"/>
              <a:t>Enterprise Resource Planning</a:t>
            </a:r>
            <a:endParaRPr/>
          </a:p>
          <a:p>
            <a:pPr marL="365760" lvl="0" indent="-256032" algn="just" rtl="0">
              <a:lnSpc>
                <a:spcPct val="90000"/>
              </a:lnSpc>
              <a:spcBef>
                <a:spcPts val="400"/>
              </a:spcBef>
              <a:spcAft>
                <a:spcPts val="0"/>
              </a:spcAft>
              <a:buSzPts val="1836"/>
              <a:buChar char="🞂"/>
            </a:pPr>
            <a:r>
              <a:rPr lang="en-US"/>
              <a:t>Systems Development</a:t>
            </a:r>
            <a:endParaRPr/>
          </a:p>
          <a:p>
            <a:pPr marL="365760" lvl="0" indent="-256032" algn="just" rtl="0">
              <a:lnSpc>
                <a:spcPct val="90000"/>
              </a:lnSpc>
              <a:spcBef>
                <a:spcPts val="400"/>
              </a:spcBef>
              <a:spcAft>
                <a:spcPts val="0"/>
              </a:spcAft>
              <a:buSzPts val="1836"/>
              <a:buChar char="🞂"/>
            </a:pPr>
            <a:r>
              <a:rPr lang="en-US"/>
              <a:t>Project Management &amp; Modelling</a:t>
            </a:r>
            <a:endParaRPr/>
          </a:p>
          <a:p>
            <a:pPr marL="365760" lvl="0" indent="-256032" algn="just" rtl="0">
              <a:lnSpc>
                <a:spcPct val="90000"/>
              </a:lnSpc>
              <a:spcBef>
                <a:spcPts val="400"/>
              </a:spcBef>
              <a:spcAft>
                <a:spcPts val="0"/>
              </a:spcAft>
              <a:buSzPts val="1836"/>
              <a:buChar char="🞂"/>
            </a:pPr>
            <a:r>
              <a:rPr lang="en-US"/>
              <a:t>Internal Controls &amp; IS audit </a:t>
            </a:r>
            <a:endParaRPr/>
          </a:p>
          <a:p>
            <a:pPr marL="365760" lvl="0" indent="-256032" algn="just" rtl="0">
              <a:lnSpc>
                <a:spcPct val="90000"/>
              </a:lnSpc>
              <a:spcBef>
                <a:spcPts val="400"/>
              </a:spcBef>
              <a:spcAft>
                <a:spcPts val="0"/>
              </a:spcAft>
              <a:buSzPts val="1836"/>
              <a:buChar char="🞂"/>
            </a:pPr>
            <a:r>
              <a:rPr lang="en-US"/>
              <a:t>Ethics &amp; Corporate Governance</a:t>
            </a:r>
            <a:endParaRPr/>
          </a:p>
          <a:p>
            <a:pPr marL="365760" lvl="0" indent="-256032" algn="just" rtl="0">
              <a:lnSpc>
                <a:spcPct val="90000"/>
              </a:lnSpc>
              <a:spcBef>
                <a:spcPts val="400"/>
              </a:spcBef>
              <a:spcAft>
                <a:spcPts val="0"/>
              </a:spcAft>
              <a:buSzPts val="1836"/>
              <a:buChar char="🞂"/>
            </a:pPr>
            <a:r>
              <a:rPr lang="en-US"/>
              <a:t>Conclusion </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u="sng"/>
              <a:t>Accounting Information Systems-James A. Hall</a:t>
            </a:r>
            <a:endParaRPr/>
          </a:p>
          <a:p>
            <a:pPr marL="365760" lvl="0" indent="-256032" algn="just" rtl="0">
              <a:lnSpc>
                <a:spcPct val="90000"/>
              </a:lnSpc>
              <a:spcBef>
                <a:spcPts val="400"/>
              </a:spcBef>
              <a:spcAft>
                <a:spcPts val="0"/>
              </a:spcAft>
              <a:buSzPts val="1836"/>
              <a:buChar char="🞂"/>
            </a:pPr>
            <a:r>
              <a:rPr lang="en-US" b="1">
                <a:solidFill>
                  <a:srgbClr val="A3171E"/>
                </a:solidFill>
              </a:rPr>
              <a:t>Practicals – TurboCASH &amp; Pastel</a:t>
            </a:r>
            <a:endParaRPr b="1">
              <a:solidFill>
                <a:srgbClr val="A3171E"/>
              </a:solidFill>
            </a:endParaRPr>
          </a:p>
        </p:txBody>
      </p:sp>
      <p:sp>
        <p:nvSpPr>
          <p:cNvPr id="140" name="Google Shape;14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Course outline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lt2"/>
              </a:buClr>
              <a:buSzPts val="4800"/>
              <a:buFont typeface="Lucida Sans"/>
              <a:buNone/>
            </a:pPr>
            <a:r>
              <a:rPr lang="en-US"/>
              <a:t>INTRODUCTION</a:t>
            </a:r>
            <a:endParaRPr/>
          </a:p>
        </p:txBody>
      </p:sp>
      <p:sp>
        <p:nvSpPr>
          <p:cNvPr id="146" name="Google Shape;146;p19"/>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SzPts val="1564"/>
              <a:buNone/>
            </a:pPr>
            <a:r>
              <a:rPr lang="en-US"/>
              <a:t>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body" idx="1"/>
          </p:nvPr>
        </p:nvSpPr>
        <p:spPr>
          <a:xfrm>
            <a:off x="457200" y="1481329"/>
            <a:ext cx="7620000" cy="652272"/>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Internal &amp; External Flows Of Information</a:t>
            </a:r>
            <a:endParaRPr/>
          </a:p>
          <a:p>
            <a:pPr marL="365760" lvl="0" indent="-139446" algn="l" rtl="0">
              <a:spcBef>
                <a:spcPts val="400"/>
              </a:spcBef>
              <a:spcAft>
                <a:spcPts val="0"/>
              </a:spcAft>
              <a:buSzPts val="1836"/>
              <a:buNone/>
            </a:pPr>
            <a:endParaRPr/>
          </a:p>
        </p:txBody>
      </p:sp>
      <p:sp>
        <p:nvSpPr>
          <p:cNvPr id="152" name="Google Shape;152;p20"/>
          <p:cNvSpPr/>
          <p:nvPr/>
        </p:nvSpPr>
        <p:spPr>
          <a:xfrm>
            <a:off x="1371600" y="2057400"/>
            <a:ext cx="5943600" cy="4572000"/>
          </a:xfrm>
          <a:prstGeom prst="triangle">
            <a:avLst>
              <a:gd name="adj" fmla="val 50000"/>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Top </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Management</a:t>
            </a:r>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Middle </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Management</a:t>
            </a:r>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Operations Management</a:t>
            </a:r>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Operations Personnel</a:t>
            </a:r>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Day-to-day Operations (Transactions) </a:t>
            </a:r>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53" name="Google Shape;153;p20"/>
          <p:cNvSpPr txBox="1"/>
          <p:nvPr/>
        </p:nvSpPr>
        <p:spPr>
          <a:xfrm>
            <a:off x="6172200" y="2895600"/>
            <a:ext cx="168988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Stakeholders </a:t>
            </a:r>
            <a:endParaRPr sz="1800">
              <a:solidFill>
                <a:schemeClr val="dk1"/>
              </a:solidFill>
              <a:latin typeface="Lucida Sans"/>
              <a:ea typeface="Lucida Sans"/>
              <a:cs typeface="Lucida Sans"/>
              <a:sym typeface="Lucida Sans"/>
            </a:endParaRPr>
          </a:p>
        </p:txBody>
      </p:sp>
      <p:sp>
        <p:nvSpPr>
          <p:cNvPr id="154" name="Google Shape;154;p20"/>
          <p:cNvSpPr txBox="1"/>
          <p:nvPr/>
        </p:nvSpPr>
        <p:spPr>
          <a:xfrm>
            <a:off x="7315200" y="5867400"/>
            <a:ext cx="128432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Suppliers </a:t>
            </a:r>
            <a:endParaRPr sz="1800">
              <a:solidFill>
                <a:schemeClr val="dk1"/>
              </a:solidFill>
              <a:latin typeface="Lucida Sans"/>
              <a:ea typeface="Lucida Sans"/>
              <a:cs typeface="Lucida Sans"/>
              <a:sym typeface="Lucida Sans"/>
            </a:endParaRPr>
          </a:p>
        </p:txBody>
      </p:sp>
      <p:sp>
        <p:nvSpPr>
          <p:cNvPr id="155" name="Google Shape;155;p20"/>
          <p:cNvSpPr txBox="1"/>
          <p:nvPr/>
        </p:nvSpPr>
        <p:spPr>
          <a:xfrm>
            <a:off x="381000" y="5650468"/>
            <a:ext cx="146065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Customers </a:t>
            </a:r>
            <a:endParaRPr sz="1800">
              <a:solidFill>
                <a:schemeClr val="dk1"/>
              </a:solidFill>
              <a:latin typeface="Lucida Sans"/>
              <a:ea typeface="Lucida Sans"/>
              <a:cs typeface="Lucida Sans"/>
              <a:sym typeface="Lucida Sans"/>
            </a:endParaRPr>
          </a:p>
        </p:txBody>
      </p:sp>
      <p:cxnSp>
        <p:nvCxnSpPr>
          <p:cNvPr id="156" name="Google Shape;156;p20"/>
          <p:cNvCxnSpPr/>
          <p:nvPr/>
        </p:nvCxnSpPr>
        <p:spPr>
          <a:xfrm>
            <a:off x="3200400" y="3810000"/>
            <a:ext cx="2286000" cy="0"/>
          </a:xfrm>
          <a:prstGeom prst="straightConnector1">
            <a:avLst/>
          </a:prstGeom>
          <a:noFill/>
          <a:ln w="9525" cap="flat" cmpd="sng">
            <a:solidFill>
              <a:schemeClr val="accent1"/>
            </a:solidFill>
            <a:prstDash val="solid"/>
            <a:round/>
            <a:headEnd type="none" w="sm" len="sm"/>
            <a:tailEnd type="none" w="sm" len="sm"/>
          </a:ln>
        </p:spPr>
      </p:cxnSp>
      <p:cxnSp>
        <p:nvCxnSpPr>
          <p:cNvPr id="157" name="Google Shape;157;p20"/>
          <p:cNvCxnSpPr/>
          <p:nvPr/>
        </p:nvCxnSpPr>
        <p:spPr>
          <a:xfrm>
            <a:off x="2667000" y="4648200"/>
            <a:ext cx="3352800" cy="0"/>
          </a:xfrm>
          <a:prstGeom prst="straightConnector1">
            <a:avLst/>
          </a:prstGeom>
          <a:noFill/>
          <a:ln w="9525" cap="flat" cmpd="sng">
            <a:solidFill>
              <a:schemeClr val="accent1"/>
            </a:solidFill>
            <a:prstDash val="solid"/>
            <a:round/>
            <a:headEnd type="none" w="sm" len="sm"/>
            <a:tailEnd type="none" w="sm" len="sm"/>
          </a:ln>
        </p:spPr>
      </p:cxnSp>
      <p:cxnSp>
        <p:nvCxnSpPr>
          <p:cNvPr id="158" name="Google Shape;158;p20"/>
          <p:cNvCxnSpPr/>
          <p:nvPr/>
        </p:nvCxnSpPr>
        <p:spPr>
          <a:xfrm>
            <a:off x="2209800" y="5257800"/>
            <a:ext cx="4191000" cy="0"/>
          </a:xfrm>
          <a:prstGeom prst="straightConnector1">
            <a:avLst/>
          </a:prstGeom>
          <a:noFill/>
          <a:ln w="9525" cap="flat" cmpd="sng">
            <a:solidFill>
              <a:schemeClr val="accent1"/>
            </a:solidFill>
            <a:prstDash val="solid"/>
            <a:round/>
            <a:headEnd type="none" w="sm" len="sm"/>
            <a:tailEnd type="none" w="sm" len="sm"/>
          </a:ln>
        </p:spPr>
      </p:cxnSp>
      <p:cxnSp>
        <p:nvCxnSpPr>
          <p:cNvPr id="159" name="Google Shape;159;p20"/>
          <p:cNvCxnSpPr/>
          <p:nvPr/>
        </p:nvCxnSpPr>
        <p:spPr>
          <a:xfrm>
            <a:off x="3124200" y="5715000"/>
            <a:ext cx="2362200" cy="0"/>
          </a:xfrm>
          <a:prstGeom prst="straightConnector1">
            <a:avLst/>
          </a:prstGeom>
          <a:noFill/>
          <a:ln w="55000" cap="flat" cmpd="thickThin">
            <a:solidFill>
              <a:schemeClr val="accent6"/>
            </a:solidFill>
            <a:prstDash val="solid"/>
            <a:round/>
            <a:headEnd type="none" w="sm" len="sm"/>
            <a:tailEnd type="stealth" w="med" len="med"/>
          </a:ln>
          <a:effectLst>
            <a:outerShdw blurRad="50800" dist="38100" dir="5400000" rotWithShape="0">
              <a:srgbClr val="000000">
                <a:alpha val="34901"/>
              </a:srgbClr>
            </a:outerShdw>
          </a:effectLst>
        </p:spPr>
      </p:cxnSp>
      <p:cxnSp>
        <p:nvCxnSpPr>
          <p:cNvPr id="160" name="Google Shape;160;p20"/>
          <p:cNvCxnSpPr/>
          <p:nvPr/>
        </p:nvCxnSpPr>
        <p:spPr>
          <a:xfrm rot="10800000">
            <a:off x="5257800" y="3886200"/>
            <a:ext cx="1371600" cy="2057400"/>
          </a:xfrm>
          <a:prstGeom prst="straightConnector1">
            <a:avLst/>
          </a:prstGeom>
          <a:noFill/>
          <a:ln w="55000" cap="flat" cmpd="thickThin">
            <a:solidFill>
              <a:schemeClr val="accent3"/>
            </a:solidFill>
            <a:prstDash val="solid"/>
            <a:round/>
            <a:headEnd type="none" w="sm" len="sm"/>
            <a:tailEnd type="stealth" w="med" len="med"/>
          </a:ln>
          <a:effectLst>
            <a:outerShdw blurRad="50800" dist="38100" dir="5400000" rotWithShape="0">
              <a:srgbClr val="000000">
                <a:alpha val="34901"/>
              </a:srgbClr>
            </a:outerShdw>
          </a:effectLst>
        </p:spPr>
      </p:cxnSp>
      <p:cxnSp>
        <p:nvCxnSpPr>
          <p:cNvPr id="161" name="Google Shape;161;p20"/>
          <p:cNvCxnSpPr/>
          <p:nvPr/>
        </p:nvCxnSpPr>
        <p:spPr>
          <a:xfrm flipH="1">
            <a:off x="1905000" y="3886200"/>
            <a:ext cx="1447800" cy="2286000"/>
          </a:xfrm>
          <a:prstGeom prst="straightConnector1">
            <a:avLst/>
          </a:prstGeom>
          <a:noFill/>
          <a:ln w="55000" cap="flat" cmpd="thickThin">
            <a:solidFill>
              <a:schemeClr val="accent3"/>
            </a:solidFill>
            <a:prstDash val="solid"/>
            <a:round/>
            <a:headEnd type="none" w="sm" len="sm"/>
            <a:tailEnd type="stealth" w="med" len="med"/>
          </a:ln>
          <a:effectLst>
            <a:outerShdw blurRad="50800" dist="38100" dir="5400000" rotWithShape="0">
              <a:srgbClr val="000000">
                <a:alpha val="34901"/>
              </a:srgbClr>
            </a:outerShdw>
          </a:effectLst>
        </p:spPr>
      </p:cxnSp>
      <p:cxnSp>
        <p:nvCxnSpPr>
          <p:cNvPr id="162" name="Google Shape;162;p20"/>
          <p:cNvCxnSpPr/>
          <p:nvPr/>
        </p:nvCxnSpPr>
        <p:spPr>
          <a:xfrm rot="10800000">
            <a:off x="4800600" y="2667000"/>
            <a:ext cx="1676400" cy="152400"/>
          </a:xfrm>
          <a:prstGeom prst="straightConnector1">
            <a:avLst/>
          </a:prstGeom>
          <a:noFill/>
          <a:ln w="9525" cap="flat" cmpd="sng">
            <a:solidFill>
              <a:schemeClr val="accent1"/>
            </a:solidFill>
            <a:prstDash val="solid"/>
            <a:round/>
            <a:headEnd type="stealth" w="med" len="med"/>
            <a:tailEnd type="stealth" w="med" len="med"/>
          </a:ln>
        </p:spPr>
      </p:cxnSp>
      <p:cxnSp>
        <p:nvCxnSpPr>
          <p:cNvPr id="163" name="Google Shape;163;p20"/>
          <p:cNvCxnSpPr>
            <a:stCxn id="154" idx="0"/>
          </p:cNvCxnSpPr>
          <p:nvPr/>
        </p:nvCxnSpPr>
        <p:spPr>
          <a:xfrm rot="10800000">
            <a:off x="6629263" y="5486400"/>
            <a:ext cx="1328100" cy="381000"/>
          </a:xfrm>
          <a:prstGeom prst="straightConnector1">
            <a:avLst/>
          </a:prstGeom>
          <a:noFill/>
          <a:ln w="9525" cap="flat" cmpd="sng">
            <a:solidFill>
              <a:schemeClr val="accent1"/>
            </a:solidFill>
            <a:prstDash val="solid"/>
            <a:round/>
            <a:headEnd type="stealth" w="med" len="med"/>
            <a:tailEnd type="stealth" w="med" len="med"/>
          </a:ln>
        </p:spPr>
      </p:cxnSp>
      <p:cxnSp>
        <p:nvCxnSpPr>
          <p:cNvPr id="164" name="Google Shape;164;p20"/>
          <p:cNvCxnSpPr/>
          <p:nvPr/>
        </p:nvCxnSpPr>
        <p:spPr>
          <a:xfrm flipH="1">
            <a:off x="990600" y="5562600"/>
            <a:ext cx="990600" cy="152400"/>
          </a:xfrm>
          <a:prstGeom prst="straightConnector1">
            <a:avLst/>
          </a:prstGeom>
          <a:noFill/>
          <a:ln w="9525" cap="flat" cmpd="sng">
            <a:solidFill>
              <a:schemeClr val="accent1"/>
            </a:solidFill>
            <a:prstDash val="solid"/>
            <a:round/>
            <a:headEnd type="stealth" w="med" len="med"/>
            <a:tailEnd type="stealth" w="med" len="med"/>
          </a:ln>
        </p:spPr>
      </p:cxnSp>
      <p:sp>
        <p:nvSpPr>
          <p:cNvPr id="165" name="Google Shape;165;p20"/>
          <p:cNvSpPr txBox="1"/>
          <p:nvPr/>
        </p:nvSpPr>
        <p:spPr>
          <a:xfrm rot="-3420755">
            <a:off x="1183894" y="3962024"/>
            <a:ext cx="234872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Budget Information</a:t>
            </a:r>
            <a:endParaRPr/>
          </a:p>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And Instructions</a:t>
            </a:r>
            <a:endParaRPr sz="1800">
              <a:solidFill>
                <a:schemeClr val="dk1"/>
              </a:solidFill>
              <a:latin typeface="Lucida Sans"/>
              <a:ea typeface="Lucida Sans"/>
              <a:cs typeface="Lucida Sans"/>
              <a:sym typeface="Lucida Sans"/>
            </a:endParaRPr>
          </a:p>
        </p:txBody>
      </p:sp>
      <p:sp>
        <p:nvSpPr>
          <p:cNvPr id="166" name="Google Shape;166;p20"/>
          <p:cNvSpPr txBox="1"/>
          <p:nvPr/>
        </p:nvSpPr>
        <p:spPr>
          <a:xfrm rot="3413338">
            <a:off x="4654954" y="4108066"/>
            <a:ext cx="266611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Lucida Sans"/>
                <a:ea typeface="Lucida Sans"/>
                <a:cs typeface="Lucida Sans"/>
                <a:sym typeface="Lucida Sans"/>
              </a:rPr>
              <a:t>Performance Information</a:t>
            </a:r>
            <a:endParaRPr sz="1600">
              <a:solidFill>
                <a:schemeClr val="dk1"/>
              </a:solidFill>
              <a:latin typeface="Lucida Sans"/>
              <a:ea typeface="Lucida Sans"/>
              <a:cs typeface="Lucida Sans"/>
              <a:sym typeface="Lucida Sans"/>
            </a:endParaRPr>
          </a:p>
        </p:txBody>
      </p:sp>
      <p:sp>
        <p:nvSpPr>
          <p:cNvPr id="167" name="Google Shape;167;p20"/>
          <p:cNvSpPr/>
          <p:nvPr/>
        </p:nvSpPr>
        <p:spPr>
          <a:xfrm rot="-1822428">
            <a:off x="144700" y="2068999"/>
            <a:ext cx="2362200" cy="1871146"/>
          </a:xfrm>
          <a:prstGeom prst="flowChartMagneticTape">
            <a:avLst/>
          </a:prstGeom>
          <a:solidFill>
            <a:schemeClr val="accent3"/>
          </a:solidFill>
          <a:ln w="55000" cap="flat" cmpd="thickThin">
            <a:solidFill>
              <a:srgbClr val="AB481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FFFFFF"/>
                </a:solidFill>
                <a:latin typeface="Lucida Sans"/>
                <a:ea typeface="Lucida Sans"/>
                <a:cs typeface="Lucida Sans"/>
                <a:sym typeface="Lucida Sans"/>
              </a:rPr>
              <a:t>Are there  any differences in information requirement? Uses? Activities? Complexity of systems?</a:t>
            </a:r>
            <a:endParaRPr sz="1400">
              <a:solidFill>
                <a:srgbClr val="FFFFFF"/>
              </a:solidFill>
              <a:latin typeface="Lucida Sans"/>
              <a:ea typeface="Lucida Sans"/>
              <a:cs typeface="Lucida Sans"/>
              <a:sym typeface="Lucid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p:nvPr/>
        </p:nvSpPr>
        <p:spPr>
          <a:xfrm>
            <a:off x="2209800" y="2514600"/>
            <a:ext cx="1981200" cy="1524000"/>
          </a:xfrm>
          <a:prstGeom prst="rect">
            <a:avLst/>
          </a:prstGeom>
          <a:solidFill>
            <a:schemeClr val="accent1"/>
          </a:solidFill>
          <a:ln w="63500" cap="flat" cmpd="thickThin">
            <a:solidFill>
              <a:schemeClr val="l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Lucida Sans"/>
                <a:ea typeface="Lucida Sans"/>
                <a:cs typeface="Lucida Sans"/>
                <a:sym typeface="Lucida Sans"/>
              </a:rPr>
              <a:t>Information   System</a:t>
            </a:r>
            <a:endParaRPr sz="2400">
              <a:solidFill>
                <a:schemeClr val="lt1"/>
              </a:solidFill>
              <a:latin typeface="Lucida Sans"/>
              <a:ea typeface="Lucida Sans"/>
              <a:cs typeface="Lucida Sans"/>
              <a:sym typeface="Lucida Sans"/>
            </a:endParaRPr>
          </a:p>
        </p:txBody>
      </p:sp>
      <p:sp>
        <p:nvSpPr>
          <p:cNvPr id="173" name="Google Shape;173;p21"/>
          <p:cNvSpPr/>
          <p:nvPr/>
        </p:nvSpPr>
        <p:spPr>
          <a:xfrm>
            <a:off x="5943600" y="2514600"/>
            <a:ext cx="1981200" cy="1524000"/>
          </a:xfrm>
          <a:prstGeom prst="rect">
            <a:avLst/>
          </a:prstGeom>
          <a:solidFill>
            <a:schemeClr val="accent1"/>
          </a:solidFill>
          <a:ln w="63500" cap="flat" cmpd="thickThin">
            <a:solidFill>
              <a:schemeClr val="l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Lucida Sans"/>
                <a:ea typeface="Lucida Sans"/>
                <a:cs typeface="Lucida Sans"/>
                <a:sym typeface="Lucida Sans"/>
              </a:rPr>
              <a:t>Decision making </a:t>
            </a:r>
            <a:endParaRPr/>
          </a:p>
        </p:txBody>
      </p:sp>
      <p:cxnSp>
        <p:nvCxnSpPr>
          <p:cNvPr id="174" name="Google Shape;174;p21"/>
          <p:cNvCxnSpPr/>
          <p:nvPr/>
        </p:nvCxnSpPr>
        <p:spPr>
          <a:xfrm>
            <a:off x="457200" y="3276600"/>
            <a:ext cx="1676400" cy="0"/>
          </a:xfrm>
          <a:prstGeom prst="straightConnector1">
            <a:avLst/>
          </a:prstGeom>
          <a:noFill/>
          <a:ln w="55000" cap="flat" cmpd="thickThin">
            <a:solidFill>
              <a:schemeClr val="accent2"/>
            </a:solidFill>
            <a:prstDash val="solid"/>
            <a:round/>
            <a:headEnd type="none" w="sm" len="sm"/>
            <a:tailEnd type="stealth" w="med" len="med"/>
          </a:ln>
          <a:effectLst>
            <a:outerShdw blurRad="50800" dist="38100" dir="5400000" rotWithShape="0">
              <a:srgbClr val="000000">
                <a:alpha val="34901"/>
              </a:srgbClr>
            </a:outerShdw>
          </a:effectLst>
        </p:spPr>
      </p:cxnSp>
      <p:cxnSp>
        <p:nvCxnSpPr>
          <p:cNvPr id="175" name="Google Shape;175;p21"/>
          <p:cNvCxnSpPr/>
          <p:nvPr/>
        </p:nvCxnSpPr>
        <p:spPr>
          <a:xfrm>
            <a:off x="457200" y="3657600"/>
            <a:ext cx="1676400" cy="0"/>
          </a:xfrm>
          <a:prstGeom prst="straightConnector1">
            <a:avLst/>
          </a:prstGeom>
          <a:noFill/>
          <a:ln w="635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cxnSp>
        <p:nvCxnSpPr>
          <p:cNvPr id="176" name="Google Shape;176;p21"/>
          <p:cNvCxnSpPr/>
          <p:nvPr/>
        </p:nvCxnSpPr>
        <p:spPr>
          <a:xfrm>
            <a:off x="4191000" y="3352800"/>
            <a:ext cx="1676400" cy="0"/>
          </a:xfrm>
          <a:prstGeom prst="straightConnector1">
            <a:avLst/>
          </a:prstGeom>
          <a:noFill/>
          <a:ln w="635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sp>
        <p:nvSpPr>
          <p:cNvPr id="177" name="Google Shape;177;p21"/>
          <p:cNvSpPr txBox="1"/>
          <p:nvPr/>
        </p:nvSpPr>
        <p:spPr>
          <a:xfrm>
            <a:off x="474891" y="2514600"/>
            <a:ext cx="1688283"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Financial </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Transactions </a:t>
            </a:r>
            <a:endParaRPr sz="1800">
              <a:solidFill>
                <a:schemeClr val="dk1"/>
              </a:solidFill>
              <a:latin typeface="Lucida Sans"/>
              <a:ea typeface="Lucida Sans"/>
              <a:cs typeface="Lucida Sans"/>
              <a:sym typeface="Lucida Sans"/>
            </a:endParaRPr>
          </a:p>
        </p:txBody>
      </p:sp>
      <p:sp>
        <p:nvSpPr>
          <p:cNvPr id="178" name="Google Shape;178;p21"/>
          <p:cNvSpPr txBox="1"/>
          <p:nvPr/>
        </p:nvSpPr>
        <p:spPr>
          <a:xfrm>
            <a:off x="533400" y="3773269"/>
            <a:ext cx="1614545"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Nonfinancial</a:t>
            </a:r>
            <a:endParaRPr/>
          </a:p>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Transactions</a:t>
            </a:r>
            <a:endParaRPr/>
          </a:p>
        </p:txBody>
      </p:sp>
      <p:sp>
        <p:nvSpPr>
          <p:cNvPr id="179" name="Google Shape;179;p21"/>
          <p:cNvSpPr txBox="1"/>
          <p:nvPr/>
        </p:nvSpPr>
        <p:spPr>
          <a:xfrm>
            <a:off x="4267200" y="2819400"/>
            <a:ext cx="156966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Information </a:t>
            </a:r>
            <a:endParaRPr sz="1800">
              <a:solidFill>
                <a:schemeClr val="dk1"/>
              </a:solidFill>
              <a:latin typeface="Lucida Sans"/>
              <a:ea typeface="Lucida Sans"/>
              <a:cs typeface="Lucida Sans"/>
              <a:sym typeface="Lucid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Transaction</a:t>
            </a:r>
            <a:endParaRPr/>
          </a:p>
          <a:p>
            <a:pPr marL="621792" lvl="1" indent="-228600" algn="just" rtl="0">
              <a:spcBef>
                <a:spcPts val="324"/>
              </a:spcBef>
              <a:spcAft>
                <a:spcPts val="0"/>
              </a:spcAft>
              <a:buSzPts val="2300"/>
              <a:buChar char="◦"/>
            </a:pPr>
            <a:r>
              <a:rPr lang="en-US"/>
              <a:t>An event that affects or is of interest to the organisation and is processed by its Information System as a unit of work.</a:t>
            </a:r>
            <a:endParaRPr/>
          </a:p>
          <a:p>
            <a:pPr marL="621792" lvl="1" indent="-82550" algn="just" rtl="0">
              <a:spcBef>
                <a:spcPts val="324"/>
              </a:spcBef>
              <a:spcAft>
                <a:spcPts val="0"/>
              </a:spcAft>
              <a:buSzPts val="2300"/>
              <a:buNone/>
            </a:pPr>
            <a:endParaRPr/>
          </a:p>
          <a:p>
            <a:pPr marL="365760" lvl="0" indent="-256032" algn="just" rtl="0">
              <a:spcBef>
                <a:spcPts val="400"/>
              </a:spcBef>
              <a:spcAft>
                <a:spcPts val="0"/>
              </a:spcAft>
              <a:buSzPts val="1836"/>
              <a:buChar char="🞂"/>
            </a:pPr>
            <a:r>
              <a:rPr lang="en-US"/>
              <a:t>Financial transaction</a:t>
            </a:r>
            <a:endParaRPr/>
          </a:p>
          <a:p>
            <a:pPr marL="621792" lvl="1" indent="-228600" algn="just" rtl="0">
              <a:spcBef>
                <a:spcPts val="324"/>
              </a:spcBef>
              <a:spcAft>
                <a:spcPts val="0"/>
              </a:spcAft>
              <a:buSzPts val="2300"/>
              <a:buChar char="◦"/>
            </a:pPr>
            <a:r>
              <a:rPr lang="en-US"/>
              <a:t>An economic activity that affects the assets and equities of the organisation which is reflected in its accounts and is measured in monetary terms.</a:t>
            </a:r>
            <a:endParaRPr/>
          </a:p>
        </p:txBody>
      </p:sp>
      <p:sp>
        <p:nvSpPr>
          <p:cNvPr id="185" name="Google Shape;185;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Transaction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AutoNum type="arabicPeriod"/>
            </a:pPr>
            <a:r>
              <a:rPr lang="en-US"/>
              <a:t>Obtain information about external transactions from source documents.</a:t>
            </a:r>
            <a:endParaRPr/>
          </a:p>
          <a:p>
            <a:pPr marL="624078" lvl="0" indent="-514350" algn="just" rtl="0">
              <a:spcBef>
                <a:spcPts val="400"/>
              </a:spcBef>
              <a:spcAft>
                <a:spcPts val="0"/>
              </a:spcAft>
              <a:buSzPts val="1836"/>
              <a:buAutoNum type="arabicPeriod"/>
            </a:pPr>
            <a:r>
              <a:rPr lang="en-US"/>
              <a:t>Analyse transactions.</a:t>
            </a:r>
            <a:endParaRPr/>
          </a:p>
          <a:p>
            <a:pPr marL="624078" lvl="0" indent="-514350" algn="just" rtl="0">
              <a:spcBef>
                <a:spcPts val="400"/>
              </a:spcBef>
              <a:spcAft>
                <a:spcPts val="0"/>
              </a:spcAft>
              <a:buSzPts val="1836"/>
              <a:buAutoNum type="arabicPeriod"/>
            </a:pPr>
            <a:r>
              <a:rPr lang="en-US"/>
              <a:t>Record the transactions in a journal.</a:t>
            </a:r>
            <a:endParaRPr/>
          </a:p>
          <a:p>
            <a:pPr marL="624078" lvl="0" indent="-514350" algn="just" rtl="0">
              <a:spcBef>
                <a:spcPts val="400"/>
              </a:spcBef>
              <a:spcAft>
                <a:spcPts val="0"/>
              </a:spcAft>
              <a:buSzPts val="1836"/>
              <a:buAutoNum type="arabicPeriod"/>
            </a:pPr>
            <a:r>
              <a:rPr lang="en-US"/>
              <a:t>Post from the journal to the general ledger accounts.</a:t>
            </a:r>
            <a:endParaRPr/>
          </a:p>
          <a:p>
            <a:pPr marL="624078" lvl="0" indent="-514350" algn="just" rtl="0">
              <a:spcBef>
                <a:spcPts val="400"/>
              </a:spcBef>
              <a:spcAft>
                <a:spcPts val="0"/>
              </a:spcAft>
              <a:buSzPts val="1836"/>
              <a:buAutoNum type="arabicPeriod"/>
            </a:pPr>
            <a:r>
              <a:rPr lang="en-US"/>
              <a:t>Prepare an unadjusted trial balance.</a:t>
            </a:r>
            <a:endParaRPr/>
          </a:p>
          <a:p>
            <a:pPr marL="365760" lvl="0" indent="-139446" algn="just" rtl="0">
              <a:spcBef>
                <a:spcPts val="400"/>
              </a:spcBef>
              <a:spcAft>
                <a:spcPts val="0"/>
              </a:spcAft>
              <a:buSzPts val="1836"/>
              <a:buNone/>
            </a:pPr>
            <a:endParaRPr/>
          </a:p>
        </p:txBody>
      </p:sp>
      <p:sp>
        <p:nvSpPr>
          <p:cNvPr id="191" name="Google Shape;191;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Accounting Cycle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6. Record and adjust entries and post to the general ledger.</a:t>
            </a:r>
            <a:endParaRPr/>
          </a:p>
          <a:p>
            <a:pPr marL="365760" lvl="0" indent="-256032" algn="just" rtl="0">
              <a:spcBef>
                <a:spcPts val="400"/>
              </a:spcBef>
              <a:spcAft>
                <a:spcPts val="0"/>
              </a:spcAft>
              <a:buSzPts val="1836"/>
              <a:buNone/>
            </a:pPr>
            <a:r>
              <a:rPr lang="en-US"/>
              <a:t>7. Prepare an adjusted trial balance</a:t>
            </a:r>
            <a:endParaRPr/>
          </a:p>
          <a:p>
            <a:pPr marL="365760" lvl="0" indent="-256032" algn="just" rtl="0">
              <a:spcBef>
                <a:spcPts val="400"/>
              </a:spcBef>
              <a:spcAft>
                <a:spcPts val="0"/>
              </a:spcAft>
              <a:buSzPts val="1836"/>
              <a:buNone/>
            </a:pPr>
            <a:r>
              <a:rPr lang="en-US"/>
              <a:t>8. Prepare financial statements.</a:t>
            </a:r>
            <a:endParaRPr/>
          </a:p>
          <a:p>
            <a:pPr marL="365760" lvl="0" indent="-256032" algn="just" rtl="0">
              <a:spcBef>
                <a:spcPts val="400"/>
              </a:spcBef>
              <a:spcAft>
                <a:spcPts val="0"/>
              </a:spcAft>
              <a:buSzPts val="1836"/>
              <a:buNone/>
            </a:pPr>
            <a:r>
              <a:rPr lang="en-US"/>
              <a:t>9. Close the temporary accounts to retained earnings (at year-end only).</a:t>
            </a:r>
            <a:endParaRPr/>
          </a:p>
          <a:p>
            <a:pPr marL="365760" lvl="0" indent="-256032" algn="just" rtl="0">
              <a:spcBef>
                <a:spcPts val="400"/>
              </a:spcBef>
              <a:spcAft>
                <a:spcPts val="0"/>
              </a:spcAft>
              <a:buSzPts val="1836"/>
              <a:buNone/>
            </a:pPr>
            <a:r>
              <a:rPr lang="en-US"/>
              <a:t>10. Prepare a post closing trial balance (at year-end only).</a:t>
            </a:r>
            <a:endParaRPr/>
          </a:p>
          <a:p>
            <a:pPr marL="365760" lvl="0" indent="-256032" algn="just" rtl="0">
              <a:spcBef>
                <a:spcPts val="400"/>
              </a:spcBef>
              <a:spcAft>
                <a:spcPts val="0"/>
              </a:spcAft>
              <a:buSzPts val="1836"/>
              <a:buNone/>
            </a:pPr>
            <a:endParaRPr/>
          </a:p>
          <a:p>
            <a:pPr marL="365760" lvl="0" indent="-256032" algn="just" rtl="0">
              <a:spcBef>
                <a:spcPts val="400"/>
              </a:spcBef>
              <a:spcAft>
                <a:spcPts val="0"/>
              </a:spcAft>
              <a:buSzPts val="1836"/>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5"/>
          <p:cNvSpPr txBox="1">
            <a:spLocks noGrp="1"/>
          </p:cNvSpPr>
          <p:nvPr>
            <p:ph type="body" idx="1"/>
          </p:nvPr>
        </p:nvSpPr>
        <p:spPr>
          <a:xfrm>
            <a:off x="457200" y="1481328"/>
            <a:ext cx="8229600" cy="5071872"/>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698"/>
              <a:buAutoNum type="arabicPeriod"/>
            </a:pPr>
            <a:r>
              <a:rPr lang="en-US" sz="2497"/>
              <a:t>Department requests goods/services.</a:t>
            </a:r>
            <a:endParaRPr/>
          </a:p>
          <a:p>
            <a:pPr marL="624078" lvl="0" indent="-514350" algn="just" rtl="0">
              <a:spcBef>
                <a:spcPts val="400"/>
              </a:spcBef>
              <a:spcAft>
                <a:spcPts val="0"/>
              </a:spcAft>
              <a:buSzPts val="1698"/>
              <a:buAutoNum type="arabicPeriod"/>
            </a:pPr>
            <a:r>
              <a:rPr lang="en-US" sz="2497"/>
              <a:t>Purchase department authorises the purchase.</a:t>
            </a:r>
            <a:endParaRPr/>
          </a:p>
          <a:p>
            <a:pPr marL="624078" lvl="0" indent="-514350" algn="just" rtl="0">
              <a:spcBef>
                <a:spcPts val="400"/>
              </a:spcBef>
              <a:spcAft>
                <a:spcPts val="0"/>
              </a:spcAft>
              <a:buSzPts val="1698"/>
              <a:buAutoNum type="arabicPeriod"/>
            </a:pPr>
            <a:r>
              <a:rPr lang="en-US" sz="2497"/>
              <a:t>Order is placed with a supplier organisation.</a:t>
            </a:r>
            <a:endParaRPr/>
          </a:p>
          <a:p>
            <a:pPr marL="624078" lvl="0" indent="-514350" algn="just" rtl="0">
              <a:spcBef>
                <a:spcPts val="400"/>
              </a:spcBef>
              <a:spcAft>
                <a:spcPts val="0"/>
              </a:spcAft>
              <a:buSzPts val="1698"/>
              <a:buAutoNum type="arabicPeriod"/>
            </a:pPr>
            <a:r>
              <a:rPr lang="en-US" sz="2497"/>
              <a:t>Credit department approves the customer’s credit.</a:t>
            </a:r>
            <a:endParaRPr/>
          </a:p>
          <a:p>
            <a:pPr marL="624078" lvl="0" indent="-514350" algn="just" rtl="0">
              <a:spcBef>
                <a:spcPts val="400"/>
              </a:spcBef>
              <a:spcAft>
                <a:spcPts val="0"/>
              </a:spcAft>
              <a:buSzPts val="1698"/>
              <a:buAutoNum type="arabicPeriod"/>
            </a:pPr>
            <a:r>
              <a:rPr lang="en-US" sz="2497"/>
              <a:t>Warehouse fills the order upon approval.</a:t>
            </a:r>
            <a:endParaRPr/>
          </a:p>
          <a:p>
            <a:pPr marL="624078" lvl="0" indent="-514350" algn="just" rtl="0">
              <a:spcBef>
                <a:spcPts val="400"/>
              </a:spcBef>
              <a:spcAft>
                <a:spcPts val="0"/>
              </a:spcAft>
              <a:buSzPts val="1698"/>
              <a:buAutoNum type="arabicPeriod"/>
            </a:pPr>
            <a:r>
              <a:rPr lang="en-US" sz="2497"/>
              <a:t>Order is shipped to customer.</a:t>
            </a:r>
            <a:endParaRPr/>
          </a:p>
          <a:p>
            <a:pPr marL="624078" lvl="0" indent="-514350" algn="just" rtl="0">
              <a:spcBef>
                <a:spcPts val="400"/>
              </a:spcBef>
              <a:spcAft>
                <a:spcPts val="0"/>
              </a:spcAft>
              <a:buSzPts val="1698"/>
              <a:buAutoNum type="arabicPeriod"/>
            </a:pPr>
            <a:r>
              <a:rPr lang="en-US" sz="2497"/>
              <a:t>Receiving organisation accepts the order.</a:t>
            </a:r>
            <a:endParaRPr/>
          </a:p>
          <a:p>
            <a:pPr marL="624078" lvl="0" indent="-514350" algn="just" rtl="0">
              <a:spcBef>
                <a:spcPts val="400"/>
              </a:spcBef>
              <a:spcAft>
                <a:spcPts val="0"/>
              </a:spcAft>
              <a:buSzPts val="1698"/>
              <a:buAutoNum type="arabicPeriod"/>
            </a:pPr>
            <a:r>
              <a:rPr lang="en-US" sz="2497"/>
              <a:t>The customer is billed by supplier.</a:t>
            </a:r>
            <a:endParaRPr/>
          </a:p>
          <a:p>
            <a:pPr marL="624078" lvl="0" indent="-514350" algn="just" rtl="0">
              <a:spcBef>
                <a:spcPts val="400"/>
              </a:spcBef>
              <a:spcAft>
                <a:spcPts val="0"/>
              </a:spcAft>
              <a:buSzPts val="1698"/>
              <a:buAutoNum type="arabicPeriod"/>
            </a:pPr>
            <a:r>
              <a:rPr lang="en-US" sz="2497"/>
              <a:t>Payment is effected by receiver organisation.</a:t>
            </a:r>
            <a:endParaRPr/>
          </a:p>
          <a:p>
            <a:pPr marL="624078" lvl="0" indent="-514350" algn="just" rtl="0">
              <a:spcBef>
                <a:spcPts val="400"/>
              </a:spcBef>
              <a:spcAft>
                <a:spcPts val="0"/>
              </a:spcAft>
              <a:buSzPts val="1698"/>
              <a:buAutoNum type="arabicPeriod"/>
            </a:pPr>
            <a:r>
              <a:rPr lang="en-US" sz="2497"/>
              <a:t>Cash receipts department collects payment.</a:t>
            </a:r>
            <a:endParaRPr/>
          </a:p>
        </p:txBody>
      </p:sp>
      <p:sp>
        <p:nvSpPr>
          <p:cNvPr id="202" name="Google Shape;202;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Business Process Relationships e.g</a:t>
            </a:r>
            <a:endParaRPr sz="369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6"/>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lt2"/>
              </a:buClr>
              <a:buSzPts val="4800"/>
              <a:buFont typeface="Lucida Sans"/>
              <a:buNone/>
            </a:pPr>
            <a:r>
              <a:rPr lang="en-US"/>
              <a:t>ACCOUNTING INFORMATION SYSTEMS</a:t>
            </a:r>
            <a:endParaRPr/>
          </a:p>
        </p:txBody>
      </p:sp>
      <p:sp>
        <p:nvSpPr>
          <p:cNvPr id="208" name="Google Shape;208;p26"/>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SzPts val="1564"/>
              <a:buNone/>
            </a:pPr>
            <a:r>
              <a:rPr lang="en-US"/>
              <a:t>SECTION 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lnSpc>
                <a:spcPct val="90000"/>
              </a:lnSpc>
              <a:spcBef>
                <a:spcPts val="0"/>
              </a:spcBef>
              <a:spcAft>
                <a:spcPts val="0"/>
              </a:spcAft>
              <a:buSzPts val="1836"/>
              <a:buChar char="🞂"/>
            </a:pPr>
            <a:r>
              <a:rPr lang="en-US">
                <a:solidFill>
                  <a:srgbClr val="A3171E"/>
                </a:solidFill>
              </a:rPr>
              <a:t>What is an Information System?</a:t>
            </a:r>
            <a:endParaRPr/>
          </a:p>
          <a:p>
            <a:pPr marL="365760" lvl="0" indent="-256032" algn="l" rtl="0">
              <a:lnSpc>
                <a:spcPct val="90000"/>
              </a:lnSpc>
              <a:spcBef>
                <a:spcPts val="400"/>
              </a:spcBef>
              <a:spcAft>
                <a:spcPts val="0"/>
              </a:spcAft>
              <a:buSzPts val="1836"/>
              <a:buChar char="🞂"/>
            </a:pPr>
            <a:r>
              <a:rPr lang="en-US">
                <a:solidFill>
                  <a:srgbClr val="1FADCC"/>
                </a:solidFill>
              </a:rPr>
              <a:t>What are the components of an Information System?</a:t>
            </a:r>
            <a:endParaRPr/>
          </a:p>
          <a:p>
            <a:pPr marL="365760" lvl="0" indent="-256032" algn="l" rtl="0">
              <a:lnSpc>
                <a:spcPct val="90000"/>
              </a:lnSpc>
              <a:spcBef>
                <a:spcPts val="400"/>
              </a:spcBef>
              <a:spcAft>
                <a:spcPts val="0"/>
              </a:spcAft>
              <a:buSzPts val="1836"/>
              <a:buChar char="🞂"/>
            </a:pPr>
            <a:r>
              <a:rPr lang="en-US">
                <a:solidFill>
                  <a:srgbClr val="A3171E"/>
                </a:solidFill>
              </a:rPr>
              <a:t>Which are the common types of Information Systems?</a:t>
            </a:r>
            <a:endParaRPr/>
          </a:p>
          <a:p>
            <a:pPr marL="365760" lvl="0" indent="-256032" algn="l" rtl="0">
              <a:lnSpc>
                <a:spcPct val="90000"/>
              </a:lnSpc>
              <a:spcBef>
                <a:spcPts val="400"/>
              </a:spcBef>
              <a:spcAft>
                <a:spcPts val="0"/>
              </a:spcAft>
              <a:buSzPts val="1836"/>
              <a:buChar char="🞂"/>
            </a:pPr>
            <a:r>
              <a:rPr lang="en-US">
                <a:solidFill>
                  <a:srgbClr val="1FADCC"/>
                </a:solidFill>
              </a:rPr>
              <a:t>How does the concept of an Information System relate to Accounting?</a:t>
            </a:r>
            <a:endParaRPr/>
          </a:p>
          <a:p>
            <a:pPr marL="365760" lvl="0" indent="-256032" algn="l" rtl="0">
              <a:lnSpc>
                <a:spcPct val="90000"/>
              </a:lnSpc>
              <a:spcBef>
                <a:spcPts val="400"/>
              </a:spcBef>
              <a:spcAft>
                <a:spcPts val="0"/>
              </a:spcAft>
              <a:buSzPts val="1836"/>
              <a:buChar char="🞂"/>
            </a:pPr>
            <a:r>
              <a:rPr lang="en-US">
                <a:solidFill>
                  <a:srgbClr val="A3171E"/>
                </a:solidFill>
              </a:rPr>
              <a:t>Is the concept of Information Systems relevant to Accounting Information Systems?</a:t>
            </a:r>
            <a:endParaRPr/>
          </a:p>
          <a:p>
            <a:pPr marL="365760" lvl="0" indent="-256032" algn="l" rtl="0">
              <a:lnSpc>
                <a:spcPct val="90000"/>
              </a:lnSpc>
              <a:spcBef>
                <a:spcPts val="400"/>
              </a:spcBef>
              <a:spcAft>
                <a:spcPts val="0"/>
              </a:spcAft>
              <a:buSzPts val="1836"/>
              <a:buChar char="🞂"/>
            </a:pPr>
            <a:r>
              <a:rPr lang="en-US">
                <a:solidFill>
                  <a:srgbClr val="1FADCC"/>
                </a:solidFill>
              </a:rPr>
              <a:t>What then is the Information System reflected by the Accounting System?</a:t>
            </a:r>
            <a:endParaRPr/>
          </a:p>
        </p:txBody>
      </p:sp>
      <p:sp>
        <p:nvSpPr>
          <p:cNvPr id="214" name="Google Shape;214;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What about Information Systems?</a:t>
            </a:r>
            <a:endParaRPr sz="369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 set of interrelated activities, documents and technologies designed to collect data, process it and report information to a diverse group of internal and external decision makers of an organisation.</a:t>
            </a:r>
            <a:endParaRPr/>
          </a:p>
          <a:p>
            <a:pPr marL="365760" lvl="0" indent="-139446" algn="just" rtl="0">
              <a:spcBef>
                <a:spcPts val="400"/>
              </a:spcBef>
              <a:spcAft>
                <a:spcPts val="0"/>
              </a:spcAft>
              <a:buSzPts val="1836"/>
              <a:buNone/>
            </a:pPr>
            <a:endParaRPr/>
          </a:p>
          <a:p>
            <a:pPr marL="365760" lvl="0" indent="-139446" algn="just" rtl="0">
              <a:spcBef>
                <a:spcPts val="400"/>
              </a:spcBef>
              <a:spcAft>
                <a:spcPts val="0"/>
              </a:spcAft>
              <a:buSzPts val="1836"/>
              <a:buNone/>
            </a:pPr>
            <a:endParaRPr/>
          </a:p>
        </p:txBody>
      </p:sp>
      <p:sp>
        <p:nvSpPr>
          <p:cNvPr id="220" name="Google Shape;220;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Accounting Info 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General AIS Model</a:t>
            </a:r>
            <a:endParaRPr/>
          </a:p>
        </p:txBody>
      </p:sp>
      <p:sp>
        <p:nvSpPr>
          <p:cNvPr id="226" name="Google Shape;226;p29"/>
          <p:cNvSpPr/>
          <p:nvPr/>
        </p:nvSpPr>
        <p:spPr>
          <a:xfrm>
            <a:off x="457200" y="1600200"/>
            <a:ext cx="8458200" cy="5029200"/>
          </a:xfrm>
          <a:prstGeom prst="rect">
            <a:avLst/>
          </a:prstGeom>
          <a:solidFill>
            <a:schemeClr val="lt1"/>
          </a:solidFill>
          <a:ln w="952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Feedback</a:t>
            </a:r>
            <a:endParaRPr sz="1800">
              <a:solidFill>
                <a:schemeClr val="dk1"/>
              </a:solidFill>
              <a:latin typeface="Lucida Sans"/>
              <a:ea typeface="Lucida Sans"/>
              <a:cs typeface="Lucida Sans"/>
              <a:sym typeface="Lucida Sans"/>
            </a:endParaRPr>
          </a:p>
        </p:txBody>
      </p:sp>
      <p:sp>
        <p:nvSpPr>
          <p:cNvPr id="227" name="Google Shape;227;p29"/>
          <p:cNvSpPr/>
          <p:nvPr/>
        </p:nvSpPr>
        <p:spPr>
          <a:xfrm>
            <a:off x="609600" y="35052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External Sources Of Data</a:t>
            </a:r>
            <a:endParaRPr sz="1600">
              <a:solidFill>
                <a:schemeClr val="dk1"/>
              </a:solidFill>
              <a:latin typeface="Lucida Sans"/>
              <a:ea typeface="Lucida Sans"/>
              <a:cs typeface="Lucida Sans"/>
              <a:sym typeface="Lucida Sans"/>
            </a:endParaRPr>
          </a:p>
        </p:txBody>
      </p:sp>
      <p:sp>
        <p:nvSpPr>
          <p:cNvPr id="228" name="Google Shape;228;p29"/>
          <p:cNvSpPr/>
          <p:nvPr/>
        </p:nvSpPr>
        <p:spPr>
          <a:xfrm>
            <a:off x="2362200" y="3505200"/>
            <a:ext cx="1219200" cy="9144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Data Collection</a:t>
            </a:r>
            <a:endParaRPr/>
          </a:p>
        </p:txBody>
      </p:sp>
      <p:sp>
        <p:nvSpPr>
          <p:cNvPr id="229" name="Google Shape;229;p29"/>
          <p:cNvSpPr/>
          <p:nvPr/>
        </p:nvSpPr>
        <p:spPr>
          <a:xfrm>
            <a:off x="3962400" y="3505200"/>
            <a:ext cx="1371600" cy="9144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Data Processing</a:t>
            </a:r>
            <a:endParaRPr/>
          </a:p>
        </p:txBody>
      </p:sp>
      <p:sp>
        <p:nvSpPr>
          <p:cNvPr id="230" name="Google Shape;230;p29"/>
          <p:cNvSpPr/>
          <p:nvPr/>
        </p:nvSpPr>
        <p:spPr>
          <a:xfrm>
            <a:off x="5638800" y="3505200"/>
            <a:ext cx="1371600" cy="9144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Information Generation</a:t>
            </a:r>
            <a:endParaRPr/>
          </a:p>
        </p:txBody>
      </p:sp>
      <p:sp>
        <p:nvSpPr>
          <p:cNvPr id="231" name="Google Shape;231;p29"/>
          <p:cNvSpPr/>
          <p:nvPr/>
        </p:nvSpPr>
        <p:spPr>
          <a:xfrm>
            <a:off x="7315200" y="35052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External End Users</a:t>
            </a:r>
            <a:endParaRPr/>
          </a:p>
        </p:txBody>
      </p:sp>
      <p:sp>
        <p:nvSpPr>
          <p:cNvPr id="232" name="Google Shape;232;p29"/>
          <p:cNvSpPr/>
          <p:nvPr/>
        </p:nvSpPr>
        <p:spPr>
          <a:xfrm>
            <a:off x="2362200" y="5029200"/>
            <a:ext cx="12192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Internal Sources of Data</a:t>
            </a:r>
            <a:endParaRPr/>
          </a:p>
        </p:txBody>
      </p:sp>
      <p:sp>
        <p:nvSpPr>
          <p:cNvPr id="233" name="Google Shape;233;p29"/>
          <p:cNvSpPr/>
          <p:nvPr/>
        </p:nvSpPr>
        <p:spPr>
          <a:xfrm>
            <a:off x="5638800" y="50292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Internal End Users</a:t>
            </a:r>
            <a:endParaRPr/>
          </a:p>
        </p:txBody>
      </p:sp>
      <p:sp>
        <p:nvSpPr>
          <p:cNvPr id="234" name="Google Shape;234;p29"/>
          <p:cNvSpPr/>
          <p:nvPr/>
        </p:nvSpPr>
        <p:spPr>
          <a:xfrm>
            <a:off x="3886200" y="2057400"/>
            <a:ext cx="15240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Database Management</a:t>
            </a:r>
            <a:endParaRPr/>
          </a:p>
        </p:txBody>
      </p:sp>
      <p:cxnSp>
        <p:nvCxnSpPr>
          <p:cNvPr id="235" name="Google Shape;235;p29"/>
          <p:cNvCxnSpPr/>
          <p:nvPr/>
        </p:nvCxnSpPr>
        <p:spPr>
          <a:xfrm>
            <a:off x="1981200" y="4038600"/>
            <a:ext cx="304800" cy="0"/>
          </a:xfrm>
          <a:prstGeom prst="straightConnector1">
            <a:avLst/>
          </a:prstGeom>
          <a:noFill/>
          <a:ln w="9525" cap="flat" cmpd="sng">
            <a:solidFill>
              <a:schemeClr val="accent1"/>
            </a:solidFill>
            <a:prstDash val="solid"/>
            <a:round/>
            <a:headEnd type="none" w="sm" len="sm"/>
            <a:tailEnd type="stealth" w="med" len="med"/>
          </a:ln>
        </p:spPr>
      </p:cxnSp>
      <p:cxnSp>
        <p:nvCxnSpPr>
          <p:cNvPr id="236" name="Google Shape;236;p29"/>
          <p:cNvCxnSpPr/>
          <p:nvPr/>
        </p:nvCxnSpPr>
        <p:spPr>
          <a:xfrm rot="10800000">
            <a:off x="2895600" y="4419600"/>
            <a:ext cx="0" cy="609600"/>
          </a:xfrm>
          <a:prstGeom prst="straightConnector1">
            <a:avLst/>
          </a:prstGeom>
          <a:noFill/>
          <a:ln w="9525" cap="flat" cmpd="sng">
            <a:solidFill>
              <a:schemeClr val="accent1"/>
            </a:solidFill>
            <a:prstDash val="solid"/>
            <a:round/>
            <a:headEnd type="none" w="sm" len="sm"/>
            <a:tailEnd type="stealth" w="med" len="med"/>
          </a:ln>
        </p:spPr>
      </p:cxnSp>
      <p:cxnSp>
        <p:nvCxnSpPr>
          <p:cNvPr id="237" name="Google Shape;237;p29"/>
          <p:cNvCxnSpPr/>
          <p:nvPr/>
        </p:nvCxnSpPr>
        <p:spPr>
          <a:xfrm>
            <a:off x="6324600" y="4419600"/>
            <a:ext cx="0" cy="533400"/>
          </a:xfrm>
          <a:prstGeom prst="straightConnector1">
            <a:avLst/>
          </a:prstGeom>
          <a:noFill/>
          <a:ln w="9525" cap="flat" cmpd="sng">
            <a:solidFill>
              <a:schemeClr val="accent1"/>
            </a:solidFill>
            <a:prstDash val="solid"/>
            <a:round/>
            <a:headEnd type="none" w="sm" len="sm"/>
            <a:tailEnd type="stealth" w="med" len="med"/>
          </a:ln>
        </p:spPr>
      </p:cxnSp>
      <p:cxnSp>
        <p:nvCxnSpPr>
          <p:cNvPr id="238" name="Google Shape;238;p29"/>
          <p:cNvCxnSpPr/>
          <p:nvPr/>
        </p:nvCxnSpPr>
        <p:spPr>
          <a:xfrm rot="10800000">
            <a:off x="2895600" y="4800600"/>
            <a:ext cx="3429000" cy="0"/>
          </a:xfrm>
          <a:prstGeom prst="straightConnector1">
            <a:avLst/>
          </a:prstGeom>
          <a:noFill/>
          <a:ln w="9525" cap="flat" cmpd="sng">
            <a:solidFill>
              <a:schemeClr val="dk1"/>
            </a:solidFill>
            <a:prstDash val="solid"/>
            <a:round/>
            <a:headEnd type="none" w="sm" len="sm"/>
            <a:tailEnd type="stealth" w="med" len="med"/>
          </a:ln>
        </p:spPr>
      </p:cxnSp>
      <p:cxnSp>
        <p:nvCxnSpPr>
          <p:cNvPr id="239" name="Google Shape;239;p29"/>
          <p:cNvCxnSpPr/>
          <p:nvPr/>
        </p:nvCxnSpPr>
        <p:spPr>
          <a:xfrm>
            <a:off x="3657600" y="4038600"/>
            <a:ext cx="304800" cy="0"/>
          </a:xfrm>
          <a:prstGeom prst="straightConnector1">
            <a:avLst/>
          </a:prstGeom>
          <a:noFill/>
          <a:ln w="9525" cap="flat" cmpd="sng">
            <a:solidFill>
              <a:schemeClr val="accent1"/>
            </a:solidFill>
            <a:prstDash val="solid"/>
            <a:round/>
            <a:headEnd type="none" w="sm" len="sm"/>
            <a:tailEnd type="stealth" w="med" len="med"/>
          </a:ln>
        </p:spPr>
      </p:cxnSp>
      <p:cxnSp>
        <p:nvCxnSpPr>
          <p:cNvPr id="240" name="Google Shape;240;p29"/>
          <p:cNvCxnSpPr/>
          <p:nvPr/>
        </p:nvCxnSpPr>
        <p:spPr>
          <a:xfrm>
            <a:off x="5334000" y="4038600"/>
            <a:ext cx="304800" cy="0"/>
          </a:xfrm>
          <a:prstGeom prst="straightConnector1">
            <a:avLst/>
          </a:prstGeom>
          <a:noFill/>
          <a:ln w="9525" cap="flat" cmpd="sng">
            <a:solidFill>
              <a:schemeClr val="accent1"/>
            </a:solidFill>
            <a:prstDash val="solid"/>
            <a:round/>
            <a:headEnd type="none" w="sm" len="sm"/>
            <a:tailEnd type="stealth" w="med" len="med"/>
          </a:ln>
        </p:spPr>
      </p:cxnSp>
      <p:cxnSp>
        <p:nvCxnSpPr>
          <p:cNvPr id="241" name="Google Shape;241;p29"/>
          <p:cNvCxnSpPr/>
          <p:nvPr/>
        </p:nvCxnSpPr>
        <p:spPr>
          <a:xfrm>
            <a:off x="7010400" y="4038600"/>
            <a:ext cx="304800" cy="0"/>
          </a:xfrm>
          <a:prstGeom prst="straightConnector1">
            <a:avLst/>
          </a:prstGeom>
          <a:noFill/>
          <a:ln w="9525" cap="flat" cmpd="sng">
            <a:solidFill>
              <a:schemeClr val="accent1"/>
            </a:solidFill>
            <a:prstDash val="solid"/>
            <a:round/>
            <a:headEnd type="none" w="sm" len="sm"/>
            <a:tailEnd type="stealth" w="med" len="med"/>
          </a:ln>
        </p:spPr>
      </p:cxnSp>
      <p:sp>
        <p:nvSpPr>
          <p:cNvPr id="242" name="Google Shape;242;p29"/>
          <p:cNvSpPr txBox="1"/>
          <p:nvPr/>
        </p:nvSpPr>
        <p:spPr>
          <a:xfrm>
            <a:off x="3886200" y="4876800"/>
            <a:ext cx="13115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Feedback </a:t>
            </a:r>
            <a:endParaRPr sz="1800">
              <a:solidFill>
                <a:schemeClr val="dk1"/>
              </a:solidFill>
              <a:latin typeface="Lucida Sans"/>
              <a:ea typeface="Lucida Sans"/>
              <a:cs typeface="Lucida Sans"/>
              <a:sym typeface="Lucida Sans"/>
            </a:endParaRPr>
          </a:p>
        </p:txBody>
      </p:sp>
      <p:cxnSp>
        <p:nvCxnSpPr>
          <p:cNvPr id="243" name="Google Shape;243;p29"/>
          <p:cNvCxnSpPr/>
          <p:nvPr/>
        </p:nvCxnSpPr>
        <p:spPr>
          <a:xfrm>
            <a:off x="4572000" y="3048000"/>
            <a:ext cx="0" cy="381000"/>
          </a:xfrm>
          <a:prstGeom prst="straightConnector1">
            <a:avLst/>
          </a:prstGeom>
          <a:noFill/>
          <a:ln w="9525" cap="flat" cmpd="sng">
            <a:solidFill>
              <a:schemeClr val="accent1"/>
            </a:solidFill>
            <a:prstDash val="solid"/>
            <a:round/>
            <a:headEnd type="stealth" w="med" len="med"/>
            <a:tailEnd type="stealth" w="med" len="med"/>
          </a:ln>
        </p:spPr>
      </p:cxnSp>
      <p:cxnSp>
        <p:nvCxnSpPr>
          <p:cNvPr id="244" name="Google Shape;244;p29"/>
          <p:cNvCxnSpPr/>
          <p:nvPr/>
        </p:nvCxnSpPr>
        <p:spPr>
          <a:xfrm>
            <a:off x="8001000" y="4495800"/>
            <a:ext cx="0" cy="16764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245" name="Google Shape;245;p29"/>
          <p:cNvCxnSpPr/>
          <p:nvPr/>
        </p:nvCxnSpPr>
        <p:spPr>
          <a:xfrm>
            <a:off x="1219200" y="4419600"/>
            <a:ext cx="0" cy="17526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246" name="Google Shape;246;p29"/>
          <p:cNvCxnSpPr/>
          <p:nvPr/>
        </p:nvCxnSpPr>
        <p:spPr>
          <a:xfrm rot="10800000">
            <a:off x="1219200" y="6172200"/>
            <a:ext cx="6781800" cy="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247" name="Google Shape;247;p29"/>
          <p:cNvCxnSpPr/>
          <p:nvPr/>
        </p:nvCxnSpPr>
        <p:spPr>
          <a:xfrm rot="10800000">
            <a:off x="1219200" y="4419600"/>
            <a:ext cx="0" cy="609600"/>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sp>
        <p:nvSpPr>
          <p:cNvPr id="248" name="Google Shape;248;p29"/>
          <p:cNvSpPr txBox="1"/>
          <p:nvPr/>
        </p:nvSpPr>
        <p:spPr>
          <a:xfrm>
            <a:off x="4038600" y="6260068"/>
            <a:ext cx="13115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Feedback </a:t>
            </a:r>
            <a:endParaRPr sz="1800">
              <a:solidFill>
                <a:schemeClr val="dk1"/>
              </a:solidFill>
              <a:latin typeface="Lucida Sans"/>
              <a:ea typeface="Lucida Sans"/>
              <a:cs typeface="Lucida Sans"/>
              <a:sym typeface="Lucida Sans"/>
            </a:endParaRPr>
          </a:p>
        </p:txBody>
      </p:sp>
      <p:sp>
        <p:nvSpPr>
          <p:cNvPr id="249" name="Google Shape;249;p29"/>
          <p:cNvSpPr txBox="1"/>
          <p:nvPr/>
        </p:nvSpPr>
        <p:spPr>
          <a:xfrm>
            <a:off x="3615375" y="5574268"/>
            <a:ext cx="187102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rgbClr val="A3171E"/>
                </a:solidFill>
                <a:latin typeface="Lucida Sans"/>
                <a:ea typeface="Lucida Sans"/>
                <a:cs typeface="Lucida Sans"/>
                <a:sym typeface="Lucida Sans"/>
              </a:rPr>
              <a:t>The organisation</a:t>
            </a:r>
            <a:endParaRPr sz="1600" b="1">
              <a:solidFill>
                <a:srgbClr val="A3171E"/>
              </a:solidFill>
              <a:latin typeface="Lucida Sans"/>
              <a:ea typeface="Lucida Sans"/>
              <a:cs typeface="Lucida Sans"/>
              <a:sym typeface="Lucid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External end users</a:t>
            </a:r>
            <a:endParaRPr/>
          </a:p>
          <a:p>
            <a:pPr marL="621792" lvl="1" indent="-228600" algn="just" rtl="0">
              <a:spcBef>
                <a:spcPts val="324"/>
              </a:spcBef>
              <a:spcAft>
                <a:spcPts val="0"/>
              </a:spcAft>
              <a:buSzPts val="2300"/>
              <a:buChar char="◦"/>
            </a:pPr>
            <a:r>
              <a:rPr lang="en-US"/>
              <a:t>These include creditors, stockholders, potential investors, regulatory agencies, tax authorities, trade partners, suppliers and customers.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Internal end users</a:t>
            </a:r>
            <a:endParaRPr/>
          </a:p>
          <a:p>
            <a:pPr marL="621792" lvl="1" indent="-228600" algn="just" rtl="0">
              <a:spcBef>
                <a:spcPts val="324"/>
              </a:spcBef>
              <a:spcAft>
                <a:spcPts val="0"/>
              </a:spcAft>
              <a:buSzPts val="2300"/>
              <a:buChar char="◦"/>
            </a:pPr>
            <a:r>
              <a:rPr lang="en-US"/>
              <a:t>These include management at every level within the organisation as well as operations personnel. These normally are more flexible in terms of how they desire and access information.</a:t>
            </a:r>
            <a:endParaRPr/>
          </a:p>
        </p:txBody>
      </p:sp>
      <p:sp>
        <p:nvSpPr>
          <p:cNvPr id="255" name="Google Shape;255;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End Users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External Financial transactions are the most common source of data for most organisations.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Data may be for sale of goods and services, inventory purchases, receipt of cash and the like.</a:t>
            </a:r>
            <a:endParaRPr/>
          </a:p>
        </p:txBody>
      </p:sp>
      <p:sp>
        <p:nvSpPr>
          <p:cNvPr id="261" name="Google Shape;261;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Data Sources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2"/>
          <p:cNvSpPr txBox="1">
            <a:spLocks noGrp="1"/>
          </p:cNvSpPr>
          <p:nvPr>
            <p:ph type="body" idx="1"/>
          </p:nvPr>
        </p:nvSpPr>
        <p:spPr>
          <a:xfrm>
            <a:off x="457200" y="1371600"/>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process has to ensure that data entering the system is valid, correct, complete and free from material errors.</a:t>
            </a:r>
            <a:endParaRPr/>
          </a:p>
          <a:p>
            <a:pPr marL="365760" lvl="0" indent="-256032" algn="just" rtl="0">
              <a:spcBef>
                <a:spcPts val="400"/>
              </a:spcBef>
              <a:spcAft>
                <a:spcPts val="0"/>
              </a:spcAft>
              <a:buSzPts val="1836"/>
              <a:buChar char="🞂"/>
            </a:pPr>
            <a:r>
              <a:rPr lang="en-US"/>
              <a:t>A most critical stage.</a:t>
            </a:r>
            <a:endParaRPr/>
          </a:p>
          <a:p>
            <a:pPr marL="365760" lvl="0" indent="-256032" algn="just" rtl="0">
              <a:spcBef>
                <a:spcPts val="400"/>
              </a:spcBef>
              <a:spcAft>
                <a:spcPts val="0"/>
              </a:spcAft>
              <a:buSzPts val="1836"/>
              <a:buChar char="🞂"/>
            </a:pPr>
            <a:r>
              <a:rPr lang="en-US"/>
              <a:t>Any erroneous data captured here means that the system is most likely to process the errors, generate erroneous and unreliable  output which will result in poor decision making and actions.</a:t>
            </a:r>
            <a:endParaRPr/>
          </a:p>
          <a:p>
            <a:pPr marL="365760" lvl="0" indent="-256032" algn="just" rtl="0">
              <a:spcBef>
                <a:spcPts val="400"/>
              </a:spcBef>
              <a:spcAft>
                <a:spcPts val="0"/>
              </a:spcAft>
              <a:buSzPts val="1836"/>
              <a:buChar char="🞂"/>
            </a:pPr>
            <a:r>
              <a:rPr lang="en-US"/>
              <a:t>Only </a:t>
            </a:r>
            <a:r>
              <a:rPr lang="en-US" b="1"/>
              <a:t>relevant</a:t>
            </a:r>
            <a:r>
              <a:rPr lang="en-US"/>
              <a:t> data should be captured.</a:t>
            </a:r>
            <a:endParaRPr/>
          </a:p>
          <a:p>
            <a:pPr marL="365760" lvl="0" indent="-256032" algn="just" rtl="0">
              <a:spcBef>
                <a:spcPts val="400"/>
              </a:spcBef>
              <a:spcAft>
                <a:spcPts val="0"/>
              </a:spcAft>
              <a:buSzPts val="1836"/>
              <a:buChar char="🞂"/>
            </a:pPr>
            <a:r>
              <a:rPr lang="en-US" b="1"/>
              <a:t>Efficiency</a:t>
            </a:r>
            <a:r>
              <a:rPr lang="en-US"/>
              <a:t> in the process is essential.</a:t>
            </a:r>
            <a:endParaRPr/>
          </a:p>
        </p:txBody>
      </p:sp>
      <p:sp>
        <p:nvSpPr>
          <p:cNvPr id="267" name="Google Shape;267;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Data Collection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The approach taken to convert the captured data into information that may be employed in decision making and other such activities.</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a:t>The processing may be simple or complex.</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a:t>Linear programming models may be employed for production scheduling applications, statistical sales forecasting, posting and summarising procedures used for accounting and the like.</a:t>
            </a:r>
            <a:endParaRPr/>
          </a:p>
        </p:txBody>
      </p:sp>
      <p:sp>
        <p:nvSpPr>
          <p:cNvPr id="273" name="Google Shape;273;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Data Processing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dirty="0"/>
              <a:t>The database management activities revolve around three fundamental tasks:</a:t>
            </a:r>
            <a:endParaRPr dirty="0"/>
          </a:p>
          <a:p>
            <a:pPr marL="624078" lvl="0" indent="-514350" algn="just" rtl="0">
              <a:spcBef>
                <a:spcPts val="400"/>
              </a:spcBef>
              <a:spcAft>
                <a:spcPts val="0"/>
              </a:spcAft>
              <a:buSzPts val="1836"/>
              <a:buFont typeface="Lucida Sans"/>
              <a:buAutoNum type="arabicPeriod"/>
            </a:pPr>
            <a:r>
              <a:rPr lang="en-US" dirty="0"/>
              <a:t>Storage</a:t>
            </a:r>
            <a:endParaRPr dirty="0"/>
          </a:p>
          <a:p>
            <a:pPr marL="880110" lvl="1" indent="-514350" algn="just" rtl="0">
              <a:spcBef>
                <a:spcPts val="324"/>
              </a:spcBef>
              <a:spcAft>
                <a:spcPts val="0"/>
              </a:spcAft>
              <a:buSzPts val="2300"/>
              <a:buChar char="◦"/>
            </a:pPr>
            <a:r>
              <a:rPr lang="en-US" dirty="0"/>
              <a:t>Assign keys to records &amp; store them properly</a:t>
            </a:r>
            <a:endParaRPr dirty="0"/>
          </a:p>
          <a:p>
            <a:pPr marL="880110" lvl="1" indent="-368300" algn="just" rtl="0">
              <a:spcBef>
                <a:spcPts val="324"/>
              </a:spcBef>
              <a:spcAft>
                <a:spcPts val="0"/>
              </a:spcAft>
              <a:buSzPts val="2300"/>
              <a:buNone/>
            </a:pPr>
            <a:endParaRPr dirty="0"/>
          </a:p>
          <a:p>
            <a:pPr marL="624078" lvl="0" indent="-514350" algn="just" rtl="0">
              <a:spcBef>
                <a:spcPts val="400"/>
              </a:spcBef>
              <a:spcAft>
                <a:spcPts val="0"/>
              </a:spcAft>
              <a:buSzPts val="1836"/>
              <a:buFont typeface="Lucida Sans"/>
              <a:buAutoNum type="arabicPeriod"/>
            </a:pPr>
            <a:r>
              <a:rPr lang="en-US" dirty="0"/>
              <a:t>Retrieval</a:t>
            </a:r>
            <a:endParaRPr dirty="0"/>
          </a:p>
          <a:p>
            <a:pPr marL="880110" lvl="1" indent="-514350" algn="just" rtl="0">
              <a:spcBef>
                <a:spcPts val="324"/>
              </a:spcBef>
              <a:spcAft>
                <a:spcPts val="0"/>
              </a:spcAft>
              <a:buSzPts val="2300"/>
              <a:buChar char="◦"/>
            </a:pPr>
            <a:r>
              <a:rPr lang="en-US" dirty="0"/>
              <a:t>Locating and extracting an existing record</a:t>
            </a:r>
            <a:endParaRPr dirty="0"/>
          </a:p>
          <a:p>
            <a:pPr marL="880110" lvl="1" indent="-368300" algn="just" rtl="0">
              <a:spcBef>
                <a:spcPts val="324"/>
              </a:spcBef>
              <a:spcAft>
                <a:spcPts val="0"/>
              </a:spcAft>
              <a:buSzPts val="2300"/>
              <a:buNone/>
            </a:pPr>
            <a:endParaRPr dirty="0"/>
          </a:p>
          <a:p>
            <a:pPr marL="624078" lvl="0" indent="-514350" algn="just" rtl="0">
              <a:spcBef>
                <a:spcPts val="400"/>
              </a:spcBef>
              <a:spcAft>
                <a:spcPts val="0"/>
              </a:spcAft>
              <a:buSzPts val="1836"/>
              <a:buFont typeface="Lucida Sans"/>
              <a:buAutoNum type="arabicPeriod"/>
            </a:pPr>
            <a:r>
              <a:rPr lang="en-US" dirty="0"/>
              <a:t>Deletion </a:t>
            </a:r>
            <a:endParaRPr dirty="0"/>
          </a:p>
          <a:p>
            <a:pPr marL="880110" lvl="1" indent="-514350" algn="just" rtl="0">
              <a:spcBef>
                <a:spcPts val="324"/>
              </a:spcBef>
              <a:spcAft>
                <a:spcPts val="0"/>
              </a:spcAft>
              <a:buSzPts val="2300"/>
              <a:buChar char="◦"/>
            </a:pPr>
            <a:r>
              <a:rPr lang="en-US" dirty="0"/>
              <a:t>The removal of obsolete or redundant records.</a:t>
            </a:r>
            <a:endParaRPr dirty="0"/>
          </a:p>
        </p:txBody>
      </p:sp>
      <p:sp>
        <p:nvSpPr>
          <p:cNvPr id="279" name="Google Shape;279;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Database Management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dirty="0"/>
              <a:t>The approach taken to compile, arrange, format and present information to users.</a:t>
            </a:r>
            <a:endParaRPr dirty="0"/>
          </a:p>
          <a:p>
            <a:pPr marL="365760" lvl="0" indent="-256032" algn="just" rtl="0">
              <a:spcBef>
                <a:spcPts val="400"/>
              </a:spcBef>
              <a:spcAft>
                <a:spcPts val="0"/>
              </a:spcAft>
              <a:buSzPts val="1836"/>
              <a:buChar char="🞂"/>
            </a:pPr>
            <a:r>
              <a:rPr lang="en-US" dirty="0"/>
              <a:t>The information generated should in all instance have the following:</a:t>
            </a:r>
            <a:endParaRPr dirty="0"/>
          </a:p>
          <a:p>
            <a:pPr marL="621792" lvl="1" indent="-228600" algn="just" rtl="0">
              <a:spcBef>
                <a:spcPts val="324"/>
              </a:spcBef>
              <a:spcAft>
                <a:spcPts val="0"/>
              </a:spcAft>
              <a:buSzPts val="2300"/>
              <a:buChar char="◦"/>
            </a:pPr>
            <a:r>
              <a:rPr lang="en-US" b="1" dirty="0"/>
              <a:t>Relevance  - </a:t>
            </a:r>
            <a:r>
              <a:rPr lang="en-US" dirty="0"/>
              <a:t>(serve a purpose)</a:t>
            </a:r>
            <a:endParaRPr dirty="0"/>
          </a:p>
          <a:p>
            <a:pPr marL="621792" lvl="1" indent="-228600" algn="just" rtl="0">
              <a:spcBef>
                <a:spcPts val="324"/>
              </a:spcBef>
              <a:spcAft>
                <a:spcPts val="0"/>
              </a:spcAft>
              <a:buSzPts val="2300"/>
              <a:buChar char="◦"/>
            </a:pPr>
            <a:r>
              <a:rPr lang="en-US" b="1" dirty="0"/>
              <a:t>Timeliness</a:t>
            </a:r>
            <a:r>
              <a:rPr lang="en-US" dirty="0"/>
              <a:t> </a:t>
            </a:r>
            <a:r>
              <a:rPr lang="en-US" b="1" dirty="0"/>
              <a:t> - </a:t>
            </a:r>
            <a:r>
              <a:rPr lang="en-US" dirty="0"/>
              <a:t>(age of information)</a:t>
            </a:r>
            <a:endParaRPr dirty="0"/>
          </a:p>
          <a:p>
            <a:pPr marL="621792" lvl="1" indent="-228600" algn="just" rtl="0">
              <a:spcBef>
                <a:spcPts val="324"/>
              </a:spcBef>
              <a:spcAft>
                <a:spcPts val="0"/>
              </a:spcAft>
              <a:buSzPts val="2300"/>
              <a:buChar char="◦"/>
            </a:pPr>
            <a:r>
              <a:rPr lang="en-US" b="1" dirty="0"/>
              <a:t>Accuracy   - </a:t>
            </a:r>
            <a:r>
              <a:rPr lang="en-US" dirty="0"/>
              <a:t>(freedom from material biases)</a:t>
            </a:r>
            <a:endParaRPr dirty="0"/>
          </a:p>
          <a:p>
            <a:pPr marL="621792" lvl="1" indent="-228600" algn="just" rtl="0">
              <a:spcBef>
                <a:spcPts val="324"/>
              </a:spcBef>
              <a:spcAft>
                <a:spcPts val="0"/>
              </a:spcAft>
              <a:buSzPts val="2300"/>
              <a:buChar char="◦"/>
            </a:pPr>
            <a:r>
              <a:rPr lang="en-US" b="1" dirty="0"/>
              <a:t>Completeness - </a:t>
            </a:r>
            <a:r>
              <a:rPr lang="en-US" dirty="0"/>
              <a:t>(no missing information)</a:t>
            </a:r>
            <a:endParaRPr dirty="0"/>
          </a:p>
          <a:p>
            <a:pPr marL="621792" lvl="1" indent="-228600" algn="just" rtl="0">
              <a:spcBef>
                <a:spcPts val="324"/>
              </a:spcBef>
              <a:spcAft>
                <a:spcPts val="0"/>
              </a:spcAft>
              <a:buSzPts val="2300"/>
              <a:buChar char="◦"/>
            </a:pPr>
            <a:r>
              <a:rPr lang="en-US" b="1" dirty="0" err="1"/>
              <a:t>Summarisation</a:t>
            </a:r>
            <a:r>
              <a:rPr lang="en-US" dirty="0"/>
              <a:t> </a:t>
            </a:r>
            <a:r>
              <a:rPr lang="en-US" b="1" dirty="0"/>
              <a:t>- (</a:t>
            </a:r>
            <a:r>
              <a:rPr lang="en-US" dirty="0"/>
              <a:t>aggregation based on use and managerial level</a:t>
            </a:r>
            <a:r>
              <a:rPr lang="en-US" dirty="0" smtClean="0"/>
              <a:t>)</a:t>
            </a:r>
          </a:p>
          <a:p>
            <a:pPr marL="621792" lvl="1" indent="-228600" algn="just" rtl="0">
              <a:spcBef>
                <a:spcPts val="324"/>
              </a:spcBef>
              <a:spcAft>
                <a:spcPts val="0"/>
              </a:spcAft>
              <a:buSzPts val="2300"/>
              <a:buChar char="◦"/>
            </a:pPr>
            <a:r>
              <a:rPr lang="en-US" dirty="0" smtClean="0">
                <a:solidFill>
                  <a:schemeClr val="accent1"/>
                </a:solidFill>
              </a:rPr>
              <a:t>Use </a:t>
            </a:r>
            <a:r>
              <a:rPr lang="en-US" b="1" dirty="0" smtClean="0">
                <a:solidFill>
                  <a:schemeClr val="accent1"/>
                </a:solidFill>
              </a:rPr>
              <a:t>CRATS</a:t>
            </a:r>
            <a:r>
              <a:rPr lang="en-US" dirty="0" smtClean="0">
                <a:solidFill>
                  <a:schemeClr val="accent1"/>
                </a:solidFill>
              </a:rPr>
              <a:t> to remember</a:t>
            </a:r>
            <a:endParaRPr dirty="0">
              <a:solidFill>
                <a:schemeClr val="accent1"/>
              </a:solidFill>
            </a:endParaRPr>
          </a:p>
        </p:txBody>
      </p:sp>
      <p:sp>
        <p:nvSpPr>
          <p:cNvPr id="285" name="Google Shape;285;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Information Generation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 form of output that is sent back to the system as a source of data.</a:t>
            </a:r>
            <a:endParaRPr/>
          </a:p>
          <a:p>
            <a:pPr marL="365760" lvl="0" indent="-256032" algn="just" rtl="0">
              <a:spcBef>
                <a:spcPts val="400"/>
              </a:spcBef>
              <a:spcAft>
                <a:spcPts val="0"/>
              </a:spcAft>
              <a:buSzPts val="1836"/>
              <a:buChar char="🞂"/>
            </a:pPr>
            <a:r>
              <a:rPr lang="en-US"/>
              <a:t>Useful in initiating or altering a process.</a:t>
            </a:r>
            <a:endParaRPr/>
          </a:p>
        </p:txBody>
      </p:sp>
      <p:sp>
        <p:nvSpPr>
          <p:cNvPr id="291" name="Google Shape;291;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Feedback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key goal is to manage the financial resource of the organisation.</a:t>
            </a:r>
            <a:endParaRPr/>
          </a:p>
          <a:p>
            <a:pPr marL="365760" lvl="0" indent="-256032" algn="just" rtl="0">
              <a:spcBef>
                <a:spcPts val="400"/>
              </a:spcBef>
              <a:spcAft>
                <a:spcPts val="0"/>
              </a:spcAft>
              <a:buSzPts val="1836"/>
              <a:buChar char="🞂"/>
            </a:pPr>
            <a:r>
              <a:rPr lang="en-US"/>
              <a:t>The </a:t>
            </a:r>
            <a:r>
              <a:rPr lang="en-US" b="1"/>
              <a:t>First role </a:t>
            </a:r>
            <a:r>
              <a:rPr lang="en-US"/>
              <a:t>is to capture and record information that reflects the financial effects of transactions engaged in.</a:t>
            </a:r>
            <a:endParaRPr/>
          </a:p>
          <a:p>
            <a:pPr marL="365760" lvl="0" indent="-256032" algn="just" rtl="0">
              <a:spcBef>
                <a:spcPts val="400"/>
              </a:spcBef>
              <a:spcAft>
                <a:spcPts val="0"/>
              </a:spcAft>
              <a:buSzPts val="1836"/>
              <a:buChar char="🞂"/>
            </a:pPr>
            <a:r>
              <a:rPr lang="en-US"/>
              <a:t>The </a:t>
            </a:r>
            <a:r>
              <a:rPr lang="en-US" b="1"/>
              <a:t>Second role </a:t>
            </a:r>
            <a:r>
              <a:rPr lang="en-US"/>
              <a:t>is to distribute the transaction information to coordinate tasks, activities and decision making.</a:t>
            </a:r>
            <a:endParaRPr/>
          </a:p>
        </p:txBody>
      </p:sp>
      <p:sp>
        <p:nvSpPr>
          <p:cNvPr id="297" name="Google Shape;297;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The Accounting Function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accountant is involved in systems development activities from three (3) main perspectives:</a:t>
            </a:r>
            <a:endParaRPr/>
          </a:p>
          <a:p>
            <a:pPr marL="365760" lvl="0" indent="-139446" algn="just" rtl="0">
              <a:spcBef>
                <a:spcPts val="400"/>
              </a:spcBef>
              <a:spcAft>
                <a:spcPts val="0"/>
              </a:spcAft>
              <a:buSzPts val="1836"/>
              <a:buNone/>
            </a:pPr>
            <a:endParaRPr b="1"/>
          </a:p>
          <a:p>
            <a:pPr marL="621792" lvl="1" indent="-228600" algn="just" rtl="0">
              <a:spcBef>
                <a:spcPts val="324"/>
              </a:spcBef>
              <a:spcAft>
                <a:spcPts val="0"/>
              </a:spcAft>
              <a:buSzPts val="2300"/>
              <a:buNone/>
            </a:pPr>
            <a:r>
              <a:rPr lang="en-US" b="1"/>
              <a:t>1. As system users,</a:t>
            </a:r>
            <a:endParaRPr/>
          </a:p>
          <a:p>
            <a:pPr marL="621792" lvl="1" indent="-228600" algn="just" rtl="0">
              <a:spcBef>
                <a:spcPts val="324"/>
              </a:spcBef>
              <a:spcAft>
                <a:spcPts val="0"/>
              </a:spcAft>
              <a:buSzPts val="2300"/>
              <a:buNone/>
            </a:pPr>
            <a:r>
              <a:rPr lang="en-US" b="1"/>
              <a:t>2. As system designers,</a:t>
            </a:r>
            <a:endParaRPr/>
          </a:p>
          <a:p>
            <a:pPr marL="621792" lvl="1" indent="-228600" algn="just" rtl="0">
              <a:spcBef>
                <a:spcPts val="324"/>
              </a:spcBef>
              <a:spcAft>
                <a:spcPts val="0"/>
              </a:spcAft>
              <a:buSzPts val="2300"/>
              <a:buNone/>
            </a:pPr>
            <a:r>
              <a:rPr lang="en-US" b="1"/>
              <a:t>3. As system auditors.</a:t>
            </a:r>
            <a:endParaRPr b="1"/>
          </a:p>
        </p:txBody>
      </p:sp>
      <p:sp>
        <p:nvSpPr>
          <p:cNvPr id="303" name="Google Shape;303;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Some Critical Roles Of Accountants</a:t>
            </a:r>
            <a:endParaRPr sz="369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accounting function is generally the largest user of information technology related services.</a:t>
            </a:r>
            <a:endParaRPr/>
          </a:p>
          <a:p>
            <a:pPr marL="365760" lvl="0" indent="-256032" algn="just" rtl="0">
              <a:spcBef>
                <a:spcPts val="400"/>
              </a:spcBef>
              <a:spcAft>
                <a:spcPts val="0"/>
              </a:spcAft>
              <a:buSzPts val="1836"/>
              <a:buChar char="🞂"/>
            </a:pPr>
            <a:r>
              <a:rPr lang="en-US"/>
              <a:t>Every system that processes financial information affects the accounting function in some way.</a:t>
            </a:r>
            <a:endParaRPr/>
          </a:p>
          <a:p>
            <a:pPr marL="365760" lvl="0" indent="-256032" algn="just" rtl="0">
              <a:spcBef>
                <a:spcPts val="400"/>
              </a:spcBef>
              <a:spcAft>
                <a:spcPts val="0"/>
              </a:spcAft>
              <a:buSzPts val="1836"/>
              <a:buChar char="🞂"/>
            </a:pPr>
            <a:r>
              <a:rPr lang="en-US"/>
              <a:t>The accountant ought therefore to be able to provide a clear picture to system developers of their exact needs.</a:t>
            </a:r>
            <a:endParaRPr/>
          </a:p>
          <a:p>
            <a:pPr marL="365760" lvl="0" indent="-256032" algn="just" rtl="0">
              <a:spcBef>
                <a:spcPts val="400"/>
              </a:spcBef>
              <a:spcAft>
                <a:spcPts val="0"/>
              </a:spcAft>
              <a:buSzPts val="1836"/>
              <a:buChar char="🞂"/>
            </a:pPr>
            <a:r>
              <a:rPr lang="en-US"/>
              <a:t>Active participation of accountants is vital.</a:t>
            </a:r>
            <a:endParaRPr/>
          </a:p>
        </p:txBody>
      </p:sp>
      <p:sp>
        <p:nvSpPr>
          <p:cNvPr id="309" name="Google Shape;309;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1. As System Users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Traditionally, accountants have been responsible for the key aspects of information systems including:</a:t>
            </a:r>
            <a:endParaRPr/>
          </a:p>
          <a:p>
            <a:pPr marL="365760" lvl="0" indent="-139446" algn="just" rtl="0">
              <a:spcBef>
                <a:spcPts val="400"/>
              </a:spcBef>
              <a:spcAft>
                <a:spcPts val="0"/>
              </a:spcAft>
              <a:buSzPts val="1836"/>
              <a:buNone/>
            </a:pPr>
            <a:endParaRPr/>
          </a:p>
          <a:p>
            <a:pPr marL="621792" lvl="1" indent="-228600" algn="just" rtl="0">
              <a:spcBef>
                <a:spcPts val="324"/>
              </a:spcBef>
              <a:spcAft>
                <a:spcPts val="0"/>
              </a:spcAft>
              <a:buSzPts val="2300"/>
              <a:buChar char="◦"/>
            </a:pPr>
            <a:r>
              <a:rPr lang="en-US"/>
              <a:t>Assessing the information needs of users,</a:t>
            </a:r>
            <a:endParaRPr/>
          </a:p>
          <a:p>
            <a:pPr marL="621792" lvl="1" indent="-228600" algn="just" rtl="0">
              <a:spcBef>
                <a:spcPts val="324"/>
              </a:spcBef>
              <a:spcAft>
                <a:spcPts val="0"/>
              </a:spcAft>
              <a:buSzPts val="2300"/>
              <a:buChar char="◦"/>
            </a:pPr>
            <a:r>
              <a:rPr lang="en-US"/>
              <a:t>Defining the content and format of output reports,</a:t>
            </a:r>
            <a:endParaRPr/>
          </a:p>
          <a:p>
            <a:pPr marL="621792" lvl="1" indent="-228600" algn="just" rtl="0">
              <a:spcBef>
                <a:spcPts val="324"/>
              </a:spcBef>
              <a:spcAft>
                <a:spcPts val="0"/>
              </a:spcAft>
              <a:buSzPts val="2300"/>
              <a:buChar char="◦"/>
            </a:pPr>
            <a:r>
              <a:rPr lang="en-US"/>
              <a:t>Specifying sources of data,</a:t>
            </a:r>
            <a:endParaRPr/>
          </a:p>
          <a:p>
            <a:pPr marL="621792" lvl="1" indent="-228600" algn="just" rtl="0">
              <a:spcBef>
                <a:spcPts val="324"/>
              </a:spcBef>
              <a:spcAft>
                <a:spcPts val="0"/>
              </a:spcAft>
              <a:buSzPts val="2300"/>
              <a:buChar char="◦"/>
            </a:pPr>
            <a:r>
              <a:rPr lang="en-US"/>
              <a:t>Selecting appropriate accounting rules, and </a:t>
            </a:r>
            <a:endParaRPr/>
          </a:p>
          <a:p>
            <a:pPr marL="621792" lvl="1" indent="-228600" algn="just" rtl="0">
              <a:spcBef>
                <a:spcPts val="324"/>
              </a:spcBef>
              <a:spcAft>
                <a:spcPts val="0"/>
              </a:spcAft>
              <a:buSzPts val="2300"/>
              <a:buChar char="◦"/>
            </a:pPr>
            <a:r>
              <a:rPr lang="en-US"/>
              <a:t>Determining the controls necessary to preserve the integrity and efficiency of the information system.</a:t>
            </a:r>
            <a:endParaRPr/>
          </a:p>
        </p:txBody>
      </p:sp>
      <p:sp>
        <p:nvSpPr>
          <p:cNvPr id="315" name="Google Shape;315;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2. As System Designers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processes were manual, and paper was used to transmit and store data.</a:t>
            </a:r>
            <a:endParaRPr/>
          </a:p>
          <a:p>
            <a:pPr marL="365760" lvl="0" indent="-256032" algn="just" rtl="0">
              <a:spcBef>
                <a:spcPts val="400"/>
              </a:spcBef>
              <a:spcAft>
                <a:spcPts val="0"/>
              </a:spcAft>
              <a:buSzPts val="1836"/>
              <a:buChar char="🞂"/>
            </a:pPr>
            <a:r>
              <a:rPr lang="en-US"/>
              <a:t>Gradually, manual systems are being replaced by computerised processes.</a:t>
            </a:r>
            <a:endParaRPr/>
          </a:p>
          <a:p>
            <a:pPr marL="365760" lvl="0" indent="-256032" algn="just" rtl="0">
              <a:spcBef>
                <a:spcPts val="400"/>
              </a:spcBef>
              <a:spcAft>
                <a:spcPts val="0"/>
              </a:spcAft>
              <a:buSzPts val="1836"/>
              <a:buChar char="🞂"/>
            </a:pPr>
            <a:r>
              <a:rPr lang="en-US"/>
              <a:t>Computer skills for accountants are thus a must.</a:t>
            </a:r>
            <a:endParaRPr/>
          </a:p>
          <a:p>
            <a:pPr marL="365760" lvl="0" indent="-256032" algn="just" rtl="0">
              <a:spcBef>
                <a:spcPts val="400"/>
              </a:spcBef>
              <a:spcAft>
                <a:spcPts val="0"/>
              </a:spcAft>
              <a:buSzPts val="1836"/>
              <a:buChar char="🞂"/>
            </a:pPr>
            <a:r>
              <a:rPr lang="en-US"/>
              <a:t>Most system developers lack the finer accounting skills and thus need the guidance and assistance of accountants to produce systems of an acceptable standard for use.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systems design involves:</a:t>
            </a:r>
            <a:endParaRPr/>
          </a:p>
          <a:p>
            <a:pPr marL="621792" lvl="1" indent="-228600" algn="just" rtl="0">
              <a:spcBef>
                <a:spcPts val="324"/>
              </a:spcBef>
              <a:spcAft>
                <a:spcPts val="0"/>
              </a:spcAft>
              <a:buSzPts val="2300"/>
              <a:buChar char="◦"/>
            </a:pPr>
            <a:r>
              <a:rPr lang="en-US"/>
              <a:t>Logical/conceptual design and</a:t>
            </a:r>
            <a:endParaRPr/>
          </a:p>
          <a:p>
            <a:pPr marL="859536" lvl="2" indent="-228600" algn="just" rtl="0">
              <a:spcBef>
                <a:spcPts val="350"/>
              </a:spcBef>
              <a:spcAft>
                <a:spcPts val="0"/>
              </a:spcAft>
              <a:buSzPts val="2100"/>
              <a:buChar char="●"/>
            </a:pPr>
            <a:r>
              <a:rPr lang="en-US"/>
              <a:t>Here the criteria of functionality is created. How accounts are created, how data flows from one point to the next, including reporting information needs  and the like.</a:t>
            </a:r>
            <a:endParaRPr/>
          </a:p>
          <a:p>
            <a:pPr marL="859536" lvl="2" indent="-95250" algn="just" rtl="0">
              <a:spcBef>
                <a:spcPts val="350"/>
              </a:spcBef>
              <a:spcAft>
                <a:spcPts val="0"/>
              </a:spcAft>
              <a:buSzPts val="2100"/>
              <a:buNone/>
            </a:pPr>
            <a:endParaRPr/>
          </a:p>
          <a:p>
            <a:pPr marL="621792" lvl="1" indent="-228600" algn="just" rtl="0">
              <a:spcBef>
                <a:spcPts val="324"/>
              </a:spcBef>
              <a:spcAft>
                <a:spcPts val="0"/>
              </a:spcAft>
              <a:buSzPts val="2300"/>
              <a:buChar char="◦"/>
            </a:pPr>
            <a:r>
              <a:rPr lang="en-US"/>
              <a:t>Physical design</a:t>
            </a:r>
            <a:endParaRPr/>
          </a:p>
          <a:p>
            <a:pPr marL="859536" lvl="2" indent="-228600" algn="just" rtl="0">
              <a:spcBef>
                <a:spcPts val="350"/>
              </a:spcBef>
              <a:spcAft>
                <a:spcPts val="0"/>
              </a:spcAft>
              <a:buSzPts val="2100"/>
              <a:buChar char="●"/>
            </a:pPr>
            <a:r>
              <a:rPr lang="en-US"/>
              <a:t>The actual means of capturing and presenting information. The design should be collaborative as designers of systems seek the most economical means to meet needs that have been specified above.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This is a form of independent attestation performed by an expert who expresses an opinion about the fairness of an organisations financial statements.</a:t>
            </a:r>
            <a:endParaRPr/>
          </a:p>
          <a:p>
            <a:pPr marL="365760" lvl="0" indent="-256032" algn="just" rtl="0">
              <a:lnSpc>
                <a:spcPct val="90000"/>
              </a:lnSpc>
              <a:spcBef>
                <a:spcPts val="400"/>
              </a:spcBef>
              <a:spcAft>
                <a:spcPts val="0"/>
              </a:spcAft>
              <a:buSzPts val="1698"/>
              <a:buChar char="🞂"/>
            </a:pPr>
            <a:r>
              <a:rPr lang="en-US" sz="2497"/>
              <a:t>IT auditing is usually performed as part of the a broader financial audit. The aim is to attest to the effectiveness of the clients IT controls to establish their degree of compliance with prescribed standards.</a:t>
            </a:r>
            <a:endParaRPr/>
          </a:p>
          <a:p>
            <a:pPr marL="365760" lvl="0" indent="-256032" algn="just" rtl="0">
              <a:lnSpc>
                <a:spcPct val="90000"/>
              </a:lnSpc>
              <a:spcBef>
                <a:spcPts val="400"/>
              </a:spcBef>
              <a:spcAft>
                <a:spcPts val="0"/>
              </a:spcAft>
              <a:buSzPts val="1698"/>
              <a:buChar char="🞂"/>
            </a:pPr>
            <a:r>
              <a:rPr lang="en-US" sz="2497"/>
              <a:t>This is critical as most organisations internal controls are computerised and may make up a significant portion of the overall audit.</a:t>
            </a:r>
            <a:endParaRPr sz="2497"/>
          </a:p>
        </p:txBody>
      </p:sp>
      <p:sp>
        <p:nvSpPr>
          <p:cNvPr id="331" name="Google Shape;331;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3. As System Auditors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Information System Framework</a:t>
            </a:r>
            <a:endParaRPr/>
          </a:p>
        </p:txBody>
      </p:sp>
      <p:sp>
        <p:nvSpPr>
          <p:cNvPr id="337" name="Google Shape;337;p44"/>
          <p:cNvSpPr/>
          <p:nvPr/>
        </p:nvSpPr>
        <p:spPr>
          <a:xfrm>
            <a:off x="3581400" y="1143000"/>
            <a:ext cx="1752600" cy="685800"/>
          </a:xfrm>
          <a:prstGeom prst="rect">
            <a:avLst/>
          </a:prstGeom>
          <a:solidFill>
            <a:schemeClr val="lt1"/>
          </a:solidFill>
          <a:ln w="55000" cap="flat" cmpd="thickThin">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Information System</a:t>
            </a:r>
            <a:endParaRPr sz="1800">
              <a:solidFill>
                <a:schemeClr val="dk1"/>
              </a:solidFill>
              <a:latin typeface="Lucida Sans"/>
              <a:ea typeface="Lucida Sans"/>
              <a:cs typeface="Lucida Sans"/>
              <a:sym typeface="Lucida Sans"/>
            </a:endParaRPr>
          </a:p>
        </p:txBody>
      </p:sp>
      <p:sp>
        <p:nvSpPr>
          <p:cNvPr id="338" name="Google Shape;338;p44"/>
          <p:cNvSpPr/>
          <p:nvPr/>
        </p:nvSpPr>
        <p:spPr>
          <a:xfrm>
            <a:off x="1447800" y="1828800"/>
            <a:ext cx="1752600" cy="9906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Accounting Information System (AIS)</a:t>
            </a:r>
            <a:endParaRPr sz="1800" b="1">
              <a:solidFill>
                <a:schemeClr val="dk1"/>
              </a:solidFill>
              <a:latin typeface="Lucida Sans"/>
              <a:ea typeface="Lucida Sans"/>
              <a:cs typeface="Lucida Sans"/>
              <a:sym typeface="Lucida Sans"/>
            </a:endParaRPr>
          </a:p>
        </p:txBody>
      </p:sp>
      <p:sp>
        <p:nvSpPr>
          <p:cNvPr id="339" name="Google Shape;339;p44"/>
          <p:cNvSpPr/>
          <p:nvPr/>
        </p:nvSpPr>
        <p:spPr>
          <a:xfrm>
            <a:off x="5867400" y="1905000"/>
            <a:ext cx="1752600" cy="8382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Other Information Systems </a:t>
            </a:r>
            <a:endParaRPr sz="1800" b="1">
              <a:solidFill>
                <a:schemeClr val="dk1"/>
              </a:solidFill>
              <a:latin typeface="Lucida Sans"/>
              <a:ea typeface="Lucida Sans"/>
              <a:cs typeface="Lucida Sans"/>
              <a:sym typeface="Lucida Sans"/>
            </a:endParaRPr>
          </a:p>
        </p:txBody>
      </p:sp>
      <p:sp>
        <p:nvSpPr>
          <p:cNvPr id="340" name="Google Shape;340;p44"/>
          <p:cNvSpPr/>
          <p:nvPr/>
        </p:nvSpPr>
        <p:spPr>
          <a:xfrm>
            <a:off x="4800600" y="50292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Human Resource Systems</a:t>
            </a:r>
            <a:endParaRPr sz="1800">
              <a:solidFill>
                <a:schemeClr val="dk1"/>
              </a:solidFill>
              <a:latin typeface="Lucida Sans"/>
              <a:ea typeface="Lucida Sans"/>
              <a:cs typeface="Lucida Sans"/>
              <a:sym typeface="Lucida Sans"/>
            </a:endParaRPr>
          </a:p>
        </p:txBody>
      </p:sp>
      <p:sp>
        <p:nvSpPr>
          <p:cNvPr id="341" name="Google Shape;341;p44"/>
          <p:cNvSpPr/>
          <p:nvPr/>
        </p:nvSpPr>
        <p:spPr>
          <a:xfrm>
            <a:off x="4800600" y="33528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Financial Management Systems</a:t>
            </a:r>
            <a:endParaRPr sz="1800">
              <a:solidFill>
                <a:schemeClr val="dk1"/>
              </a:solidFill>
              <a:latin typeface="Lucida Sans"/>
              <a:ea typeface="Lucida Sans"/>
              <a:cs typeface="Lucida Sans"/>
              <a:sym typeface="Lucida Sans"/>
            </a:endParaRPr>
          </a:p>
        </p:txBody>
      </p:sp>
      <p:sp>
        <p:nvSpPr>
          <p:cNvPr id="342" name="Google Shape;342;p44"/>
          <p:cNvSpPr/>
          <p:nvPr/>
        </p:nvSpPr>
        <p:spPr>
          <a:xfrm>
            <a:off x="7010400" y="33528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Marketing  Systems</a:t>
            </a:r>
            <a:endParaRPr sz="1800">
              <a:solidFill>
                <a:schemeClr val="dk1"/>
              </a:solidFill>
              <a:latin typeface="Lucida Sans"/>
              <a:ea typeface="Lucida Sans"/>
              <a:cs typeface="Lucida Sans"/>
              <a:sym typeface="Lucida Sans"/>
            </a:endParaRPr>
          </a:p>
        </p:txBody>
      </p:sp>
      <p:sp>
        <p:nvSpPr>
          <p:cNvPr id="343" name="Google Shape;343;p44"/>
          <p:cNvSpPr/>
          <p:nvPr/>
        </p:nvSpPr>
        <p:spPr>
          <a:xfrm>
            <a:off x="7010400" y="50292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Distribution  Systems</a:t>
            </a:r>
            <a:endParaRPr sz="1800">
              <a:solidFill>
                <a:schemeClr val="dk1"/>
              </a:solidFill>
              <a:latin typeface="Lucida Sans"/>
              <a:ea typeface="Lucida Sans"/>
              <a:cs typeface="Lucida Sans"/>
              <a:sym typeface="Lucida Sans"/>
            </a:endParaRPr>
          </a:p>
        </p:txBody>
      </p:sp>
      <p:cxnSp>
        <p:nvCxnSpPr>
          <p:cNvPr id="344" name="Google Shape;344;p44"/>
          <p:cNvCxnSpPr/>
          <p:nvPr/>
        </p:nvCxnSpPr>
        <p:spPr>
          <a:xfrm>
            <a:off x="6705600" y="2743200"/>
            <a:ext cx="38100" cy="28194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45" name="Google Shape;345;p44"/>
          <p:cNvCxnSpPr/>
          <p:nvPr/>
        </p:nvCxnSpPr>
        <p:spPr>
          <a:xfrm>
            <a:off x="6477000" y="5562600"/>
            <a:ext cx="5334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46" name="Google Shape;346;p44"/>
          <p:cNvCxnSpPr/>
          <p:nvPr/>
        </p:nvCxnSpPr>
        <p:spPr>
          <a:xfrm>
            <a:off x="6477000" y="3810000"/>
            <a:ext cx="5334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47" name="Google Shape;347;p44"/>
          <p:cNvCxnSpPr/>
          <p:nvPr/>
        </p:nvCxnSpPr>
        <p:spPr>
          <a:xfrm>
            <a:off x="3200400" y="2286000"/>
            <a:ext cx="26670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48" name="Google Shape;348;p44"/>
          <p:cNvCxnSpPr>
            <a:stCxn id="337" idx="2"/>
          </p:cNvCxnSpPr>
          <p:nvPr/>
        </p:nvCxnSpPr>
        <p:spPr>
          <a:xfrm>
            <a:off x="4457700" y="1828800"/>
            <a:ext cx="38100" cy="4572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5"/>
          <p:cNvSpPr/>
          <p:nvPr/>
        </p:nvSpPr>
        <p:spPr>
          <a:xfrm>
            <a:off x="3124200" y="304800"/>
            <a:ext cx="2819400" cy="7620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Accounting Information System (AIS)</a:t>
            </a:r>
            <a:endParaRPr sz="1800" b="1">
              <a:solidFill>
                <a:schemeClr val="dk1"/>
              </a:solidFill>
              <a:latin typeface="Lucida Sans"/>
              <a:ea typeface="Lucida Sans"/>
              <a:cs typeface="Lucida Sans"/>
              <a:sym typeface="Lucida Sans"/>
            </a:endParaRPr>
          </a:p>
        </p:txBody>
      </p:sp>
      <p:sp>
        <p:nvSpPr>
          <p:cNvPr id="354" name="Google Shape;354;p45"/>
          <p:cNvSpPr/>
          <p:nvPr/>
        </p:nvSpPr>
        <p:spPr>
          <a:xfrm>
            <a:off x="152400" y="1447800"/>
            <a:ext cx="2514600" cy="6096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General Ledger/Financial Reporting System (GL/FRS)</a:t>
            </a:r>
            <a:endParaRPr sz="1400">
              <a:solidFill>
                <a:schemeClr val="dk1"/>
              </a:solidFill>
              <a:latin typeface="Lucida Sans"/>
              <a:ea typeface="Lucida Sans"/>
              <a:cs typeface="Lucida Sans"/>
              <a:sym typeface="Lucida Sans"/>
            </a:endParaRPr>
          </a:p>
        </p:txBody>
      </p:sp>
      <p:sp>
        <p:nvSpPr>
          <p:cNvPr id="355" name="Google Shape;355;p45"/>
          <p:cNvSpPr/>
          <p:nvPr/>
        </p:nvSpPr>
        <p:spPr>
          <a:xfrm>
            <a:off x="2895600" y="1447800"/>
            <a:ext cx="3276600" cy="6096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Transaction Processing  System (TPS)</a:t>
            </a:r>
            <a:endParaRPr sz="1800">
              <a:solidFill>
                <a:schemeClr val="dk1"/>
              </a:solidFill>
              <a:latin typeface="Lucida Sans"/>
              <a:ea typeface="Lucida Sans"/>
              <a:cs typeface="Lucida Sans"/>
              <a:sym typeface="Lucida Sans"/>
            </a:endParaRPr>
          </a:p>
        </p:txBody>
      </p:sp>
      <p:sp>
        <p:nvSpPr>
          <p:cNvPr id="356" name="Google Shape;356;p45"/>
          <p:cNvSpPr/>
          <p:nvPr/>
        </p:nvSpPr>
        <p:spPr>
          <a:xfrm>
            <a:off x="6400800" y="1447800"/>
            <a:ext cx="2590800" cy="6096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Management Reporting System (MRS)</a:t>
            </a:r>
            <a:endParaRPr sz="1600">
              <a:solidFill>
                <a:schemeClr val="dk1"/>
              </a:solidFill>
              <a:latin typeface="Lucida Sans"/>
              <a:ea typeface="Lucida Sans"/>
              <a:cs typeface="Lucida Sans"/>
              <a:sym typeface="Lucida Sans"/>
            </a:endParaRPr>
          </a:p>
        </p:txBody>
      </p:sp>
      <p:sp>
        <p:nvSpPr>
          <p:cNvPr id="357" name="Google Shape;357;p45"/>
          <p:cNvSpPr/>
          <p:nvPr/>
        </p:nvSpPr>
        <p:spPr>
          <a:xfrm>
            <a:off x="609600" y="2438400"/>
            <a:ext cx="1676400" cy="6096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Expenditure Cycle </a:t>
            </a:r>
            <a:endParaRPr sz="1800">
              <a:solidFill>
                <a:schemeClr val="dk1"/>
              </a:solidFill>
              <a:latin typeface="Lucida Sans"/>
              <a:ea typeface="Lucida Sans"/>
              <a:cs typeface="Lucida Sans"/>
              <a:sym typeface="Lucida Sans"/>
            </a:endParaRPr>
          </a:p>
        </p:txBody>
      </p:sp>
      <p:sp>
        <p:nvSpPr>
          <p:cNvPr id="358" name="Google Shape;358;p45"/>
          <p:cNvSpPr/>
          <p:nvPr/>
        </p:nvSpPr>
        <p:spPr>
          <a:xfrm>
            <a:off x="3657600" y="2438400"/>
            <a:ext cx="1676400" cy="609600"/>
          </a:xfrm>
          <a:prstGeom prst="rect">
            <a:avLst/>
          </a:prstGeom>
          <a:solidFill>
            <a:schemeClr val="lt1"/>
          </a:solidFill>
          <a:ln w="55000" cap="flat" cmpd="thickThin">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Conversion Cycle</a:t>
            </a:r>
            <a:endParaRPr sz="1800">
              <a:solidFill>
                <a:schemeClr val="dk1"/>
              </a:solidFill>
              <a:latin typeface="Lucida Sans"/>
              <a:ea typeface="Lucida Sans"/>
              <a:cs typeface="Lucida Sans"/>
              <a:sym typeface="Lucida Sans"/>
            </a:endParaRPr>
          </a:p>
        </p:txBody>
      </p:sp>
      <p:sp>
        <p:nvSpPr>
          <p:cNvPr id="359" name="Google Shape;359;p45"/>
          <p:cNvSpPr/>
          <p:nvPr/>
        </p:nvSpPr>
        <p:spPr>
          <a:xfrm>
            <a:off x="7010400" y="2438400"/>
            <a:ext cx="1676400" cy="6096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Revenue Cycle</a:t>
            </a:r>
            <a:endParaRPr sz="1800">
              <a:solidFill>
                <a:schemeClr val="dk1"/>
              </a:solidFill>
              <a:latin typeface="Lucida Sans"/>
              <a:ea typeface="Lucida Sans"/>
              <a:cs typeface="Lucida Sans"/>
              <a:sym typeface="Lucida Sans"/>
            </a:endParaRPr>
          </a:p>
        </p:txBody>
      </p:sp>
      <p:sp>
        <p:nvSpPr>
          <p:cNvPr id="360" name="Google Shape;360;p45"/>
          <p:cNvSpPr/>
          <p:nvPr/>
        </p:nvSpPr>
        <p:spPr>
          <a:xfrm>
            <a:off x="609600" y="33528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Purchase  System</a:t>
            </a:r>
            <a:endParaRPr sz="1800">
              <a:solidFill>
                <a:schemeClr val="dk1"/>
              </a:solidFill>
              <a:latin typeface="Lucida Sans"/>
              <a:ea typeface="Lucida Sans"/>
              <a:cs typeface="Lucida Sans"/>
              <a:sym typeface="Lucida Sans"/>
            </a:endParaRPr>
          </a:p>
        </p:txBody>
      </p:sp>
      <p:sp>
        <p:nvSpPr>
          <p:cNvPr id="361" name="Google Shape;361;p45"/>
          <p:cNvSpPr/>
          <p:nvPr/>
        </p:nvSpPr>
        <p:spPr>
          <a:xfrm>
            <a:off x="3657600" y="3352800"/>
            <a:ext cx="1676400" cy="914400"/>
          </a:xfrm>
          <a:prstGeom prst="rect">
            <a:avLst/>
          </a:prstGeom>
          <a:solidFill>
            <a:schemeClr val="lt1"/>
          </a:solidFill>
          <a:ln w="55000" cap="flat" cmpd="thickThin">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Cost Accounting System</a:t>
            </a:r>
            <a:endParaRPr sz="1800">
              <a:solidFill>
                <a:schemeClr val="dk1"/>
              </a:solidFill>
              <a:latin typeface="Lucida Sans"/>
              <a:ea typeface="Lucida Sans"/>
              <a:cs typeface="Lucida Sans"/>
              <a:sym typeface="Lucida Sans"/>
            </a:endParaRPr>
          </a:p>
        </p:txBody>
      </p:sp>
      <p:sp>
        <p:nvSpPr>
          <p:cNvPr id="362" name="Google Shape;362;p45"/>
          <p:cNvSpPr/>
          <p:nvPr/>
        </p:nvSpPr>
        <p:spPr>
          <a:xfrm>
            <a:off x="7010400" y="33528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Sales Processing System</a:t>
            </a:r>
            <a:endParaRPr sz="1800">
              <a:solidFill>
                <a:schemeClr val="dk1"/>
              </a:solidFill>
              <a:latin typeface="Lucida Sans"/>
              <a:ea typeface="Lucida Sans"/>
              <a:cs typeface="Lucida Sans"/>
              <a:sym typeface="Lucida Sans"/>
            </a:endParaRPr>
          </a:p>
        </p:txBody>
      </p:sp>
      <p:sp>
        <p:nvSpPr>
          <p:cNvPr id="363" name="Google Shape;363;p45"/>
          <p:cNvSpPr/>
          <p:nvPr/>
        </p:nvSpPr>
        <p:spPr>
          <a:xfrm>
            <a:off x="609600" y="46482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Cash Disbursement System</a:t>
            </a:r>
            <a:endParaRPr sz="1600">
              <a:solidFill>
                <a:schemeClr val="dk1"/>
              </a:solidFill>
              <a:latin typeface="Lucida Sans"/>
              <a:ea typeface="Lucida Sans"/>
              <a:cs typeface="Lucida Sans"/>
              <a:sym typeface="Lucida Sans"/>
            </a:endParaRPr>
          </a:p>
        </p:txBody>
      </p:sp>
      <p:sp>
        <p:nvSpPr>
          <p:cNvPr id="364" name="Google Shape;364;p45"/>
          <p:cNvSpPr/>
          <p:nvPr/>
        </p:nvSpPr>
        <p:spPr>
          <a:xfrm>
            <a:off x="3657600" y="4648200"/>
            <a:ext cx="1676400" cy="914400"/>
          </a:xfrm>
          <a:prstGeom prst="rect">
            <a:avLst/>
          </a:prstGeom>
          <a:solidFill>
            <a:schemeClr val="lt1"/>
          </a:solidFill>
          <a:ln w="55000" cap="flat" cmpd="thickThin">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Production Planning &amp; Control  System</a:t>
            </a:r>
            <a:endParaRPr sz="1400">
              <a:solidFill>
                <a:schemeClr val="dk1"/>
              </a:solidFill>
              <a:latin typeface="Lucida Sans"/>
              <a:ea typeface="Lucida Sans"/>
              <a:cs typeface="Lucida Sans"/>
              <a:sym typeface="Lucida Sans"/>
            </a:endParaRPr>
          </a:p>
        </p:txBody>
      </p:sp>
      <p:sp>
        <p:nvSpPr>
          <p:cNvPr id="365" name="Google Shape;365;p45"/>
          <p:cNvSpPr/>
          <p:nvPr/>
        </p:nvSpPr>
        <p:spPr>
          <a:xfrm>
            <a:off x="7010400" y="46482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Cash Receipts Systems</a:t>
            </a:r>
            <a:endParaRPr sz="1800">
              <a:solidFill>
                <a:schemeClr val="dk1"/>
              </a:solidFill>
              <a:latin typeface="Lucida Sans"/>
              <a:ea typeface="Lucida Sans"/>
              <a:cs typeface="Lucida Sans"/>
              <a:sym typeface="Lucida Sans"/>
            </a:endParaRPr>
          </a:p>
        </p:txBody>
      </p:sp>
      <p:sp>
        <p:nvSpPr>
          <p:cNvPr id="366" name="Google Shape;366;p45"/>
          <p:cNvSpPr/>
          <p:nvPr/>
        </p:nvSpPr>
        <p:spPr>
          <a:xfrm>
            <a:off x="609600" y="59436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Payroll Processing</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System</a:t>
            </a:r>
            <a:endParaRPr sz="1800">
              <a:solidFill>
                <a:schemeClr val="dk1"/>
              </a:solidFill>
              <a:latin typeface="Lucida Sans"/>
              <a:ea typeface="Lucida Sans"/>
              <a:cs typeface="Lucida Sans"/>
              <a:sym typeface="Lucida Sans"/>
            </a:endParaRPr>
          </a:p>
        </p:txBody>
      </p:sp>
      <p:sp>
        <p:nvSpPr>
          <p:cNvPr id="367" name="Google Shape;367;p45"/>
          <p:cNvSpPr/>
          <p:nvPr/>
        </p:nvSpPr>
        <p:spPr>
          <a:xfrm>
            <a:off x="3657600" y="5943600"/>
            <a:ext cx="1676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Fixed Asset  System</a:t>
            </a:r>
            <a:endParaRPr sz="1800">
              <a:solidFill>
                <a:schemeClr val="dk1"/>
              </a:solidFill>
              <a:latin typeface="Lucida Sans"/>
              <a:ea typeface="Lucida Sans"/>
              <a:cs typeface="Lucida Sans"/>
              <a:sym typeface="Lucida Sans"/>
            </a:endParaRPr>
          </a:p>
        </p:txBody>
      </p:sp>
      <p:cxnSp>
        <p:nvCxnSpPr>
          <p:cNvPr id="368" name="Google Shape;368;p45"/>
          <p:cNvCxnSpPr/>
          <p:nvPr/>
        </p:nvCxnSpPr>
        <p:spPr>
          <a:xfrm>
            <a:off x="1295400" y="1219200"/>
            <a:ext cx="67056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69" name="Google Shape;369;p45"/>
          <p:cNvCxnSpPr>
            <a:endCxn id="355" idx="0"/>
          </p:cNvCxnSpPr>
          <p:nvPr/>
        </p:nvCxnSpPr>
        <p:spPr>
          <a:xfrm>
            <a:off x="4495800" y="1066800"/>
            <a:ext cx="38100" cy="3810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0" name="Google Shape;370;p45"/>
          <p:cNvCxnSpPr/>
          <p:nvPr/>
        </p:nvCxnSpPr>
        <p:spPr>
          <a:xfrm>
            <a:off x="8001000" y="1219200"/>
            <a:ext cx="0" cy="228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1" name="Google Shape;371;p45"/>
          <p:cNvCxnSpPr/>
          <p:nvPr/>
        </p:nvCxnSpPr>
        <p:spPr>
          <a:xfrm>
            <a:off x="1295400" y="1219200"/>
            <a:ext cx="0" cy="228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2" name="Google Shape;372;p45"/>
          <p:cNvCxnSpPr/>
          <p:nvPr/>
        </p:nvCxnSpPr>
        <p:spPr>
          <a:xfrm>
            <a:off x="1295400" y="2209800"/>
            <a:ext cx="67056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3" name="Google Shape;373;p45"/>
          <p:cNvCxnSpPr/>
          <p:nvPr/>
        </p:nvCxnSpPr>
        <p:spPr>
          <a:xfrm>
            <a:off x="4495800" y="2057400"/>
            <a:ext cx="38100" cy="3810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374" name="Google Shape;374;p45"/>
          <p:cNvCxnSpPr/>
          <p:nvPr/>
        </p:nvCxnSpPr>
        <p:spPr>
          <a:xfrm>
            <a:off x="8001000" y="2209800"/>
            <a:ext cx="0" cy="228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5" name="Google Shape;375;p45"/>
          <p:cNvCxnSpPr/>
          <p:nvPr/>
        </p:nvCxnSpPr>
        <p:spPr>
          <a:xfrm>
            <a:off x="1295400" y="2209800"/>
            <a:ext cx="0" cy="228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6" name="Google Shape;376;p45"/>
          <p:cNvCxnSpPr/>
          <p:nvPr/>
        </p:nvCxnSpPr>
        <p:spPr>
          <a:xfrm>
            <a:off x="304800" y="3200400"/>
            <a:ext cx="0" cy="2514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7" name="Google Shape;377;p45"/>
          <p:cNvCxnSpPr/>
          <p:nvPr/>
        </p:nvCxnSpPr>
        <p:spPr>
          <a:xfrm>
            <a:off x="304800" y="5715000"/>
            <a:ext cx="41910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8" name="Google Shape;378;p45"/>
          <p:cNvCxnSpPr/>
          <p:nvPr/>
        </p:nvCxnSpPr>
        <p:spPr>
          <a:xfrm>
            <a:off x="4495800" y="5715000"/>
            <a:ext cx="0" cy="228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79" name="Google Shape;379;p45"/>
          <p:cNvCxnSpPr/>
          <p:nvPr/>
        </p:nvCxnSpPr>
        <p:spPr>
          <a:xfrm>
            <a:off x="1447800" y="5715000"/>
            <a:ext cx="0" cy="2286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0" name="Google Shape;380;p45"/>
          <p:cNvCxnSpPr>
            <a:endCxn id="363" idx="1"/>
          </p:cNvCxnSpPr>
          <p:nvPr/>
        </p:nvCxnSpPr>
        <p:spPr>
          <a:xfrm>
            <a:off x="304800" y="5105400"/>
            <a:ext cx="3048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1" name="Google Shape;381;p45"/>
          <p:cNvCxnSpPr/>
          <p:nvPr/>
        </p:nvCxnSpPr>
        <p:spPr>
          <a:xfrm>
            <a:off x="304800" y="3810000"/>
            <a:ext cx="3048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2" name="Google Shape;382;p45"/>
          <p:cNvCxnSpPr/>
          <p:nvPr/>
        </p:nvCxnSpPr>
        <p:spPr>
          <a:xfrm>
            <a:off x="304800" y="3200400"/>
            <a:ext cx="9144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3" name="Google Shape;383;p45"/>
          <p:cNvCxnSpPr/>
          <p:nvPr/>
        </p:nvCxnSpPr>
        <p:spPr>
          <a:xfrm flipH="1">
            <a:off x="1219200" y="3048000"/>
            <a:ext cx="76200" cy="1524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4" name="Google Shape;384;p45"/>
          <p:cNvCxnSpPr/>
          <p:nvPr/>
        </p:nvCxnSpPr>
        <p:spPr>
          <a:xfrm>
            <a:off x="3352800" y="3200400"/>
            <a:ext cx="0" cy="19050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385" name="Google Shape;385;p45"/>
          <p:cNvCxnSpPr/>
          <p:nvPr/>
        </p:nvCxnSpPr>
        <p:spPr>
          <a:xfrm>
            <a:off x="6705600" y="3200400"/>
            <a:ext cx="0" cy="19050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6" name="Google Shape;386;p45"/>
          <p:cNvCxnSpPr/>
          <p:nvPr/>
        </p:nvCxnSpPr>
        <p:spPr>
          <a:xfrm>
            <a:off x="3352800" y="3200400"/>
            <a:ext cx="914400" cy="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387" name="Google Shape;387;p45"/>
          <p:cNvCxnSpPr/>
          <p:nvPr/>
        </p:nvCxnSpPr>
        <p:spPr>
          <a:xfrm flipH="1">
            <a:off x="4267200" y="3048000"/>
            <a:ext cx="76200" cy="1524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388" name="Google Shape;388;p45"/>
          <p:cNvCxnSpPr/>
          <p:nvPr/>
        </p:nvCxnSpPr>
        <p:spPr>
          <a:xfrm>
            <a:off x="6705600" y="3200400"/>
            <a:ext cx="9144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89" name="Google Shape;389;p45"/>
          <p:cNvCxnSpPr/>
          <p:nvPr/>
        </p:nvCxnSpPr>
        <p:spPr>
          <a:xfrm flipH="1">
            <a:off x="7620000" y="3048000"/>
            <a:ext cx="76200" cy="15240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90" name="Google Shape;390;p45"/>
          <p:cNvCxnSpPr/>
          <p:nvPr/>
        </p:nvCxnSpPr>
        <p:spPr>
          <a:xfrm>
            <a:off x="3352800" y="5105400"/>
            <a:ext cx="304800" cy="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391" name="Google Shape;391;p45"/>
          <p:cNvCxnSpPr/>
          <p:nvPr/>
        </p:nvCxnSpPr>
        <p:spPr>
          <a:xfrm>
            <a:off x="3352800" y="3810000"/>
            <a:ext cx="304800" cy="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392" name="Google Shape;392;p45"/>
          <p:cNvCxnSpPr/>
          <p:nvPr/>
        </p:nvCxnSpPr>
        <p:spPr>
          <a:xfrm>
            <a:off x="6705600" y="5105400"/>
            <a:ext cx="3048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cxnSp>
        <p:nvCxnSpPr>
          <p:cNvPr id="393" name="Google Shape;393;p45"/>
          <p:cNvCxnSpPr/>
          <p:nvPr/>
        </p:nvCxnSpPr>
        <p:spPr>
          <a:xfrm>
            <a:off x="6705600" y="3810000"/>
            <a:ext cx="304800"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The main accounting information system subsystems are: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904"/>
              <a:buNone/>
            </a:pPr>
            <a:r>
              <a:rPr lang="en-US" sz="2800"/>
              <a:t>1. Transaction Processing System (TPS),</a:t>
            </a:r>
            <a:endParaRPr/>
          </a:p>
          <a:p>
            <a:pPr marL="365760" lvl="0" indent="-135128" algn="l" rtl="0">
              <a:spcBef>
                <a:spcPts val="400"/>
              </a:spcBef>
              <a:spcAft>
                <a:spcPts val="0"/>
              </a:spcAft>
              <a:buSzPts val="1904"/>
              <a:buNone/>
            </a:pPr>
            <a:endParaRPr sz="2800"/>
          </a:p>
          <a:p>
            <a:pPr marL="365760" lvl="0" indent="-256032" algn="l" rtl="0">
              <a:spcBef>
                <a:spcPts val="400"/>
              </a:spcBef>
              <a:spcAft>
                <a:spcPts val="0"/>
              </a:spcAft>
              <a:buSzPts val="1904"/>
              <a:buNone/>
            </a:pPr>
            <a:r>
              <a:rPr lang="en-US" sz="2800"/>
              <a:t>2. General Ledger/Financial Reporting System (GL/FRS),</a:t>
            </a:r>
            <a:endParaRPr/>
          </a:p>
          <a:p>
            <a:pPr marL="365760" lvl="0" indent="-135128" algn="l" rtl="0">
              <a:spcBef>
                <a:spcPts val="400"/>
              </a:spcBef>
              <a:spcAft>
                <a:spcPts val="0"/>
              </a:spcAft>
              <a:buSzPts val="1904"/>
              <a:buNone/>
            </a:pPr>
            <a:endParaRPr sz="2800"/>
          </a:p>
          <a:p>
            <a:pPr marL="365760" lvl="0" indent="-256032" algn="l" rtl="0">
              <a:spcBef>
                <a:spcPts val="400"/>
              </a:spcBef>
              <a:spcAft>
                <a:spcPts val="0"/>
              </a:spcAft>
              <a:buSzPts val="1904"/>
              <a:buNone/>
            </a:pPr>
            <a:r>
              <a:rPr lang="en-US" sz="2800"/>
              <a:t>3. Management Reporting System (MRS).</a:t>
            </a:r>
            <a:endParaRPr/>
          </a:p>
          <a:p>
            <a:pPr marL="365760" lvl="0" indent="-135128" algn="l" rtl="0">
              <a:spcBef>
                <a:spcPts val="400"/>
              </a:spcBef>
              <a:spcAft>
                <a:spcPts val="0"/>
              </a:spcAft>
              <a:buSzPts val="1904"/>
              <a:buNone/>
            </a:pPr>
            <a:endParaRPr sz="2800"/>
          </a:p>
          <a:p>
            <a:pPr marL="365760" lvl="0" indent="-135128" algn="l" rtl="0">
              <a:spcBef>
                <a:spcPts val="400"/>
              </a:spcBef>
              <a:spcAft>
                <a:spcPts val="0"/>
              </a:spcAft>
              <a:buSzPts val="1904"/>
              <a:buNone/>
            </a:pPr>
            <a:endParaRPr sz="2800"/>
          </a:p>
          <a:p>
            <a:pPr marL="365760" lvl="0" indent="-139446" algn="l" rtl="0">
              <a:spcBef>
                <a:spcPts val="400"/>
              </a:spcBef>
              <a:spcAft>
                <a:spcPts val="0"/>
              </a:spcAft>
              <a:buSzPts val="1836"/>
              <a:buNone/>
            </a:pPr>
            <a:endParaRPr/>
          </a:p>
        </p:txBody>
      </p:sp>
      <p:sp>
        <p:nvSpPr>
          <p:cNvPr id="399" name="Google Shape;39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Accounting As An Info System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904"/>
              <a:buChar char="🞂"/>
            </a:pPr>
            <a:r>
              <a:rPr lang="en-US" sz="2800"/>
              <a:t>This system is employed in the processing of transactions. </a:t>
            </a:r>
            <a:endParaRPr/>
          </a:p>
          <a:p>
            <a:pPr marL="365760" lvl="0" indent="-256032" algn="l" rtl="0">
              <a:spcBef>
                <a:spcPts val="400"/>
              </a:spcBef>
              <a:spcAft>
                <a:spcPts val="0"/>
              </a:spcAft>
              <a:buSzPts val="1904"/>
              <a:buChar char="🞂"/>
            </a:pPr>
            <a:r>
              <a:rPr lang="en-US" sz="2800"/>
              <a:t>The transactions which occur in organisations are numerous.</a:t>
            </a:r>
            <a:endParaRPr/>
          </a:p>
          <a:p>
            <a:pPr marL="365760" lvl="0" indent="-256032" algn="l" rtl="0">
              <a:spcBef>
                <a:spcPts val="400"/>
              </a:spcBef>
              <a:spcAft>
                <a:spcPts val="0"/>
              </a:spcAft>
              <a:buSzPts val="1836"/>
              <a:buChar char="🞂"/>
            </a:pPr>
            <a:r>
              <a:rPr lang="en-US"/>
              <a:t>The transactions are of different natures.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They may however be grouped into:</a:t>
            </a:r>
            <a:endParaRPr/>
          </a:p>
          <a:p>
            <a:pPr marL="850392" lvl="1" indent="-457200" algn="l" rtl="0">
              <a:spcBef>
                <a:spcPts val="324"/>
              </a:spcBef>
              <a:spcAft>
                <a:spcPts val="0"/>
              </a:spcAft>
              <a:buSzPts val="2300"/>
              <a:buAutoNum type="alphaUcPeriod"/>
            </a:pPr>
            <a:r>
              <a:rPr lang="en-US"/>
              <a:t>Revenue cycle</a:t>
            </a:r>
            <a:endParaRPr/>
          </a:p>
          <a:p>
            <a:pPr marL="850392" lvl="1" indent="-457200" algn="l" rtl="0">
              <a:spcBef>
                <a:spcPts val="324"/>
              </a:spcBef>
              <a:spcAft>
                <a:spcPts val="0"/>
              </a:spcAft>
              <a:buSzPts val="2300"/>
              <a:buAutoNum type="alphaUcPeriod"/>
            </a:pPr>
            <a:r>
              <a:rPr lang="en-US"/>
              <a:t>Expenditure cycle</a:t>
            </a:r>
            <a:endParaRPr/>
          </a:p>
          <a:p>
            <a:pPr marL="850392" lvl="1" indent="-457200" algn="l" rtl="0">
              <a:spcBef>
                <a:spcPts val="324"/>
              </a:spcBef>
              <a:spcAft>
                <a:spcPts val="0"/>
              </a:spcAft>
              <a:buSzPts val="2300"/>
              <a:buAutoNum type="alphaUcPeriod"/>
            </a:pPr>
            <a:r>
              <a:rPr lang="en-US"/>
              <a:t>Conversion cycle </a:t>
            </a:r>
            <a:endParaRPr/>
          </a:p>
          <a:p>
            <a:pPr marL="365760" lvl="0" indent="-139446" algn="l" rtl="0">
              <a:spcBef>
                <a:spcPts val="400"/>
              </a:spcBef>
              <a:spcAft>
                <a:spcPts val="0"/>
              </a:spcAft>
              <a:buSzPts val="1836"/>
              <a:buNone/>
            </a:pPr>
            <a:endParaRPr/>
          </a:p>
        </p:txBody>
      </p:sp>
      <p:sp>
        <p:nvSpPr>
          <p:cNvPr id="405" name="Google Shape;405;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3959"/>
              <a:buFont typeface="Lucida Sans"/>
              <a:buNone/>
            </a:pPr>
            <a:r>
              <a:rPr lang="en-US" sz="3959"/>
              <a:t>1. Transaction Processing System (TPS)</a:t>
            </a:r>
            <a:endParaRPr sz="369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Revenue Cycle Applications</a:t>
            </a:r>
            <a:endParaRPr/>
          </a:p>
        </p:txBody>
      </p:sp>
      <p:sp>
        <p:nvSpPr>
          <p:cNvPr id="411" name="Google Shape;411;p48"/>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Sales Order Processing</a:t>
            </a:r>
            <a:endParaRPr/>
          </a:p>
          <a:p>
            <a:pPr marL="365760" lvl="0" indent="-256032" algn="l" rtl="0">
              <a:spcBef>
                <a:spcPts val="400"/>
              </a:spcBef>
              <a:spcAft>
                <a:spcPts val="0"/>
              </a:spcAft>
              <a:buSzPts val="1836"/>
              <a:buChar char="🞂"/>
            </a:pPr>
            <a:r>
              <a:rPr lang="en-US"/>
              <a:t>Accounts Receivable System</a:t>
            </a:r>
            <a:endParaRPr/>
          </a:p>
        </p:txBody>
      </p:sp>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870"/>
              <a:buFont typeface="Lucida Sans"/>
              <a:buNone/>
            </a:pPr>
            <a:r>
              <a:rPr lang="en-US" sz="3870" b="1"/>
              <a:t>Functions in the Revenue Cycle</a:t>
            </a:r>
            <a:endParaRPr/>
          </a:p>
        </p:txBody>
      </p:sp>
      <p:sp>
        <p:nvSpPr>
          <p:cNvPr id="417" name="Google Shape;417;p49"/>
          <p:cNvSpPr txBox="1">
            <a:spLocks noGrp="1"/>
          </p:cNvSpPr>
          <p:nvPr>
            <p:ph type="body" idx="1"/>
          </p:nvPr>
        </p:nvSpPr>
        <p:spPr>
          <a:xfrm>
            <a:off x="304800" y="1981200"/>
            <a:ext cx="8153400" cy="4114800"/>
          </a:xfrm>
          <a:prstGeom prst="rect">
            <a:avLst/>
          </a:prstGeom>
          <a:noFill/>
          <a:ln>
            <a:noFill/>
          </a:ln>
        </p:spPr>
        <p:txBody>
          <a:bodyPr spcFirstLastPara="1" wrap="square" lIns="90475" tIns="44450" rIns="90475" bIns="44450" anchor="t" anchorCtr="0">
            <a:noAutofit/>
          </a:bodyPr>
          <a:lstStyle/>
          <a:p>
            <a:pPr marL="365760" lvl="0" indent="-256031" algn="l" rtl="0">
              <a:lnSpc>
                <a:spcPct val="90000"/>
              </a:lnSpc>
              <a:spcBef>
                <a:spcPts val="0"/>
              </a:spcBef>
              <a:spcAft>
                <a:spcPts val="0"/>
              </a:spcAft>
              <a:buSzPts val="1635"/>
              <a:buChar char="🞂"/>
            </a:pPr>
            <a:r>
              <a:rPr lang="en-US" sz="2405"/>
              <a:t>Sales department obtains </a:t>
            </a:r>
            <a:r>
              <a:rPr lang="en-US" sz="2405" b="1">
                <a:solidFill>
                  <a:srgbClr val="F76681"/>
                </a:solidFill>
              </a:rPr>
              <a:t>customer order </a:t>
            </a:r>
            <a:r>
              <a:rPr lang="en-US" sz="2405"/>
              <a:t>and validates.</a:t>
            </a:r>
            <a:endParaRPr/>
          </a:p>
          <a:p>
            <a:pPr marL="365760" lvl="0" indent="-256031" algn="l" rtl="0">
              <a:lnSpc>
                <a:spcPct val="90000"/>
              </a:lnSpc>
              <a:spcBef>
                <a:spcPts val="400"/>
              </a:spcBef>
              <a:spcAft>
                <a:spcPts val="0"/>
              </a:spcAft>
              <a:buSzPts val="1635"/>
              <a:buChar char="🞂"/>
            </a:pPr>
            <a:r>
              <a:rPr lang="en-US" sz="2405"/>
              <a:t>Credit department checks customer’s credit.</a:t>
            </a:r>
            <a:endParaRPr/>
          </a:p>
          <a:p>
            <a:pPr marL="365760" lvl="0" indent="-256031" algn="l" rtl="0">
              <a:lnSpc>
                <a:spcPct val="90000"/>
              </a:lnSpc>
              <a:spcBef>
                <a:spcPts val="400"/>
              </a:spcBef>
              <a:spcAft>
                <a:spcPts val="0"/>
              </a:spcAft>
              <a:buSzPts val="1635"/>
              <a:buChar char="🞂"/>
            </a:pPr>
            <a:r>
              <a:rPr lang="en-US" sz="2405"/>
              <a:t>Sales department determines that products or services are available and prepares a</a:t>
            </a:r>
            <a:r>
              <a:rPr lang="en-US" sz="2405">
                <a:solidFill>
                  <a:srgbClr val="F76681"/>
                </a:solidFill>
              </a:rPr>
              <a:t> </a:t>
            </a:r>
            <a:r>
              <a:rPr lang="en-US" sz="2405" b="1">
                <a:solidFill>
                  <a:srgbClr val="F76681"/>
                </a:solidFill>
              </a:rPr>
              <a:t>sales order.</a:t>
            </a:r>
            <a:endParaRPr sz="2405">
              <a:solidFill>
                <a:schemeClr val="hlink"/>
              </a:solidFill>
            </a:endParaRPr>
          </a:p>
          <a:p>
            <a:pPr marL="365760" lvl="0" indent="-256031" algn="l" rtl="0">
              <a:lnSpc>
                <a:spcPct val="90000"/>
              </a:lnSpc>
              <a:spcBef>
                <a:spcPts val="400"/>
              </a:spcBef>
              <a:spcAft>
                <a:spcPts val="0"/>
              </a:spcAft>
              <a:buSzPts val="1635"/>
              <a:buChar char="🞂"/>
            </a:pPr>
            <a:r>
              <a:rPr lang="en-US" sz="2405"/>
              <a:t>Stores assemble goods for shipment which                         may involve using a</a:t>
            </a:r>
            <a:r>
              <a:rPr lang="en-US" sz="2405">
                <a:solidFill>
                  <a:srgbClr val="FDA4B5"/>
                </a:solidFill>
              </a:rPr>
              <a:t> </a:t>
            </a:r>
            <a:r>
              <a:rPr lang="en-US" sz="2405" b="1">
                <a:solidFill>
                  <a:srgbClr val="F76681"/>
                </a:solidFill>
              </a:rPr>
              <a:t>picking ticket </a:t>
            </a:r>
            <a:r>
              <a:rPr lang="en-US" sz="2405"/>
              <a:t>to</a:t>
            </a:r>
            <a:r>
              <a:rPr lang="en-US" sz="2405">
                <a:solidFill>
                  <a:srgbClr val="F76681"/>
                </a:solidFill>
              </a:rPr>
              <a:t>                        </a:t>
            </a:r>
            <a:r>
              <a:rPr lang="en-US" sz="2405"/>
              <a:t>remove goods from the warehouse.</a:t>
            </a:r>
            <a:endParaRPr/>
          </a:p>
          <a:p>
            <a:pPr marL="365760" lvl="0" indent="-256031" algn="l" rtl="0">
              <a:lnSpc>
                <a:spcPct val="90000"/>
              </a:lnSpc>
              <a:spcBef>
                <a:spcPts val="400"/>
              </a:spcBef>
              <a:spcAft>
                <a:spcPts val="0"/>
              </a:spcAft>
              <a:buSzPts val="1635"/>
              <a:buChar char="🞂"/>
            </a:pPr>
            <a:r>
              <a:rPr lang="en-US" sz="2405"/>
              <a:t>Shipping department ships ordered goods                    including a </a:t>
            </a:r>
            <a:r>
              <a:rPr lang="en-US" sz="2405" b="1">
                <a:solidFill>
                  <a:srgbClr val="F76681"/>
                </a:solidFill>
              </a:rPr>
              <a:t>packing slip </a:t>
            </a:r>
            <a:r>
              <a:rPr lang="en-US" sz="2405"/>
              <a:t>for customer                    validation.</a:t>
            </a:r>
            <a:endParaRPr/>
          </a:p>
        </p:txBody>
      </p:sp>
      <p:pic>
        <p:nvPicPr>
          <p:cNvPr id="418" name="Google Shape;418;p49"/>
          <p:cNvPicPr preferRelativeResize="0"/>
          <p:nvPr/>
        </p:nvPicPr>
        <p:blipFill rotWithShape="1">
          <a:blip r:embed="rId3">
            <a:alphaModFix/>
          </a:blip>
          <a:srcRect/>
          <a:stretch/>
        </p:blipFill>
        <p:spPr>
          <a:xfrm>
            <a:off x="6264275" y="3810000"/>
            <a:ext cx="2805113" cy="301942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7">
                                            <p:txEl>
                                              <p:pRg st="0" end="0"/>
                                            </p:txEl>
                                          </p:spTgt>
                                        </p:tgtEl>
                                        <p:attrNameLst>
                                          <p:attrName>style.visibility</p:attrName>
                                        </p:attrNameLst>
                                      </p:cBhvr>
                                      <p:to>
                                        <p:strVal val="visible"/>
                                      </p:to>
                                    </p:set>
                                    <p:animEffect transition="in" filter="fade">
                                      <p:cBhvr>
                                        <p:cTn id="7" dur="500"/>
                                        <p:tgtEl>
                                          <p:spTgt spid="4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7">
                                            <p:txEl>
                                              <p:pRg st="1" end="1"/>
                                            </p:txEl>
                                          </p:spTgt>
                                        </p:tgtEl>
                                        <p:attrNameLst>
                                          <p:attrName>style.visibility</p:attrName>
                                        </p:attrNameLst>
                                      </p:cBhvr>
                                      <p:to>
                                        <p:strVal val="visible"/>
                                      </p:to>
                                    </p:set>
                                    <p:animEffect transition="in" filter="fade">
                                      <p:cBhvr>
                                        <p:cTn id="12" dur="500"/>
                                        <p:tgtEl>
                                          <p:spTgt spid="4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7">
                                            <p:txEl>
                                              <p:pRg st="2" end="2"/>
                                            </p:txEl>
                                          </p:spTgt>
                                        </p:tgtEl>
                                        <p:attrNameLst>
                                          <p:attrName>style.visibility</p:attrName>
                                        </p:attrNameLst>
                                      </p:cBhvr>
                                      <p:to>
                                        <p:strVal val="visible"/>
                                      </p:to>
                                    </p:set>
                                    <p:animEffect transition="in" filter="fade">
                                      <p:cBhvr>
                                        <p:cTn id="17" dur="500"/>
                                        <p:tgtEl>
                                          <p:spTgt spid="4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7">
                                            <p:txEl>
                                              <p:pRg st="3" end="3"/>
                                            </p:txEl>
                                          </p:spTgt>
                                        </p:tgtEl>
                                        <p:attrNameLst>
                                          <p:attrName>style.visibility</p:attrName>
                                        </p:attrNameLst>
                                      </p:cBhvr>
                                      <p:to>
                                        <p:strVal val="visible"/>
                                      </p:to>
                                    </p:set>
                                    <p:animEffect transition="in" filter="fade">
                                      <p:cBhvr>
                                        <p:cTn id="22" dur="500"/>
                                        <p:tgtEl>
                                          <p:spTgt spid="4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7">
                                            <p:txEl>
                                              <p:pRg st="4" end="4"/>
                                            </p:txEl>
                                          </p:spTgt>
                                        </p:tgtEl>
                                        <p:attrNameLst>
                                          <p:attrName>style.visibility</p:attrName>
                                        </p:attrNameLst>
                                      </p:cBhvr>
                                      <p:to>
                                        <p:strVal val="visible"/>
                                      </p:to>
                                    </p:set>
                                    <p:animEffect transition="in" filter="fade">
                                      <p:cBhvr>
                                        <p:cTn id="27" dur="500"/>
                                        <p:tgtEl>
                                          <p:spTgt spid="4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870"/>
              <a:buFont typeface="Lucida Sans"/>
              <a:buNone/>
            </a:pPr>
            <a:r>
              <a:rPr lang="en-US" sz="3870" b="1"/>
              <a:t>Functions in the Revenue Cycle</a:t>
            </a:r>
            <a:endParaRPr/>
          </a:p>
        </p:txBody>
      </p:sp>
      <p:sp>
        <p:nvSpPr>
          <p:cNvPr id="424" name="Google Shape;424;p50"/>
          <p:cNvSpPr txBox="1">
            <a:spLocks noGrp="1"/>
          </p:cNvSpPr>
          <p:nvPr>
            <p:ph type="body" idx="1"/>
          </p:nvPr>
        </p:nvSpPr>
        <p:spPr>
          <a:xfrm>
            <a:off x="381000" y="2057400"/>
            <a:ext cx="83058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761"/>
              <a:buChar char="🞂"/>
            </a:pPr>
            <a:r>
              <a:rPr lang="en-US" sz="2590"/>
              <a:t>Billing department bills customer upon receipt of a </a:t>
            </a:r>
            <a:r>
              <a:rPr lang="en-US" sz="2590" b="1">
                <a:solidFill>
                  <a:srgbClr val="F76681"/>
                </a:solidFill>
              </a:rPr>
              <a:t>shipping notice </a:t>
            </a:r>
            <a:r>
              <a:rPr lang="en-US" sz="2590"/>
              <a:t>from shipping department.</a:t>
            </a:r>
            <a:endParaRPr/>
          </a:p>
          <a:p>
            <a:pPr marL="365760" lvl="0" indent="-256032" algn="l" rtl="0">
              <a:spcBef>
                <a:spcPts val="400"/>
              </a:spcBef>
              <a:spcAft>
                <a:spcPts val="0"/>
              </a:spcAft>
              <a:buSzPts val="1761"/>
              <a:buChar char="🞂"/>
            </a:pPr>
            <a:r>
              <a:rPr lang="en-US" sz="2590"/>
              <a:t>Cashier receives and deposits cash intact daily using a </a:t>
            </a:r>
            <a:r>
              <a:rPr lang="en-US" sz="2590" b="1">
                <a:solidFill>
                  <a:srgbClr val="F76681"/>
                </a:solidFill>
              </a:rPr>
              <a:t>deposit slip.</a:t>
            </a:r>
            <a:endParaRPr/>
          </a:p>
          <a:p>
            <a:pPr marL="365760" lvl="0" indent="-256032" algn="l" rtl="0">
              <a:spcBef>
                <a:spcPts val="400"/>
              </a:spcBef>
              <a:spcAft>
                <a:spcPts val="0"/>
              </a:spcAft>
              <a:buSzPts val="1761"/>
              <a:buChar char="🞂"/>
            </a:pPr>
            <a:r>
              <a:rPr lang="en-US" sz="2590"/>
              <a:t>Accounts receivable clerk updates accounts receivable database by reference to the customer</a:t>
            </a:r>
            <a:r>
              <a:rPr lang="en-US" sz="2590" b="1">
                <a:solidFill>
                  <a:schemeClr val="hlink"/>
                </a:solidFill>
              </a:rPr>
              <a:t> </a:t>
            </a:r>
            <a:r>
              <a:rPr lang="en-US" sz="2590" b="1">
                <a:solidFill>
                  <a:srgbClr val="F76681"/>
                </a:solidFill>
              </a:rPr>
              <a:t>remittance advice </a:t>
            </a:r>
            <a:r>
              <a:rPr lang="en-US" sz="2590"/>
              <a:t>which accompanies payment.</a:t>
            </a:r>
            <a:endParaRPr/>
          </a:p>
          <a:p>
            <a:pPr marL="365760" lvl="0" indent="-256032" algn="l" rtl="0">
              <a:spcBef>
                <a:spcPts val="400"/>
              </a:spcBef>
              <a:spcAft>
                <a:spcPts val="0"/>
              </a:spcAft>
              <a:buSzPts val="1761"/>
              <a:buChar char="🞂"/>
            </a:pPr>
            <a:r>
              <a:rPr lang="en-US" sz="2590"/>
              <a:t>Appropriate personnel prepare needed reports.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4">
                                            <p:txEl>
                                              <p:pRg st="0" end="0"/>
                                            </p:txEl>
                                          </p:spTgt>
                                        </p:tgtEl>
                                        <p:attrNameLst>
                                          <p:attrName>style.visibility</p:attrName>
                                        </p:attrNameLst>
                                      </p:cBhvr>
                                      <p:to>
                                        <p:strVal val="visible"/>
                                      </p:to>
                                    </p:set>
                                    <p:animEffect transition="in" filter="fade">
                                      <p:cBhvr>
                                        <p:cTn id="7" dur="500"/>
                                        <p:tgtEl>
                                          <p:spTgt spid="4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4">
                                            <p:txEl>
                                              <p:pRg st="1" end="1"/>
                                            </p:txEl>
                                          </p:spTgt>
                                        </p:tgtEl>
                                        <p:attrNameLst>
                                          <p:attrName>style.visibility</p:attrName>
                                        </p:attrNameLst>
                                      </p:cBhvr>
                                      <p:to>
                                        <p:strVal val="visible"/>
                                      </p:to>
                                    </p:set>
                                    <p:animEffect transition="in" filter="fade">
                                      <p:cBhvr>
                                        <p:cTn id="12" dur="500"/>
                                        <p:tgtEl>
                                          <p:spTgt spid="4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4">
                                            <p:txEl>
                                              <p:pRg st="2" end="2"/>
                                            </p:txEl>
                                          </p:spTgt>
                                        </p:tgtEl>
                                        <p:attrNameLst>
                                          <p:attrName>style.visibility</p:attrName>
                                        </p:attrNameLst>
                                      </p:cBhvr>
                                      <p:to>
                                        <p:strVal val="visible"/>
                                      </p:to>
                                    </p:set>
                                    <p:animEffect transition="in" filter="fade">
                                      <p:cBhvr>
                                        <p:cTn id="17" dur="500"/>
                                        <p:tgtEl>
                                          <p:spTgt spid="4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4">
                                            <p:txEl>
                                              <p:pRg st="3" end="3"/>
                                            </p:txEl>
                                          </p:spTgt>
                                        </p:tgtEl>
                                        <p:attrNameLst>
                                          <p:attrName>style.visibility</p:attrName>
                                        </p:attrNameLst>
                                      </p:cBhvr>
                                      <p:to>
                                        <p:strVal val="visible"/>
                                      </p:to>
                                    </p:set>
                                    <p:animEffect transition="in" filter="fade">
                                      <p:cBhvr>
                                        <p:cTn id="22" dur="500"/>
                                        <p:tgtEl>
                                          <p:spTgt spid="4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b="1"/>
              <a:t>Inputs to the Revenue Cycle</a:t>
            </a:r>
            <a:endParaRPr/>
          </a:p>
        </p:txBody>
      </p:sp>
      <p:sp>
        <p:nvSpPr>
          <p:cNvPr id="430" name="Google Shape;430;p51"/>
          <p:cNvSpPr txBox="1">
            <a:spLocks noGrp="1"/>
          </p:cNvSpPr>
          <p:nvPr>
            <p:ph type="body" idx="1"/>
          </p:nvPr>
        </p:nvSpPr>
        <p:spPr>
          <a:xfrm>
            <a:off x="685800" y="1905000"/>
            <a:ext cx="7772400" cy="4114800"/>
          </a:xfrm>
          <a:prstGeom prst="rect">
            <a:avLst/>
          </a:prstGeom>
          <a:noFill/>
          <a:ln>
            <a:noFill/>
          </a:ln>
        </p:spPr>
        <p:txBody>
          <a:bodyPr spcFirstLastPara="1" wrap="square" lIns="90475" tIns="44450" rIns="90475" bIns="44450" anchor="t" anchorCtr="0">
            <a:noAutofit/>
          </a:bodyPr>
          <a:lstStyle/>
          <a:p>
            <a:pPr marL="365760" lvl="0" indent="-256031" algn="l" rtl="0">
              <a:lnSpc>
                <a:spcPct val="80000"/>
              </a:lnSpc>
              <a:spcBef>
                <a:spcPts val="0"/>
              </a:spcBef>
              <a:spcAft>
                <a:spcPts val="0"/>
              </a:spcAft>
              <a:buSzPts val="1572"/>
              <a:buChar char="🞂"/>
            </a:pPr>
            <a:r>
              <a:rPr lang="en-US" sz="2312" b="1">
                <a:solidFill>
                  <a:srgbClr val="F76681"/>
                </a:solidFill>
              </a:rPr>
              <a:t>Sales Orders </a:t>
            </a:r>
            <a:r>
              <a:rPr lang="en-US" sz="2312"/>
              <a:t>- prenumbered and usually prepared in multiple copies</a:t>
            </a:r>
            <a:endParaRPr/>
          </a:p>
          <a:p>
            <a:pPr marL="365760" lvl="0" indent="-256031" algn="l" rtl="0">
              <a:lnSpc>
                <a:spcPct val="80000"/>
              </a:lnSpc>
              <a:spcBef>
                <a:spcPts val="400"/>
              </a:spcBef>
              <a:spcAft>
                <a:spcPts val="0"/>
              </a:spcAft>
              <a:buSzPts val="1572"/>
              <a:buChar char="🞂"/>
            </a:pPr>
            <a:r>
              <a:rPr lang="en-US" sz="2312" b="1">
                <a:solidFill>
                  <a:srgbClr val="F76681"/>
                </a:solidFill>
              </a:rPr>
              <a:t>Sales Invoices </a:t>
            </a:r>
            <a:r>
              <a:rPr lang="en-US" sz="2312"/>
              <a:t>- prepared after shipment of goods or providing of a service</a:t>
            </a:r>
            <a:endParaRPr/>
          </a:p>
          <a:p>
            <a:pPr marL="365760" lvl="0" indent="-256031" algn="l" rtl="0">
              <a:lnSpc>
                <a:spcPct val="80000"/>
              </a:lnSpc>
              <a:spcBef>
                <a:spcPts val="400"/>
              </a:spcBef>
              <a:spcAft>
                <a:spcPts val="0"/>
              </a:spcAft>
              <a:buSzPts val="1572"/>
              <a:buChar char="🞂"/>
            </a:pPr>
            <a:r>
              <a:rPr lang="en-US" sz="2312" b="1">
                <a:solidFill>
                  <a:srgbClr val="F76681"/>
                </a:solidFill>
              </a:rPr>
              <a:t>Customer Checks </a:t>
            </a:r>
            <a:r>
              <a:rPr lang="en-US" sz="2312"/>
              <a:t>- deposited intact daily by cashier</a:t>
            </a:r>
            <a:endParaRPr/>
          </a:p>
          <a:p>
            <a:pPr marL="365760" lvl="0" indent="-256031" algn="l" rtl="0">
              <a:lnSpc>
                <a:spcPct val="80000"/>
              </a:lnSpc>
              <a:spcBef>
                <a:spcPts val="400"/>
              </a:spcBef>
              <a:spcAft>
                <a:spcPts val="0"/>
              </a:spcAft>
              <a:buSzPts val="1572"/>
              <a:buChar char="🞂"/>
            </a:pPr>
            <a:r>
              <a:rPr lang="en-US" sz="2312" b="1">
                <a:solidFill>
                  <a:srgbClr val="F76681"/>
                </a:solidFill>
              </a:rPr>
              <a:t>Remittance Advices </a:t>
            </a:r>
            <a:r>
              <a:rPr lang="en-US" sz="2312"/>
              <a:t>- serve as source document for credits to accounts receivable; advices may be </a:t>
            </a:r>
            <a:r>
              <a:rPr lang="en-US" sz="2312" b="1">
                <a:solidFill>
                  <a:srgbClr val="F76681"/>
                </a:solidFill>
              </a:rPr>
              <a:t>turnaround documents</a:t>
            </a:r>
            <a:endParaRPr sz="2312">
              <a:solidFill>
                <a:srgbClr val="F76681"/>
              </a:solidFill>
            </a:endParaRPr>
          </a:p>
          <a:p>
            <a:pPr marL="365760" lvl="0" indent="-256031" algn="l" rtl="0">
              <a:lnSpc>
                <a:spcPct val="80000"/>
              </a:lnSpc>
              <a:spcBef>
                <a:spcPts val="400"/>
              </a:spcBef>
              <a:spcAft>
                <a:spcPts val="0"/>
              </a:spcAft>
              <a:buSzPts val="1572"/>
              <a:buChar char="🞂"/>
            </a:pPr>
            <a:r>
              <a:rPr lang="en-US" sz="2312" b="1">
                <a:solidFill>
                  <a:srgbClr val="F76681"/>
                </a:solidFill>
              </a:rPr>
              <a:t>Shipping Notices </a:t>
            </a:r>
            <a:r>
              <a:rPr lang="en-US" sz="2312"/>
              <a:t>- copies will serve as </a:t>
            </a:r>
            <a:r>
              <a:rPr lang="en-US" sz="2312" b="1">
                <a:solidFill>
                  <a:srgbClr val="F76681"/>
                </a:solidFill>
              </a:rPr>
              <a:t>packing slips </a:t>
            </a:r>
            <a:r>
              <a:rPr lang="en-US" sz="2312"/>
              <a:t>and</a:t>
            </a:r>
            <a:r>
              <a:rPr lang="en-US" sz="2312">
                <a:solidFill>
                  <a:srgbClr val="F76681"/>
                </a:solidFill>
              </a:rPr>
              <a:t> </a:t>
            </a:r>
            <a:r>
              <a:rPr lang="en-US" sz="2312" b="1">
                <a:solidFill>
                  <a:srgbClr val="F76681"/>
                </a:solidFill>
              </a:rPr>
              <a:t>bills of lading</a:t>
            </a:r>
            <a:endParaRPr sz="2312"/>
          </a:p>
          <a:p>
            <a:pPr marL="365760" lvl="0" indent="-256031" algn="l" rtl="0">
              <a:lnSpc>
                <a:spcPct val="80000"/>
              </a:lnSpc>
              <a:spcBef>
                <a:spcPts val="400"/>
              </a:spcBef>
              <a:spcAft>
                <a:spcPts val="0"/>
              </a:spcAft>
              <a:buSzPts val="1572"/>
              <a:buChar char="🞂"/>
            </a:pPr>
            <a:r>
              <a:rPr lang="en-US" sz="2312" b="1">
                <a:solidFill>
                  <a:srgbClr val="F76681"/>
                </a:solidFill>
              </a:rPr>
              <a:t>Credit memos </a:t>
            </a:r>
            <a:r>
              <a:rPr lang="en-US" sz="2312"/>
              <a:t>- issued for sales returns and allowances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0" end="0"/>
                                            </p:txEl>
                                          </p:spTgt>
                                        </p:tgtEl>
                                        <p:attrNameLst>
                                          <p:attrName>style.visibility</p:attrName>
                                        </p:attrNameLst>
                                      </p:cBhvr>
                                      <p:to>
                                        <p:strVal val="visible"/>
                                      </p:to>
                                    </p:set>
                                    <p:animEffect transition="in" filter="fade">
                                      <p:cBhvr>
                                        <p:cTn id="7" dur="500"/>
                                        <p:tgtEl>
                                          <p:spTgt spid="4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xEl>
                                              <p:pRg st="1" end="1"/>
                                            </p:txEl>
                                          </p:spTgt>
                                        </p:tgtEl>
                                        <p:attrNameLst>
                                          <p:attrName>style.visibility</p:attrName>
                                        </p:attrNameLst>
                                      </p:cBhvr>
                                      <p:to>
                                        <p:strVal val="visible"/>
                                      </p:to>
                                    </p:set>
                                    <p:animEffect transition="in" filter="fade">
                                      <p:cBhvr>
                                        <p:cTn id="12" dur="500"/>
                                        <p:tgtEl>
                                          <p:spTgt spid="4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0">
                                            <p:txEl>
                                              <p:pRg st="2" end="2"/>
                                            </p:txEl>
                                          </p:spTgt>
                                        </p:tgtEl>
                                        <p:attrNameLst>
                                          <p:attrName>style.visibility</p:attrName>
                                        </p:attrNameLst>
                                      </p:cBhvr>
                                      <p:to>
                                        <p:strVal val="visible"/>
                                      </p:to>
                                    </p:set>
                                    <p:animEffect transition="in" filter="fade">
                                      <p:cBhvr>
                                        <p:cTn id="17" dur="500"/>
                                        <p:tgtEl>
                                          <p:spTgt spid="4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0">
                                            <p:txEl>
                                              <p:pRg st="3" end="3"/>
                                            </p:txEl>
                                          </p:spTgt>
                                        </p:tgtEl>
                                        <p:attrNameLst>
                                          <p:attrName>style.visibility</p:attrName>
                                        </p:attrNameLst>
                                      </p:cBhvr>
                                      <p:to>
                                        <p:strVal val="visible"/>
                                      </p:to>
                                    </p:set>
                                    <p:animEffect transition="in" filter="fade">
                                      <p:cBhvr>
                                        <p:cTn id="22" dur="500"/>
                                        <p:tgtEl>
                                          <p:spTgt spid="4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0">
                                            <p:txEl>
                                              <p:pRg st="4" end="4"/>
                                            </p:txEl>
                                          </p:spTgt>
                                        </p:tgtEl>
                                        <p:attrNameLst>
                                          <p:attrName>style.visibility</p:attrName>
                                        </p:attrNameLst>
                                      </p:cBhvr>
                                      <p:to>
                                        <p:strVal val="visible"/>
                                      </p:to>
                                    </p:set>
                                    <p:animEffect transition="in" filter="fade">
                                      <p:cBhvr>
                                        <p:cTn id="27" dur="500"/>
                                        <p:tgtEl>
                                          <p:spTgt spid="4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0">
                                            <p:txEl>
                                              <p:pRg st="5" end="5"/>
                                            </p:txEl>
                                          </p:spTgt>
                                        </p:tgtEl>
                                        <p:attrNameLst>
                                          <p:attrName>style.visibility</p:attrName>
                                        </p:attrNameLst>
                                      </p:cBhvr>
                                      <p:to>
                                        <p:strVal val="visible"/>
                                      </p:to>
                                    </p:set>
                                    <p:animEffect transition="in" filter="fade">
                                      <p:cBhvr>
                                        <p:cTn id="32" dur="500"/>
                                        <p:tgtEl>
                                          <p:spTgt spid="4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b="1"/>
              <a:t>Outputs of the Revenue Cycle</a:t>
            </a:r>
            <a:endParaRPr/>
          </a:p>
        </p:txBody>
      </p:sp>
      <p:sp>
        <p:nvSpPr>
          <p:cNvPr id="436" name="Google Shape;436;p52"/>
          <p:cNvSpPr txBox="1">
            <a:spLocks noGrp="1"/>
          </p:cNvSpPr>
          <p:nvPr>
            <p:ph type="body" idx="1"/>
          </p:nvPr>
        </p:nvSpPr>
        <p:spPr>
          <a:xfrm>
            <a:off x="533400" y="18288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80000"/>
              </a:lnSpc>
              <a:spcBef>
                <a:spcPts val="0"/>
              </a:spcBef>
              <a:spcAft>
                <a:spcPts val="0"/>
              </a:spcAft>
              <a:buSzPts val="1387"/>
              <a:buChar char="🞂"/>
            </a:pPr>
            <a:r>
              <a:rPr lang="en-US" sz="2040" b="1">
                <a:solidFill>
                  <a:srgbClr val="F76681"/>
                </a:solidFill>
              </a:rPr>
              <a:t>Open Orders Report </a:t>
            </a:r>
            <a:r>
              <a:rPr lang="en-US" sz="2040"/>
              <a:t>- lists those sales orders that are not completely shipped and billed</a:t>
            </a:r>
            <a:endParaRPr/>
          </a:p>
          <a:p>
            <a:pPr marL="365760" lvl="0" indent="-256032" algn="l" rtl="0">
              <a:lnSpc>
                <a:spcPct val="80000"/>
              </a:lnSpc>
              <a:spcBef>
                <a:spcPts val="400"/>
              </a:spcBef>
              <a:spcAft>
                <a:spcPts val="0"/>
              </a:spcAft>
              <a:buSzPts val="1387"/>
              <a:buChar char="🞂"/>
            </a:pPr>
            <a:r>
              <a:rPr lang="en-US" sz="2040" b="1">
                <a:solidFill>
                  <a:srgbClr val="F76681"/>
                </a:solidFill>
              </a:rPr>
              <a:t>Customer Billing Statement </a:t>
            </a:r>
            <a:r>
              <a:rPr lang="en-US" sz="2040"/>
              <a:t>- includes customer account activity such as sales, returns, and cash receipts</a:t>
            </a:r>
            <a:endParaRPr/>
          </a:p>
          <a:p>
            <a:pPr marL="365760" lvl="0" indent="-256032" algn="l" rtl="0">
              <a:lnSpc>
                <a:spcPct val="80000"/>
              </a:lnSpc>
              <a:spcBef>
                <a:spcPts val="400"/>
              </a:spcBef>
              <a:spcAft>
                <a:spcPts val="0"/>
              </a:spcAft>
              <a:buSzPts val="1387"/>
              <a:buChar char="🞂"/>
            </a:pPr>
            <a:r>
              <a:rPr lang="en-US" sz="2040" b="1">
                <a:solidFill>
                  <a:srgbClr val="F76681"/>
                </a:solidFill>
              </a:rPr>
              <a:t>Accounts Receivable Aging Statement </a:t>
            </a:r>
            <a:r>
              <a:rPr lang="en-US" sz="2040"/>
              <a:t>- contains data concerning the status of open balances of all active credit customers arranging the overdue amounts by time periods</a:t>
            </a:r>
            <a:endParaRPr/>
          </a:p>
          <a:p>
            <a:pPr marL="365760" lvl="0" indent="-256032" algn="l" rtl="0">
              <a:lnSpc>
                <a:spcPct val="80000"/>
              </a:lnSpc>
              <a:spcBef>
                <a:spcPts val="400"/>
              </a:spcBef>
              <a:spcAft>
                <a:spcPts val="0"/>
              </a:spcAft>
              <a:buSzPts val="1387"/>
              <a:buChar char="🞂"/>
            </a:pPr>
            <a:r>
              <a:rPr lang="en-US" sz="2040" b="1">
                <a:solidFill>
                  <a:srgbClr val="F76681"/>
                </a:solidFill>
              </a:rPr>
              <a:t>Sales Analysis Reports </a:t>
            </a:r>
            <a:r>
              <a:rPr lang="en-US" sz="2040" b="1">
                <a:solidFill>
                  <a:schemeClr val="hlink"/>
                </a:solidFill>
              </a:rPr>
              <a:t>- </a:t>
            </a:r>
            <a:r>
              <a:rPr lang="en-US" sz="2040"/>
              <a:t>captures detailed data about each sale in order to monitor sales activities and plan production and marketing efforts</a:t>
            </a:r>
            <a:endParaRPr/>
          </a:p>
          <a:p>
            <a:pPr marL="365760" lvl="0" indent="-256032" algn="l" rtl="0">
              <a:lnSpc>
                <a:spcPct val="80000"/>
              </a:lnSpc>
              <a:spcBef>
                <a:spcPts val="400"/>
              </a:spcBef>
              <a:spcAft>
                <a:spcPts val="0"/>
              </a:spcAft>
              <a:buSzPts val="1387"/>
              <a:buChar char="🞂"/>
            </a:pPr>
            <a:r>
              <a:rPr lang="en-US" sz="2040" b="1">
                <a:solidFill>
                  <a:srgbClr val="F76681"/>
                </a:solidFill>
              </a:rPr>
              <a:t>Customer Listing Report </a:t>
            </a:r>
            <a:r>
              <a:rPr lang="en-US" sz="2040"/>
              <a:t>- shows customer codes, contacts, shipping and billing addresses, credit limits, and billing terms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animEffect transition="in" filter="fade">
                                      <p:cBhvr>
                                        <p:cTn id="7" dur="500"/>
                                        <p:tgtEl>
                                          <p:spTgt spid="4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6">
                                            <p:txEl>
                                              <p:pRg st="1" end="1"/>
                                            </p:txEl>
                                          </p:spTgt>
                                        </p:tgtEl>
                                        <p:attrNameLst>
                                          <p:attrName>style.visibility</p:attrName>
                                        </p:attrNameLst>
                                      </p:cBhvr>
                                      <p:to>
                                        <p:strVal val="visible"/>
                                      </p:to>
                                    </p:set>
                                    <p:animEffect transition="in" filter="fade">
                                      <p:cBhvr>
                                        <p:cTn id="12" dur="500"/>
                                        <p:tgtEl>
                                          <p:spTgt spid="4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6">
                                            <p:txEl>
                                              <p:pRg st="2" end="2"/>
                                            </p:txEl>
                                          </p:spTgt>
                                        </p:tgtEl>
                                        <p:attrNameLst>
                                          <p:attrName>style.visibility</p:attrName>
                                        </p:attrNameLst>
                                      </p:cBhvr>
                                      <p:to>
                                        <p:strVal val="visible"/>
                                      </p:to>
                                    </p:set>
                                    <p:animEffect transition="in" filter="fade">
                                      <p:cBhvr>
                                        <p:cTn id="17" dur="500"/>
                                        <p:tgtEl>
                                          <p:spTgt spid="4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6">
                                            <p:txEl>
                                              <p:pRg st="3" end="3"/>
                                            </p:txEl>
                                          </p:spTgt>
                                        </p:tgtEl>
                                        <p:attrNameLst>
                                          <p:attrName>style.visibility</p:attrName>
                                        </p:attrNameLst>
                                      </p:cBhvr>
                                      <p:to>
                                        <p:strVal val="visible"/>
                                      </p:to>
                                    </p:set>
                                    <p:animEffect transition="in" filter="fade">
                                      <p:cBhvr>
                                        <p:cTn id="22" dur="500"/>
                                        <p:tgtEl>
                                          <p:spTgt spid="4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6">
                                            <p:txEl>
                                              <p:pRg st="4" end="4"/>
                                            </p:txEl>
                                          </p:spTgt>
                                        </p:tgtEl>
                                        <p:attrNameLst>
                                          <p:attrName>style.visibility</p:attrName>
                                        </p:attrNameLst>
                                      </p:cBhvr>
                                      <p:to>
                                        <p:strVal val="visible"/>
                                      </p:to>
                                    </p:set>
                                    <p:animEffect transition="in" filter="fade">
                                      <p:cBhvr>
                                        <p:cTn id="27" dur="500"/>
                                        <p:tgtEl>
                                          <p:spTgt spid="4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Accounts Receivable Functions</a:t>
            </a:r>
            <a:endParaRPr/>
          </a:p>
        </p:txBody>
      </p:sp>
      <p:sp>
        <p:nvSpPr>
          <p:cNvPr id="442" name="Google Shape;442;p53"/>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Cash Receipts</a:t>
            </a:r>
            <a:endParaRPr/>
          </a:p>
          <a:p>
            <a:pPr marL="365760" lvl="0" indent="-256032" algn="l" rtl="0">
              <a:spcBef>
                <a:spcPts val="400"/>
              </a:spcBef>
              <a:spcAft>
                <a:spcPts val="0"/>
              </a:spcAft>
              <a:buSzPts val="1836"/>
              <a:buChar char="🞂"/>
            </a:pPr>
            <a:r>
              <a:rPr lang="en-US"/>
              <a:t>Billing</a:t>
            </a:r>
            <a:endParaRPr/>
          </a:p>
          <a:p>
            <a:pPr marL="365760" lvl="0" indent="-256032" algn="l" rtl="0">
              <a:spcBef>
                <a:spcPts val="400"/>
              </a:spcBef>
              <a:spcAft>
                <a:spcPts val="0"/>
              </a:spcAft>
              <a:buSzPts val="1836"/>
              <a:buChar char="🞂"/>
            </a:pPr>
            <a:r>
              <a:rPr lang="en-US"/>
              <a:t>Accounts Receivable</a:t>
            </a:r>
            <a:endParaRPr/>
          </a:p>
          <a:p>
            <a:pPr marL="365760" lvl="0" indent="-256032" algn="l" rtl="0">
              <a:spcBef>
                <a:spcPts val="400"/>
              </a:spcBef>
              <a:spcAft>
                <a:spcPts val="0"/>
              </a:spcAft>
              <a:buSzPts val="1836"/>
              <a:buChar char="🞂"/>
            </a:pPr>
            <a:r>
              <a:rPr lang="en-US"/>
              <a:t>Credit</a:t>
            </a:r>
            <a:endParaRPr/>
          </a:p>
          <a:p>
            <a:pPr marL="365760" lvl="0" indent="-256032" algn="l" rtl="0">
              <a:spcBef>
                <a:spcPts val="400"/>
              </a:spcBef>
              <a:spcAft>
                <a:spcPts val="0"/>
              </a:spcAft>
              <a:buSzPts val="1836"/>
              <a:buChar char="🞂"/>
            </a:pPr>
            <a:r>
              <a:rPr lang="en-US"/>
              <a:t>General Ledger</a:t>
            </a:r>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Lucida Sans"/>
              <a:buNone/>
            </a:pPr>
            <a:r>
              <a:rPr lang="en-US" sz="3600" b="1"/>
              <a:t>Cycle Billing in Accounts Receivable</a:t>
            </a:r>
            <a:endParaRPr/>
          </a:p>
        </p:txBody>
      </p:sp>
      <p:sp>
        <p:nvSpPr>
          <p:cNvPr id="448" name="Google Shape;448;p54"/>
          <p:cNvSpPr txBox="1">
            <a:spLocks noGrp="1"/>
          </p:cNvSpPr>
          <p:nvPr>
            <p:ph type="body" idx="1"/>
          </p:nvPr>
        </p:nvSpPr>
        <p:spPr>
          <a:xfrm>
            <a:off x="0" y="22860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904"/>
              <a:buChar char="🞂"/>
            </a:pPr>
            <a:r>
              <a:rPr lang="en-US" sz="2800"/>
              <a:t>Companies which have a large volume of customers may choose to use </a:t>
            </a:r>
            <a:r>
              <a:rPr lang="en-US" sz="2800" b="1">
                <a:solidFill>
                  <a:srgbClr val="F76681"/>
                </a:solidFill>
              </a:rPr>
              <a:t>cycle billing</a:t>
            </a:r>
            <a:r>
              <a:rPr lang="en-US" sz="2800" b="1">
                <a:solidFill>
                  <a:schemeClr val="hlink"/>
                </a:solidFill>
              </a:rPr>
              <a:t>.</a:t>
            </a:r>
            <a:endParaRPr/>
          </a:p>
          <a:p>
            <a:pPr marL="365760" lvl="0" indent="-256032" algn="l" rtl="0">
              <a:lnSpc>
                <a:spcPct val="90000"/>
              </a:lnSpc>
              <a:spcBef>
                <a:spcPts val="400"/>
              </a:spcBef>
              <a:spcAft>
                <a:spcPts val="0"/>
              </a:spcAft>
              <a:buSzPts val="1904"/>
              <a:buChar char="🞂"/>
            </a:pPr>
            <a:r>
              <a:rPr lang="en-US" sz="2800"/>
              <a:t>This plan involves subdividing the                    accounts receivable file by alphabet                           or account number and sending bills                        out in cycles.</a:t>
            </a:r>
            <a:endParaRPr/>
          </a:p>
          <a:p>
            <a:pPr marL="365760" lvl="0" indent="-256032" algn="l" rtl="0">
              <a:lnSpc>
                <a:spcPct val="90000"/>
              </a:lnSpc>
              <a:spcBef>
                <a:spcPts val="400"/>
              </a:spcBef>
              <a:spcAft>
                <a:spcPts val="0"/>
              </a:spcAft>
              <a:buSzPts val="1904"/>
              <a:buChar char="🞂"/>
            </a:pPr>
            <a:r>
              <a:rPr lang="en-US" sz="2800" b="1">
                <a:solidFill>
                  <a:srgbClr val="F76681"/>
                </a:solidFill>
              </a:rPr>
              <a:t>Cycle billing </a:t>
            </a:r>
            <a:r>
              <a:rPr lang="en-US" sz="2800"/>
              <a:t>distributes the preparation of customer statements over the working days of the month.</a:t>
            </a:r>
            <a:endParaRPr/>
          </a:p>
        </p:txBody>
      </p:sp>
      <p:pic>
        <p:nvPicPr>
          <p:cNvPr id="449" name="Google Shape;449;p54"/>
          <p:cNvPicPr preferRelativeResize="0"/>
          <p:nvPr/>
        </p:nvPicPr>
        <p:blipFill rotWithShape="1">
          <a:blip r:embed="rId3">
            <a:alphaModFix/>
          </a:blip>
          <a:srcRect/>
          <a:stretch/>
        </p:blipFill>
        <p:spPr>
          <a:xfrm>
            <a:off x="5659438" y="2819400"/>
            <a:ext cx="3287712" cy="286702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8">
                                            <p:txEl>
                                              <p:pRg st="0" end="0"/>
                                            </p:txEl>
                                          </p:spTgt>
                                        </p:tgtEl>
                                        <p:attrNameLst>
                                          <p:attrName>style.visibility</p:attrName>
                                        </p:attrNameLst>
                                      </p:cBhvr>
                                      <p:to>
                                        <p:strVal val="visible"/>
                                      </p:to>
                                    </p:set>
                                    <p:animEffect transition="in" filter="fade">
                                      <p:cBhvr>
                                        <p:cTn id="7" dur="500"/>
                                        <p:tgtEl>
                                          <p:spTgt spid="4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8">
                                            <p:txEl>
                                              <p:pRg st="1" end="1"/>
                                            </p:txEl>
                                          </p:spTgt>
                                        </p:tgtEl>
                                        <p:attrNameLst>
                                          <p:attrName>style.visibility</p:attrName>
                                        </p:attrNameLst>
                                      </p:cBhvr>
                                      <p:to>
                                        <p:strVal val="visible"/>
                                      </p:to>
                                    </p:set>
                                    <p:animEffect transition="in" filter="fade">
                                      <p:cBhvr>
                                        <p:cTn id="12" dur="500"/>
                                        <p:tgtEl>
                                          <p:spTgt spid="4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8">
                                            <p:txEl>
                                              <p:pRg st="2" end="2"/>
                                            </p:txEl>
                                          </p:spTgt>
                                        </p:tgtEl>
                                        <p:attrNameLst>
                                          <p:attrName>style.visibility</p:attrName>
                                        </p:attrNameLst>
                                      </p:cBhvr>
                                      <p:to>
                                        <p:strVal val="visible"/>
                                      </p:to>
                                    </p:set>
                                    <p:animEffect transition="in" filter="fade">
                                      <p:cBhvr>
                                        <p:cTn id="17" dur="500"/>
                                        <p:tgtEl>
                                          <p:spTgt spid="4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Types of Sales Order Systems</a:t>
            </a:r>
            <a:endParaRPr/>
          </a:p>
        </p:txBody>
      </p:sp>
      <p:sp>
        <p:nvSpPr>
          <p:cNvPr id="455" name="Google Shape;455;p55"/>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incomplete prebilling</a:t>
            </a:r>
            <a:endParaRPr/>
          </a:p>
          <a:p>
            <a:pPr marL="365760" lvl="0" indent="-256032" algn="l" rtl="0">
              <a:spcBef>
                <a:spcPts val="400"/>
              </a:spcBef>
              <a:spcAft>
                <a:spcPts val="0"/>
              </a:spcAft>
              <a:buSzPts val="1836"/>
              <a:buChar char="🞂"/>
            </a:pPr>
            <a:r>
              <a:rPr lang="en-US"/>
              <a:t>separate order and billing</a:t>
            </a:r>
            <a:endParaRPr/>
          </a:p>
          <a:p>
            <a:pPr marL="365760" lvl="0" indent="-256032" algn="l" rtl="0">
              <a:spcBef>
                <a:spcPts val="400"/>
              </a:spcBef>
              <a:spcAft>
                <a:spcPts val="0"/>
              </a:spcAft>
              <a:buSzPts val="1836"/>
              <a:buChar char="🞂"/>
            </a:pPr>
            <a:r>
              <a:rPr lang="en-US"/>
              <a:t>postbilling</a:t>
            </a:r>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Incomplete Prebilling</a:t>
            </a:r>
            <a:endParaRPr/>
          </a:p>
        </p:txBody>
      </p:sp>
      <p:sp>
        <p:nvSpPr>
          <p:cNvPr id="461" name="Google Shape;461;p56"/>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the invoice is not completed until the goods are ready for shipment. </a:t>
            </a:r>
            <a:endParaRPr/>
          </a:p>
        </p:txBody>
      </p:sp>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Separate Order And Billing</a:t>
            </a:r>
            <a:endParaRPr/>
          </a:p>
        </p:txBody>
      </p:sp>
      <p:sp>
        <p:nvSpPr>
          <p:cNvPr id="467" name="Google Shape;467;p57"/>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both a sales order and an invoice are used in a sales order application system. </a:t>
            </a:r>
            <a:endParaRPr/>
          </a:p>
        </p:txBody>
      </p:sp>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Postbilling</a:t>
            </a:r>
            <a:endParaRPr/>
          </a:p>
        </p:txBody>
      </p:sp>
      <p:sp>
        <p:nvSpPr>
          <p:cNvPr id="473" name="Google Shape;473;p58"/>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the invoice is prepared or completed after shipment. 10/9/2014end</a:t>
            </a:r>
            <a:endParaRPr/>
          </a:p>
          <a:p>
            <a:pPr marL="365760" lvl="0" indent="-139446" algn="l" rtl="0">
              <a:spcBef>
                <a:spcPts val="400"/>
              </a:spcBef>
              <a:spcAft>
                <a:spcPts val="0"/>
              </a:spcAft>
              <a:buSzPts val="1836"/>
              <a:buNone/>
            </a:pPr>
            <a:endParaRPr/>
          </a:p>
        </p:txBody>
      </p:sp>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Blanket Order</a:t>
            </a:r>
            <a:endParaRPr/>
          </a:p>
        </p:txBody>
      </p:sp>
      <p:sp>
        <p:nvSpPr>
          <p:cNvPr id="479" name="Google Shape;479;p59"/>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a single order which calls for several shipments to the same customer over a specific time period. </a:t>
            </a:r>
            <a:endParaRPr/>
          </a:p>
        </p:txBody>
      </p:sp>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Factoring of Accounts Receivable</a:t>
            </a:r>
            <a:endParaRPr/>
          </a:p>
        </p:txBody>
      </p:sp>
      <p:sp>
        <p:nvSpPr>
          <p:cNvPr id="485" name="Google Shape;485;p60"/>
          <p:cNvSpPr txBox="1">
            <a:spLocks noGrp="1"/>
          </p:cNvSpPr>
          <p:nvPr>
            <p:ph type="body" idx="1"/>
          </p:nvPr>
        </p:nvSpPr>
        <p:spPr>
          <a:xfrm>
            <a:off x="76200" y="22098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904"/>
              <a:buChar char="🞂"/>
            </a:pPr>
            <a:r>
              <a:rPr lang="en-US" sz="2800" b="1">
                <a:solidFill>
                  <a:srgbClr val="F76681"/>
                </a:solidFill>
              </a:rPr>
              <a:t>Factoring</a:t>
            </a:r>
            <a:r>
              <a:rPr lang="en-US" sz="2800"/>
              <a:t> involves selling accounts receivable                at a discount to collection agencies.</a:t>
            </a:r>
            <a:endParaRPr/>
          </a:p>
          <a:p>
            <a:pPr marL="365760" lvl="0" indent="-256032" algn="l" rtl="0">
              <a:lnSpc>
                <a:spcPct val="90000"/>
              </a:lnSpc>
              <a:spcBef>
                <a:spcPts val="400"/>
              </a:spcBef>
              <a:spcAft>
                <a:spcPts val="0"/>
              </a:spcAft>
              <a:buSzPts val="1904"/>
              <a:buChar char="🞂"/>
            </a:pPr>
            <a:r>
              <a:rPr lang="en-US" sz="2800"/>
              <a:t>Advantages: avoids accounts receivable recordkeeping costs and speeds up cash   collection.</a:t>
            </a:r>
            <a:endParaRPr/>
          </a:p>
          <a:p>
            <a:pPr marL="365760" lvl="0" indent="-256032" algn="l" rtl="0">
              <a:lnSpc>
                <a:spcPct val="90000"/>
              </a:lnSpc>
              <a:spcBef>
                <a:spcPts val="400"/>
              </a:spcBef>
              <a:spcAft>
                <a:spcPts val="0"/>
              </a:spcAft>
              <a:buSzPts val="1904"/>
              <a:buChar char="🞂"/>
            </a:pPr>
            <a:r>
              <a:rPr lang="en-US" sz="2800"/>
              <a:t>Disadvantages: fees charged by factoring agencies are unusually large and there could be potential negative effects of factoring on customer relations.</a:t>
            </a:r>
            <a:endParaRPr/>
          </a:p>
        </p:txBody>
      </p:sp>
      <p:pic>
        <p:nvPicPr>
          <p:cNvPr id="486" name="Google Shape;486;p60"/>
          <p:cNvPicPr preferRelativeResize="0"/>
          <p:nvPr/>
        </p:nvPicPr>
        <p:blipFill rotWithShape="1">
          <a:blip r:embed="rId3">
            <a:alphaModFix/>
          </a:blip>
          <a:srcRect/>
          <a:stretch/>
        </p:blipFill>
        <p:spPr>
          <a:xfrm>
            <a:off x="6623050" y="2057400"/>
            <a:ext cx="2495550" cy="25908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5">
                                            <p:txEl>
                                              <p:pRg st="0" end="0"/>
                                            </p:txEl>
                                          </p:spTgt>
                                        </p:tgtEl>
                                        <p:attrNameLst>
                                          <p:attrName>style.visibility</p:attrName>
                                        </p:attrNameLst>
                                      </p:cBhvr>
                                      <p:to>
                                        <p:strVal val="visible"/>
                                      </p:to>
                                    </p:set>
                                    <p:animEffect transition="in" filter="fade">
                                      <p:cBhvr>
                                        <p:cTn id="7" dur="500"/>
                                        <p:tgtEl>
                                          <p:spTgt spid="4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5">
                                            <p:txEl>
                                              <p:pRg st="1" end="1"/>
                                            </p:txEl>
                                          </p:spTgt>
                                        </p:tgtEl>
                                        <p:attrNameLst>
                                          <p:attrName>style.visibility</p:attrName>
                                        </p:attrNameLst>
                                      </p:cBhvr>
                                      <p:to>
                                        <p:strVal val="visible"/>
                                      </p:to>
                                    </p:set>
                                    <p:animEffect transition="in" filter="fade">
                                      <p:cBhvr>
                                        <p:cTn id="12" dur="500"/>
                                        <p:tgtEl>
                                          <p:spTgt spid="4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5">
                                            <p:txEl>
                                              <p:pRg st="2" end="2"/>
                                            </p:txEl>
                                          </p:spTgt>
                                        </p:tgtEl>
                                        <p:attrNameLst>
                                          <p:attrName>style.visibility</p:attrName>
                                        </p:attrNameLst>
                                      </p:cBhvr>
                                      <p:to>
                                        <p:strVal val="visible"/>
                                      </p:to>
                                    </p:set>
                                    <p:animEffect transition="in" filter="fade">
                                      <p:cBhvr>
                                        <p:cTn id="17" dur="500"/>
                                        <p:tgtEl>
                                          <p:spTgt spid="48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Methods of Maintenance of Accounts Receivable</a:t>
            </a:r>
            <a:endParaRPr/>
          </a:p>
        </p:txBody>
      </p:sp>
      <p:sp>
        <p:nvSpPr>
          <p:cNvPr id="492" name="Google Shape;492;p61"/>
          <p:cNvSpPr txBox="1">
            <a:spLocks noGrp="1"/>
          </p:cNvSpPr>
          <p:nvPr>
            <p:ph type="body" idx="1"/>
          </p:nvPr>
        </p:nvSpPr>
        <p:spPr>
          <a:xfrm>
            <a:off x="152400" y="22098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904"/>
              <a:buChar char="🞂"/>
            </a:pPr>
            <a:r>
              <a:rPr lang="en-US" sz="2800" b="1">
                <a:solidFill>
                  <a:srgbClr val="F76681"/>
                </a:solidFill>
              </a:rPr>
              <a:t>Balance forward method </a:t>
            </a:r>
            <a:r>
              <a:rPr lang="en-US" sz="2800"/>
              <a:t>- applies a customer payment against the outstanding balance rather than against a specific invoice by merging all invoice amounts of previous months and               showing a “balance forward”.</a:t>
            </a:r>
            <a:endParaRPr/>
          </a:p>
          <a:p>
            <a:pPr marL="365760" lvl="0" indent="-256032" algn="l" rtl="0">
              <a:lnSpc>
                <a:spcPct val="90000"/>
              </a:lnSpc>
              <a:spcBef>
                <a:spcPts val="400"/>
              </a:spcBef>
              <a:spcAft>
                <a:spcPts val="0"/>
              </a:spcAft>
              <a:buSzPts val="1904"/>
              <a:buChar char="🞂"/>
            </a:pPr>
            <a:r>
              <a:rPr lang="en-US" sz="2800" b="1">
                <a:solidFill>
                  <a:srgbClr val="F76681"/>
                </a:solidFill>
              </a:rPr>
              <a:t>Open invoice method - </a:t>
            </a:r>
            <a:r>
              <a:rPr lang="en-US" sz="2800"/>
              <a:t>matches                            each payment with a specific invoice,                      thus disputed invoices are more easily             isolated.</a:t>
            </a:r>
            <a:endParaRPr/>
          </a:p>
        </p:txBody>
      </p:sp>
      <p:pic>
        <p:nvPicPr>
          <p:cNvPr id="493" name="Google Shape;493;p61"/>
          <p:cNvPicPr preferRelativeResize="0"/>
          <p:nvPr/>
        </p:nvPicPr>
        <p:blipFill rotWithShape="1">
          <a:blip r:embed="rId3">
            <a:alphaModFix/>
          </a:blip>
          <a:srcRect/>
          <a:stretch/>
        </p:blipFill>
        <p:spPr>
          <a:xfrm>
            <a:off x="5638800" y="3206750"/>
            <a:ext cx="3411538" cy="324167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2">
                                            <p:txEl>
                                              <p:pRg st="0" end="0"/>
                                            </p:txEl>
                                          </p:spTgt>
                                        </p:tgtEl>
                                        <p:attrNameLst>
                                          <p:attrName>style.visibility</p:attrName>
                                        </p:attrNameLst>
                                      </p:cBhvr>
                                      <p:to>
                                        <p:strVal val="visible"/>
                                      </p:to>
                                    </p:set>
                                    <p:animEffect transition="in" filter="fade">
                                      <p:cBhvr>
                                        <p:cTn id="7" dur="500"/>
                                        <p:tgtEl>
                                          <p:spTgt spid="4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2">
                                            <p:txEl>
                                              <p:pRg st="1" end="1"/>
                                            </p:txEl>
                                          </p:spTgt>
                                        </p:tgtEl>
                                        <p:attrNameLst>
                                          <p:attrName>style.visibility</p:attrName>
                                        </p:attrNameLst>
                                      </p:cBhvr>
                                      <p:to>
                                        <p:strVal val="visible"/>
                                      </p:to>
                                    </p:set>
                                    <p:animEffect transition="in" filter="fade">
                                      <p:cBhvr>
                                        <p:cTn id="12" dur="500"/>
                                        <p:tgtEl>
                                          <p:spTgt spid="49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Sales Returns and Allowances</a:t>
            </a:r>
            <a:endParaRPr/>
          </a:p>
        </p:txBody>
      </p:sp>
      <p:sp>
        <p:nvSpPr>
          <p:cNvPr id="499" name="Google Shape;499;p62"/>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credit memorandum: a form used to document reductions to a customer's account due to sales returns or sales allowances. </a:t>
            </a:r>
            <a:endParaRPr/>
          </a:p>
        </p:txBody>
      </p:sp>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Write-off of Accounts Receivable</a:t>
            </a:r>
            <a:endParaRPr/>
          </a:p>
        </p:txBody>
      </p:sp>
      <p:sp>
        <p:nvSpPr>
          <p:cNvPr id="505" name="Google Shape;505;p63"/>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 Numerous techniques are available to collect past due accounts (e.g., follow-up letters, collection agencies), but some accounts are ultimately worthless.</a:t>
            </a:r>
            <a:endParaRPr/>
          </a:p>
        </p:txBody>
      </p:sp>
    </p:spTree>
  </p:cSld>
  <p:clrMapOvr>
    <a:masterClrMapping/>
  </p:clrMapOvr>
  <p:transition spd="slow">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Write-off of Accounts Receivable</a:t>
            </a:r>
            <a:endParaRPr/>
          </a:p>
        </p:txBody>
      </p:sp>
      <p:sp>
        <p:nvSpPr>
          <p:cNvPr id="511" name="Google Shape;511;p64"/>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central feature in a write-off procedure is an analysis of past due accounts, usually done with an aged trial balance.</a:t>
            </a:r>
            <a:endParaRPr/>
          </a:p>
        </p:txBody>
      </p:sp>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870"/>
              <a:buFont typeface="Lucida Sans"/>
              <a:buNone/>
            </a:pPr>
            <a:r>
              <a:rPr lang="en-US" sz="3870" b="1"/>
              <a:t>Lapping of Accounts Receivable-a Risk Exposure</a:t>
            </a:r>
            <a:endParaRPr/>
          </a:p>
        </p:txBody>
      </p:sp>
      <p:sp>
        <p:nvSpPr>
          <p:cNvPr id="517" name="Google Shape;517;p65"/>
          <p:cNvSpPr txBox="1">
            <a:spLocks noGrp="1"/>
          </p:cNvSpPr>
          <p:nvPr>
            <p:ph type="body" idx="1"/>
          </p:nvPr>
        </p:nvSpPr>
        <p:spPr>
          <a:xfrm>
            <a:off x="76200" y="2057400"/>
            <a:ext cx="76962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824"/>
              <a:buChar char="🞂"/>
            </a:pPr>
            <a:r>
              <a:rPr lang="en-US" sz="2682" b="1">
                <a:solidFill>
                  <a:srgbClr val="F76681"/>
                </a:solidFill>
              </a:rPr>
              <a:t>Lapping</a:t>
            </a:r>
            <a:r>
              <a:rPr lang="en-US" sz="2682">
                <a:solidFill>
                  <a:srgbClr val="F76681"/>
                </a:solidFill>
              </a:rPr>
              <a:t> </a:t>
            </a:r>
            <a:r>
              <a:rPr lang="en-US" sz="2682"/>
              <a:t>is a type of embezzlement that involves the theft of cash and its concealment by a succession of delayed postings to         customer accounts.</a:t>
            </a:r>
            <a:endParaRPr/>
          </a:p>
          <a:p>
            <a:pPr marL="365760" lvl="0" indent="-256032" algn="l" rtl="0">
              <a:lnSpc>
                <a:spcPct val="90000"/>
              </a:lnSpc>
              <a:spcBef>
                <a:spcPts val="400"/>
              </a:spcBef>
              <a:spcAft>
                <a:spcPts val="0"/>
              </a:spcAft>
              <a:buSzPts val="1824"/>
              <a:buChar char="🞂"/>
            </a:pPr>
            <a:r>
              <a:rPr lang="en-US" sz="2682"/>
              <a:t>The risk exposures include a loss of funds received from customers and overstated accounts receivable balances.</a:t>
            </a:r>
            <a:endParaRPr/>
          </a:p>
          <a:p>
            <a:pPr marL="365760" lvl="0" indent="-256032" algn="l" rtl="0">
              <a:lnSpc>
                <a:spcPct val="90000"/>
              </a:lnSpc>
              <a:spcBef>
                <a:spcPts val="400"/>
              </a:spcBef>
              <a:spcAft>
                <a:spcPts val="0"/>
              </a:spcAft>
              <a:buSzPts val="1824"/>
              <a:buChar char="🞂"/>
            </a:pPr>
            <a:r>
              <a:rPr lang="en-US" sz="2682"/>
              <a:t>Using a bank </a:t>
            </a:r>
            <a:r>
              <a:rPr lang="en-US" sz="2682" b="1">
                <a:solidFill>
                  <a:srgbClr val="F76681"/>
                </a:solidFill>
              </a:rPr>
              <a:t>lockbox system </a:t>
            </a:r>
            <a:r>
              <a:rPr lang="en-US" sz="2682"/>
              <a:t>and segregation of duties can help reduce exposure.</a:t>
            </a:r>
            <a:endParaRPr/>
          </a:p>
        </p:txBody>
      </p:sp>
      <p:pic>
        <p:nvPicPr>
          <p:cNvPr id="518" name="Google Shape;518;p65"/>
          <p:cNvPicPr preferRelativeResize="0"/>
          <p:nvPr/>
        </p:nvPicPr>
        <p:blipFill rotWithShape="1">
          <a:blip r:embed="rId3">
            <a:alphaModFix/>
          </a:blip>
          <a:srcRect/>
          <a:stretch/>
        </p:blipFill>
        <p:spPr>
          <a:xfrm>
            <a:off x="6367463" y="2514600"/>
            <a:ext cx="2762250" cy="286702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Effect transition="in" filter="fade">
                                      <p:cBhvr>
                                        <p:cTn id="7" dur="500"/>
                                        <p:tgtEl>
                                          <p:spTgt spid="5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7">
                                            <p:txEl>
                                              <p:pRg st="1" end="1"/>
                                            </p:txEl>
                                          </p:spTgt>
                                        </p:tgtEl>
                                        <p:attrNameLst>
                                          <p:attrName>style.visibility</p:attrName>
                                        </p:attrNameLst>
                                      </p:cBhvr>
                                      <p:to>
                                        <p:strVal val="visible"/>
                                      </p:to>
                                    </p:set>
                                    <p:animEffect transition="in" filter="fade">
                                      <p:cBhvr>
                                        <p:cTn id="12" dur="500"/>
                                        <p:tgtEl>
                                          <p:spTgt spid="5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7">
                                            <p:txEl>
                                              <p:pRg st="2" end="2"/>
                                            </p:txEl>
                                          </p:spTgt>
                                        </p:tgtEl>
                                        <p:attrNameLst>
                                          <p:attrName>style.visibility</p:attrName>
                                        </p:attrNameLst>
                                      </p:cBhvr>
                                      <p:to>
                                        <p:strVal val="visible"/>
                                      </p:to>
                                    </p:set>
                                    <p:animEffect transition="in" filter="fade">
                                      <p:cBhvr>
                                        <p:cTn id="17" dur="500"/>
                                        <p:tgtEl>
                                          <p:spTgt spid="5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Internal Controls in the Revenue Cycle</a:t>
            </a:r>
            <a:r>
              <a:rPr lang="en-US" sz="3690"/>
              <a:t> </a:t>
            </a:r>
            <a:endParaRPr/>
          </a:p>
        </p:txBody>
      </p:sp>
      <p:sp>
        <p:nvSpPr>
          <p:cNvPr id="524" name="Google Shape;524;p66"/>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904"/>
              <a:buChar char="🞂"/>
            </a:pPr>
            <a:r>
              <a:rPr lang="en-US" sz="2800"/>
              <a:t>Inventory is transferred, picked, and shipped only on the basis of a written authorization.</a:t>
            </a:r>
            <a:endParaRPr/>
          </a:p>
          <a:p>
            <a:pPr marL="365760" lvl="0" indent="-256032" algn="l" rtl="0">
              <a:lnSpc>
                <a:spcPct val="90000"/>
              </a:lnSpc>
              <a:spcBef>
                <a:spcPts val="400"/>
              </a:spcBef>
              <a:spcAft>
                <a:spcPts val="0"/>
              </a:spcAft>
              <a:buSzPts val="1904"/>
              <a:buChar char="🞂"/>
            </a:pPr>
            <a:r>
              <a:rPr lang="en-US" sz="2800"/>
              <a:t>Customers are billed only upon the shipment of goods.</a:t>
            </a:r>
            <a:endParaRPr/>
          </a:p>
          <a:p>
            <a:pPr marL="365760" lvl="0" indent="-256032" algn="l" rtl="0">
              <a:lnSpc>
                <a:spcPct val="90000"/>
              </a:lnSpc>
              <a:spcBef>
                <a:spcPts val="400"/>
              </a:spcBef>
              <a:spcAft>
                <a:spcPts val="0"/>
              </a:spcAft>
              <a:buSzPts val="1904"/>
              <a:buChar char="🞂"/>
            </a:pPr>
            <a:r>
              <a:rPr lang="en-US" sz="2800"/>
              <a:t>Credit for returns is issued only after goods are returned and checked by the receiving department.</a:t>
            </a:r>
            <a:endParaRPr/>
          </a:p>
          <a:p>
            <a:pPr marL="365760" lvl="0" indent="-256032" algn="l" rtl="0">
              <a:lnSpc>
                <a:spcPct val="90000"/>
              </a:lnSpc>
              <a:spcBef>
                <a:spcPts val="400"/>
              </a:spcBef>
              <a:spcAft>
                <a:spcPts val="0"/>
              </a:spcAft>
              <a:buSzPts val="1904"/>
              <a:buChar char="🞂"/>
            </a:pPr>
            <a:r>
              <a:rPr lang="en-US" sz="2800"/>
              <a:t>Write-offs of customer accounts are approved by the credit manager</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4">
                                            <p:txEl>
                                              <p:pRg st="0" end="0"/>
                                            </p:txEl>
                                          </p:spTgt>
                                        </p:tgtEl>
                                        <p:attrNameLst>
                                          <p:attrName>style.visibility</p:attrName>
                                        </p:attrNameLst>
                                      </p:cBhvr>
                                      <p:to>
                                        <p:strVal val="visible"/>
                                      </p:to>
                                    </p:set>
                                    <p:animEffect transition="in" filter="fade">
                                      <p:cBhvr>
                                        <p:cTn id="7" dur="500"/>
                                        <p:tgtEl>
                                          <p:spTgt spid="5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4">
                                            <p:txEl>
                                              <p:pRg st="1" end="1"/>
                                            </p:txEl>
                                          </p:spTgt>
                                        </p:tgtEl>
                                        <p:attrNameLst>
                                          <p:attrName>style.visibility</p:attrName>
                                        </p:attrNameLst>
                                      </p:cBhvr>
                                      <p:to>
                                        <p:strVal val="visible"/>
                                      </p:to>
                                    </p:set>
                                    <p:animEffect transition="in" filter="fade">
                                      <p:cBhvr>
                                        <p:cTn id="12" dur="500"/>
                                        <p:tgtEl>
                                          <p:spTgt spid="5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4">
                                            <p:txEl>
                                              <p:pRg st="2" end="2"/>
                                            </p:txEl>
                                          </p:spTgt>
                                        </p:tgtEl>
                                        <p:attrNameLst>
                                          <p:attrName>style.visibility</p:attrName>
                                        </p:attrNameLst>
                                      </p:cBhvr>
                                      <p:to>
                                        <p:strVal val="visible"/>
                                      </p:to>
                                    </p:set>
                                    <p:animEffect transition="in" filter="fade">
                                      <p:cBhvr>
                                        <p:cTn id="17" dur="500"/>
                                        <p:tgtEl>
                                          <p:spTgt spid="5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4">
                                            <p:txEl>
                                              <p:pRg st="3" end="3"/>
                                            </p:txEl>
                                          </p:spTgt>
                                        </p:tgtEl>
                                        <p:attrNameLst>
                                          <p:attrName>style.visibility</p:attrName>
                                        </p:attrNameLst>
                                      </p:cBhvr>
                                      <p:to>
                                        <p:strVal val="visible"/>
                                      </p:to>
                                    </p:set>
                                    <p:animEffect transition="in" filter="fade">
                                      <p:cBhvr>
                                        <p:cTn id="22" dur="500"/>
                                        <p:tgtEl>
                                          <p:spTgt spid="5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7"/>
          <p:cNvSpPr txBox="1">
            <a:spLocks noGrp="1"/>
          </p:cNvSpPr>
          <p:nvPr>
            <p:ph type="ctrTitle"/>
          </p:nvPr>
        </p:nvSpPr>
        <p:spPr>
          <a:xfrm>
            <a:off x="1219200" y="2057400"/>
            <a:ext cx="6477000" cy="2133600"/>
          </a:xfrm>
          <a:prstGeom prst="rect">
            <a:avLst/>
          </a:prstGeom>
          <a:noFill/>
          <a:ln>
            <a:noFill/>
          </a:ln>
        </p:spPr>
        <p:txBody>
          <a:bodyPr spcFirstLastPara="1" wrap="square" lIns="90475" tIns="44450" rIns="90475" bIns="44450" anchor="b" anchorCtr="0">
            <a:noAutofit/>
          </a:bodyPr>
          <a:lstStyle/>
          <a:p>
            <a:pPr marL="0" lvl="0" indent="0" algn="r" rtl="0">
              <a:spcBef>
                <a:spcPts val="0"/>
              </a:spcBef>
              <a:spcAft>
                <a:spcPts val="0"/>
              </a:spcAft>
              <a:buClr>
                <a:schemeClr val="dk2"/>
              </a:buClr>
              <a:buSzPts val="4320"/>
              <a:buFont typeface="Lucida Sans"/>
              <a:buNone/>
            </a:pPr>
            <a:r>
              <a:rPr lang="en-US" sz="4320" b="1"/>
              <a:t>The Revenue Cycle:</a:t>
            </a:r>
            <a:br>
              <a:rPr lang="en-US" sz="4320" b="1"/>
            </a:br>
            <a:r>
              <a:rPr lang="en-US" sz="4320" b="1"/>
              <a:t>Sales and Cash Collections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68"/>
          <p:cNvSpPr txBox="1">
            <a:spLocks noGrp="1"/>
          </p:cNvSpPr>
          <p:nvPr>
            <p:ph type="title"/>
          </p:nvPr>
        </p:nvSpPr>
        <p:spPr>
          <a:xfrm>
            <a:off x="457200" y="274638"/>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Learning Objectives</a:t>
            </a:r>
            <a:endParaRPr/>
          </a:p>
        </p:txBody>
      </p:sp>
      <p:sp>
        <p:nvSpPr>
          <p:cNvPr id="537" name="Google Shape;537;p68"/>
          <p:cNvSpPr txBox="1">
            <a:spLocks noGrp="1"/>
          </p:cNvSpPr>
          <p:nvPr>
            <p:ph type="body" idx="1"/>
          </p:nvPr>
        </p:nvSpPr>
        <p:spPr>
          <a:xfrm>
            <a:off x="1447800" y="1676400"/>
            <a:ext cx="7010400" cy="4495800"/>
          </a:xfrm>
          <a:prstGeom prst="rect">
            <a:avLst/>
          </a:prstGeom>
          <a:noFill/>
          <a:ln>
            <a:noFill/>
          </a:ln>
        </p:spPr>
        <p:txBody>
          <a:bodyPr spcFirstLastPara="1" wrap="square" lIns="90475" tIns="44450" rIns="90475" bIns="44450" anchor="t" anchorCtr="0">
            <a:noAutofit/>
          </a:bodyPr>
          <a:lstStyle/>
          <a:p>
            <a:pPr marL="495300" lvl="0" indent="-495300" algn="l" rtl="0">
              <a:lnSpc>
                <a:spcPct val="80000"/>
              </a:lnSpc>
              <a:spcBef>
                <a:spcPts val="0"/>
              </a:spcBef>
              <a:spcAft>
                <a:spcPts val="0"/>
              </a:spcAft>
              <a:buSzPts val="1768"/>
              <a:buFont typeface="Lucida Sans"/>
              <a:buAutoNum type="arabicPeriod"/>
            </a:pPr>
            <a:r>
              <a:rPr lang="en-US" sz="2600"/>
              <a:t>Describe the </a:t>
            </a:r>
            <a:r>
              <a:rPr lang="en-US" sz="2600" b="1" i="1" u="sng"/>
              <a:t>basic business activities</a:t>
            </a:r>
            <a:r>
              <a:rPr lang="en-US" sz="2600"/>
              <a:t> and related data processing operations performed in the revenue cycle.</a:t>
            </a:r>
            <a:endParaRPr/>
          </a:p>
          <a:p>
            <a:pPr marL="495300" lvl="0" indent="-495300" algn="l" rtl="0">
              <a:lnSpc>
                <a:spcPct val="80000"/>
              </a:lnSpc>
              <a:spcBef>
                <a:spcPts val="400"/>
              </a:spcBef>
              <a:spcAft>
                <a:spcPts val="0"/>
              </a:spcAft>
              <a:buSzPts val="1768"/>
              <a:buFont typeface="Lucida Sans"/>
              <a:buAutoNum type="arabicPeriod"/>
            </a:pPr>
            <a:r>
              <a:rPr lang="en-US" sz="2600"/>
              <a:t>Discuss the </a:t>
            </a:r>
            <a:r>
              <a:rPr lang="en-US" sz="2600" b="1" i="1" u="sng"/>
              <a:t>key decisions</a:t>
            </a:r>
            <a:r>
              <a:rPr lang="en-US" sz="2600"/>
              <a:t> that need to be made in the revenue cycle and identify the information needed to make those decisions.</a:t>
            </a:r>
            <a:endParaRPr/>
          </a:p>
          <a:p>
            <a:pPr marL="495300" lvl="0" indent="-495300" algn="l" rtl="0">
              <a:lnSpc>
                <a:spcPct val="80000"/>
              </a:lnSpc>
              <a:spcBef>
                <a:spcPts val="400"/>
              </a:spcBef>
              <a:spcAft>
                <a:spcPts val="0"/>
              </a:spcAft>
              <a:buSzPts val="1768"/>
              <a:buFont typeface="Lucida Sans"/>
              <a:buAutoNum type="arabicPeriod"/>
            </a:pPr>
            <a:r>
              <a:rPr lang="en-US" sz="2600" b="1" i="1" u="sng"/>
              <a:t>Document</a:t>
            </a:r>
            <a:r>
              <a:rPr lang="en-US" sz="2600"/>
              <a:t> your understanding of the revenue cycle.</a:t>
            </a:r>
            <a:endParaRPr/>
          </a:p>
          <a:p>
            <a:pPr marL="495300" lvl="0" indent="-495300" algn="l" rtl="0">
              <a:lnSpc>
                <a:spcPct val="80000"/>
              </a:lnSpc>
              <a:spcBef>
                <a:spcPts val="400"/>
              </a:spcBef>
              <a:spcAft>
                <a:spcPts val="0"/>
              </a:spcAft>
              <a:buSzPts val="1768"/>
              <a:buFont typeface="Lucida Sans"/>
              <a:buAutoNum type="arabicPeriod"/>
            </a:pPr>
            <a:r>
              <a:rPr lang="en-US" sz="2600"/>
              <a:t>Identify major </a:t>
            </a:r>
            <a:r>
              <a:rPr lang="en-US" sz="2600" b="1" i="1" u="sng"/>
              <a:t>threats</a:t>
            </a:r>
            <a:r>
              <a:rPr lang="en-US" sz="2600"/>
              <a:t> in the revenue cycle and evaluate the adequacy of various control procedures for dealing with those threats.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9"/>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Revenue Cycle</a:t>
            </a:r>
            <a:br>
              <a:rPr lang="en-US" sz="3690"/>
            </a:br>
            <a:r>
              <a:rPr lang="en-US" sz="3690"/>
              <a:t>Business Activities</a:t>
            </a:r>
            <a:endParaRPr/>
          </a:p>
        </p:txBody>
      </p:sp>
      <p:sp>
        <p:nvSpPr>
          <p:cNvPr id="544" name="Google Shape;544;p69"/>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Font typeface="Lucida Sans"/>
              <a:buNone/>
            </a:pPr>
            <a:r>
              <a:rPr lang="en-US"/>
              <a:t>	The revenue cycle is a recurring set of business </a:t>
            </a:r>
            <a:r>
              <a:rPr lang="en-US" u="sng"/>
              <a:t>activities</a:t>
            </a:r>
            <a:r>
              <a:rPr lang="en-US"/>
              <a:t> and related information </a:t>
            </a:r>
            <a:r>
              <a:rPr lang="en-US" u="sng"/>
              <a:t>processing</a:t>
            </a:r>
            <a:r>
              <a:rPr lang="en-US"/>
              <a:t> operations associated with </a:t>
            </a:r>
            <a:r>
              <a:rPr lang="en-US" u="sng"/>
              <a:t>providing goods</a:t>
            </a:r>
            <a:r>
              <a:rPr lang="en-US"/>
              <a:t> and services to customers and </a:t>
            </a:r>
            <a:r>
              <a:rPr lang="en-US" u="sng"/>
              <a:t>collecting cash</a:t>
            </a:r>
            <a:r>
              <a:rPr lang="en-US"/>
              <a:t> in payment for those sales.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70"/>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Revenue Cycle</a:t>
            </a:r>
            <a:br>
              <a:rPr lang="en-US" sz="3690"/>
            </a:br>
            <a:r>
              <a:rPr lang="en-US" sz="3690"/>
              <a:t>Business Activities</a:t>
            </a:r>
            <a:endParaRPr/>
          </a:p>
        </p:txBody>
      </p:sp>
      <p:sp>
        <p:nvSpPr>
          <p:cNvPr id="551" name="Google Shape;551;p70"/>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What are the four basic revenue cycle  business </a:t>
            </a:r>
            <a:r>
              <a:rPr lang="en-US" u="sng"/>
              <a:t>activities</a:t>
            </a:r>
            <a:r>
              <a:rPr lang="en-US"/>
              <a:t>?</a:t>
            </a:r>
            <a:endParaRPr/>
          </a:p>
          <a:p>
            <a:pPr marL="365760" lvl="0" indent="-256032" algn="l" rtl="0">
              <a:spcBef>
                <a:spcPts val="400"/>
              </a:spcBef>
              <a:spcAft>
                <a:spcPts val="0"/>
              </a:spcAft>
              <a:buSzPts val="1836"/>
              <a:buFont typeface="Lucida Sans"/>
              <a:buChar char="1"/>
            </a:pPr>
            <a:r>
              <a:rPr lang="en-US"/>
              <a:t>Sales order entry </a:t>
            </a:r>
            <a:endParaRPr/>
          </a:p>
          <a:p>
            <a:pPr marL="365760" lvl="0" indent="-256032" algn="l" rtl="0">
              <a:spcBef>
                <a:spcPts val="400"/>
              </a:spcBef>
              <a:spcAft>
                <a:spcPts val="0"/>
              </a:spcAft>
              <a:buSzPts val="1836"/>
              <a:buFont typeface="Lucida Sans"/>
              <a:buChar char="2"/>
            </a:pPr>
            <a:r>
              <a:rPr lang="en-US"/>
              <a:t>Filling customer orders and Shipping</a:t>
            </a:r>
            <a:endParaRPr/>
          </a:p>
          <a:p>
            <a:pPr marL="365760" lvl="0" indent="-256032" algn="l" rtl="0">
              <a:spcBef>
                <a:spcPts val="400"/>
              </a:spcBef>
              <a:spcAft>
                <a:spcPts val="0"/>
              </a:spcAft>
              <a:buSzPts val="1836"/>
              <a:buFont typeface="Lucida Sans"/>
              <a:buChar char="3"/>
            </a:pPr>
            <a:r>
              <a:rPr lang="en-US"/>
              <a:t>Billing and accounts receivable</a:t>
            </a:r>
            <a:endParaRPr/>
          </a:p>
          <a:p>
            <a:pPr marL="365760" lvl="0" indent="-256032" algn="l" rtl="0">
              <a:spcBef>
                <a:spcPts val="400"/>
              </a:spcBef>
              <a:spcAft>
                <a:spcPts val="0"/>
              </a:spcAft>
              <a:buSzPts val="1836"/>
              <a:buFont typeface="Lucida Sans"/>
              <a:buChar char="4"/>
            </a:pPr>
            <a:r>
              <a:rPr lang="en-US"/>
              <a:t>Cash collections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71"/>
          <p:cNvSpPr txBox="1">
            <a:spLocks noGrp="1"/>
          </p:cNvSpPr>
          <p:nvPr>
            <p:ph type="title"/>
          </p:nvPr>
        </p:nvSpPr>
        <p:spPr>
          <a:xfrm>
            <a:off x="457200" y="274638"/>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400"/>
              <a:buFont typeface="Lucida Sans"/>
              <a:buNone/>
            </a:pPr>
            <a:r>
              <a:rPr lang="en-US" sz="3400"/>
              <a:t>Revenue Cycle Business Activities:</a:t>
            </a:r>
            <a:br>
              <a:rPr lang="en-US" sz="3400"/>
            </a:br>
            <a:r>
              <a:rPr lang="en-US" sz="3400"/>
              <a:t>Sales Order Entry	</a:t>
            </a:r>
            <a:endParaRPr/>
          </a:p>
        </p:txBody>
      </p:sp>
      <p:sp>
        <p:nvSpPr>
          <p:cNvPr id="557" name="Google Shape;557;p71"/>
          <p:cNvSpPr txBox="1">
            <a:spLocks noGrp="1"/>
          </p:cNvSpPr>
          <p:nvPr>
            <p:ph type="body" idx="1"/>
          </p:nvPr>
        </p:nvSpPr>
        <p:spPr>
          <a:xfrm>
            <a:off x="457200" y="1557528"/>
            <a:ext cx="8229600" cy="4157472"/>
          </a:xfrm>
          <a:prstGeom prst="rect">
            <a:avLst/>
          </a:prstGeom>
          <a:solidFill>
            <a:srgbClr val="FFFFFF"/>
          </a:solidFill>
          <a:ln>
            <a:noFill/>
          </a:ln>
        </p:spPr>
        <p:txBody>
          <a:bodyPr spcFirstLastPara="1" wrap="square" lIns="91425" tIns="45700" rIns="91425" bIns="45700" anchor="t" anchorCtr="0">
            <a:noAutofit/>
          </a:bodyPr>
          <a:lstStyle/>
          <a:p>
            <a:pPr marL="571500" lvl="0" indent="-571500" algn="l" rtl="0">
              <a:spcBef>
                <a:spcPts val="0"/>
              </a:spcBef>
              <a:spcAft>
                <a:spcPts val="0"/>
              </a:spcAft>
              <a:buSzPts val="1836"/>
              <a:buFont typeface="Lucida Sans"/>
              <a:buNone/>
            </a:pPr>
            <a:r>
              <a:rPr lang="en-US"/>
              <a:t>Sales order entry </a:t>
            </a:r>
            <a:r>
              <a:rPr lang="en-US" u="sng"/>
              <a:t>process</a:t>
            </a:r>
            <a:r>
              <a:rPr lang="en-US"/>
              <a:t> entails three </a:t>
            </a:r>
            <a:r>
              <a:rPr lang="en-US" u="sng"/>
              <a:t>steps</a:t>
            </a:r>
            <a:r>
              <a:rPr lang="en-US"/>
              <a:t>:</a:t>
            </a:r>
            <a:endParaRPr/>
          </a:p>
          <a:p>
            <a:pPr marL="990600" lvl="1" indent="-533400" algn="l" rtl="0">
              <a:spcBef>
                <a:spcPts val="324"/>
              </a:spcBef>
              <a:spcAft>
                <a:spcPts val="0"/>
              </a:spcAft>
              <a:buSzPts val="2300"/>
              <a:buFont typeface="Noto Sans Symbols"/>
              <a:buAutoNum type="arabicPeriod"/>
            </a:pPr>
            <a:r>
              <a:rPr lang="en-US"/>
              <a:t>Taking the customer’s order</a:t>
            </a:r>
            <a:endParaRPr/>
          </a:p>
          <a:p>
            <a:pPr marL="990600" lvl="1" indent="-533400" algn="l" rtl="0">
              <a:spcBef>
                <a:spcPts val="324"/>
              </a:spcBef>
              <a:spcAft>
                <a:spcPts val="0"/>
              </a:spcAft>
              <a:buSzPts val="2300"/>
              <a:buFont typeface="Noto Sans Symbols"/>
              <a:buAutoNum type="arabicPeriod"/>
            </a:pPr>
            <a:r>
              <a:rPr lang="en-US"/>
              <a:t>Checking and approving the customer’s credit</a:t>
            </a:r>
            <a:endParaRPr/>
          </a:p>
          <a:p>
            <a:pPr marL="990600" lvl="1" indent="-533400" algn="l" rtl="0">
              <a:spcBef>
                <a:spcPts val="324"/>
              </a:spcBef>
              <a:spcAft>
                <a:spcPts val="0"/>
              </a:spcAft>
              <a:buSzPts val="2300"/>
              <a:buFont typeface="Noto Sans Symbols"/>
              <a:buAutoNum type="arabicPeriod"/>
            </a:pPr>
            <a:r>
              <a:rPr lang="en-US"/>
              <a:t>Checking inventory availability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72"/>
          <p:cNvSpPr txBox="1">
            <a:spLocks noGrp="1"/>
          </p:cNvSpPr>
          <p:nvPr>
            <p:ph type="title"/>
          </p:nvPr>
        </p:nvSpPr>
        <p:spPr>
          <a:xfrm>
            <a:off x="457200" y="274638"/>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060"/>
              <a:buFont typeface="Lucida Sans"/>
              <a:buNone/>
            </a:pPr>
            <a:r>
              <a:rPr lang="en-US" sz="3060"/>
              <a:t>Revenue Cycle Business Activities:</a:t>
            </a:r>
            <a:br>
              <a:rPr lang="en-US" sz="3060"/>
            </a:br>
            <a:r>
              <a:rPr lang="en-US" sz="3060"/>
              <a:t>Shipping	</a:t>
            </a:r>
            <a:r>
              <a:rPr lang="en-US" sz="3600"/>
              <a:t>	</a:t>
            </a:r>
            <a:endParaRPr/>
          </a:p>
        </p:txBody>
      </p:sp>
      <p:sp>
        <p:nvSpPr>
          <p:cNvPr id="563" name="Google Shape;563;p72"/>
          <p:cNvSpPr txBox="1">
            <a:spLocks noGrp="1"/>
          </p:cNvSpPr>
          <p:nvPr>
            <p:ph type="body" idx="1"/>
          </p:nvPr>
        </p:nvSpPr>
        <p:spPr>
          <a:xfrm>
            <a:off x="457200" y="1481328"/>
            <a:ext cx="8229600" cy="4233671"/>
          </a:xfrm>
          <a:prstGeom prst="rect">
            <a:avLst/>
          </a:prstGeom>
          <a:solidFill>
            <a:srgbClr val="FFFFFF"/>
          </a:solidFill>
          <a:ln>
            <a:noFill/>
          </a:ln>
        </p:spPr>
        <p:txBody>
          <a:bodyPr spcFirstLastPara="1" wrap="square" lIns="91425" tIns="45700" rIns="91425" bIns="45700" anchor="t" anchorCtr="0">
            <a:noAutofit/>
          </a:bodyPr>
          <a:lstStyle/>
          <a:p>
            <a:pPr marL="571500" lvl="0" indent="-571500" algn="l" rtl="0">
              <a:spcBef>
                <a:spcPts val="0"/>
              </a:spcBef>
              <a:spcAft>
                <a:spcPts val="0"/>
              </a:spcAft>
              <a:buSzPts val="1836"/>
              <a:buFont typeface="Lucida Sans"/>
              <a:buNone/>
            </a:pPr>
            <a:r>
              <a:rPr lang="en-US"/>
              <a:t>The second basic activity in the revenue cycle – filling customer orders and shipping the desired merchandise – entails two steps:</a:t>
            </a:r>
            <a:endParaRPr/>
          </a:p>
          <a:p>
            <a:pPr marL="990600" lvl="1" indent="-533400" algn="l" rtl="0">
              <a:spcBef>
                <a:spcPts val="324"/>
              </a:spcBef>
              <a:spcAft>
                <a:spcPts val="0"/>
              </a:spcAft>
              <a:buSzPts val="2300"/>
              <a:buFont typeface="Noto Sans Symbols"/>
              <a:buAutoNum type="arabicPeriod"/>
            </a:pPr>
            <a:r>
              <a:rPr lang="en-US"/>
              <a:t>Picking and packing the order</a:t>
            </a:r>
            <a:endParaRPr/>
          </a:p>
          <a:p>
            <a:pPr marL="990600" lvl="1" indent="-533400" algn="l" rtl="0">
              <a:spcBef>
                <a:spcPts val="324"/>
              </a:spcBef>
              <a:spcAft>
                <a:spcPts val="0"/>
              </a:spcAft>
              <a:buSzPts val="2300"/>
              <a:buFont typeface="Noto Sans Symbols"/>
              <a:buAutoNum type="arabicPeriod"/>
            </a:pPr>
            <a:r>
              <a:rPr lang="en-US"/>
              <a:t>Shipping the order</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3"/>
          <p:cNvSpPr txBox="1">
            <a:spLocks noGrp="1"/>
          </p:cNvSpPr>
          <p:nvPr>
            <p:ph type="title"/>
          </p:nvPr>
        </p:nvSpPr>
        <p:spPr>
          <a:xfrm>
            <a:off x="457200" y="274638"/>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400"/>
              <a:buFont typeface="Lucida Sans"/>
              <a:buNone/>
            </a:pPr>
            <a:r>
              <a:rPr lang="en-US" sz="3400"/>
              <a:t>Revenue Cycle Business Activities:</a:t>
            </a:r>
            <a:br>
              <a:rPr lang="en-US" sz="3400"/>
            </a:br>
            <a:r>
              <a:rPr lang="en-US" sz="3400"/>
              <a:t>Billing and Accounts Receivable</a:t>
            </a:r>
            <a:endParaRPr/>
          </a:p>
        </p:txBody>
      </p:sp>
      <p:sp>
        <p:nvSpPr>
          <p:cNvPr id="569" name="Google Shape;569;p73"/>
          <p:cNvSpPr txBox="1">
            <a:spLocks noGrp="1"/>
          </p:cNvSpPr>
          <p:nvPr>
            <p:ph type="body" idx="1"/>
          </p:nvPr>
        </p:nvSpPr>
        <p:spPr>
          <a:xfrm>
            <a:off x="457200" y="1481328"/>
            <a:ext cx="8229600" cy="4525963"/>
          </a:xfrm>
          <a:prstGeom prst="rect">
            <a:avLst/>
          </a:prstGeom>
          <a:solidFill>
            <a:srgbClr val="FFFFFF"/>
          </a:solidFill>
          <a:ln>
            <a:noFill/>
          </a:ln>
        </p:spPr>
        <p:txBody>
          <a:bodyPr spcFirstLastPara="1" wrap="square" lIns="91425" tIns="45700" rIns="91425" bIns="45700" anchor="t" anchorCtr="0">
            <a:noAutofit/>
          </a:bodyPr>
          <a:lstStyle/>
          <a:p>
            <a:pPr marL="571500" lvl="0" indent="-571500" algn="l" rtl="0">
              <a:spcBef>
                <a:spcPts val="0"/>
              </a:spcBef>
              <a:spcAft>
                <a:spcPts val="0"/>
              </a:spcAft>
              <a:buSzPts val="1836"/>
              <a:buFont typeface="Lucida Sans"/>
              <a:buNone/>
            </a:pPr>
            <a:r>
              <a:rPr lang="en-US"/>
              <a:t>The third basic activity in the revenue cycle involves:</a:t>
            </a:r>
            <a:endParaRPr/>
          </a:p>
          <a:p>
            <a:pPr marL="990600" lvl="1" indent="-533400" algn="l" rtl="0">
              <a:spcBef>
                <a:spcPts val="324"/>
              </a:spcBef>
              <a:spcAft>
                <a:spcPts val="0"/>
              </a:spcAft>
              <a:buSzPts val="2300"/>
              <a:buFont typeface="Noto Sans Symbols"/>
              <a:buAutoNum type="arabicPeriod"/>
            </a:pPr>
            <a:r>
              <a:rPr lang="en-US"/>
              <a:t>Billing customers</a:t>
            </a:r>
            <a:endParaRPr/>
          </a:p>
          <a:p>
            <a:pPr marL="990600" lvl="1" indent="-533400" algn="l" rtl="0">
              <a:spcBef>
                <a:spcPts val="324"/>
              </a:spcBef>
              <a:spcAft>
                <a:spcPts val="0"/>
              </a:spcAft>
              <a:buSzPts val="2300"/>
              <a:buFont typeface="Noto Sans Symbols"/>
              <a:buAutoNum type="arabicPeriod"/>
            </a:pPr>
            <a:r>
              <a:rPr lang="en-US"/>
              <a:t>Updating accounts receivable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74"/>
          <p:cNvSpPr txBox="1">
            <a:spLocks noGrp="1"/>
          </p:cNvSpPr>
          <p:nvPr>
            <p:ph type="title"/>
          </p:nvPr>
        </p:nvSpPr>
        <p:spPr>
          <a:xfrm>
            <a:off x="457200" y="274638"/>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400"/>
              <a:buFont typeface="Lucida Sans"/>
              <a:buNone/>
            </a:pPr>
            <a:r>
              <a:rPr lang="en-US" sz="3400"/>
              <a:t>Revenue Cycle Business Activities:</a:t>
            </a:r>
            <a:br>
              <a:rPr lang="en-US" sz="3400"/>
            </a:br>
            <a:r>
              <a:rPr lang="en-US" sz="3400"/>
              <a:t>Cash Collections</a:t>
            </a:r>
            <a:endParaRPr/>
          </a:p>
        </p:txBody>
      </p:sp>
      <p:sp>
        <p:nvSpPr>
          <p:cNvPr id="575" name="Google Shape;575;p74"/>
          <p:cNvSpPr txBox="1">
            <a:spLocks noGrp="1"/>
          </p:cNvSpPr>
          <p:nvPr>
            <p:ph type="body" idx="1"/>
          </p:nvPr>
        </p:nvSpPr>
        <p:spPr>
          <a:xfrm>
            <a:off x="457200" y="1481328"/>
            <a:ext cx="8229600" cy="4525963"/>
          </a:xfrm>
          <a:prstGeom prst="rect">
            <a:avLst/>
          </a:prstGeom>
          <a:solidFill>
            <a:srgbClr val="FFFFFF"/>
          </a:solidFill>
          <a:ln>
            <a:noFill/>
          </a:ln>
        </p:spPr>
        <p:txBody>
          <a:bodyPr spcFirstLastPara="1" wrap="square" lIns="91425" tIns="45700" rIns="91425" bIns="45700" anchor="t" anchorCtr="0">
            <a:noAutofit/>
          </a:bodyPr>
          <a:lstStyle/>
          <a:p>
            <a:pPr marL="571500" lvl="0" indent="-571500" algn="l" rtl="0">
              <a:spcBef>
                <a:spcPts val="0"/>
              </a:spcBef>
              <a:spcAft>
                <a:spcPts val="0"/>
              </a:spcAft>
              <a:buSzPts val="1836"/>
              <a:buFont typeface="Lucida Sans"/>
              <a:buNone/>
            </a:pPr>
            <a:r>
              <a:rPr lang="en-US"/>
              <a:t>The fourth step in the revenue cycle is cash collections.  It involves:</a:t>
            </a:r>
            <a:endParaRPr/>
          </a:p>
          <a:p>
            <a:pPr marL="990600" lvl="1" indent="-533400" algn="l" rtl="0">
              <a:spcBef>
                <a:spcPts val="324"/>
              </a:spcBef>
              <a:spcAft>
                <a:spcPts val="0"/>
              </a:spcAft>
              <a:buSzPts val="2300"/>
              <a:buFont typeface="Noto Sans Symbols"/>
              <a:buAutoNum type="arabicPeriod"/>
            </a:pPr>
            <a:r>
              <a:rPr lang="en-US"/>
              <a:t>Handling customer remittances</a:t>
            </a:r>
            <a:endParaRPr/>
          </a:p>
          <a:p>
            <a:pPr marL="990600" lvl="1" indent="-533400" algn="l" rtl="0">
              <a:spcBef>
                <a:spcPts val="324"/>
              </a:spcBef>
              <a:spcAft>
                <a:spcPts val="0"/>
              </a:spcAft>
              <a:buSzPts val="2300"/>
              <a:buFont typeface="Noto Sans Symbols"/>
              <a:buAutoNum type="arabicPeriod"/>
            </a:pPr>
            <a:r>
              <a:rPr lang="en-US"/>
              <a:t>Depositing remittances in the bank</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5"/>
          <p:cNvSpPr txBox="1">
            <a:spLocks noGrp="1"/>
          </p:cNvSpPr>
          <p:nvPr>
            <p:ph type="title"/>
          </p:nvPr>
        </p:nvSpPr>
        <p:spPr>
          <a:xfrm>
            <a:off x="457200" y="274638"/>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600"/>
              <a:buFont typeface="Lucida Sans"/>
              <a:buNone/>
            </a:pPr>
            <a:r>
              <a:rPr lang="en-US" sz="3600"/>
              <a:t>Revenue Cycle – </a:t>
            </a:r>
            <a:br>
              <a:rPr lang="en-US" sz="3600"/>
            </a:br>
            <a:r>
              <a:rPr lang="en-US" sz="3600"/>
              <a:t>Key Decisions</a:t>
            </a:r>
            <a:endParaRPr/>
          </a:p>
        </p:txBody>
      </p:sp>
      <p:sp>
        <p:nvSpPr>
          <p:cNvPr id="581" name="Google Shape;581;p75"/>
          <p:cNvSpPr txBox="1">
            <a:spLocks noGrp="1"/>
          </p:cNvSpPr>
          <p:nvPr>
            <p:ph type="body" idx="1"/>
          </p:nvPr>
        </p:nvSpPr>
        <p:spPr>
          <a:xfrm>
            <a:off x="990600" y="1905000"/>
            <a:ext cx="7543800" cy="4114800"/>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The revenue cycle’s primary objective is to provide the right product in the right place at he right time for the right price.</a:t>
            </a:r>
            <a:endParaRPr/>
          </a:p>
          <a:p>
            <a:pPr marL="621792" lvl="1" indent="-228600" algn="l" rtl="0">
              <a:spcBef>
                <a:spcPts val="324"/>
              </a:spcBef>
              <a:spcAft>
                <a:spcPts val="0"/>
              </a:spcAft>
              <a:buSzPts val="2300"/>
              <a:buChar char="◦"/>
            </a:pPr>
            <a:r>
              <a:rPr lang="en-US"/>
              <a:t>	How does a company accomplish this objective?</a:t>
            </a:r>
            <a:endParaRPr/>
          </a:p>
          <a:p>
            <a:pPr marL="859536" lvl="2" indent="-228600" algn="l" rtl="0">
              <a:spcBef>
                <a:spcPts val="350"/>
              </a:spcBef>
              <a:spcAft>
                <a:spcPts val="0"/>
              </a:spcAft>
              <a:buSzPts val="2100"/>
              <a:buChar char="●"/>
            </a:pPr>
            <a:r>
              <a:rPr lang="en-US"/>
              <a:t>To accomplish the revenue cycle’s primary objective, management must make the following key decisions:</a:t>
            </a:r>
            <a:endParaRPr/>
          </a:p>
          <a:p>
            <a:pPr marL="365760" lvl="0" indent="-256032" algn="l" rtl="0">
              <a:spcBef>
                <a:spcPts val="400"/>
              </a:spcBef>
              <a:spcAft>
                <a:spcPts val="0"/>
              </a:spcAft>
              <a:buSzPts val="1836"/>
              <a:buFont typeface="Lucida Sans"/>
              <a:buNone/>
            </a:pP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76"/>
          <p:cNvSpPr txBox="1">
            <a:spLocks noGrp="1"/>
          </p:cNvSpPr>
          <p:nvPr>
            <p:ph type="title"/>
          </p:nvPr>
        </p:nvSpPr>
        <p:spPr>
          <a:xfrm>
            <a:off x="381000" y="152400"/>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240"/>
              <a:buFont typeface="Lucida Sans"/>
              <a:buNone/>
            </a:pPr>
            <a:r>
              <a:rPr lang="en-US" sz="3240"/>
              <a:t>Revenue Cycle– </a:t>
            </a:r>
            <a:br>
              <a:rPr lang="en-US" sz="3240"/>
            </a:br>
            <a:r>
              <a:rPr lang="en-US" sz="3240"/>
              <a:t>Key Decisions</a:t>
            </a:r>
            <a:endParaRPr/>
          </a:p>
        </p:txBody>
      </p:sp>
      <p:sp>
        <p:nvSpPr>
          <p:cNvPr id="587" name="Google Shape;587;p76"/>
          <p:cNvSpPr txBox="1">
            <a:spLocks noGrp="1"/>
          </p:cNvSpPr>
          <p:nvPr>
            <p:ph type="body" idx="1"/>
          </p:nvPr>
        </p:nvSpPr>
        <p:spPr>
          <a:xfrm>
            <a:off x="457200" y="1481328"/>
            <a:ext cx="8229600" cy="4525963"/>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spcBef>
                <a:spcPts val="0"/>
              </a:spcBef>
              <a:spcAft>
                <a:spcPts val="0"/>
              </a:spcAft>
              <a:buSzPts val="1904"/>
              <a:buChar char="🞂"/>
            </a:pPr>
            <a:r>
              <a:rPr lang="en-US" sz="2800"/>
              <a:t>To what extent can and should products be </a:t>
            </a:r>
            <a:r>
              <a:rPr lang="en-US" sz="2800" u="sng"/>
              <a:t>customized</a:t>
            </a:r>
            <a:r>
              <a:rPr lang="en-US" sz="2800"/>
              <a:t> to individual customers’ needs and desires?</a:t>
            </a:r>
            <a:endParaRPr/>
          </a:p>
          <a:p>
            <a:pPr marL="365760" lvl="0" indent="-256032" algn="l" rtl="0">
              <a:spcBef>
                <a:spcPts val="400"/>
              </a:spcBef>
              <a:spcAft>
                <a:spcPts val="0"/>
              </a:spcAft>
              <a:buSzPts val="1904"/>
              <a:buChar char="🞂"/>
            </a:pPr>
            <a:r>
              <a:rPr lang="en-US" sz="2800" u="sng"/>
              <a:t>How much inventory</a:t>
            </a:r>
            <a:r>
              <a:rPr lang="en-US" sz="2800"/>
              <a:t> should be carried, and where should that inventory be located?</a:t>
            </a:r>
            <a:endParaRPr/>
          </a:p>
          <a:p>
            <a:pPr marL="365760" lvl="0" indent="-256032" algn="l" rtl="0">
              <a:spcBef>
                <a:spcPts val="400"/>
              </a:spcBef>
              <a:spcAft>
                <a:spcPts val="0"/>
              </a:spcAft>
              <a:buSzPts val="1904"/>
              <a:buChar char="🞂"/>
            </a:pPr>
            <a:r>
              <a:rPr lang="en-US" sz="2800"/>
              <a:t>How should merchandise be delivered to customers?  Should the company perform the </a:t>
            </a:r>
            <a:r>
              <a:rPr lang="en-US" sz="2800" u="sng"/>
              <a:t>shipping</a:t>
            </a:r>
            <a:r>
              <a:rPr lang="en-US" sz="2800"/>
              <a:t> function itself or outsource it to a third party that specializes in logistics?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7"/>
          <p:cNvSpPr txBox="1">
            <a:spLocks noGrp="1"/>
          </p:cNvSpPr>
          <p:nvPr>
            <p:ph type="title"/>
          </p:nvPr>
        </p:nvSpPr>
        <p:spPr>
          <a:xfrm>
            <a:off x="457200" y="274638"/>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240"/>
              <a:buFont typeface="Lucida Sans"/>
              <a:buNone/>
            </a:pPr>
            <a:r>
              <a:rPr lang="en-US" sz="3240"/>
              <a:t>Revenue Cycle	 –</a:t>
            </a:r>
            <a:br>
              <a:rPr lang="en-US" sz="3240"/>
            </a:br>
            <a:r>
              <a:rPr lang="en-US" sz="3240"/>
              <a:t>Key Decisions</a:t>
            </a:r>
            <a:endParaRPr/>
          </a:p>
        </p:txBody>
      </p:sp>
      <p:sp>
        <p:nvSpPr>
          <p:cNvPr id="593" name="Google Shape;593;p77"/>
          <p:cNvSpPr txBox="1">
            <a:spLocks noGrp="1"/>
          </p:cNvSpPr>
          <p:nvPr>
            <p:ph type="body" idx="1"/>
          </p:nvPr>
        </p:nvSpPr>
        <p:spPr>
          <a:xfrm>
            <a:off x="457200" y="1481328"/>
            <a:ext cx="8229600" cy="4525963"/>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Font typeface="Lucida Sans"/>
              <a:buNone/>
            </a:pPr>
            <a:r>
              <a:rPr lang="en-US"/>
              <a:t>Key decisions, continued</a:t>
            </a:r>
            <a:endParaRPr/>
          </a:p>
          <a:p>
            <a:pPr marL="365760" lvl="0" indent="-256032" algn="l" rtl="0">
              <a:spcBef>
                <a:spcPts val="400"/>
              </a:spcBef>
              <a:spcAft>
                <a:spcPts val="0"/>
              </a:spcAft>
              <a:buSzPts val="1904"/>
              <a:buChar char="🞂"/>
            </a:pPr>
            <a:r>
              <a:rPr lang="en-US" sz="2800"/>
              <a:t>Should </a:t>
            </a:r>
            <a:r>
              <a:rPr lang="en-US" sz="2800" u="sng"/>
              <a:t>credit be extended</a:t>
            </a:r>
            <a:r>
              <a:rPr lang="en-US" sz="2800"/>
              <a:t> to customers?</a:t>
            </a:r>
            <a:endParaRPr/>
          </a:p>
          <a:p>
            <a:pPr marL="365760" lvl="0" indent="-256032" algn="l" rtl="0">
              <a:spcBef>
                <a:spcPts val="400"/>
              </a:spcBef>
              <a:spcAft>
                <a:spcPts val="0"/>
              </a:spcAft>
              <a:buSzPts val="1904"/>
              <a:buChar char="🞂"/>
            </a:pPr>
            <a:r>
              <a:rPr lang="en-US" sz="2800"/>
              <a:t>How </a:t>
            </a:r>
            <a:r>
              <a:rPr lang="en-US" sz="2800" u="sng"/>
              <a:t>much credit</a:t>
            </a:r>
            <a:r>
              <a:rPr lang="en-US" sz="2800"/>
              <a:t> should be given to individual customers?</a:t>
            </a:r>
            <a:endParaRPr/>
          </a:p>
          <a:p>
            <a:pPr marL="365760" lvl="0" indent="-256032" algn="l" rtl="0">
              <a:spcBef>
                <a:spcPts val="400"/>
              </a:spcBef>
              <a:spcAft>
                <a:spcPts val="0"/>
              </a:spcAft>
              <a:buSzPts val="1904"/>
              <a:buChar char="🞂"/>
            </a:pPr>
            <a:r>
              <a:rPr lang="en-US" sz="2800"/>
              <a:t>What </a:t>
            </a:r>
            <a:r>
              <a:rPr lang="en-US" sz="2800" u="sng"/>
              <a:t>credit terms</a:t>
            </a:r>
            <a:r>
              <a:rPr lang="en-US" sz="2800"/>
              <a:t> should be offered?</a:t>
            </a:r>
            <a:endParaRPr/>
          </a:p>
          <a:p>
            <a:pPr marL="365760" lvl="0" indent="-256032" algn="l" rtl="0">
              <a:spcBef>
                <a:spcPts val="400"/>
              </a:spcBef>
              <a:spcAft>
                <a:spcPts val="0"/>
              </a:spcAft>
              <a:buSzPts val="1904"/>
              <a:buChar char="🞂"/>
            </a:pPr>
            <a:r>
              <a:rPr lang="en-US" sz="2800"/>
              <a:t>How can customer </a:t>
            </a:r>
            <a:r>
              <a:rPr lang="en-US" sz="2800" u="sng"/>
              <a:t>payments be processed</a:t>
            </a:r>
            <a:r>
              <a:rPr lang="en-US" sz="2800"/>
              <a:t> to maximize cash flow?</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762000" y="22860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000"/>
              <a:buFont typeface="Lucida Sans"/>
              <a:buNone/>
            </a:pPr>
            <a:r>
              <a:rPr lang="en-US" sz="4000"/>
              <a:t>3 Sales Order Entry (Activity 1)</a:t>
            </a:r>
            <a:endParaRPr/>
          </a:p>
        </p:txBody>
      </p:sp>
      <p:sp>
        <p:nvSpPr>
          <p:cNvPr id="600" name="Google Shape;600;p78"/>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904"/>
              <a:buChar char="🞂"/>
            </a:pPr>
            <a:r>
              <a:rPr lang="en-US" sz="2800"/>
              <a:t>This step includes all the activities involved  in soliciting and processing customer orders.</a:t>
            </a:r>
            <a:endParaRPr/>
          </a:p>
          <a:p>
            <a:pPr marL="365760" lvl="0" indent="-256032" algn="l" rtl="0">
              <a:spcBef>
                <a:spcPts val="400"/>
              </a:spcBef>
              <a:spcAft>
                <a:spcPts val="0"/>
              </a:spcAft>
              <a:buSzPts val="1904"/>
              <a:buChar char="🞂"/>
            </a:pPr>
            <a:r>
              <a:rPr lang="en-US" sz="2800" i="1"/>
              <a:t>Key decisions and information needs:</a:t>
            </a:r>
            <a:endParaRPr/>
          </a:p>
          <a:p>
            <a:pPr marL="621792" lvl="1" indent="-228600" algn="l" rtl="0">
              <a:spcBef>
                <a:spcPts val="324"/>
              </a:spcBef>
              <a:spcAft>
                <a:spcPts val="0"/>
              </a:spcAft>
              <a:buSzPts val="2400"/>
              <a:buChar char="◦"/>
            </a:pPr>
            <a:r>
              <a:rPr lang="en-US" sz="2400"/>
              <a:t>decisions concerning credit policies, including the approval of credit</a:t>
            </a:r>
            <a:endParaRPr/>
          </a:p>
          <a:p>
            <a:pPr marL="621792" lvl="1" indent="-228600" algn="l" rtl="0">
              <a:spcBef>
                <a:spcPts val="324"/>
              </a:spcBef>
              <a:spcAft>
                <a:spcPts val="0"/>
              </a:spcAft>
              <a:buSzPts val="2400"/>
              <a:buChar char="◦"/>
            </a:pPr>
            <a:r>
              <a:rPr lang="en-US" sz="2400"/>
              <a:t>information about inventory availability and customer credit status from the inventory control and accounting functions, respectively</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79"/>
          <p:cNvSpPr txBox="1">
            <a:spLocks noGrp="1"/>
          </p:cNvSpPr>
          <p:nvPr>
            <p:ph type="title"/>
          </p:nvPr>
        </p:nvSpPr>
        <p:spPr>
          <a:xfrm>
            <a:off x="914400" y="30480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Sales Order Entry </a:t>
            </a:r>
            <a:r>
              <a:rPr lang="en-US" sz="4000"/>
              <a:t>(Activity 1)</a:t>
            </a:r>
            <a:endParaRPr/>
          </a:p>
        </p:txBody>
      </p:sp>
      <p:sp>
        <p:nvSpPr>
          <p:cNvPr id="607" name="Google Shape;607;p79"/>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The sales order entry function involves three main activities:</a:t>
            </a:r>
            <a:endParaRPr/>
          </a:p>
          <a:p>
            <a:pPr marL="365760" lvl="0" indent="-256032" algn="l" rtl="0">
              <a:spcBef>
                <a:spcPts val="400"/>
              </a:spcBef>
              <a:spcAft>
                <a:spcPts val="0"/>
              </a:spcAft>
              <a:buSzPts val="1836"/>
              <a:buFont typeface="Lucida Sans"/>
              <a:buChar char="1"/>
            </a:pPr>
            <a:r>
              <a:rPr lang="en-US"/>
              <a:t>Responding to customer inquiries</a:t>
            </a:r>
            <a:endParaRPr/>
          </a:p>
          <a:p>
            <a:pPr marL="365760" lvl="0" indent="-256032" algn="l" rtl="0">
              <a:spcBef>
                <a:spcPts val="400"/>
              </a:spcBef>
              <a:spcAft>
                <a:spcPts val="0"/>
              </a:spcAft>
              <a:buSzPts val="1836"/>
              <a:buFont typeface="Lucida Sans"/>
              <a:buChar char="2"/>
            </a:pPr>
            <a:r>
              <a:rPr lang="en-US"/>
              <a:t>Checking and approving customer credit</a:t>
            </a:r>
            <a:endParaRPr/>
          </a:p>
          <a:p>
            <a:pPr marL="365760" lvl="0" indent="-256032" algn="l" rtl="0">
              <a:spcBef>
                <a:spcPts val="400"/>
              </a:spcBef>
              <a:spcAft>
                <a:spcPts val="0"/>
              </a:spcAft>
              <a:buSzPts val="1836"/>
              <a:buFont typeface="Lucida Sans"/>
              <a:buChar char="3"/>
            </a:pPr>
            <a:r>
              <a:rPr lang="en-US"/>
              <a:t>Checking inventory available</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80"/>
          <p:cNvSpPr/>
          <p:nvPr/>
        </p:nvSpPr>
        <p:spPr>
          <a:xfrm>
            <a:off x="4495800" y="228600"/>
            <a:ext cx="1295400" cy="1143000"/>
          </a:xfrm>
          <a:prstGeom prst="ellipse">
            <a:avLst/>
          </a:prstGeom>
          <a:solidFill>
            <a:srgbClr val="FFFF00"/>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1.1</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Take</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Order</a:t>
            </a:r>
            <a:endParaRPr/>
          </a:p>
        </p:txBody>
      </p:sp>
      <p:grpSp>
        <p:nvGrpSpPr>
          <p:cNvPr id="613" name="Google Shape;613;p80"/>
          <p:cNvGrpSpPr/>
          <p:nvPr/>
        </p:nvGrpSpPr>
        <p:grpSpPr>
          <a:xfrm>
            <a:off x="7086600" y="533400"/>
            <a:ext cx="1371600" cy="457200"/>
            <a:chOff x="3168" y="1008"/>
            <a:chExt cx="864" cy="576"/>
          </a:xfrm>
        </p:grpSpPr>
        <p:sp>
          <p:nvSpPr>
            <p:cNvPr id="614" name="Google Shape;614;p80"/>
            <p:cNvSpPr/>
            <p:nvPr/>
          </p:nvSpPr>
          <p:spPr>
            <a:xfrm>
              <a:off x="3168" y="1008"/>
              <a:ext cx="864" cy="576"/>
            </a:xfrm>
            <a:prstGeom prst="rect">
              <a:avLst/>
            </a:prstGeom>
            <a:solidFill>
              <a:srgbClr val="FF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Customer</a:t>
              </a:r>
              <a:endParaRPr/>
            </a:p>
          </p:txBody>
        </p:sp>
        <p:cxnSp>
          <p:nvCxnSpPr>
            <p:cNvPr id="615" name="Google Shape;615;p80"/>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616" name="Google Shape;616;p80"/>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sp>
        <p:nvSpPr>
          <p:cNvPr id="617" name="Google Shape;617;p80"/>
          <p:cNvSpPr/>
          <p:nvPr/>
        </p:nvSpPr>
        <p:spPr>
          <a:xfrm>
            <a:off x="1981200" y="55626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Shipping</a:t>
            </a:r>
            <a:endParaRPr/>
          </a:p>
        </p:txBody>
      </p:sp>
      <p:sp>
        <p:nvSpPr>
          <p:cNvPr id="618" name="Google Shape;618;p80"/>
          <p:cNvSpPr/>
          <p:nvPr/>
        </p:nvSpPr>
        <p:spPr>
          <a:xfrm>
            <a:off x="4572000" y="1981200"/>
            <a:ext cx="1295400" cy="1143000"/>
          </a:xfrm>
          <a:prstGeom prst="ellipse">
            <a:avLst/>
          </a:prstGeom>
          <a:solidFill>
            <a:srgbClr val="FFCCCC"/>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1.2</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Approve</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Credit</a:t>
            </a:r>
            <a:endParaRPr/>
          </a:p>
        </p:txBody>
      </p:sp>
      <p:sp>
        <p:nvSpPr>
          <p:cNvPr id="619" name="Google Shape;619;p80"/>
          <p:cNvSpPr/>
          <p:nvPr/>
        </p:nvSpPr>
        <p:spPr>
          <a:xfrm>
            <a:off x="4572000" y="3657600"/>
            <a:ext cx="1295400" cy="1143000"/>
          </a:xfrm>
          <a:prstGeom prst="ellipse">
            <a:avLst/>
          </a:prstGeom>
          <a:solidFill>
            <a:srgbClr val="FFCCCC"/>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1.3</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Check</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Inv.</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Avail.</a:t>
            </a:r>
            <a:endParaRPr/>
          </a:p>
        </p:txBody>
      </p:sp>
      <p:sp>
        <p:nvSpPr>
          <p:cNvPr id="620" name="Google Shape;620;p80"/>
          <p:cNvSpPr/>
          <p:nvPr/>
        </p:nvSpPr>
        <p:spPr>
          <a:xfrm>
            <a:off x="3886200" y="55626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Billing</a:t>
            </a:r>
            <a:endParaRPr/>
          </a:p>
        </p:txBody>
      </p:sp>
      <p:sp>
        <p:nvSpPr>
          <p:cNvPr id="621" name="Google Shape;621;p80"/>
          <p:cNvSpPr/>
          <p:nvPr/>
        </p:nvSpPr>
        <p:spPr>
          <a:xfrm>
            <a:off x="5715000" y="55626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Ware-</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house</a:t>
            </a:r>
            <a:endParaRPr/>
          </a:p>
        </p:txBody>
      </p:sp>
      <p:sp>
        <p:nvSpPr>
          <p:cNvPr id="622" name="Google Shape;622;p80"/>
          <p:cNvSpPr/>
          <p:nvPr/>
        </p:nvSpPr>
        <p:spPr>
          <a:xfrm>
            <a:off x="7696200" y="55626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Purchas-</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ing</a:t>
            </a:r>
            <a:endParaRPr/>
          </a:p>
        </p:txBody>
      </p:sp>
      <p:sp>
        <p:nvSpPr>
          <p:cNvPr id="623" name="Google Shape;623;p80"/>
          <p:cNvSpPr/>
          <p:nvPr/>
        </p:nvSpPr>
        <p:spPr>
          <a:xfrm>
            <a:off x="152400" y="3886200"/>
            <a:ext cx="1295400" cy="1143000"/>
          </a:xfrm>
          <a:prstGeom prst="ellipse">
            <a:avLst/>
          </a:prstGeom>
          <a:solidFill>
            <a:srgbClr val="FFCCCC"/>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1.4</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Resp. to </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Cust. Inq.</a:t>
            </a:r>
            <a:endParaRPr/>
          </a:p>
        </p:txBody>
      </p:sp>
      <p:sp>
        <p:nvSpPr>
          <p:cNvPr id="624" name="Google Shape;624;p80"/>
          <p:cNvSpPr/>
          <p:nvPr/>
        </p:nvSpPr>
        <p:spPr>
          <a:xfrm>
            <a:off x="304800" y="381000"/>
            <a:ext cx="1143000" cy="914400"/>
          </a:xfrm>
          <a:prstGeom prst="rect">
            <a:avLst/>
          </a:prstGeom>
          <a:solidFill>
            <a:srgbClr val="FFFF00"/>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Customer</a:t>
            </a:r>
            <a:endParaRPr/>
          </a:p>
        </p:txBody>
      </p:sp>
      <p:grpSp>
        <p:nvGrpSpPr>
          <p:cNvPr id="625" name="Google Shape;625;p80"/>
          <p:cNvGrpSpPr/>
          <p:nvPr/>
        </p:nvGrpSpPr>
        <p:grpSpPr>
          <a:xfrm>
            <a:off x="2286000" y="4114800"/>
            <a:ext cx="1371600" cy="381000"/>
            <a:chOff x="3168" y="1008"/>
            <a:chExt cx="864" cy="576"/>
          </a:xfrm>
        </p:grpSpPr>
        <p:sp>
          <p:nvSpPr>
            <p:cNvPr id="626" name="Google Shape;626;p80"/>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Sales Order</a:t>
              </a:r>
              <a:endParaRPr/>
            </a:p>
          </p:txBody>
        </p:sp>
        <p:cxnSp>
          <p:nvCxnSpPr>
            <p:cNvPr id="627" name="Google Shape;627;p80"/>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628" name="Google Shape;628;p80"/>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grpSp>
        <p:nvGrpSpPr>
          <p:cNvPr id="629" name="Google Shape;629;p80"/>
          <p:cNvGrpSpPr/>
          <p:nvPr/>
        </p:nvGrpSpPr>
        <p:grpSpPr>
          <a:xfrm>
            <a:off x="1295400" y="2971800"/>
            <a:ext cx="1371600" cy="457200"/>
            <a:chOff x="3168" y="1008"/>
            <a:chExt cx="864" cy="576"/>
          </a:xfrm>
        </p:grpSpPr>
        <p:sp>
          <p:nvSpPr>
            <p:cNvPr id="630" name="Google Shape;630;p80"/>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Customer</a:t>
              </a:r>
              <a:endParaRPr/>
            </a:p>
          </p:txBody>
        </p:sp>
        <p:cxnSp>
          <p:nvCxnSpPr>
            <p:cNvPr id="631" name="Google Shape;631;p80"/>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632" name="Google Shape;632;p80"/>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grpSp>
        <p:nvGrpSpPr>
          <p:cNvPr id="633" name="Google Shape;633;p80"/>
          <p:cNvGrpSpPr/>
          <p:nvPr/>
        </p:nvGrpSpPr>
        <p:grpSpPr>
          <a:xfrm>
            <a:off x="7086600" y="4114800"/>
            <a:ext cx="1371600" cy="457200"/>
            <a:chOff x="3168" y="1008"/>
            <a:chExt cx="864" cy="576"/>
          </a:xfrm>
        </p:grpSpPr>
        <p:sp>
          <p:nvSpPr>
            <p:cNvPr id="634" name="Google Shape;634;p80"/>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Inventory</a:t>
              </a:r>
              <a:endParaRPr/>
            </a:p>
          </p:txBody>
        </p:sp>
        <p:cxnSp>
          <p:nvCxnSpPr>
            <p:cNvPr id="635" name="Google Shape;635;p80"/>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636" name="Google Shape;636;p80"/>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cxnSp>
        <p:nvCxnSpPr>
          <p:cNvPr id="637" name="Google Shape;637;p80"/>
          <p:cNvCxnSpPr/>
          <p:nvPr/>
        </p:nvCxnSpPr>
        <p:spPr>
          <a:xfrm>
            <a:off x="5181600" y="1447800"/>
            <a:ext cx="0" cy="381000"/>
          </a:xfrm>
          <a:prstGeom prst="straightConnector1">
            <a:avLst/>
          </a:prstGeom>
          <a:noFill/>
          <a:ln w="57150" cap="flat" cmpd="sng">
            <a:solidFill>
              <a:schemeClr val="dk1"/>
            </a:solidFill>
            <a:prstDash val="solid"/>
            <a:round/>
            <a:headEnd type="none" w="med" len="med"/>
            <a:tailEnd type="triangle" w="med" len="med"/>
          </a:ln>
        </p:spPr>
      </p:cxnSp>
      <p:cxnSp>
        <p:nvCxnSpPr>
          <p:cNvPr id="638" name="Google Shape;638;p80"/>
          <p:cNvCxnSpPr/>
          <p:nvPr/>
        </p:nvCxnSpPr>
        <p:spPr>
          <a:xfrm>
            <a:off x="5257800" y="3124200"/>
            <a:ext cx="0" cy="533400"/>
          </a:xfrm>
          <a:prstGeom prst="straightConnector1">
            <a:avLst/>
          </a:prstGeom>
          <a:noFill/>
          <a:ln w="57150" cap="flat" cmpd="sng">
            <a:solidFill>
              <a:schemeClr val="dk1"/>
            </a:solidFill>
            <a:prstDash val="solid"/>
            <a:round/>
            <a:headEnd type="none" w="med" len="med"/>
            <a:tailEnd type="triangle" w="med" len="med"/>
          </a:ln>
        </p:spPr>
      </p:cxnSp>
      <p:cxnSp>
        <p:nvCxnSpPr>
          <p:cNvPr id="639" name="Google Shape;639;p80"/>
          <p:cNvCxnSpPr/>
          <p:nvPr/>
        </p:nvCxnSpPr>
        <p:spPr>
          <a:xfrm>
            <a:off x="5715000" y="4648200"/>
            <a:ext cx="2438400" cy="838200"/>
          </a:xfrm>
          <a:prstGeom prst="straightConnector1">
            <a:avLst/>
          </a:prstGeom>
          <a:noFill/>
          <a:ln w="57150" cap="flat" cmpd="sng">
            <a:solidFill>
              <a:schemeClr val="dk1"/>
            </a:solidFill>
            <a:prstDash val="solid"/>
            <a:round/>
            <a:headEnd type="none" w="med" len="med"/>
            <a:tailEnd type="triangle" w="med" len="med"/>
          </a:ln>
        </p:spPr>
      </p:cxnSp>
      <p:cxnSp>
        <p:nvCxnSpPr>
          <p:cNvPr id="640" name="Google Shape;640;p80"/>
          <p:cNvCxnSpPr/>
          <p:nvPr/>
        </p:nvCxnSpPr>
        <p:spPr>
          <a:xfrm>
            <a:off x="5486400" y="4800600"/>
            <a:ext cx="609600" cy="762000"/>
          </a:xfrm>
          <a:prstGeom prst="straightConnector1">
            <a:avLst/>
          </a:prstGeom>
          <a:noFill/>
          <a:ln w="57150" cap="flat" cmpd="sng">
            <a:solidFill>
              <a:schemeClr val="dk1"/>
            </a:solidFill>
            <a:prstDash val="solid"/>
            <a:round/>
            <a:headEnd type="none" w="med" len="med"/>
            <a:tailEnd type="triangle" w="med" len="med"/>
          </a:ln>
        </p:spPr>
      </p:cxnSp>
      <p:cxnSp>
        <p:nvCxnSpPr>
          <p:cNvPr id="641" name="Google Shape;641;p80"/>
          <p:cNvCxnSpPr/>
          <p:nvPr/>
        </p:nvCxnSpPr>
        <p:spPr>
          <a:xfrm flipH="1">
            <a:off x="4495800" y="4800600"/>
            <a:ext cx="457200" cy="762000"/>
          </a:xfrm>
          <a:prstGeom prst="straightConnector1">
            <a:avLst/>
          </a:prstGeom>
          <a:noFill/>
          <a:ln w="57150" cap="flat" cmpd="sng">
            <a:solidFill>
              <a:schemeClr val="dk1"/>
            </a:solidFill>
            <a:prstDash val="solid"/>
            <a:round/>
            <a:headEnd type="none" w="med" len="med"/>
            <a:tailEnd type="triangle" w="med" len="med"/>
          </a:ln>
        </p:spPr>
      </p:cxnSp>
      <p:cxnSp>
        <p:nvCxnSpPr>
          <p:cNvPr id="642" name="Google Shape;642;p80"/>
          <p:cNvCxnSpPr/>
          <p:nvPr/>
        </p:nvCxnSpPr>
        <p:spPr>
          <a:xfrm flipH="1">
            <a:off x="2590800" y="4648200"/>
            <a:ext cx="2133600" cy="838200"/>
          </a:xfrm>
          <a:prstGeom prst="straightConnector1">
            <a:avLst/>
          </a:prstGeom>
          <a:noFill/>
          <a:ln w="57150" cap="flat" cmpd="sng">
            <a:solidFill>
              <a:schemeClr val="dk1"/>
            </a:solidFill>
            <a:prstDash val="solid"/>
            <a:round/>
            <a:headEnd type="none" w="med" len="med"/>
            <a:tailEnd type="triangle" w="med" len="med"/>
          </a:ln>
        </p:spPr>
      </p:cxnSp>
      <p:cxnSp>
        <p:nvCxnSpPr>
          <p:cNvPr id="643" name="Google Shape;643;p80"/>
          <p:cNvCxnSpPr/>
          <p:nvPr/>
        </p:nvCxnSpPr>
        <p:spPr>
          <a:xfrm rot="10800000">
            <a:off x="5867400" y="762000"/>
            <a:ext cx="1143000" cy="0"/>
          </a:xfrm>
          <a:prstGeom prst="straightConnector1">
            <a:avLst/>
          </a:prstGeom>
          <a:noFill/>
          <a:ln w="57150" cap="flat" cmpd="sng">
            <a:solidFill>
              <a:schemeClr val="dk1"/>
            </a:solidFill>
            <a:prstDash val="solid"/>
            <a:round/>
            <a:headEnd type="none" w="med" len="med"/>
            <a:tailEnd type="triangle" w="med" len="med"/>
          </a:ln>
        </p:spPr>
      </p:cxnSp>
      <p:cxnSp>
        <p:nvCxnSpPr>
          <p:cNvPr id="644" name="Google Shape;644;p80"/>
          <p:cNvCxnSpPr/>
          <p:nvPr/>
        </p:nvCxnSpPr>
        <p:spPr>
          <a:xfrm rot="10800000" flipH="1">
            <a:off x="5867400" y="1143000"/>
            <a:ext cx="1447800" cy="1066800"/>
          </a:xfrm>
          <a:prstGeom prst="straightConnector1">
            <a:avLst/>
          </a:prstGeom>
          <a:noFill/>
          <a:ln w="57150" cap="flat" cmpd="sng">
            <a:solidFill>
              <a:schemeClr val="dk1"/>
            </a:solidFill>
            <a:prstDash val="solid"/>
            <a:round/>
            <a:headEnd type="triangle" w="med" len="med"/>
            <a:tailEnd type="triangle" w="med" len="med"/>
          </a:ln>
        </p:spPr>
      </p:cxnSp>
      <p:cxnSp>
        <p:nvCxnSpPr>
          <p:cNvPr id="645" name="Google Shape;645;p80"/>
          <p:cNvCxnSpPr/>
          <p:nvPr/>
        </p:nvCxnSpPr>
        <p:spPr>
          <a:xfrm>
            <a:off x="1524000" y="685800"/>
            <a:ext cx="2895600" cy="0"/>
          </a:xfrm>
          <a:prstGeom prst="straightConnector1">
            <a:avLst/>
          </a:prstGeom>
          <a:noFill/>
          <a:ln w="57150" cap="flat" cmpd="sng">
            <a:solidFill>
              <a:schemeClr val="dk1"/>
            </a:solidFill>
            <a:prstDash val="solid"/>
            <a:round/>
            <a:headEnd type="none" w="med" len="med"/>
            <a:tailEnd type="triangle" w="med" len="med"/>
          </a:ln>
        </p:spPr>
      </p:cxnSp>
      <p:cxnSp>
        <p:nvCxnSpPr>
          <p:cNvPr id="646" name="Google Shape;646;p80"/>
          <p:cNvCxnSpPr/>
          <p:nvPr/>
        </p:nvCxnSpPr>
        <p:spPr>
          <a:xfrm rot="10800000">
            <a:off x="1600200" y="1066800"/>
            <a:ext cx="2971800" cy="1219200"/>
          </a:xfrm>
          <a:prstGeom prst="straightConnector1">
            <a:avLst/>
          </a:prstGeom>
          <a:noFill/>
          <a:ln w="57150" cap="flat" cmpd="sng">
            <a:solidFill>
              <a:schemeClr val="dk1"/>
            </a:solidFill>
            <a:prstDash val="solid"/>
            <a:round/>
            <a:headEnd type="none" w="med" len="med"/>
            <a:tailEnd type="triangle" w="med" len="med"/>
          </a:ln>
        </p:spPr>
      </p:cxnSp>
      <p:cxnSp>
        <p:nvCxnSpPr>
          <p:cNvPr id="647" name="Google Shape;647;p80"/>
          <p:cNvCxnSpPr/>
          <p:nvPr/>
        </p:nvCxnSpPr>
        <p:spPr>
          <a:xfrm rot="10800000">
            <a:off x="1524000" y="1447800"/>
            <a:ext cx="3124200" cy="2438400"/>
          </a:xfrm>
          <a:prstGeom prst="straightConnector1">
            <a:avLst/>
          </a:prstGeom>
          <a:noFill/>
          <a:ln w="57150" cap="flat" cmpd="sng">
            <a:solidFill>
              <a:schemeClr val="dk1"/>
            </a:solidFill>
            <a:prstDash val="solid"/>
            <a:round/>
            <a:headEnd type="none" w="med" len="med"/>
            <a:tailEnd type="triangle" w="med" len="med"/>
          </a:ln>
        </p:spPr>
      </p:cxnSp>
      <p:cxnSp>
        <p:nvCxnSpPr>
          <p:cNvPr id="648" name="Google Shape;648;p80"/>
          <p:cNvCxnSpPr/>
          <p:nvPr/>
        </p:nvCxnSpPr>
        <p:spPr>
          <a:xfrm rot="10800000">
            <a:off x="914400" y="1371600"/>
            <a:ext cx="0" cy="2438400"/>
          </a:xfrm>
          <a:prstGeom prst="straightConnector1">
            <a:avLst/>
          </a:prstGeom>
          <a:noFill/>
          <a:ln w="57150" cap="flat" cmpd="sng">
            <a:solidFill>
              <a:schemeClr val="dk1"/>
            </a:solidFill>
            <a:prstDash val="solid"/>
            <a:round/>
            <a:headEnd type="none" w="med" len="med"/>
            <a:tailEnd type="triangle" w="med" len="med"/>
          </a:ln>
        </p:spPr>
      </p:cxnSp>
      <p:cxnSp>
        <p:nvCxnSpPr>
          <p:cNvPr id="649" name="Google Shape;649;p80"/>
          <p:cNvCxnSpPr/>
          <p:nvPr/>
        </p:nvCxnSpPr>
        <p:spPr>
          <a:xfrm>
            <a:off x="533400" y="1371600"/>
            <a:ext cx="0" cy="2514600"/>
          </a:xfrm>
          <a:prstGeom prst="straightConnector1">
            <a:avLst/>
          </a:prstGeom>
          <a:noFill/>
          <a:ln w="57150" cap="flat" cmpd="sng">
            <a:solidFill>
              <a:schemeClr val="dk1"/>
            </a:solidFill>
            <a:prstDash val="solid"/>
            <a:round/>
            <a:headEnd type="none" w="med" len="med"/>
            <a:tailEnd type="triangle" w="med" len="med"/>
          </a:ln>
        </p:spPr>
      </p:cxnSp>
      <p:cxnSp>
        <p:nvCxnSpPr>
          <p:cNvPr id="650" name="Google Shape;650;p80"/>
          <p:cNvCxnSpPr/>
          <p:nvPr/>
        </p:nvCxnSpPr>
        <p:spPr>
          <a:xfrm rot="10800000">
            <a:off x="3733800" y="4267200"/>
            <a:ext cx="762000" cy="0"/>
          </a:xfrm>
          <a:prstGeom prst="straightConnector1">
            <a:avLst/>
          </a:prstGeom>
          <a:noFill/>
          <a:ln w="57150" cap="flat" cmpd="sng">
            <a:solidFill>
              <a:schemeClr val="dk1"/>
            </a:solidFill>
            <a:prstDash val="solid"/>
            <a:round/>
            <a:headEnd type="none" w="med" len="med"/>
            <a:tailEnd type="triangle" w="med" len="med"/>
          </a:ln>
        </p:spPr>
      </p:cxnSp>
      <p:cxnSp>
        <p:nvCxnSpPr>
          <p:cNvPr id="651" name="Google Shape;651;p80"/>
          <p:cNvCxnSpPr/>
          <p:nvPr/>
        </p:nvCxnSpPr>
        <p:spPr>
          <a:xfrm flipH="1">
            <a:off x="1524000" y="4267200"/>
            <a:ext cx="685800" cy="152400"/>
          </a:xfrm>
          <a:prstGeom prst="straightConnector1">
            <a:avLst/>
          </a:prstGeom>
          <a:noFill/>
          <a:ln w="57150" cap="flat" cmpd="sng">
            <a:solidFill>
              <a:schemeClr val="dk1"/>
            </a:solidFill>
            <a:prstDash val="solid"/>
            <a:round/>
            <a:headEnd type="none" w="med" len="med"/>
            <a:tailEnd type="triangle" w="med" len="med"/>
          </a:ln>
        </p:spPr>
      </p:cxnSp>
      <p:cxnSp>
        <p:nvCxnSpPr>
          <p:cNvPr id="652" name="Google Shape;652;p80"/>
          <p:cNvCxnSpPr/>
          <p:nvPr/>
        </p:nvCxnSpPr>
        <p:spPr>
          <a:xfrm flipH="1">
            <a:off x="1371600" y="3505200"/>
            <a:ext cx="304800" cy="533400"/>
          </a:xfrm>
          <a:prstGeom prst="straightConnector1">
            <a:avLst/>
          </a:prstGeom>
          <a:noFill/>
          <a:ln w="57150" cap="flat" cmpd="sng">
            <a:solidFill>
              <a:schemeClr val="dk1"/>
            </a:solidFill>
            <a:prstDash val="solid"/>
            <a:round/>
            <a:headEnd type="none" w="med" len="med"/>
            <a:tailEnd type="triangle" w="med" len="med"/>
          </a:ln>
        </p:spPr>
      </p:cxnSp>
      <p:sp>
        <p:nvSpPr>
          <p:cNvPr id="653" name="Google Shape;653;p80"/>
          <p:cNvSpPr txBox="1"/>
          <p:nvPr/>
        </p:nvSpPr>
        <p:spPr>
          <a:xfrm>
            <a:off x="2362200" y="381000"/>
            <a:ext cx="766763"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Orders</a:t>
            </a:r>
            <a:endParaRPr/>
          </a:p>
        </p:txBody>
      </p:sp>
      <p:sp>
        <p:nvSpPr>
          <p:cNvPr id="654" name="Google Shape;654;p80"/>
          <p:cNvSpPr txBox="1"/>
          <p:nvPr/>
        </p:nvSpPr>
        <p:spPr>
          <a:xfrm rot="1395201">
            <a:off x="2514600" y="1447800"/>
            <a:ext cx="1554163"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Rejected Orders</a:t>
            </a:r>
            <a:endParaRPr/>
          </a:p>
        </p:txBody>
      </p:sp>
      <p:sp>
        <p:nvSpPr>
          <p:cNvPr id="655" name="Google Shape;655;p80"/>
          <p:cNvSpPr txBox="1"/>
          <p:nvPr/>
        </p:nvSpPr>
        <p:spPr>
          <a:xfrm rot="2238173">
            <a:off x="2438400" y="2514600"/>
            <a:ext cx="16510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Acknowledgment</a:t>
            </a:r>
            <a:endParaRPr/>
          </a:p>
        </p:txBody>
      </p:sp>
      <p:sp>
        <p:nvSpPr>
          <p:cNvPr id="656" name="Google Shape;656;p80"/>
          <p:cNvSpPr txBox="1"/>
          <p:nvPr/>
        </p:nvSpPr>
        <p:spPr>
          <a:xfrm>
            <a:off x="5257800" y="1447800"/>
            <a:ext cx="766763"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Orders</a:t>
            </a:r>
            <a:endParaRPr/>
          </a:p>
        </p:txBody>
      </p:sp>
      <p:sp>
        <p:nvSpPr>
          <p:cNvPr id="657" name="Google Shape;657;p80"/>
          <p:cNvSpPr txBox="1"/>
          <p:nvPr/>
        </p:nvSpPr>
        <p:spPr>
          <a:xfrm>
            <a:off x="5334000" y="3124200"/>
            <a:ext cx="1011238"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Approved</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Orders</a:t>
            </a:r>
            <a:endParaRPr/>
          </a:p>
        </p:txBody>
      </p:sp>
      <p:sp>
        <p:nvSpPr>
          <p:cNvPr id="658" name="Google Shape;658;p80"/>
          <p:cNvSpPr txBox="1"/>
          <p:nvPr/>
        </p:nvSpPr>
        <p:spPr>
          <a:xfrm rot="1057901">
            <a:off x="6096000" y="4724400"/>
            <a:ext cx="1239838"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Back Orders</a:t>
            </a:r>
            <a:endParaRPr/>
          </a:p>
        </p:txBody>
      </p:sp>
      <p:sp>
        <p:nvSpPr>
          <p:cNvPr id="659" name="Google Shape;659;p80"/>
          <p:cNvSpPr txBox="1"/>
          <p:nvPr/>
        </p:nvSpPr>
        <p:spPr>
          <a:xfrm>
            <a:off x="6019800" y="5105400"/>
            <a:ext cx="814388"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Picking</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List</a:t>
            </a:r>
            <a:endParaRPr/>
          </a:p>
        </p:txBody>
      </p:sp>
      <p:sp>
        <p:nvSpPr>
          <p:cNvPr id="660" name="Google Shape;660;p80"/>
          <p:cNvSpPr txBox="1"/>
          <p:nvPr/>
        </p:nvSpPr>
        <p:spPr>
          <a:xfrm>
            <a:off x="4665663" y="5105400"/>
            <a:ext cx="668337"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Sales</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Order</a:t>
            </a:r>
            <a:endParaRPr/>
          </a:p>
        </p:txBody>
      </p:sp>
      <p:sp>
        <p:nvSpPr>
          <p:cNvPr id="661" name="Google Shape;661;p80"/>
          <p:cNvSpPr txBox="1"/>
          <p:nvPr/>
        </p:nvSpPr>
        <p:spPr>
          <a:xfrm>
            <a:off x="1981200" y="5029200"/>
            <a:ext cx="668338"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Sales</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Order</a:t>
            </a:r>
            <a:endParaRPr/>
          </a:p>
        </p:txBody>
      </p:sp>
      <p:sp>
        <p:nvSpPr>
          <p:cNvPr id="662" name="Google Shape;662;p80"/>
          <p:cNvSpPr txBox="1"/>
          <p:nvPr/>
        </p:nvSpPr>
        <p:spPr>
          <a:xfrm rot="-5400000">
            <a:off x="-80169" y="2282032"/>
            <a:ext cx="922337"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Inquiries</a:t>
            </a:r>
            <a:endParaRPr/>
          </a:p>
        </p:txBody>
      </p:sp>
      <p:sp>
        <p:nvSpPr>
          <p:cNvPr id="663" name="Google Shape;663;p80"/>
          <p:cNvSpPr txBox="1"/>
          <p:nvPr/>
        </p:nvSpPr>
        <p:spPr>
          <a:xfrm rot="-5400000">
            <a:off x="246856" y="2234407"/>
            <a:ext cx="1030287"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Response</a:t>
            </a:r>
            <a:endParaRPr/>
          </a:p>
        </p:txBody>
      </p:sp>
      <p:cxnSp>
        <p:nvCxnSpPr>
          <p:cNvPr id="664" name="Google Shape;664;p80"/>
          <p:cNvCxnSpPr/>
          <p:nvPr/>
        </p:nvCxnSpPr>
        <p:spPr>
          <a:xfrm>
            <a:off x="5867400" y="4267200"/>
            <a:ext cx="1143000" cy="0"/>
          </a:xfrm>
          <a:prstGeom prst="straightConnector1">
            <a:avLst/>
          </a:prstGeom>
          <a:noFill/>
          <a:ln w="57150" cap="flat" cmpd="sng">
            <a:solidFill>
              <a:schemeClr val="dk1"/>
            </a:solidFill>
            <a:prstDash val="solid"/>
            <a:round/>
            <a:headEnd type="triangle" w="med" len="med"/>
            <a:tailEnd type="triangle" w="med" len="med"/>
          </a:ln>
        </p:spPr>
      </p:cxnSp>
      <p:sp>
        <p:nvSpPr>
          <p:cNvPr id="665" name="Google Shape;665;p80"/>
          <p:cNvSpPr/>
          <p:nvPr/>
        </p:nvSpPr>
        <p:spPr>
          <a:xfrm>
            <a:off x="6324600" y="2209800"/>
            <a:ext cx="2590800" cy="914400"/>
          </a:xfrm>
          <a:prstGeom prst="rect">
            <a:avLst/>
          </a:prstGeom>
          <a:solidFill>
            <a:schemeClr val="lt1"/>
          </a:solidFill>
          <a:ln w="57150" cap="flat" cmpd="sng">
            <a:solidFill>
              <a:srgbClr val="0000FF"/>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None/>
            </a:pPr>
            <a:r>
              <a:rPr lang="en-US" sz="2000" b="1">
                <a:solidFill>
                  <a:schemeClr val="dk1"/>
                </a:solidFill>
                <a:latin typeface="Constantia"/>
                <a:ea typeface="Constantia"/>
                <a:cs typeface="Constantia"/>
                <a:sym typeface="Constantia"/>
              </a:rPr>
              <a:t>DFD for</a:t>
            </a:r>
            <a:endParaRPr/>
          </a:p>
          <a:p>
            <a:pPr marL="342900" marR="0" lvl="0" indent="-342900" algn="ctr" rtl="0">
              <a:spcBef>
                <a:spcPts val="400"/>
              </a:spcBef>
              <a:spcAft>
                <a:spcPts val="0"/>
              </a:spcAft>
              <a:buNone/>
            </a:pPr>
            <a:r>
              <a:rPr lang="en-US" sz="2000" b="1">
                <a:solidFill>
                  <a:schemeClr val="dk1"/>
                </a:solidFill>
                <a:latin typeface="Constantia"/>
                <a:ea typeface="Constantia"/>
                <a:cs typeface="Constantia"/>
                <a:sym typeface="Constantia"/>
              </a:rPr>
              <a:t>Sales Order Entry</a:t>
            </a:r>
            <a:endParaRPr/>
          </a:p>
          <a:p>
            <a:pPr marL="342900" marR="0" lvl="0" indent="-342900" algn="ctr" rtl="0">
              <a:spcBef>
                <a:spcPts val="400"/>
              </a:spcBef>
              <a:spcAft>
                <a:spcPts val="0"/>
              </a:spcAft>
              <a:buNone/>
            </a:pPr>
            <a:endParaRPr sz="2000" b="1">
              <a:solidFill>
                <a:schemeClr val="dk1"/>
              </a:solidFill>
              <a:latin typeface="Constantia"/>
              <a:ea typeface="Constantia"/>
              <a:cs typeface="Constantia"/>
              <a:sym typeface="Constanti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81"/>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240"/>
              <a:buFont typeface="Lucida Sans"/>
              <a:buNone/>
            </a:pPr>
            <a:r>
              <a:rPr lang="en-US" sz="3240"/>
              <a:t>3 Information Needs </a:t>
            </a:r>
            <a:br>
              <a:rPr lang="en-US" sz="3240"/>
            </a:br>
            <a:r>
              <a:rPr lang="en-US" sz="3240"/>
              <a:t>and Procedures</a:t>
            </a:r>
            <a:endParaRPr/>
          </a:p>
        </p:txBody>
      </p:sp>
      <p:sp>
        <p:nvSpPr>
          <p:cNvPr id="672" name="Google Shape;672;p81"/>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The AIS should provide the operational information needed to perform the following functions:</a:t>
            </a:r>
            <a:endParaRPr/>
          </a:p>
          <a:p>
            <a:pPr marL="621792" lvl="1" indent="-228600" algn="l" rtl="0">
              <a:spcBef>
                <a:spcPts val="324"/>
              </a:spcBef>
              <a:spcAft>
                <a:spcPts val="0"/>
              </a:spcAft>
              <a:buSzPts val="2300"/>
              <a:buChar char="◦"/>
            </a:pPr>
            <a:r>
              <a:rPr lang="en-US"/>
              <a:t>Respond to </a:t>
            </a:r>
            <a:r>
              <a:rPr lang="en-US" u="sng"/>
              <a:t>customer inquires</a:t>
            </a:r>
            <a:r>
              <a:rPr lang="en-US"/>
              <a:t> about account balances and order status.</a:t>
            </a:r>
            <a:endParaRPr/>
          </a:p>
          <a:p>
            <a:pPr marL="621792" lvl="1" indent="-228600" algn="l" rtl="0">
              <a:spcBef>
                <a:spcPts val="324"/>
              </a:spcBef>
              <a:spcAft>
                <a:spcPts val="0"/>
              </a:spcAft>
              <a:buSzPts val="2300"/>
              <a:buChar char="◦"/>
            </a:pPr>
            <a:r>
              <a:rPr lang="en-US"/>
              <a:t>Decide whether to </a:t>
            </a:r>
            <a:r>
              <a:rPr lang="en-US" u="sng"/>
              <a:t>extend credit</a:t>
            </a:r>
            <a:r>
              <a:rPr lang="en-US"/>
              <a:t> to a customer.</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2"/>
          <p:cNvSpPr txBox="1">
            <a:spLocks noGrp="1"/>
          </p:cNvSpPr>
          <p:nvPr>
            <p:ph type="title"/>
          </p:nvPr>
        </p:nvSpPr>
        <p:spPr>
          <a:xfrm>
            <a:off x="914400" y="304800"/>
            <a:ext cx="8229600" cy="941388"/>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Sales Order Entry </a:t>
            </a:r>
            <a:r>
              <a:rPr lang="en-US" sz="4000"/>
              <a:t>(Activity 1)</a:t>
            </a:r>
            <a:endParaRPr/>
          </a:p>
        </p:txBody>
      </p:sp>
      <p:sp>
        <p:nvSpPr>
          <p:cNvPr id="679" name="Google Shape;679;p82"/>
          <p:cNvSpPr txBox="1">
            <a:spLocks noGrp="1"/>
          </p:cNvSpPr>
          <p:nvPr>
            <p:ph type="body" idx="1"/>
          </p:nvPr>
        </p:nvSpPr>
        <p:spPr>
          <a:xfrm>
            <a:off x="1524000" y="1219200"/>
            <a:ext cx="7010400" cy="5257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904"/>
              <a:buChar char="🞂"/>
            </a:pPr>
            <a:r>
              <a:rPr lang="en-US" sz="2800"/>
              <a:t>Regardless of how customer orders are initially received, the following edit checks are necessary:</a:t>
            </a:r>
            <a:endParaRPr/>
          </a:p>
          <a:p>
            <a:pPr marL="621792" lvl="1" indent="-228600" algn="l" rtl="0">
              <a:lnSpc>
                <a:spcPct val="90000"/>
              </a:lnSpc>
              <a:spcBef>
                <a:spcPts val="324"/>
              </a:spcBef>
              <a:spcAft>
                <a:spcPts val="0"/>
              </a:spcAft>
              <a:buSzPts val="2400"/>
              <a:buChar char="◦"/>
            </a:pPr>
            <a:r>
              <a:rPr lang="en-US" sz="2400"/>
              <a:t>Validity checks</a:t>
            </a:r>
            <a:endParaRPr/>
          </a:p>
          <a:p>
            <a:pPr marL="621792" lvl="1" indent="-228600" algn="l" rtl="0">
              <a:lnSpc>
                <a:spcPct val="90000"/>
              </a:lnSpc>
              <a:spcBef>
                <a:spcPts val="324"/>
              </a:spcBef>
              <a:spcAft>
                <a:spcPts val="0"/>
              </a:spcAft>
              <a:buSzPts val="2400"/>
              <a:buChar char="◦"/>
            </a:pPr>
            <a:r>
              <a:rPr lang="en-US" sz="2400"/>
              <a:t>A Completeness test</a:t>
            </a:r>
            <a:endParaRPr/>
          </a:p>
          <a:p>
            <a:pPr marL="859536" lvl="2" indent="-228600" algn="l" rtl="0">
              <a:lnSpc>
                <a:spcPct val="90000"/>
              </a:lnSpc>
              <a:spcBef>
                <a:spcPts val="350"/>
              </a:spcBef>
              <a:spcAft>
                <a:spcPts val="0"/>
              </a:spcAft>
              <a:buSzPts val="2100"/>
              <a:buChar char="●"/>
            </a:pPr>
            <a:r>
              <a:rPr lang="en-US" sz="2100"/>
              <a:t>Automatic lookup of reference data like customer address.</a:t>
            </a:r>
            <a:endParaRPr sz="2000"/>
          </a:p>
          <a:p>
            <a:pPr marL="621792" lvl="1" indent="-228600" algn="l" rtl="0">
              <a:lnSpc>
                <a:spcPct val="90000"/>
              </a:lnSpc>
              <a:spcBef>
                <a:spcPts val="324"/>
              </a:spcBef>
              <a:spcAft>
                <a:spcPts val="0"/>
              </a:spcAft>
              <a:buSzPts val="2400"/>
              <a:buChar char="◦"/>
            </a:pPr>
            <a:r>
              <a:rPr lang="en-US" sz="2400"/>
              <a:t>Reasonableness tests</a:t>
            </a:r>
            <a:endParaRPr/>
          </a:p>
          <a:p>
            <a:pPr marL="859536" lvl="2" indent="-228600" algn="l" rtl="0">
              <a:lnSpc>
                <a:spcPct val="90000"/>
              </a:lnSpc>
              <a:spcBef>
                <a:spcPts val="350"/>
              </a:spcBef>
              <a:spcAft>
                <a:spcPts val="0"/>
              </a:spcAft>
              <a:buSzPts val="2100"/>
              <a:buChar char="●"/>
            </a:pPr>
            <a:r>
              <a:rPr lang="en-US" sz="2100"/>
              <a:t>comparing quantity ordered to past history.</a:t>
            </a:r>
            <a:endParaRPr sz="2000"/>
          </a:p>
          <a:p>
            <a:pPr marL="621792" lvl="1" indent="-228600" algn="l" rtl="0">
              <a:lnSpc>
                <a:spcPct val="90000"/>
              </a:lnSpc>
              <a:spcBef>
                <a:spcPts val="324"/>
              </a:spcBef>
              <a:spcAft>
                <a:spcPts val="0"/>
              </a:spcAft>
              <a:buSzPts val="2400"/>
              <a:buChar char="◦"/>
            </a:pPr>
            <a:r>
              <a:rPr lang="en-US" sz="2400"/>
              <a:t>Credit approval</a:t>
            </a:r>
            <a:endParaRPr/>
          </a:p>
          <a:p>
            <a:pPr marL="859536" lvl="2" indent="-228600" algn="l" rtl="0">
              <a:lnSpc>
                <a:spcPct val="90000"/>
              </a:lnSpc>
              <a:spcBef>
                <a:spcPts val="350"/>
              </a:spcBef>
              <a:spcAft>
                <a:spcPts val="0"/>
              </a:spcAft>
              <a:buSzPts val="2000"/>
              <a:buChar char="●"/>
            </a:pPr>
            <a:r>
              <a:rPr lang="en-US" sz="2000"/>
              <a:t>General authorization</a:t>
            </a:r>
            <a:endParaRPr/>
          </a:p>
          <a:p>
            <a:pPr marL="1143000" lvl="3" indent="-228600" algn="l" rtl="0">
              <a:lnSpc>
                <a:spcPct val="90000"/>
              </a:lnSpc>
              <a:spcBef>
                <a:spcPts val="350"/>
              </a:spcBef>
              <a:spcAft>
                <a:spcPts val="0"/>
              </a:spcAft>
              <a:buSzPts val="1800"/>
              <a:buChar char="●"/>
            </a:pPr>
            <a:r>
              <a:rPr lang="en-US" sz="1800"/>
              <a:t>Credit limit (for existing customers)</a:t>
            </a:r>
            <a:endParaRPr/>
          </a:p>
          <a:p>
            <a:pPr marL="859536" lvl="2" indent="-228600" algn="l" rtl="0">
              <a:lnSpc>
                <a:spcPct val="90000"/>
              </a:lnSpc>
              <a:spcBef>
                <a:spcPts val="350"/>
              </a:spcBef>
              <a:spcAft>
                <a:spcPts val="0"/>
              </a:spcAft>
              <a:buSzPts val="2000"/>
              <a:buChar char="●"/>
            </a:pPr>
            <a:r>
              <a:rPr lang="en-US" sz="2000"/>
              <a:t>Specific authorization</a:t>
            </a:r>
            <a:endParaRPr/>
          </a:p>
          <a:p>
            <a:pPr marL="1143000" lvl="3" indent="-228600" algn="l" rtl="0">
              <a:lnSpc>
                <a:spcPct val="90000"/>
              </a:lnSpc>
              <a:spcBef>
                <a:spcPts val="350"/>
              </a:spcBef>
              <a:spcAft>
                <a:spcPts val="0"/>
              </a:spcAft>
              <a:buSzPts val="1800"/>
              <a:buChar char="●"/>
            </a:pPr>
            <a:r>
              <a:rPr lang="en-US" sz="1800"/>
              <a:t>Limit checks (new, have past-due balances, Exceeding)</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83"/>
          <p:cNvSpPr txBox="1">
            <a:spLocks noGrp="1"/>
          </p:cNvSpPr>
          <p:nvPr>
            <p:ph type="title"/>
          </p:nvPr>
        </p:nvSpPr>
        <p:spPr>
          <a:xfrm>
            <a:off x="914400" y="30480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Sales Order Entry </a:t>
            </a:r>
            <a:r>
              <a:rPr lang="en-US" sz="4000"/>
              <a:t>(Activity 1)</a:t>
            </a:r>
            <a:endParaRPr/>
          </a:p>
        </p:txBody>
      </p:sp>
      <p:sp>
        <p:nvSpPr>
          <p:cNvPr id="686" name="Google Shape;686;p83"/>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Next, the system checks whether the</a:t>
            </a:r>
            <a:r>
              <a:rPr lang="en-US" u="sng"/>
              <a:t> inventory</a:t>
            </a:r>
            <a:r>
              <a:rPr lang="en-US"/>
              <a:t> is sufficient to fill accepted orders.</a:t>
            </a:r>
            <a:endParaRPr/>
          </a:p>
          <a:p>
            <a:pPr marL="365760" lvl="0" indent="-256032" algn="l" rtl="0">
              <a:spcBef>
                <a:spcPts val="400"/>
              </a:spcBef>
              <a:spcAft>
                <a:spcPts val="0"/>
              </a:spcAft>
              <a:buSzPts val="1836"/>
              <a:buChar char="🞂"/>
            </a:pPr>
            <a:r>
              <a:rPr lang="en-US"/>
              <a:t>Internally generated </a:t>
            </a:r>
            <a:r>
              <a:rPr lang="en-US" u="sng"/>
              <a:t>documents</a:t>
            </a:r>
            <a:r>
              <a:rPr lang="en-US"/>
              <a:t> produced by sales order entry:</a:t>
            </a:r>
            <a:endParaRPr/>
          </a:p>
          <a:p>
            <a:pPr marL="621792" lvl="1" indent="-228600" algn="l" rtl="0">
              <a:spcBef>
                <a:spcPts val="324"/>
              </a:spcBef>
              <a:spcAft>
                <a:spcPts val="0"/>
              </a:spcAft>
              <a:buSzPts val="2300"/>
              <a:buChar char="◦"/>
            </a:pPr>
            <a:r>
              <a:rPr lang="en-US"/>
              <a:t>sales order</a:t>
            </a:r>
            <a:endParaRPr/>
          </a:p>
          <a:p>
            <a:pPr marL="621792" lvl="1" indent="-228600" algn="l" rtl="0">
              <a:spcBef>
                <a:spcPts val="324"/>
              </a:spcBef>
              <a:spcAft>
                <a:spcPts val="0"/>
              </a:spcAft>
              <a:buSzPts val="2300"/>
              <a:buChar char="◦"/>
            </a:pPr>
            <a:r>
              <a:rPr lang="en-US"/>
              <a:t>packing slip</a:t>
            </a:r>
            <a:endParaRPr/>
          </a:p>
          <a:p>
            <a:pPr marL="621792" lvl="1" indent="-228600" algn="l" rtl="0">
              <a:spcBef>
                <a:spcPts val="324"/>
              </a:spcBef>
              <a:spcAft>
                <a:spcPts val="0"/>
              </a:spcAft>
              <a:buSzPts val="2300"/>
              <a:buChar char="◦"/>
            </a:pPr>
            <a:r>
              <a:rPr lang="en-US"/>
              <a:t>picking ticket</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84"/>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Information Needs </a:t>
            </a:r>
            <a:br>
              <a:rPr lang="en-US" sz="3690"/>
            </a:br>
            <a:r>
              <a:rPr lang="en-US" sz="3690"/>
              <a:t>and Procedures</a:t>
            </a:r>
            <a:endParaRPr/>
          </a:p>
        </p:txBody>
      </p:sp>
      <p:sp>
        <p:nvSpPr>
          <p:cNvPr id="693" name="Google Shape;693;p84"/>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Determine inventory availability.</a:t>
            </a:r>
            <a:endParaRPr/>
          </a:p>
          <a:p>
            <a:pPr marL="365760" lvl="0" indent="-256032" algn="l" rtl="0">
              <a:spcBef>
                <a:spcPts val="400"/>
              </a:spcBef>
              <a:spcAft>
                <a:spcPts val="0"/>
              </a:spcAft>
              <a:buSzPts val="1836"/>
              <a:buChar char="🞂"/>
            </a:pPr>
            <a:r>
              <a:rPr lang="en-US"/>
              <a:t>Decide what types of credit terms to offer.</a:t>
            </a:r>
            <a:endParaRPr/>
          </a:p>
          <a:p>
            <a:pPr marL="365760" lvl="0" indent="-256032" algn="l" rtl="0">
              <a:spcBef>
                <a:spcPts val="400"/>
              </a:spcBef>
              <a:spcAft>
                <a:spcPts val="0"/>
              </a:spcAft>
              <a:buSzPts val="1836"/>
              <a:buChar char="🞂"/>
            </a:pPr>
            <a:r>
              <a:rPr lang="en-US"/>
              <a:t>Set prices for products and services.</a:t>
            </a:r>
            <a:endParaRPr/>
          </a:p>
          <a:p>
            <a:pPr marL="365760" lvl="0" indent="-256032" algn="l" rtl="0">
              <a:spcBef>
                <a:spcPts val="400"/>
              </a:spcBef>
              <a:spcAft>
                <a:spcPts val="0"/>
              </a:spcAft>
              <a:buSzPts val="1836"/>
              <a:buChar char="🞂"/>
            </a:pPr>
            <a:r>
              <a:rPr lang="en-US"/>
              <a:t>Set policies regarding sales returns and warranties.</a:t>
            </a:r>
            <a:endParaRPr/>
          </a:p>
          <a:p>
            <a:pPr marL="365760" lvl="0" indent="-256032" algn="l" rtl="0">
              <a:spcBef>
                <a:spcPts val="400"/>
              </a:spcBef>
              <a:spcAft>
                <a:spcPts val="0"/>
              </a:spcAft>
              <a:buSzPts val="1836"/>
              <a:buChar char="🞂"/>
            </a:pPr>
            <a:r>
              <a:rPr lang="en-US"/>
              <a:t>Select methods for delivering merchandise.</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85"/>
          <p:cNvSpPr txBox="1">
            <a:spLocks noGrp="1"/>
          </p:cNvSpPr>
          <p:nvPr>
            <p:ph type="title"/>
          </p:nvPr>
        </p:nvSpPr>
        <p:spPr>
          <a:xfrm>
            <a:off x="457200" y="274638"/>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Shipping (Activity 2)</a:t>
            </a:r>
            <a:endParaRPr/>
          </a:p>
        </p:txBody>
      </p:sp>
      <p:sp>
        <p:nvSpPr>
          <p:cNvPr id="700" name="Google Shape;700;p85"/>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Warehouse workers are responsible for filling customer orders by removing items from inventory.</a:t>
            </a:r>
            <a:endParaRPr/>
          </a:p>
          <a:p>
            <a:pPr marL="365760" lvl="0" indent="-256032" algn="l" rtl="0">
              <a:spcBef>
                <a:spcPts val="400"/>
              </a:spcBef>
              <a:spcAft>
                <a:spcPts val="0"/>
              </a:spcAft>
              <a:buSzPts val="1836"/>
              <a:buChar char="🞂"/>
            </a:pPr>
            <a:r>
              <a:rPr lang="en-US" i="1" u="sng"/>
              <a:t>Key decisions and information needs</a:t>
            </a:r>
            <a:r>
              <a:rPr lang="en-US" i="1"/>
              <a:t>:</a:t>
            </a:r>
            <a:endParaRPr/>
          </a:p>
          <a:p>
            <a:pPr marL="621792" lvl="1" indent="-228600" algn="l" rtl="0">
              <a:spcBef>
                <a:spcPts val="324"/>
              </a:spcBef>
              <a:spcAft>
                <a:spcPts val="0"/>
              </a:spcAft>
              <a:buSzPts val="2300"/>
              <a:buChar char="◦"/>
            </a:pPr>
            <a:r>
              <a:rPr lang="en-US"/>
              <a:t>Determine the delivery method.</a:t>
            </a:r>
            <a:endParaRPr/>
          </a:p>
          <a:p>
            <a:pPr marL="859536" lvl="2" indent="-228600" algn="l" rtl="0">
              <a:spcBef>
                <a:spcPts val="350"/>
              </a:spcBef>
              <a:spcAft>
                <a:spcPts val="0"/>
              </a:spcAft>
              <a:buSzPts val="2100"/>
              <a:buFont typeface="Lucida Sans"/>
              <a:buChar char="–"/>
            </a:pPr>
            <a:r>
              <a:rPr lang="en-US"/>
              <a:t>in-house</a:t>
            </a:r>
            <a:endParaRPr/>
          </a:p>
          <a:p>
            <a:pPr marL="859536" lvl="2" indent="-228600" algn="l" rtl="0">
              <a:spcBef>
                <a:spcPts val="350"/>
              </a:spcBef>
              <a:spcAft>
                <a:spcPts val="0"/>
              </a:spcAft>
              <a:buSzPts val="2100"/>
              <a:buFont typeface="Lucida Sans"/>
              <a:buChar char="–"/>
            </a:pPr>
            <a:r>
              <a:rPr lang="en-US"/>
              <a:t>outsource</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86"/>
          <p:cNvSpPr/>
          <p:nvPr/>
        </p:nvSpPr>
        <p:spPr>
          <a:xfrm>
            <a:off x="3810000" y="685800"/>
            <a:ext cx="1295400" cy="1143000"/>
          </a:xfrm>
          <a:prstGeom prst="ellipse">
            <a:avLst/>
          </a:prstGeom>
          <a:solidFill>
            <a:srgbClr val="FFFF00"/>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2.1</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Pick &amp;</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Pack</a:t>
            </a:r>
            <a:endParaRPr/>
          </a:p>
        </p:txBody>
      </p:sp>
      <p:grpSp>
        <p:nvGrpSpPr>
          <p:cNvPr id="706" name="Google Shape;706;p86"/>
          <p:cNvGrpSpPr/>
          <p:nvPr/>
        </p:nvGrpSpPr>
        <p:grpSpPr>
          <a:xfrm>
            <a:off x="6705600" y="2362200"/>
            <a:ext cx="1371600" cy="457200"/>
            <a:chOff x="3168" y="1008"/>
            <a:chExt cx="864" cy="576"/>
          </a:xfrm>
        </p:grpSpPr>
        <p:sp>
          <p:nvSpPr>
            <p:cNvPr id="707" name="Google Shape;707;p86"/>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Sales Order</a:t>
              </a:r>
              <a:endParaRPr/>
            </a:p>
          </p:txBody>
        </p:sp>
        <p:cxnSp>
          <p:nvCxnSpPr>
            <p:cNvPr id="708" name="Google Shape;708;p86"/>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709" name="Google Shape;709;p86"/>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sp>
        <p:nvSpPr>
          <p:cNvPr id="710" name="Google Shape;710;p86"/>
          <p:cNvSpPr/>
          <p:nvPr/>
        </p:nvSpPr>
        <p:spPr>
          <a:xfrm>
            <a:off x="3810000" y="2971800"/>
            <a:ext cx="1295400" cy="1143000"/>
          </a:xfrm>
          <a:prstGeom prst="ellipse">
            <a:avLst/>
          </a:prstGeom>
          <a:solidFill>
            <a:srgbClr val="FFCCCC"/>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2.2</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Ship</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Goods</a:t>
            </a:r>
            <a:endParaRPr/>
          </a:p>
        </p:txBody>
      </p:sp>
      <p:sp>
        <p:nvSpPr>
          <p:cNvPr id="711" name="Google Shape;711;p86"/>
          <p:cNvSpPr/>
          <p:nvPr/>
        </p:nvSpPr>
        <p:spPr>
          <a:xfrm>
            <a:off x="838200" y="7620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Sales</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Order</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Entry</a:t>
            </a:r>
            <a:endParaRPr/>
          </a:p>
        </p:txBody>
      </p:sp>
      <p:sp>
        <p:nvSpPr>
          <p:cNvPr id="712" name="Google Shape;712;p86"/>
          <p:cNvSpPr/>
          <p:nvPr/>
        </p:nvSpPr>
        <p:spPr>
          <a:xfrm>
            <a:off x="6477000" y="381000"/>
            <a:ext cx="1676400" cy="533400"/>
          </a:xfrm>
          <a:prstGeom prst="rect">
            <a:avLst/>
          </a:prstGeom>
          <a:solidFill>
            <a:schemeClr val="lt1"/>
          </a:solidFill>
          <a:ln w="57150" cap="flat" cmpd="sng">
            <a:solidFill>
              <a:srgbClr val="0000FF"/>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None/>
            </a:pPr>
            <a:r>
              <a:rPr lang="en-US" sz="2000" b="1">
                <a:solidFill>
                  <a:schemeClr val="dk1"/>
                </a:solidFill>
                <a:latin typeface="Constantia"/>
                <a:ea typeface="Constantia"/>
                <a:cs typeface="Constantia"/>
                <a:sym typeface="Constantia"/>
              </a:rPr>
              <a:t>Shipping</a:t>
            </a:r>
            <a:endParaRPr/>
          </a:p>
        </p:txBody>
      </p:sp>
      <p:sp>
        <p:nvSpPr>
          <p:cNvPr id="713" name="Google Shape;713;p86"/>
          <p:cNvSpPr/>
          <p:nvPr/>
        </p:nvSpPr>
        <p:spPr>
          <a:xfrm>
            <a:off x="3962400" y="52578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Carrier</a:t>
            </a:r>
            <a:endParaRPr/>
          </a:p>
        </p:txBody>
      </p:sp>
      <p:grpSp>
        <p:nvGrpSpPr>
          <p:cNvPr id="714" name="Google Shape;714;p86"/>
          <p:cNvGrpSpPr/>
          <p:nvPr/>
        </p:nvGrpSpPr>
        <p:grpSpPr>
          <a:xfrm>
            <a:off x="6705600" y="3352800"/>
            <a:ext cx="1371600" cy="457200"/>
            <a:chOff x="3168" y="1008"/>
            <a:chExt cx="864" cy="576"/>
          </a:xfrm>
        </p:grpSpPr>
        <p:sp>
          <p:nvSpPr>
            <p:cNvPr id="715" name="Google Shape;715;p86"/>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Inventory</a:t>
              </a:r>
              <a:endParaRPr/>
            </a:p>
          </p:txBody>
        </p:sp>
        <p:cxnSp>
          <p:nvCxnSpPr>
            <p:cNvPr id="716" name="Google Shape;716;p86"/>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717" name="Google Shape;717;p86"/>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grpSp>
        <p:nvGrpSpPr>
          <p:cNvPr id="718" name="Google Shape;718;p86"/>
          <p:cNvGrpSpPr/>
          <p:nvPr/>
        </p:nvGrpSpPr>
        <p:grpSpPr>
          <a:xfrm>
            <a:off x="6705600" y="4419600"/>
            <a:ext cx="1371600" cy="457200"/>
            <a:chOff x="3168" y="1008"/>
            <a:chExt cx="864" cy="576"/>
          </a:xfrm>
        </p:grpSpPr>
        <p:sp>
          <p:nvSpPr>
            <p:cNvPr id="719" name="Google Shape;719;p86"/>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Shipments</a:t>
              </a:r>
              <a:endParaRPr/>
            </a:p>
          </p:txBody>
        </p:sp>
        <p:cxnSp>
          <p:nvCxnSpPr>
            <p:cNvPr id="720" name="Google Shape;720;p86"/>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721" name="Google Shape;721;p86"/>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sp>
        <p:nvSpPr>
          <p:cNvPr id="722" name="Google Shape;722;p86"/>
          <p:cNvSpPr/>
          <p:nvPr/>
        </p:nvSpPr>
        <p:spPr>
          <a:xfrm>
            <a:off x="1143000" y="41910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Billing &amp;</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Accts.</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Rec.</a:t>
            </a:r>
            <a:endParaRPr/>
          </a:p>
        </p:txBody>
      </p:sp>
      <p:cxnSp>
        <p:nvCxnSpPr>
          <p:cNvPr id="723" name="Google Shape;723;p86"/>
          <p:cNvCxnSpPr/>
          <p:nvPr/>
        </p:nvCxnSpPr>
        <p:spPr>
          <a:xfrm>
            <a:off x="2057400" y="1219200"/>
            <a:ext cx="1676400" cy="0"/>
          </a:xfrm>
          <a:prstGeom prst="straightConnector1">
            <a:avLst/>
          </a:prstGeom>
          <a:noFill/>
          <a:ln w="57150" cap="flat" cmpd="sng">
            <a:solidFill>
              <a:schemeClr val="dk1"/>
            </a:solidFill>
            <a:prstDash val="solid"/>
            <a:round/>
            <a:headEnd type="none" w="med" len="med"/>
            <a:tailEnd type="triangle" w="med" len="med"/>
          </a:ln>
        </p:spPr>
      </p:cxnSp>
      <p:cxnSp>
        <p:nvCxnSpPr>
          <p:cNvPr id="724" name="Google Shape;724;p86"/>
          <p:cNvCxnSpPr/>
          <p:nvPr/>
        </p:nvCxnSpPr>
        <p:spPr>
          <a:xfrm>
            <a:off x="4495800" y="1905000"/>
            <a:ext cx="0" cy="990600"/>
          </a:xfrm>
          <a:prstGeom prst="straightConnector1">
            <a:avLst/>
          </a:prstGeom>
          <a:noFill/>
          <a:ln w="57150" cap="flat" cmpd="sng">
            <a:solidFill>
              <a:schemeClr val="dk1"/>
            </a:solidFill>
            <a:prstDash val="solid"/>
            <a:round/>
            <a:headEnd type="none" w="med" len="med"/>
            <a:tailEnd type="triangle" w="med" len="med"/>
          </a:ln>
        </p:spPr>
      </p:cxnSp>
      <p:cxnSp>
        <p:nvCxnSpPr>
          <p:cNvPr id="725" name="Google Shape;725;p86"/>
          <p:cNvCxnSpPr/>
          <p:nvPr/>
        </p:nvCxnSpPr>
        <p:spPr>
          <a:xfrm>
            <a:off x="4495800" y="4191000"/>
            <a:ext cx="0" cy="990600"/>
          </a:xfrm>
          <a:prstGeom prst="straightConnector1">
            <a:avLst/>
          </a:prstGeom>
          <a:noFill/>
          <a:ln w="57150" cap="flat" cmpd="sng">
            <a:solidFill>
              <a:schemeClr val="dk1"/>
            </a:solidFill>
            <a:prstDash val="solid"/>
            <a:round/>
            <a:headEnd type="none" w="med" len="med"/>
            <a:tailEnd type="triangle" w="med" len="med"/>
          </a:ln>
        </p:spPr>
      </p:cxnSp>
      <p:cxnSp>
        <p:nvCxnSpPr>
          <p:cNvPr id="726" name="Google Shape;726;p86"/>
          <p:cNvCxnSpPr/>
          <p:nvPr/>
        </p:nvCxnSpPr>
        <p:spPr>
          <a:xfrm rot="10800000" flipH="1">
            <a:off x="5029200" y="2590800"/>
            <a:ext cx="1600200" cy="685800"/>
          </a:xfrm>
          <a:prstGeom prst="straightConnector1">
            <a:avLst/>
          </a:prstGeom>
          <a:noFill/>
          <a:ln w="57150" cap="flat" cmpd="sng">
            <a:solidFill>
              <a:schemeClr val="dk1"/>
            </a:solidFill>
            <a:prstDash val="solid"/>
            <a:round/>
            <a:headEnd type="none" w="med" len="med"/>
            <a:tailEnd type="triangle" w="med" len="med"/>
          </a:ln>
        </p:spPr>
      </p:cxnSp>
      <p:cxnSp>
        <p:nvCxnSpPr>
          <p:cNvPr id="727" name="Google Shape;727;p86"/>
          <p:cNvCxnSpPr/>
          <p:nvPr/>
        </p:nvCxnSpPr>
        <p:spPr>
          <a:xfrm>
            <a:off x="5105400" y="3657600"/>
            <a:ext cx="1524000" cy="0"/>
          </a:xfrm>
          <a:prstGeom prst="straightConnector1">
            <a:avLst/>
          </a:prstGeom>
          <a:noFill/>
          <a:ln w="57150" cap="flat" cmpd="sng">
            <a:solidFill>
              <a:schemeClr val="dk1"/>
            </a:solidFill>
            <a:prstDash val="solid"/>
            <a:round/>
            <a:headEnd type="none" w="med" len="med"/>
            <a:tailEnd type="triangle" w="med" len="med"/>
          </a:ln>
        </p:spPr>
      </p:cxnSp>
      <p:cxnSp>
        <p:nvCxnSpPr>
          <p:cNvPr id="728" name="Google Shape;728;p86"/>
          <p:cNvCxnSpPr/>
          <p:nvPr/>
        </p:nvCxnSpPr>
        <p:spPr>
          <a:xfrm>
            <a:off x="5029200" y="3962400"/>
            <a:ext cx="1600200" cy="685800"/>
          </a:xfrm>
          <a:prstGeom prst="straightConnector1">
            <a:avLst/>
          </a:prstGeom>
          <a:noFill/>
          <a:ln w="57150" cap="flat" cmpd="sng">
            <a:solidFill>
              <a:schemeClr val="dk1"/>
            </a:solidFill>
            <a:prstDash val="solid"/>
            <a:round/>
            <a:headEnd type="none" w="med" len="med"/>
            <a:tailEnd type="triangle" w="med" len="med"/>
          </a:ln>
        </p:spPr>
      </p:cxnSp>
      <p:cxnSp>
        <p:nvCxnSpPr>
          <p:cNvPr id="729" name="Google Shape;729;p86"/>
          <p:cNvCxnSpPr/>
          <p:nvPr/>
        </p:nvCxnSpPr>
        <p:spPr>
          <a:xfrm>
            <a:off x="2057400" y="1524000"/>
            <a:ext cx="1752600" cy="1676400"/>
          </a:xfrm>
          <a:prstGeom prst="straightConnector1">
            <a:avLst/>
          </a:prstGeom>
          <a:noFill/>
          <a:ln w="57150" cap="flat" cmpd="sng">
            <a:solidFill>
              <a:schemeClr val="dk1"/>
            </a:solidFill>
            <a:prstDash val="solid"/>
            <a:round/>
            <a:headEnd type="none" w="med" len="med"/>
            <a:tailEnd type="triangle" w="med" len="med"/>
          </a:ln>
        </p:spPr>
      </p:cxnSp>
      <p:cxnSp>
        <p:nvCxnSpPr>
          <p:cNvPr id="730" name="Google Shape;730;p86"/>
          <p:cNvCxnSpPr/>
          <p:nvPr/>
        </p:nvCxnSpPr>
        <p:spPr>
          <a:xfrm flipH="1">
            <a:off x="2438400" y="3886200"/>
            <a:ext cx="1371600" cy="609600"/>
          </a:xfrm>
          <a:prstGeom prst="straightConnector1">
            <a:avLst/>
          </a:prstGeom>
          <a:noFill/>
          <a:ln w="57150" cap="flat" cmpd="sng">
            <a:solidFill>
              <a:schemeClr val="dk1"/>
            </a:solidFill>
            <a:prstDash val="solid"/>
            <a:round/>
            <a:headEnd type="none" w="med" len="med"/>
            <a:tailEnd type="triangle" w="med" len="med"/>
          </a:ln>
        </p:spPr>
      </p:cxnSp>
      <p:sp>
        <p:nvSpPr>
          <p:cNvPr id="731" name="Google Shape;731;p86"/>
          <p:cNvSpPr txBox="1"/>
          <p:nvPr/>
        </p:nvSpPr>
        <p:spPr>
          <a:xfrm>
            <a:off x="2174875" y="914400"/>
            <a:ext cx="1177925"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Picking List</a:t>
            </a:r>
            <a:endParaRPr/>
          </a:p>
        </p:txBody>
      </p:sp>
      <p:sp>
        <p:nvSpPr>
          <p:cNvPr id="732" name="Google Shape;732;p86"/>
          <p:cNvSpPr txBox="1"/>
          <p:nvPr/>
        </p:nvSpPr>
        <p:spPr>
          <a:xfrm>
            <a:off x="4495800" y="1905000"/>
            <a:ext cx="922338" cy="730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Goods &amp;</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Packing</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List</a:t>
            </a:r>
            <a:endParaRPr/>
          </a:p>
        </p:txBody>
      </p:sp>
      <p:sp>
        <p:nvSpPr>
          <p:cNvPr id="733" name="Google Shape;733;p86"/>
          <p:cNvSpPr txBox="1"/>
          <p:nvPr/>
        </p:nvSpPr>
        <p:spPr>
          <a:xfrm>
            <a:off x="4495800" y="4191000"/>
            <a:ext cx="1482725" cy="730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Goods,</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Packing Slip,</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&amp; Bill of Lading</a:t>
            </a:r>
            <a:endParaRPr/>
          </a:p>
        </p:txBody>
      </p:sp>
      <p:sp>
        <p:nvSpPr>
          <p:cNvPr id="734" name="Google Shape;734;p86"/>
          <p:cNvSpPr txBox="1"/>
          <p:nvPr/>
        </p:nvSpPr>
        <p:spPr>
          <a:xfrm>
            <a:off x="2209800" y="3429000"/>
            <a:ext cx="1238250" cy="730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Bill of</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Lading &amp;</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Packing Slip</a:t>
            </a:r>
            <a:endParaRPr/>
          </a:p>
        </p:txBody>
      </p:sp>
      <p:sp>
        <p:nvSpPr>
          <p:cNvPr id="735" name="Google Shape;735;p86"/>
          <p:cNvSpPr txBox="1"/>
          <p:nvPr/>
        </p:nvSpPr>
        <p:spPr>
          <a:xfrm>
            <a:off x="2209800" y="2133600"/>
            <a:ext cx="668338"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Sales</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Order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12"/>
                                        </p:tgtEl>
                                        <p:attrNameLst>
                                          <p:attrName>style.visibility</p:attrName>
                                        </p:attrNameLst>
                                      </p:cBhvr>
                                      <p:to>
                                        <p:strVal val="visible"/>
                                      </p:to>
                                    </p:set>
                                    <p:anim calcmode="lin" valueType="num">
                                      <p:cBhvr additive="base">
                                        <p:cTn id="7" dur="500"/>
                                        <p:tgtEl>
                                          <p:spTgt spid="712"/>
                                        </p:tgtEl>
                                        <p:attrNameLst>
                                          <p:attrName>ppt_w</p:attrName>
                                        </p:attrNameLst>
                                      </p:cBhvr>
                                      <p:tavLst>
                                        <p:tav tm="0">
                                          <p:val>
                                            <p:strVal val="0"/>
                                          </p:val>
                                        </p:tav>
                                        <p:tav tm="100000">
                                          <p:val>
                                            <p:strVal val="#ppt_w"/>
                                          </p:val>
                                        </p:tav>
                                      </p:tavLst>
                                    </p:anim>
                                    <p:anim calcmode="lin" valueType="num">
                                      <p:cBhvr additive="base">
                                        <p:cTn id="8" dur="500"/>
                                        <p:tgtEl>
                                          <p:spTgt spid="71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87"/>
          <p:cNvSpPr txBox="1">
            <a:spLocks noGrp="1"/>
          </p:cNvSpPr>
          <p:nvPr>
            <p:ph type="title"/>
          </p:nvPr>
        </p:nvSpPr>
        <p:spPr>
          <a:xfrm>
            <a:off x="457200" y="274638"/>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Shipping (Activity 2)</a:t>
            </a:r>
            <a:endParaRPr/>
          </a:p>
        </p:txBody>
      </p:sp>
      <p:sp>
        <p:nvSpPr>
          <p:cNvPr id="742" name="Google Shape;742;p87"/>
          <p:cNvSpPr txBox="1">
            <a:spLocks noGrp="1"/>
          </p:cNvSpPr>
          <p:nvPr>
            <p:ph type="body" idx="1"/>
          </p:nvPr>
        </p:nvSpPr>
        <p:spPr>
          <a:xfrm>
            <a:off x="304800" y="1371600"/>
            <a:ext cx="8686800" cy="50292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768"/>
              <a:buChar char="🞂"/>
            </a:pPr>
            <a:r>
              <a:rPr lang="en-US" sz="2600" i="1" u="sng"/>
              <a:t>Documents</a:t>
            </a:r>
            <a:r>
              <a:rPr lang="en-US" sz="2600" i="1"/>
              <a:t>, records, and procedures:</a:t>
            </a:r>
            <a:endParaRPr sz="2600"/>
          </a:p>
          <a:p>
            <a:pPr marL="621792" lvl="1" indent="-228600" algn="l" rtl="0">
              <a:lnSpc>
                <a:spcPct val="90000"/>
              </a:lnSpc>
              <a:spcBef>
                <a:spcPts val="324"/>
              </a:spcBef>
              <a:spcAft>
                <a:spcPts val="0"/>
              </a:spcAft>
              <a:buSzPts val="2600"/>
              <a:buChar char="◦"/>
            </a:pPr>
            <a:r>
              <a:rPr lang="en-US" sz="2600"/>
              <a:t>The </a:t>
            </a:r>
            <a:r>
              <a:rPr lang="en-US" sz="2600" u="sng"/>
              <a:t>picking ticket</a:t>
            </a:r>
            <a:r>
              <a:rPr lang="en-US" sz="2600"/>
              <a:t> printed by the sales order  entry triggers the shipping process and is used to identify which products to remove from inventory and the quantities. The </a:t>
            </a:r>
            <a:r>
              <a:rPr lang="en-US" sz="2600" u="sng"/>
              <a:t>packing slip</a:t>
            </a:r>
            <a:r>
              <a:rPr lang="en-US" sz="2600"/>
              <a:t> lists the quantity and description of each item in the shipment.</a:t>
            </a:r>
            <a:endParaRPr sz="2600" i="1"/>
          </a:p>
          <a:p>
            <a:pPr marL="621792" lvl="1" indent="-228600" algn="l" rtl="0">
              <a:lnSpc>
                <a:spcPct val="90000"/>
              </a:lnSpc>
              <a:spcBef>
                <a:spcPts val="324"/>
              </a:spcBef>
              <a:spcAft>
                <a:spcPts val="0"/>
              </a:spcAft>
              <a:buSzPts val="2600"/>
              <a:buChar char="◦"/>
            </a:pPr>
            <a:r>
              <a:rPr lang="en-US" sz="2600"/>
              <a:t>A physical count is compared with the quantities on the picking ticket (Warehouse) and </a:t>
            </a:r>
            <a:r>
              <a:rPr lang="en-US" sz="2600" u="sng"/>
              <a:t>packing slip (Shipping). </a:t>
            </a:r>
            <a:r>
              <a:rPr lang="en-US" sz="2600"/>
              <a:t>If there are discrepancies, a </a:t>
            </a:r>
            <a:r>
              <a:rPr lang="en-US" sz="2600" u="sng"/>
              <a:t>back order</a:t>
            </a:r>
            <a:r>
              <a:rPr lang="en-US" sz="2600"/>
              <a:t> is initiated.</a:t>
            </a:r>
            <a:endParaRPr sz="2600" u="sng"/>
          </a:p>
          <a:p>
            <a:pPr marL="621792" lvl="1" indent="-228600" algn="l" rtl="0">
              <a:lnSpc>
                <a:spcPct val="90000"/>
              </a:lnSpc>
              <a:spcBef>
                <a:spcPts val="324"/>
              </a:spcBef>
              <a:spcAft>
                <a:spcPts val="0"/>
              </a:spcAft>
              <a:buSzPts val="2600"/>
              <a:buChar char="◦"/>
            </a:pPr>
            <a:r>
              <a:rPr lang="en-US" sz="2600"/>
              <a:t>Some spot checks are made and </a:t>
            </a:r>
            <a:r>
              <a:rPr lang="en-US" sz="2600" u="sng"/>
              <a:t>a bill of lading</a:t>
            </a:r>
            <a:r>
              <a:rPr lang="en-US" sz="2600"/>
              <a:t>  is prepared.</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8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lnSpc>
                <a:spcPct val="90000"/>
              </a:lnSpc>
              <a:spcBef>
                <a:spcPts val="0"/>
              </a:spcBef>
              <a:spcAft>
                <a:spcPts val="0"/>
              </a:spcAft>
              <a:buSzPts val="1904"/>
              <a:buChar char="🞂"/>
            </a:pPr>
            <a:r>
              <a:rPr lang="en-US" sz="2800"/>
              <a:t>The bill of lading is a legal contract that defines responsibility for goods in transit</a:t>
            </a:r>
            <a:endParaRPr/>
          </a:p>
          <a:p>
            <a:pPr marL="365760" lvl="0" indent="-256032" algn="l" rtl="0">
              <a:lnSpc>
                <a:spcPct val="90000"/>
              </a:lnSpc>
              <a:spcBef>
                <a:spcPts val="400"/>
              </a:spcBef>
              <a:spcAft>
                <a:spcPts val="0"/>
              </a:spcAft>
              <a:buSzPts val="1904"/>
              <a:buChar char="🞂"/>
            </a:pPr>
            <a:r>
              <a:rPr lang="en-US" sz="2800"/>
              <a:t>3 copies: (shipping, billing, and carrier)</a:t>
            </a:r>
            <a:endParaRPr/>
          </a:p>
          <a:p>
            <a:pPr marL="365760" lvl="0" indent="-256032" algn="l" rtl="0">
              <a:lnSpc>
                <a:spcPct val="90000"/>
              </a:lnSpc>
              <a:spcBef>
                <a:spcPts val="400"/>
              </a:spcBef>
              <a:spcAft>
                <a:spcPts val="0"/>
              </a:spcAft>
              <a:buSzPts val="1904"/>
              <a:buChar char="🞂"/>
            </a:pPr>
            <a:r>
              <a:rPr lang="en-US" sz="2800"/>
              <a:t>It identifies:</a:t>
            </a:r>
            <a:endParaRPr/>
          </a:p>
          <a:p>
            <a:pPr marL="621792" lvl="1" indent="-228600" algn="l" rtl="0">
              <a:lnSpc>
                <a:spcPct val="90000"/>
              </a:lnSpc>
              <a:spcBef>
                <a:spcPts val="324"/>
              </a:spcBef>
              <a:spcAft>
                <a:spcPts val="0"/>
              </a:spcAft>
              <a:buSzPts val="2300"/>
              <a:buChar char="◦"/>
            </a:pPr>
            <a:r>
              <a:rPr lang="en-US"/>
              <a:t>The carrier</a:t>
            </a:r>
            <a:endParaRPr/>
          </a:p>
          <a:p>
            <a:pPr marL="621792" lvl="1" indent="-228600" algn="l" rtl="0">
              <a:lnSpc>
                <a:spcPct val="90000"/>
              </a:lnSpc>
              <a:spcBef>
                <a:spcPts val="324"/>
              </a:spcBef>
              <a:spcAft>
                <a:spcPts val="0"/>
              </a:spcAft>
              <a:buSzPts val="2300"/>
              <a:buChar char="◦"/>
            </a:pPr>
            <a:r>
              <a:rPr lang="en-US"/>
              <a:t>The source</a:t>
            </a:r>
            <a:endParaRPr/>
          </a:p>
          <a:p>
            <a:pPr marL="621792" lvl="1" indent="-228600" algn="l" rtl="0">
              <a:lnSpc>
                <a:spcPct val="90000"/>
              </a:lnSpc>
              <a:spcBef>
                <a:spcPts val="324"/>
              </a:spcBef>
              <a:spcAft>
                <a:spcPts val="0"/>
              </a:spcAft>
              <a:buSzPts val="2300"/>
              <a:buChar char="◦"/>
            </a:pPr>
            <a:r>
              <a:rPr lang="en-US"/>
              <a:t>The destination</a:t>
            </a:r>
            <a:endParaRPr/>
          </a:p>
          <a:p>
            <a:pPr marL="621792" lvl="1" indent="-228600" algn="l" rtl="0">
              <a:lnSpc>
                <a:spcPct val="90000"/>
              </a:lnSpc>
              <a:spcBef>
                <a:spcPts val="324"/>
              </a:spcBef>
              <a:spcAft>
                <a:spcPts val="0"/>
              </a:spcAft>
              <a:buSzPts val="2300"/>
              <a:buChar char="◦"/>
            </a:pPr>
            <a:r>
              <a:rPr lang="en-US"/>
              <a:t>Special shipping instructions</a:t>
            </a:r>
            <a:endParaRPr/>
          </a:p>
          <a:p>
            <a:pPr marL="621792" lvl="1" indent="-228600" algn="l" rtl="0">
              <a:lnSpc>
                <a:spcPct val="90000"/>
              </a:lnSpc>
              <a:spcBef>
                <a:spcPts val="324"/>
              </a:spcBef>
              <a:spcAft>
                <a:spcPts val="0"/>
              </a:spcAft>
              <a:buSzPts val="2300"/>
              <a:buChar char="◦"/>
            </a:pPr>
            <a:r>
              <a:rPr lang="en-US"/>
              <a:t>Who pays for the shipping?</a:t>
            </a:r>
            <a:endParaRPr/>
          </a:p>
          <a:p>
            <a:pPr marL="365760" lvl="0" indent="-135128" algn="l" rtl="0">
              <a:lnSpc>
                <a:spcPct val="90000"/>
              </a:lnSpc>
              <a:spcBef>
                <a:spcPts val="400"/>
              </a:spcBef>
              <a:spcAft>
                <a:spcPts val="0"/>
              </a:spcAft>
              <a:buSzPts val="1904"/>
              <a:buNone/>
            </a:pPr>
            <a:endParaRPr sz="2800"/>
          </a:p>
        </p:txBody>
      </p:sp>
      <p:sp>
        <p:nvSpPr>
          <p:cNvPr id="748" name="Google Shape;748;p88"/>
          <p:cNvSpPr txBox="1">
            <a:spLocks noGrp="1"/>
          </p:cNvSpPr>
          <p:nvPr>
            <p:ph type="title"/>
          </p:nvPr>
        </p:nvSpPr>
        <p:spPr>
          <a:xfrm>
            <a:off x="685800" y="0"/>
            <a:ext cx="82296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4100"/>
              <a:buFont typeface="Lucida Sans"/>
              <a:buNone/>
            </a:pPr>
            <a:r>
              <a:rPr lang="en-US"/>
              <a:t>Shipping (Activity 2)</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89"/>
          <p:cNvSpPr txBox="1">
            <a:spLocks noGrp="1"/>
          </p:cNvSpPr>
          <p:nvPr>
            <p:ph type="title"/>
          </p:nvPr>
        </p:nvSpPr>
        <p:spPr>
          <a:xfrm>
            <a:off x="5334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Billing and Accounts</a:t>
            </a:r>
            <a:br>
              <a:rPr lang="en-US" sz="3690"/>
            </a:br>
            <a:r>
              <a:rPr lang="en-US" sz="3690"/>
              <a:t>Receivable (Activity 3)</a:t>
            </a:r>
            <a:endParaRPr/>
          </a:p>
        </p:txBody>
      </p:sp>
      <p:sp>
        <p:nvSpPr>
          <p:cNvPr id="755" name="Google Shape;755;p89"/>
          <p:cNvSpPr txBox="1">
            <a:spLocks noGrp="1"/>
          </p:cNvSpPr>
          <p:nvPr>
            <p:ph type="body" idx="1"/>
          </p:nvPr>
        </p:nvSpPr>
        <p:spPr>
          <a:xfrm>
            <a:off x="304800" y="1295400"/>
            <a:ext cx="8499475" cy="51054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Two </a:t>
            </a:r>
            <a:r>
              <a:rPr lang="en-US" u="sng"/>
              <a:t>activities</a:t>
            </a:r>
            <a:r>
              <a:rPr lang="en-US"/>
              <a:t> are performed at this stage of the revenue cycle:</a:t>
            </a:r>
            <a:endParaRPr/>
          </a:p>
          <a:p>
            <a:pPr marL="621792" lvl="1" indent="-228600" algn="l" rtl="0">
              <a:spcBef>
                <a:spcPts val="324"/>
              </a:spcBef>
              <a:spcAft>
                <a:spcPts val="0"/>
              </a:spcAft>
              <a:buSzPts val="3200"/>
              <a:buFont typeface="Lucida Sans"/>
              <a:buChar char="1"/>
            </a:pPr>
            <a:r>
              <a:rPr lang="en-US" sz="3200"/>
              <a:t>Invoicing customers</a:t>
            </a:r>
            <a:endParaRPr/>
          </a:p>
          <a:p>
            <a:pPr marL="621792" lvl="1" indent="-228600" algn="l" rtl="0">
              <a:spcBef>
                <a:spcPts val="324"/>
              </a:spcBef>
              <a:spcAft>
                <a:spcPts val="0"/>
              </a:spcAft>
              <a:buSzPts val="3200"/>
              <a:buFont typeface="Lucida Sans"/>
              <a:buChar char="2"/>
            </a:pPr>
            <a:r>
              <a:rPr lang="en-US" sz="3200"/>
              <a:t>Maintaining customer accounts</a:t>
            </a:r>
            <a:endParaRPr/>
          </a:p>
          <a:p>
            <a:pPr marL="365760" lvl="0" indent="-256032" algn="l" rtl="0">
              <a:spcBef>
                <a:spcPts val="400"/>
              </a:spcBef>
              <a:spcAft>
                <a:spcPts val="0"/>
              </a:spcAft>
              <a:buSzPts val="1836"/>
              <a:buChar char="🞂"/>
            </a:pPr>
            <a:r>
              <a:rPr lang="en-US" i="1"/>
              <a:t>Key </a:t>
            </a:r>
            <a:r>
              <a:rPr lang="en-US" i="1" u="sng"/>
              <a:t>decisions</a:t>
            </a:r>
            <a:r>
              <a:rPr lang="en-US" i="1"/>
              <a:t> and information needs:</a:t>
            </a:r>
            <a:endParaRPr/>
          </a:p>
          <a:p>
            <a:pPr marL="859536" lvl="2" indent="-228600" algn="l" rtl="0">
              <a:spcBef>
                <a:spcPts val="350"/>
              </a:spcBef>
              <a:spcAft>
                <a:spcPts val="0"/>
              </a:spcAft>
              <a:buSzPts val="3200"/>
              <a:buChar char="●"/>
            </a:pPr>
            <a:r>
              <a:rPr lang="en-US" sz="3200"/>
              <a:t>Accurate billing is crucial and requires information identifying the items and quantities shipped, prices, and special sales terms.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0"/>
          <p:cNvSpPr/>
          <p:nvPr/>
        </p:nvSpPr>
        <p:spPr>
          <a:xfrm>
            <a:off x="3810000" y="685800"/>
            <a:ext cx="1295400" cy="1143000"/>
          </a:xfrm>
          <a:prstGeom prst="ellipse">
            <a:avLst/>
          </a:prstGeom>
          <a:solidFill>
            <a:srgbClr val="FFCCCC"/>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3.1</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Billing</a:t>
            </a:r>
            <a:endParaRPr/>
          </a:p>
        </p:txBody>
      </p:sp>
      <p:grpSp>
        <p:nvGrpSpPr>
          <p:cNvPr id="761" name="Google Shape;761;p90"/>
          <p:cNvGrpSpPr/>
          <p:nvPr/>
        </p:nvGrpSpPr>
        <p:grpSpPr>
          <a:xfrm>
            <a:off x="3657600" y="3429000"/>
            <a:ext cx="1371600" cy="457200"/>
            <a:chOff x="3168" y="1008"/>
            <a:chExt cx="864" cy="576"/>
          </a:xfrm>
        </p:grpSpPr>
        <p:sp>
          <p:nvSpPr>
            <p:cNvPr id="762" name="Google Shape;762;p90"/>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Customer</a:t>
              </a:r>
              <a:endParaRPr/>
            </a:p>
          </p:txBody>
        </p:sp>
        <p:cxnSp>
          <p:nvCxnSpPr>
            <p:cNvPr id="763" name="Google Shape;763;p90"/>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764" name="Google Shape;764;p90"/>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sp>
        <p:nvSpPr>
          <p:cNvPr id="765" name="Google Shape;765;p90"/>
          <p:cNvSpPr/>
          <p:nvPr/>
        </p:nvSpPr>
        <p:spPr>
          <a:xfrm>
            <a:off x="3810000" y="4724400"/>
            <a:ext cx="1295400" cy="1143000"/>
          </a:xfrm>
          <a:prstGeom prst="ellipse">
            <a:avLst/>
          </a:prstGeom>
          <a:solidFill>
            <a:srgbClr val="FFFF00"/>
          </a:solid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3.2</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Maintain</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Accts.</a:t>
            </a:r>
            <a:endParaRPr/>
          </a:p>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Rec.</a:t>
            </a:r>
            <a:endParaRPr/>
          </a:p>
        </p:txBody>
      </p:sp>
      <p:sp>
        <p:nvSpPr>
          <p:cNvPr id="766" name="Google Shape;766;p90"/>
          <p:cNvSpPr/>
          <p:nvPr/>
        </p:nvSpPr>
        <p:spPr>
          <a:xfrm>
            <a:off x="838200" y="7620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Sales</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Order</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Entry</a:t>
            </a:r>
            <a:endParaRPr/>
          </a:p>
        </p:txBody>
      </p:sp>
      <p:sp>
        <p:nvSpPr>
          <p:cNvPr id="767" name="Google Shape;767;p90"/>
          <p:cNvSpPr/>
          <p:nvPr/>
        </p:nvSpPr>
        <p:spPr>
          <a:xfrm>
            <a:off x="609600" y="4953000"/>
            <a:ext cx="1676400" cy="1219200"/>
          </a:xfrm>
          <a:prstGeom prst="rect">
            <a:avLst/>
          </a:prstGeom>
          <a:solidFill>
            <a:schemeClr val="lt1"/>
          </a:solidFill>
          <a:ln w="57150" cap="flat" cmpd="sng">
            <a:solidFill>
              <a:srgbClr val="0000FF"/>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None/>
            </a:pPr>
            <a:r>
              <a:rPr lang="en-US" sz="2000" b="1">
                <a:solidFill>
                  <a:schemeClr val="dk1"/>
                </a:solidFill>
                <a:latin typeface="Constantia"/>
                <a:ea typeface="Constantia"/>
                <a:cs typeface="Constantia"/>
                <a:sym typeface="Constantia"/>
              </a:rPr>
              <a:t>Billing and</a:t>
            </a:r>
            <a:endParaRPr/>
          </a:p>
          <a:p>
            <a:pPr marL="342900" marR="0" lvl="0" indent="-342900" algn="ctr" rtl="0">
              <a:spcBef>
                <a:spcPts val="400"/>
              </a:spcBef>
              <a:spcAft>
                <a:spcPts val="0"/>
              </a:spcAft>
              <a:buNone/>
            </a:pPr>
            <a:r>
              <a:rPr lang="en-US" sz="2000" b="1">
                <a:solidFill>
                  <a:schemeClr val="dk1"/>
                </a:solidFill>
                <a:latin typeface="Constantia"/>
                <a:ea typeface="Constantia"/>
                <a:cs typeface="Constantia"/>
                <a:sym typeface="Constantia"/>
              </a:rPr>
              <a:t>Accounts</a:t>
            </a:r>
            <a:endParaRPr/>
          </a:p>
          <a:p>
            <a:pPr marL="342900" marR="0" lvl="0" indent="-342900" algn="ctr" rtl="0">
              <a:spcBef>
                <a:spcPts val="400"/>
              </a:spcBef>
              <a:spcAft>
                <a:spcPts val="0"/>
              </a:spcAft>
              <a:buNone/>
            </a:pPr>
            <a:r>
              <a:rPr lang="en-US" sz="2000" b="1">
                <a:solidFill>
                  <a:schemeClr val="dk1"/>
                </a:solidFill>
                <a:latin typeface="Constantia"/>
                <a:ea typeface="Constantia"/>
                <a:cs typeface="Constantia"/>
                <a:sym typeface="Constantia"/>
              </a:rPr>
              <a:t>Receivable</a:t>
            </a:r>
            <a:endParaRPr/>
          </a:p>
        </p:txBody>
      </p:sp>
      <p:sp>
        <p:nvSpPr>
          <p:cNvPr id="768" name="Google Shape;768;p90"/>
          <p:cNvSpPr/>
          <p:nvPr/>
        </p:nvSpPr>
        <p:spPr>
          <a:xfrm>
            <a:off x="7315200" y="32004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Customer</a:t>
            </a:r>
            <a:endParaRPr/>
          </a:p>
        </p:txBody>
      </p:sp>
      <p:grpSp>
        <p:nvGrpSpPr>
          <p:cNvPr id="769" name="Google Shape;769;p90"/>
          <p:cNvGrpSpPr/>
          <p:nvPr/>
        </p:nvGrpSpPr>
        <p:grpSpPr>
          <a:xfrm>
            <a:off x="5562600" y="3429000"/>
            <a:ext cx="1371600" cy="457200"/>
            <a:chOff x="3168" y="1008"/>
            <a:chExt cx="864" cy="576"/>
          </a:xfrm>
        </p:grpSpPr>
        <p:sp>
          <p:nvSpPr>
            <p:cNvPr id="770" name="Google Shape;770;p90"/>
            <p:cNvSpPr/>
            <p:nvPr/>
          </p:nvSpPr>
          <p:spPr>
            <a:xfrm>
              <a:off x="3168" y="1008"/>
              <a:ext cx="864" cy="576"/>
            </a:xfrm>
            <a:prstGeom prst="rect">
              <a:avLst/>
            </a:prstGeom>
            <a:solidFill>
              <a:srgbClr val="FF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Sales</a:t>
              </a:r>
              <a:endParaRPr/>
            </a:p>
          </p:txBody>
        </p:sp>
        <p:cxnSp>
          <p:nvCxnSpPr>
            <p:cNvPr id="771" name="Google Shape;771;p90"/>
            <p:cNvCxnSpPr/>
            <p:nvPr/>
          </p:nvCxnSpPr>
          <p:spPr>
            <a:xfrm>
              <a:off x="3168" y="1008"/>
              <a:ext cx="864" cy="0"/>
            </a:xfrm>
            <a:prstGeom prst="straightConnector1">
              <a:avLst/>
            </a:prstGeom>
            <a:noFill/>
            <a:ln w="57150" cap="flat" cmpd="sng">
              <a:solidFill>
                <a:schemeClr val="dk1"/>
              </a:solidFill>
              <a:prstDash val="solid"/>
              <a:round/>
              <a:headEnd type="none" w="med" len="med"/>
              <a:tailEnd type="none" w="med" len="med"/>
            </a:ln>
          </p:spPr>
        </p:cxnSp>
        <p:cxnSp>
          <p:nvCxnSpPr>
            <p:cNvPr id="772" name="Google Shape;772;p90"/>
            <p:cNvCxnSpPr/>
            <p:nvPr/>
          </p:nvCxnSpPr>
          <p:spPr>
            <a:xfrm>
              <a:off x="3168" y="1584"/>
              <a:ext cx="864" cy="0"/>
            </a:xfrm>
            <a:prstGeom prst="straightConnector1">
              <a:avLst/>
            </a:prstGeom>
            <a:noFill/>
            <a:ln w="57150" cap="flat" cmpd="sng">
              <a:solidFill>
                <a:schemeClr val="dk1"/>
              </a:solidFill>
              <a:prstDash val="solid"/>
              <a:round/>
              <a:headEnd type="none" w="med" len="med"/>
              <a:tailEnd type="none" w="med" len="med"/>
            </a:ln>
          </p:spPr>
        </p:cxnSp>
      </p:grpSp>
      <p:sp>
        <p:nvSpPr>
          <p:cNvPr id="773" name="Google Shape;773;p90"/>
          <p:cNvSpPr/>
          <p:nvPr/>
        </p:nvSpPr>
        <p:spPr>
          <a:xfrm>
            <a:off x="914400" y="30480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General</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Ledger &amp;</a:t>
            </a:r>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Rept. Sys.</a:t>
            </a:r>
            <a:endParaRPr/>
          </a:p>
        </p:txBody>
      </p:sp>
      <p:sp>
        <p:nvSpPr>
          <p:cNvPr id="774" name="Google Shape;774;p90"/>
          <p:cNvSpPr/>
          <p:nvPr/>
        </p:nvSpPr>
        <p:spPr>
          <a:xfrm>
            <a:off x="7162800" y="6858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Shipping</a:t>
            </a:r>
            <a:endParaRPr/>
          </a:p>
        </p:txBody>
      </p:sp>
      <p:sp>
        <p:nvSpPr>
          <p:cNvPr id="775" name="Google Shape;775;p90"/>
          <p:cNvSpPr/>
          <p:nvPr/>
        </p:nvSpPr>
        <p:spPr>
          <a:xfrm>
            <a:off x="7010400" y="4800600"/>
            <a:ext cx="1143000" cy="914400"/>
          </a:xfrm>
          <a:prstGeom prst="rect">
            <a:avLst/>
          </a:prstGeom>
          <a:solidFill>
            <a:srgbClr val="FFCCCC"/>
          </a:solid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Mailroom</a:t>
            </a:r>
            <a:endParaRPr/>
          </a:p>
        </p:txBody>
      </p:sp>
      <p:cxnSp>
        <p:nvCxnSpPr>
          <p:cNvPr id="776" name="Google Shape;776;p90"/>
          <p:cNvCxnSpPr/>
          <p:nvPr/>
        </p:nvCxnSpPr>
        <p:spPr>
          <a:xfrm>
            <a:off x="2057400" y="1219200"/>
            <a:ext cx="1676400" cy="0"/>
          </a:xfrm>
          <a:prstGeom prst="straightConnector1">
            <a:avLst/>
          </a:prstGeom>
          <a:noFill/>
          <a:ln w="57150" cap="flat" cmpd="sng">
            <a:solidFill>
              <a:schemeClr val="dk1"/>
            </a:solidFill>
            <a:prstDash val="solid"/>
            <a:round/>
            <a:headEnd type="none" w="med" len="med"/>
            <a:tailEnd type="triangle" w="med" len="med"/>
          </a:ln>
        </p:spPr>
      </p:cxnSp>
      <p:cxnSp>
        <p:nvCxnSpPr>
          <p:cNvPr id="777" name="Google Shape;777;p90"/>
          <p:cNvCxnSpPr/>
          <p:nvPr/>
        </p:nvCxnSpPr>
        <p:spPr>
          <a:xfrm flipH="1">
            <a:off x="2133600" y="1676400"/>
            <a:ext cx="1676400" cy="1600200"/>
          </a:xfrm>
          <a:prstGeom prst="straightConnector1">
            <a:avLst/>
          </a:prstGeom>
          <a:noFill/>
          <a:ln w="57150" cap="flat" cmpd="sng">
            <a:solidFill>
              <a:schemeClr val="dk1"/>
            </a:solidFill>
            <a:prstDash val="solid"/>
            <a:round/>
            <a:headEnd type="none" w="med" len="med"/>
            <a:tailEnd type="triangle" w="med" len="med"/>
          </a:ln>
        </p:spPr>
      </p:cxnSp>
      <p:cxnSp>
        <p:nvCxnSpPr>
          <p:cNvPr id="778" name="Google Shape;778;p90"/>
          <p:cNvCxnSpPr/>
          <p:nvPr/>
        </p:nvCxnSpPr>
        <p:spPr>
          <a:xfrm flipH="1">
            <a:off x="5181600" y="1066800"/>
            <a:ext cx="1905000" cy="152400"/>
          </a:xfrm>
          <a:prstGeom prst="straightConnector1">
            <a:avLst/>
          </a:prstGeom>
          <a:noFill/>
          <a:ln w="57150" cap="flat" cmpd="sng">
            <a:solidFill>
              <a:schemeClr val="dk1"/>
            </a:solidFill>
            <a:prstDash val="solid"/>
            <a:round/>
            <a:headEnd type="none" w="med" len="med"/>
            <a:tailEnd type="triangle" w="med" len="med"/>
          </a:ln>
        </p:spPr>
      </p:cxnSp>
      <p:cxnSp>
        <p:nvCxnSpPr>
          <p:cNvPr id="779" name="Google Shape;779;p90"/>
          <p:cNvCxnSpPr/>
          <p:nvPr/>
        </p:nvCxnSpPr>
        <p:spPr>
          <a:xfrm>
            <a:off x="5105400" y="1524000"/>
            <a:ext cx="2209800" cy="1600200"/>
          </a:xfrm>
          <a:prstGeom prst="straightConnector1">
            <a:avLst/>
          </a:prstGeom>
          <a:noFill/>
          <a:ln w="57150" cap="flat" cmpd="sng">
            <a:solidFill>
              <a:schemeClr val="dk1"/>
            </a:solidFill>
            <a:prstDash val="solid"/>
            <a:round/>
            <a:headEnd type="none" w="med" len="med"/>
            <a:tailEnd type="triangle" w="med" len="med"/>
          </a:ln>
        </p:spPr>
      </p:cxnSp>
      <p:cxnSp>
        <p:nvCxnSpPr>
          <p:cNvPr id="780" name="Google Shape;780;p90"/>
          <p:cNvCxnSpPr/>
          <p:nvPr/>
        </p:nvCxnSpPr>
        <p:spPr>
          <a:xfrm>
            <a:off x="4800600" y="1828800"/>
            <a:ext cx="1219200" cy="1524000"/>
          </a:xfrm>
          <a:prstGeom prst="straightConnector1">
            <a:avLst/>
          </a:prstGeom>
          <a:noFill/>
          <a:ln w="57150" cap="flat" cmpd="sng">
            <a:solidFill>
              <a:schemeClr val="dk1"/>
            </a:solidFill>
            <a:prstDash val="solid"/>
            <a:round/>
            <a:headEnd type="none" w="med" len="med"/>
            <a:tailEnd type="triangle" w="med" len="med"/>
          </a:ln>
        </p:spPr>
      </p:cxnSp>
      <p:cxnSp>
        <p:nvCxnSpPr>
          <p:cNvPr id="781" name="Google Shape;781;p90"/>
          <p:cNvCxnSpPr/>
          <p:nvPr/>
        </p:nvCxnSpPr>
        <p:spPr>
          <a:xfrm rot="10800000">
            <a:off x="2133600" y="3657600"/>
            <a:ext cx="1676400" cy="1295400"/>
          </a:xfrm>
          <a:prstGeom prst="straightConnector1">
            <a:avLst/>
          </a:prstGeom>
          <a:noFill/>
          <a:ln w="57150" cap="flat" cmpd="sng">
            <a:solidFill>
              <a:schemeClr val="dk1"/>
            </a:solidFill>
            <a:prstDash val="solid"/>
            <a:round/>
            <a:headEnd type="none" w="med" len="med"/>
            <a:tailEnd type="triangle" w="med" len="med"/>
          </a:ln>
        </p:spPr>
      </p:cxnSp>
      <p:cxnSp>
        <p:nvCxnSpPr>
          <p:cNvPr id="782" name="Google Shape;782;p90"/>
          <p:cNvCxnSpPr/>
          <p:nvPr/>
        </p:nvCxnSpPr>
        <p:spPr>
          <a:xfrm rot="10800000">
            <a:off x="4419600" y="3962400"/>
            <a:ext cx="0" cy="685800"/>
          </a:xfrm>
          <a:prstGeom prst="straightConnector1">
            <a:avLst/>
          </a:prstGeom>
          <a:noFill/>
          <a:ln w="57150" cap="flat" cmpd="sng">
            <a:solidFill>
              <a:schemeClr val="dk1"/>
            </a:solidFill>
            <a:prstDash val="solid"/>
            <a:round/>
            <a:headEnd type="triangle" w="med" len="med"/>
            <a:tailEnd type="triangle" w="med" len="med"/>
          </a:ln>
        </p:spPr>
      </p:cxnSp>
      <p:cxnSp>
        <p:nvCxnSpPr>
          <p:cNvPr id="783" name="Google Shape;783;p90"/>
          <p:cNvCxnSpPr/>
          <p:nvPr/>
        </p:nvCxnSpPr>
        <p:spPr>
          <a:xfrm rot="10800000" flipH="1">
            <a:off x="5105400" y="4038600"/>
            <a:ext cx="2133600" cy="914400"/>
          </a:xfrm>
          <a:prstGeom prst="straightConnector1">
            <a:avLst/>
          </a:prstGeom>
          <a:noFill/>
          <a:ln w="57150" cap="flat" cmpd="sng">
            <a:solidFill>
              <a:schemeClr val="dk1"/>
            </a:solidFill>
            <a:prstDash val="solid"/>
            <a:round/>
            <a:headEnd type="none" w="med" len="med"/>
            <a:tailEnd type="triangle" w="med" len="med"/>
          </a:ln>
        </p:spPr>
      </p:cxnSp>
      <p:cxnSp>
        <p:nvCxnSpPr>
          <p:cNvPr id="784" name="Google Shape;784;p90"/>
          <p:cNvCxnSpPr/>
          <p:nvPr/>
        </p:nvCxnSpPr>
        <p:spPr>
          <a:xfrm flipH="1">
            <a:off x="5105400" y="5334000"/>
            <a:ext cx="1828800" cy="76200"/>
          </a:xfrm>
          <a:prstGeom prst="straightConnector1">
            <a:avLst/>
          </a:prstGeom>
          <a:noFill/>
          <a:ln w="57150" cap="flat" cmpd="sng">
            <a:solidFill>
              <a:schemeClr val="dk1"/>
            </a:solidFill>
            <a:prstDash val="solid"/>
            <a:round/>
            <a:headEnd type="none" w="med" len="med"/>
            <a:tailEnd type="triangle" w="med" len="med"/>
          </a:ln>
        </p:spPr>
      </p:cxnSp>
      <p:sp>
        <p:nvSpPr>
          <p:cNvPr id="785" name="Google Shape;785;p90"/>
          <p:cNvSpPr txBox="1"/>
          <p:nvPr/>
        </p:nvSpPr>
        <p:spPr>
          <a:xfrm>
            <a:off x="2247900" y="914400"/>
            <a:ext cx="11811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Sales Order</a:t>
            </a:r>
            <a:endParaRPr/>
          </a:p>
        </p:txBody>
      </p:sp>
      <p:sp>
        <p:nvSpPr>
          <p:cNvPr id="786" name="Google Shape;786;p90"/>
          <p:cNvSpPr txBox="1"/>
          <p:nvPr/>
        </p:nvSpPr>
        <p:spPr>
          <a:xfrm>
            <a:off x="2274888" y="2286000"/>
            <a:ext cx="696912"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Sales </a:t>
            </a:r>
            <a:endParaRPr/>
          </a:p>
        </p:txBody>
      </p:sp>
      <p:sp>
        <p:nvSpPr>
          <p:cNvPr id="787" name="Google Shape;787;p90"/>
          <p:cNvSpPr txBox="1"/>
          <p:nvPr/>
        </p:nvSpPr>
        <p:spPr>
          <a:xfrm rot="-357570">
            <a:off x="5573713" y="625475"/>
            <a:ext cx="1416050"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Packing Slip &amp;</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Bill of Lading</a:t>
            </a:r>
            <a:endParaRPr/>
          </a:p>
        </p:txBody>
      </p:sp>
      <p:sp>
        <p:nvSpPr>
          <p:cNvPr id="788" name="Google Shape;788;p90"/>
          <p:cNvSpPr txBox="1"/>
          <p:nvPr/>
        </p:nvSpPr>
        <p:spPr>
          <a:xfrm>
            <a:off x="6019800" y="1981200"/>
            <a:ext cx="79375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Invoice</a:t>
            </a:r>
            <a:endParaRPr/>
          </a:p>
        </p:txBody>
      </p:sp>
      <p:sp>
        <p:nvSpPr>
          <p:cNvPr id="789" name="Google Shape;789;p90"/>
          <p:cNvSpPr txBox="1"/>
          <p:nvPr/>
        </p:nvSpPr>
        <p:spPr>
          <a:xfrm rot="-1401875">
            <a:off x="5105400" y="4267200"/>
            <a:ext cx="18669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Monthly Statements</a:t>
            </a:r>
            <a:endParaRPr/>
          </a:p>
        </p:txBody>
      </p:sp>
      <p:sp>
        <p:nvSpPr>
          <p:cNvPr id="790" name="Google Shape;790;p90"/>
          <p:cNvSpPr txBox="1"/>
          <p:nvPr/>
        </p:nvSpPr>
        <p:spPr>
          <a:xfrm>
            <a:off x="5562600" y="5349875"/>
            <a:ext cx="1139825" cy="517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Remittance</a:t>
            </a:r>
            <a:endParaRPr/>
          </a:p>
          <a:p>
            <a:pPr marL="0" marR="0" lvl="0" indent="0" algn="l" rtl="0">
              <a:spcBef>
                <a:spcPts val="0"/>
              </a:spcBef>
              <a:spcAft>
                <a:spcPts val="0"/>
              </a:spcAft>
              <a:buNone/>
            </a:pPr>
            <a:r>
              <a:rPr lang="en-US" sz="1400" b="1">
                <a:solidFill>
                  <a:schemeClr val="dk1"/>
                </a:solidFill>
                <a:latin typeface="Lucida Sans"/>
                <a:ea typeface="Lucida Sans"/>
                <a:cs typeface="Lucida Sans"/>
                <a:sym typeface="Lucida Sans"/>
              </a:rPr>
              <a:t>List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91"/>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Billing and Accounts</a:t>
            </a:r>
            <a:br>
              <a:rPr lang="en-US" sz="3690"/>
            </a:br>
            <a:r>
              <a:rPr lang="en-US" sz="3690"/>
              <a:t>Receivable (Activity 3)</a:t>
            </a:r>
            <a:endParaRPr/>
          </a:p>
        </p:txBody>
      </p:sp>
      <p:sp>
        <p:nvSpPr>
          <p:cNvPr id="797" name="Google Shape;797;p91"/>
          <p:cNvSpPr txBox="1">
            <a:spLocks noGrp="1"/>
          </p:cNvSpPr>
          <p:nvPr>
            <p:ph type="body" idx="1"/>
          </p:nvPr>
        </p:nvSpPr>
        <p:spPr>
          <a:xfrm>
            <a:off x="457200" y="1219200"/>
            <a:ext cx="8534400" cy="51816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768"/>
              <a:buChar char="🞂"/>
            </a:pPr>
            <a:r>
              <a:rPr lang="en-US" sz="2600"/>
              <a:t>The </a:t>
            </a:r>
            <a:r>
              <a:rPr lang="en-US" sz="2600" u="sng"/>
              <a:t>documents</a:t>
            </a:r>
            <a:r>
              <a:rPr lang="en-US" sz="2600"/>
              <a:t> in this activity:</a:t>
            </a:r>
            <a:endParaRPr/>
          </a:p>
          <a:p>
            <a:pPr marL="621792" lvl="1" indent="-228600" algn="l" rtl="0">
              <a:spcBef>
                <a:spcPts val="324"/>
              </a:spcBef>
              <a:spcAft>
                <a:spcPts val="0"/>
              </a:spcAft>
              <a:buSzPts val="2600"/>
              <a:buChar char="◦"/>
            </a:pPr>
            <a:r>
              <a:rPr lang="en-US" sz="2600"/>
              <a:t>The </a:t>
            </a:r>
            <a:r>
              <a:rPr lang="en-US" sz="2600" u="sng"/>
              <a:t>sales invoice</a:t>
            </a:r>
            <a:r>
              <a:rPr lang="en-US" sz="2600"/>
              <a:t> notifies customers of the amount to be paid and where to send payment.</a:t>
            </a:r>
            <a:endParaRPr/>
          </a:p>
          <a:p>
            <a:pPr marL="621792" lvl="1" indent="-228600" algn="l" rtl="0">
              <a:spcBef>
                <a:spcPts val="324"/>
              </a:spcBef>
              <a:spcAft>
                <a:spcPts val="0"/>
              </a:spcAft>
              <a:buSzPts val="2600"/>
              <a:buChar char="◦"/>
            </a:pPr>
            <a:r>
              <a:rPr lang="en-US" sz="2600"/>
              <a:t>A </a:t>
            </a:r>
            <a:r>
              <a:rPr lang="en-US" sz="2600" u="sng"/>
              <a:t>monthly statement</a:t>
            </a:r>
            <a:r>
              <a:rPr lang="en-US" sz="2600"/>
              <a:t> summarizes transactions that occurred and informs customers of their current account balance.</a:t>
            </a:r>
            <a:endParaRPr/>
          </a:p>
          <a:p>
            <a:pPr marL="621792" lvl="1" indent="-228600" algn="l" rtl="0">
              <a:spcBef>
                <a:spcPts val="324"/>
              </a:spcBef>
              <a:spcAft>
                <a:spcPts val="0"/>
              </a:spcAft>
              <a:buSzPts val="2600"/>
              <a:buChar char="◦"/>
            </a:pPr>
            <a:r>
              <a:rPr lang="en-US" sz="2600"/>
              <a:t>A </a:t>
            </a:r>
            <a:r>
              <a:rPr lang="en-US" sz="2600" u="sng"/>
              <a:t>credit memo</a:t>
            </a:r>
            <a:r>
              <a:rPr lang="en-US" sz="2600"/>
              <a:t> authorizes the billing department to credit a customer’s account.</a:t>
            </a:r>
            <a:endParaRPr/>
          </a:p>
          <a:p>
            <a:pPr marL="621792" lvl="1" indent="-228600" algn="l" rtl="0">
              <a:spcBef>
                <a:spcPts val="324"/>
              </a:spcBef>
              <a:spcAft>
                <a:spcPts val="0"/>
              </a:spcAft>
              <a:buSzPts val="2600"/>
              <a:buChar char="◦"/>
            </a:pPr>
            <a:r>
              <a:rPr lang="en-US" sz="2600"/>
              <a:t>credit manager may issue a credit memo for:</a:t>
            </a:r>
            <a:endParaRPr/>
          </a:p>
          <a:p>
            <a:pPr marL="859536" lvl="2" indent="-228600" algn="l" rtl="0">
              <a:spcBef>
                <a:spcPts val="350"/>
              </a:spcBef>
              <a:spcAft>
                <a:spcPts val="0"/>
              </a:spcAft>
              <a:buSzPts val="2100"/>
              <a:buChar char="●"/>
            </a:pPr>
            <a:r>
              <a:rPr lang="en-US"/>
              <a:t>Returns</a:t>
            </a:r>
            <a:endParaRPr/>
          </a:p>
          <a:p>
            <a:pPr marL="859536" lvl="2" indent="-228600" algn="l" rtl="0">
              <a:spcBef>
                <a:spcPts val="350"/>
              </a:spcBef>
              <a:spcAft>
                <a:spcPts val="0"/>
              </a:spcAft>
              <a:buSzPts val="2100"/>
              <a:buChar char="●"/>
            </a:pPr>
            <a:r>
              <a:rPr lang="en-US"/>
              <a:t>Allowances for damaged goods</a:t>
            </a:r>
            <a:endParaRPr/>
          </a:p>
          <a:p>
            <a:pPr marL="859536" lvl="2" indent="-228600" algn="l" rtl="0">
              <a:spcBef>
                <a:spcPts val="350"/>
              </a:spcBef>
              <a:spcAft>
                <a:spcPts val="0"/>
              </a:spcAft>
              <a:buSzPts val="2100"/>
              <a:buChar char="●"/>
            </a:pPr>
            <a:r>
              <a:rPr lang="en-US"/>
              <a:t>Write-offs as uncollectible</a:t>
            </a:r>
            <a:endParaRPr/>
          </a:p>
          <a:p>
            <a:pPr marL="621792" lvl="1" indent="-76200" algn="l" rtl="0">
              <a:spcBef>
                <a:spcPts val="324"/>
              </a:spcBef>
              <a:spcAft>
                <a:spcPts val="0"/>
              </a:spcAft>
              <a:buSzPts val="2400"/>
              <a:buNone/>
            </a:pPr>
            <a:endParaRPr sz="240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9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92"/>
          <p:cNvSpPr txBox="1">
            <a:spLocks noGrp="1"/>
          </p:cNvSpPr>
          <p:nvPr>
            <p:ph type="title"/>
          </p:nvPr>
        </p:nvSpPr>
        <p:spPr>
          <a:xfrm>
            <a:off x="6096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Billing and Accounts</a:t>
            </a:r>
            <a:br>
              <a:rPr lang="en-US" sz="3690"/>
            </a:br>
            <a:r>
              <a:rPr lang="en-US" sz="3690"/>
              <a:t>Receivable (Activity 3)</a:t>
            </a:r>
            <a:endParaRPr/>
          </a:p>
        </p:txBody>
      </p:sp>
      <p:sp>
        <p:nvSpPr>
          <p:cNvPr id="804" name="Google Shape;804;p92"/>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904"/>
              <a:buChar char="🞂"/>
            </a:pPr>
            <a:r>
              <a:rPr lang="en-US" sz="2800" i="1"/>
              <a:t>Types of</a:t>
            </a:r>
            <a:r>
              <a:rPr lang="en-US" sz="2800"/>
              <a:t> </a:t>
            </a:r>
            <a:r>
              <a:rPr lang="en-US" sz="2800" i="1"/>
              <a:t>billing systems:</a:t>
            </a:r>
            <a:endParaRPr/>
          </a:p>
          <a:p>
            <a:pPr marL="621792" lvl="1" indent="-228600" algn="l" rtl="0">
              <a:spcBef>
                <a:spcPts val="324"/>
              </a:spcBef>
              <a:spcAft>
                <a:spcPts val="0"/>
              </a:spcAft>
              <a:buSzPts val="2400"/>
              <a:buChar char="◦"/>
            </a:pPr>
            <a:r>
              <a:rPr lang="en-US" sz="2400"/>
              <a:t>In a </a:t>
            </a:r>
            <a:r>
              <a:rPr lang="en-US" sz="2400" i="1"/>
              <a:t>postbilling</a:t>
            </a:r>
            <a:r>
              <a:rPr lang="en-US" sz="2400"/>
              <a:t> system, invoices are prepared after confirmation that the items were shipped.</a:t>
            </a:r>
            <a:endParaRPr/>
          </a:p>
          <a:p>
            <a:pPr marL="621792" lvl="1" indent="-228600" algn="l" rtl="0">
              <a:spcBef>
                <a:spcPts val="324"/>
              </a:spcBef>
              <a:spcAft>
                <a:spcPts val="0"/>
              </a:spcAft>
              <a:buSzPts val="2400"/>
              <a:buChar char="◦"/>
            </a:pPr>
            <a:r>
              <a:rPr lang="en-US" sz="2400"/>
              <a:t>In a </a:t>
            </a:r>
            <a:r>
              <a:rPr lang="en-US" sz="2400" i="1"/>
              <a:t>prebilling</a:t>
            </a:r>
            <a:r>
              <a:rPr lang="en-US" sz="2400"/>
              <a:t> system, invoices are prepared (but not sent) as soon as the order is approved.</a:t>
            </a:r>
            <a:endParaRPr/>
          </a:p>
          <a:p>
            <a:pPr marL="365760" lvl="0" indent="-256032" algn="l" rtl="0">
              <a:spcBef>
                <a:spcPts val="400"/>
              </a:spcBef>
              <a:spcAft>
                <a:spcPts val="0"/>
              </a:spcAft>
              <a:buSzPts val="1904"/>
              <a:buChar char="🞂"/>
            </a:pPr>
            <a:r>
              <a:rPr lang="en-US" sz="2800"/>
              <a:t>The inventory, accounts receivable, and general ledger files are updated at this time</a:t>
            </a:r>
            <a:r>
              <a:rPr lang="en-US" sz="2800" i="1"/>
              <a:t>.</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93"/>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Billing and Accounts</a:t>
            </a:r>
            <a:br>
              <a:rPr lang="en-US" sz="3690"/>
            </a:br>
            <a:r>
              <a:rPr lang="en-US" sz="3690"/>
              <a:t>Receivable (Activity 3)</a:t>
            </a:r>
            <a:endParaRPr/>
          </a:p>
        </p:txBody>
      </p:sp>
      <p:sp>
        <p:nvSpPr>
          <p:cNvPr id="811" name="Google Shape;811;p93"/>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Methods for maintaining accounts receivable:</a:t>
            </a:r>
            <a:endParaRPr/>
          </a:p>
          <a:p>
            <a:pPr marL="621792" lvl="1" indent="-228600" algn="l" rtl="0">
              <a:spcBef>
                <a:spcPts val="324"/>
              </a:spcBef>
              <a:spcAft>
                <a:spcPts val="0"/>
              </a:spcAft>
              <a:buSzPts val="2300"/>
              <a:buChar char="◦"/>
            </a:pPr>
            <a:r>
              <a:rPr lang="en-US"/>
              <a:t>open invoice method</a:t>
            </a:r>
            <a:endParaRPr/>
          </a:p>
          <a:p>
            <a:pPr marL="621792" lvl="1" indent="-228600" algn="l" rtl="0">
              <a:spcBef>
                <a:spcPts val="324"/>
              </a:spcBef>
              <a:spcAft>
                <a:spcPts val="0"/>
              </a:spcAft>
              <a:buSzPts val="2300"/>
              <a:buChar char="◦"/>
            </a:pPr>
            <a:r>
              <a:rPr lang="en-US"/>
              <a:t>balance-forward method</a:t>
            </a:r>
            <a:endParaRPr/>
          </a:p>
          <a:p>
            <a:pPr marL="365760" lvl="0" indent="-256032" algn="l" rtl="0">
              <a:spcBef>
                <a:spcPts val="400"/>
              </a:spcBef>
              <a:spcAft>
                <a:spcPts val="0"/>
              </a:spcAft>
              <a:buSzPts val="1836"/>
              <a:buChar char="🞂"/>
            </a:pPr>
            <a:r>
              <a:rPr lang="en-US"/>
              <a:t>To obtain a more uniform flow of cash receipts, many companies use a process called cycle billing.</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94"/>
          <p:cNvSpPr txBox="1">
            <a:spLocks noGrp="1"/>
          </p:cNvSpPr>
          <p:nvPr>
            <p:ph type="body" idx="1"/>
          </p:nvPr>
        </p:nvSpPr>
        <p:spPr>
          <a:xfrm>
            <a:off x="457200" y="1600200"/>
            <a:ext cx="8229600" cy="4953000"/>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lnSpc>
                <a:spcPct val="90000"/>
              </a:lnSpc>
              <a:spcBef>
                <a:spcPts val="0"/>
              </a:spcBef>
              <a:spcAft>
                <a:spcPts val="0"/>
              </a:spcAft>
              <a:buSzPts val="2040"/>
              <a:buChar char="🞂"/>
            </a:pPr>
            <a:r>
              <a:rPr lang="en-US" sz="3000"/>
              <a:t>Open-invoice method:</a:t>
            </a:r>
            <a:endParaRPr/>
          </a:p>
          <a:p>
            <a:pPr marL="621792" lvl="1" indent="-228600" algn="l" rtl="0">
              <a:lnSpc>
                <a:spcPct val="90000"/>
              </a:lnSpc>
              <a:spcBef>
                <a:spcPts val="324"/>
              </a:spcBef>
              <a:spcAft>
                <a:spcPts val="0"/>
              </a:spcAft>
              <a:buSzPts val="2600"/>
              <a:buChar char="◦"/>
            </a:pPr>
            <a:r>
              <a:rPr lang="en-US" sz="2600"/>
              <a:t>Customers pay according to each invoice.</a:t>
            </a:r>
            <a:endParaRPr/>
          </a:p>
          <a:p>
            <a:pPr marL="621792" lvl="1" indent="-228600" algn="l" rtl="0">
              <a:lnSpc>
                <a:spcPct val="90000"/>
              </a:lnSpc>
              <a:spcBef>
                <a:spcPts val="324"/>
              </a:spcBef>
              <a:spcAft>
                <a:spcPts val="0"/>
              </a:spcAft>
              <a:buSzPts val="2600"/>
              <a:buChar char="◦"/>
            </a:pPr>
            <a:r>
              <a:rPr lang="en-US" sz="2600"/>
              <a:t>Two copies of the invoice are typically sent to the customer.</a:t>
            </a:r>
            <a:endParaRPr/>
          </a:p>
          <a:p>
            <a:pPr marL="859536" lvl="2" indent="-228600" algn="l" rtl="0">
              <a:lnSpc>
                <a:spcPct val="90000"/>
              </a:lnSpc>
              <a:spcBef>
                <a:spcPts val="350"/>
              </a:spcBef>
              <a:spcAft>
                <a:spcPts val="0"/>
              </a:spcAft>
              <a:buSzPts val="2200"/>
              <a:buChar char="●"/>
            </a:pPr>
            <a:r>
              <a:rPr lang="en-US" sz="2200"/>
              <a:t>Customer is asked to return one copy with payment.</a:t>
            </a:r>
            <a:endParaRPr/>
          </a:p>
          <a:p>
            <a:pPr marL="859536" lvl="2" indent="-228600" algn="l" rtl="0">
              <a:lnSpc>
                <a:spcPct val="90000"/>
              </a:lnSpc>
              <a:spcBef>
                <a:spcPts val="350"/>
              </a:spcBef>
              <a:spcAft>
                <a:spcPts val="0"/>
              </a:spcAft>
              <a:buSzPts val="2200"/>
              <a:buChar char="●"/>
            </a:pPr>
            <a:r>
              <a:rPr lang="en-US" sz="2200"/>
              <a:t>This copy is a turnaround document called a </a:t>
            </a:r>
            <a:r>
              <a:rPr lang="en-US" sz="2200" b="1" i="1">
                <a:solidFill>
                  <a:srgbClr val="CC0000"/>
                </a:solidFill>
              </a:rPr>
              <a:t>remittance advice.</a:t>
            </a:r>
            <a:endParaRPr sz="2200"/>
          </a:p>
          <a:p>
            <a:pPr marL="621792" lvl="1" indent="-228600" algn="l" rtl="0">
              <a:lnSpc>
                <a:spcPct val="90000"/>
              </a:lnSpc>
              <a:spcBef>
                <a:spcPts val="324"/>
              </a:spcBef>
              <a:spcAft>
                <a:spcPts val="0"/>
              </a:spcAft>
              <a:buSzPts val="2600"/>
              <a:buChar char="◦"/>
            </a:pPr>
            <a:r>
              <a:rPr lang="en-US" sz="2600"/>
              <a:t>Advantages of open-invoice method:</a:t>
            </a:r>
            <a:endParaRPr/>
          </a:p>
          <a:p>
            <a:pPr marL="859536" lvl="2" indent="-228600" algn="l" rtl="0">
              <a:lnSpc>
                <a:spcPct val="90000"/>
              </a:lnSpc>
              <a:spcBef>
                <a:spcPts val="350"/>
              </a:spcBef>
              <a:spcAft>
                <a:spcPts val="0"/>
              </a:spcAft>
              <a:buSzPts val="2200"/>
              <a:buChar char="●"/>
            </a:pPr>
            <a:r>
              <a:rPr lang="en-US" sz="2200"/>
              <a:t>Conducive to offering early-payment discounts</a:t>
            </a:r>
            <a:endParaRPr/>
          </a:p>
          <a:p>
            <a:pPr marL="859536" lvl="2" indent="-228600" algn="l" rtl="0">
              <a:lnSpc>
                <a:spcPct val="90000"/>
              </a:lnSpc>
              <a:spcBef>
                <a:spcPts val="350"/>
              </a:spcBef>
              <a:spcAft>
                <a:spcPts val="0"/>
              </a:spcAft>
              <a:buSzPts val="2200"/>
              <a:buChar char="●"/>
            </a:pPr>
            <a:r>
              <a:rPr lang="en-US" sz="2200"/>
              <a:t>Results in more uniform flow of cash collections</a:t>
            </a:r>
            <a:endParaRPr/>
          </a:p>
          <a:p>
            <a:pPr marL="621792" lvl="1" indent="-228600" algn="l" rtl="0">
              <a:lnSpc>
                <a:spcPct val="90000"/>
              </a:lnSpc>
              <a:spcBef>
                <a:spcPts val="324"/>
              </a:spcBef>
              <a:spcAft>
                <a:spcPts val="0"/>
              </a:spcAft>
              <a:buSzPts val="2600"/>
              <a:buChar char="◦"/>
            </a:pPr>
            <a:r>
              <a:rPr lang="en-US" sz="2600"/>
              <a:t>Disadvantages of open-invoice method:</a:t>
            </a:r>
            <a:endParaRPr/>
          </a:p>
          <a:p>
            <a:pPr marL="859536" lvl="2" indent="-228600" algn="l" rtl="0">
              <a:lnSpc>
                <a:spcPct val="90000"/>
              </a:lnSpc>
              <a:spcBef>
                <a:spcPts val="350"/>
              </a:spcBef>
              <a:spcAft>
                <a:spcPts val="0"/>
              </a:spcAft>
              <a:buSzPts val="2200"/>
              <a:buChar char="●"/>
            </a:pPr>
            <a:r>
              <a:rPr lang="en-US" sz="2200"/>
              <a:t>More complex to maintain</a:t>
            </a:r>
            <a:endParaRPr/>
          </a:p>
        </p:txBody>
      </p:sp>
      <p:sp>
        <p:nvSpPr>
          <p:cNvPr id="817" name="Google Shape;817;p94"/>
          <p:cNvSpPr txBox="1">
            <a:spLocks noGrp="1"/>
          </p:cNvSpPr>
          <p:nvPr>
            <p:ph type="title"/>
          </p:nvPr>
        </p:nvSpPr>
        <p:spPr>
          <a:xfrm>
            <a:off x="762000" y="0"/>
            <a:ext cx="82296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600"/>
              <a:buFont typeface="Lucida Sans"/>
              <a:buNone/>
            </a:pPr>
            <a:r>
              <a:rPr lang="en-US" sz="3600"/>
              <a:t>Billing and Accounts</a:t>
            </a:r>
            <a:br>
              <a:rPr lang="en-US" sz="3600"/>
            </a:br>
            <a:r>
              <a:rPr lang="en-US" sz="3600"/>
              <a:t>Receivable (Activity 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6">
                                            <p:txEl>
                                              <p:pRg st="0" end="0"/>
                                            </p:txEl>
                                          </p:spTgt>
                                        </p:tgtEl>
                                        <p:attrNameLst>
                                          <p:attrName>style.visibility</p:attrName>
                                        </p:attrNameLst>
                                      </p:cBhvr>
                                      <p:to>
                                        <p:strVal val="visible"/>
                                      </p:to>
                                    </p:set>
                                    <p:animEffect transition="in" filter="fade">
                                      <p:cBhvr>
                                        <p:cTn id="7" dur="500"/>
                                        <p:tgtEl>
                                          <p:spTgt spid="8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6">
                                            <p:txEl>
                                              <p:pRg st="1" end="1"/>
                                            </p:txEl>
                                          </p:spTgt>
                                        </p:tgtEl>
                                        <p:attrNameLst>
                                          <p:attrName>style.visibility</p:attrName>
                                        </p:attrNameLst>
                                      </p:cBhvr>
                                      <p:to>
                                        <p:strVal val="visible"/>
                                      </p:to>
                                    </p:set>
                                    <p:animEffect transition="in" filter="fade">
                                      <p:cBhvr>
                                        <p:cTn id="12" dur="500"/>
                                        <p:tgtEl>
                                          <p:spTgt spid="8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16">
                                            <p:txEl>
                                              <p:pRg st="2" end="2"/>
                                            </p:txEl>
                                          </p:spTgt>
                                        </p:tgtEl>
                                        <p:attrNameLst>
                                          <p:attrName>style.visibility</p:attrName>
                                        </p:attrNameLst>
                                      </p:cBhvr>
                                      <p:to>
                                        <p:strVal val="visible"/>
                                      </p:to>
                                    </p:set>
                                    <p:animEffect transition="in" filter="fade">
                                      <p:cBhvr>
                                        <p:cTn id="17" dur="500"/>
                                        <p:tgtEl>
                                          <p:spTgt spid="8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16">
                                            <p:txEl>
                                              <p:pRg st="3" end="3"/>
                                            </p:txEl>
                                          </p:spTgt>
                                        </p:tgtEl>
                                        <p:attrNameLst>
                                          <p:attrName>style.visibility</p:attrName>
                                        </p:attrNameLst>
                                      </p:cBhvr>
                                      <p:to>
                                        <p:strVal val="visible"/>
                                      </p:to>
                                    </p:set>
                                    <p:animEffect transition="in" filter="fade">
                                      <p:cBhvr>
                                        <p:cTn id="22" dur="500"/>
                                        <p:tgtEl>
                                          <p:spTgt spid="8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16">
                                            <p:txEl>
                                              <p:pRg st="4" end="4"/>
                                            </p:txEl>
                                          </p:spTgt>
                                        </p:tgtEl>
                                        <p:attrNameLst>
                                          <p:attrName>style.visibility</p:attrName>
                                        </p:attrNameLst>
                                      </p:cBhvr>
                                      <p:to>
                                        <p:strVal val="visible"/>
                                      </p:to>
                                    </p:set>
                                    <p:animEffect transition="in" filter="fade">
                                      <p:cBhvr>
                                        <p:cTn id="27" dur="500"/>
                                        <p:tgtEl>
                                          <p:spTgt spid="8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16">
                                            <p:txEl>
                                              <p:pRg st="5" end="5"/>
                                            </p:txEl>
                                          </p:spTgt>
                                        </p:tgtEl>
                                        <p:attrNameLst>
                                          <p:attrName>style.visibility</p:attrName>
                                        </p:attrNameLst>
                                      </p:cBhvr>
                                      <p:to>
                                        <p:strVal val="visible"/>
                                      </p:to>
                                    </p:set>
                                    <p:animEffect transition="in" filter="fade">
                                      <p:cBhvr>
                                        <p:cTn id="32" dur="500"/>
                                        <p:tgtEl>
                                          <p:spTgt spid="8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16">
                                            <p:txEl>
                                              <p:pRg st="6" end="6"/>
                                            </p:txEl>
                                          </p:spTgt>
                                        </p:tgtEl>
                                        <p:attrNameLst>
                                          <p:attrName>style.visibility</p:attrName>
                                        </p:attrNameLst>
                                      </p:cBhvr>
                                      <p:to>
                                        <p:strVal val="visible"/>
                                      </p:to>
                                    </p:set>
                                    <p:animEffect transition="in" filter="fade">
                                      <p:cBhvr>
                                        <p:cTn id="37" dur="500"/>
                                        <p:tgtEl>
                                          <p:spTgt spid="81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16">
                                            <p:txEl>
                                              <p:pRg st="7" end="7"/>
                                            </p:txEl>
                                          </p:spTgt>
                                        </p:tgtEl>
                                        <p:attrNameLst>
                                          <p:attrName>style.visibility</p:attrName>
                                        </p:attrNameLst>
                                      </p:cBhvr>
                                      <p:to>
                                        <p:strVal val="visible"/>
                                      </p:to>
                                    </p:set>
                                    <p:animEffect transition="in" filter="fade">
                                      <p:cBhvr>
                                        <p:cTn id="42" dur="500"/>
                                        <p:tgtEl>
                                          <p:spTgt spid="81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16">
                                            <p:txEl>
                                              <p:pRg st="8" end="8"/>
                                            </p:txEl>
                                          </p:spTgt>
                                        </p:tgtEl>
                                        <p:attrNameLst>
                                          <p:attrName>style.visibility</p:attrName>
                                        </p:attrNameLst>
                                      </p:cBhvr>
                                      <p:to>
                                        <p:strVal val="visible"/>
                                      </p:to>
                                    </p:set>
                                    <p:animEffect transition="in" filter="fade">
                                      <p:cBhvr>
                                        <p:cTn id="47" dur="500"/>
                                        <p:tgtEl>
                                          <p:spTgt spid="81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16">
                                            <p:txEl>
                                              <p:pRg st="9" end="9"/>
                                            </p:txEl>
                                          </p:spTgt>
                                        </p:tgtEl>
                                        <p:attrNameLst>
                                          <p:attrName>style.visibility</p:attrName>
                                        </p:attrNameLst>
                                      </p:cBhvr>
                                      <p:to>
                                        <p:strVal val="visible"/>
                                      </p:to>
                                    </p:set>
                                    <p:animEffect transition="in" filter="fade">
                                      <p:cBhvr>
                                        <p:cTn id="52" dur="500"/>
                                        <p:tgtEl>
                                          <p:spTgt spid="81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95"/>
          <p:cNvSpPr txBox="1">
            <a:spLocks noGrp="1"/>
          </p:cNvSpPr>
          <p:nvPr>
            <p:ph type="body" idx="1"/>
          </p:nvPr>
        </p:nvSpPr>
        <p:spPr>
          <a:xfrm>
            <a:off x="457200" y="1295400"/>
            <a:ext cx="8229600" cy="4953000"/>
          </a:xfrm>
          <a:prstGeom prst="rect">
            <a:avLst/>
          </a:prstGeom>
          <a:solidFill>
            <a:srgbClr val="FFFFFF"/>
          </a:solidFill>
          <a:ln>
            <a:noFill/>
          </a:ln>
        </p:spPr>
        <p:txBody>
          <a:bodyPr spcFirstLastPara="1" wrap="square" lIns="91425" tIns="45700" rIns="91425" bIns="45700" anchor="t" anchorCtr="0">
            <a:noAutofit/>
          </a:bodyPr>
          <a:lstStyle/>
          <a:p>
            <a:pPr marL="365760" lvl="0" indent="-256031" algn="l" rtl="0">
              <a:lnSpc>
                <a:spcPct val="90000"/>
              </a:lnSpc>
              <a:spcBef>
                <a:spcPts val="0"/>
              </a:spcBef>
              <a:spcAft>
                <a:spcPts val="0"/>
              </a:spcAft>
              <a:buSzPts val="2139"/>
              <a:buChar char="🞂"/>
            </a:pPr>
            <a:r>
              <a:rPr lang="en-US" sz="3145"/>
              <a:t>Balance forward method:</a:t>
            </a:r>
            <a:endParaRPr/>
          </a:p>
          <a:p>
            <a:pPr marL="621792" lvl="1" indent="-228600" algn="l" rtl="0">
              <a:lnSpc>
                <a:spcPct val="90000"/>
              </a:lnSpc>
              <a:spcBef>
                <a:spcPts val="324"/>
              </a:spcBef>
              <a:spcAft>
                <a:spcPts val="0"/>
              </a:spcAft>
              <a:buSzPts val="2775"/>
              <a:buChar char="◦"/>
            </a:pPr>
            <a:r>
              <a:rPr lang="en-US" sz="2775"/>
              <a:t>Customers pay according to amount on their monthly statement, rather than by invoice.</a:t>
            </a:r>
            <a:endParaRPr/>
          </a:p>
          <a:p>
            <a:pPr marL="621792" lvl="1" indent="-228600" algn="l" rtl="0">
              <a:lnSpc>
                <a:spcPct val="90000"/>
              </a:lnSpc>
              <a:spcBef>
                <a:spcPts val="324"/>
              </a:spcBef>
              <a:spcAft>
                <a:spcPts val="0"/>
              </a:spcAft>
              <a:buSzPts val="2775"/>
              <a:buChar char="◦"/>
            </a:pPr>
            <a:r>
              <a:rPr lang="en-US" sz="2775"/>
              <a:t>Monthly statement lists transactions since the last statement and lists the current balance.</a:t>
            </a:r>
            <a:endParaRPr/>
          </a:p>
          <a:p>
            <a:pPr marL="621792" lvl="1" indent="-228600" algn="l" rtl="0">
              <a:lnSpc>
                <a:spcPct val="90000"/>
              </a:lnSpc>
              <a:spcBef>
                <a:spcPts val="324"/>
              </a:spcBef>
              <a:spcAft>
                <a:spcPts val="0"/>
              </a:spcAft>
              <a:buSzPts val="2775"/>
              <a:buChar char="◦"/>
            </a:pPr>
            <a:r>
              <a:rPr lang="en-US" sz="2775"/>
              <a:t>Advantages of balance-forward method:</a:t>
            </a:r>
            <a:endParaRPr/>
          </a:p>
          <a:p>
            <a:pPr marL="859536" lvl="2" indent="-228600" algn="l" rtl="0">
              <a:lnSpc>
                <a:spcPct val="90000"/>
              </a:lnSpc>
              <a:spcBef>
                <a:spcPts val="350"/>
              </a:spcBef>
              <a:spcAft>
                <a:spcPts val="0"/>
              </a:spcAft>
              <a:buSzPts val="2405"/>
              <a:buChar char="●"/>
            </a:pPr>
            <a:r>
              <a:rPr lang="en-US" sz="2405"/>
              <a:t>It’s more efficient and reduces costs because you don’t bill for each individual sale.</a:t>
            </a:r>
            <a:endParaRPr/>
          </a:p>
          <a:p>
            <a:pPr marL="859536" lvl="2" indent="-228600" algn="l" rtl="0">
              <a:lnSpc>
                <a:spcPct val="90000"/>
              </a:lnSpc>
              <a:spcBef>
                <a:spcPts val="350"/>
              </a:spcBef>
              <a:spcAft>
                <a:spcPts val="0"/>
              </a:spcAft>
              <a:buSzPts val="2405"/>
              <a:buChar char="●"/>
            </a:pPr>
            <a:r>
              <a:rPr lang="en-US" sz="2405"/>
              <a:t>It’s more convenient for the customer to make one monthly remittance.</a:t>
            </a:r>
            <a:endParaRPr/>
          </a:p>
          <a:p>
            <a:pPr marL="621792" lvl="1" indent="-52387" algn="l" rtl="0">
              <a:lnSpc>
                <a:spcPct val="90000"/>
              </a:lnSpc>
              <a:spcBef>
                <a:spcPts val="324"/>
              </a:spcBef>
              <a:spcAft>
                <a:spcPts val="0"/>
              </a:spcAft>
              <a:buSzPts val="2775"/>
              <a:buNone/>
            </a:pPr>
            <a:endParaRPr sz="2775"/>
          </a:p>
        </p:txBody>
      </p:sp>
      <p:sp>
        <p:nvSpPr>
          <p:cNvPr id="823" name="Google Shape;823;p95"/>
          <p:cNvSpPr txBox="1">
            <a:spLocks noGrp="1"/>
          </p:cNvSpPr>
          <p:nvPr>
            <p:ph type="title"/>
          </p:nvPr>
        </p:nvSpPr>
        <p:spPr>
          <a:xfrm>
            <a:off x="685800" y="0"/>
            <a:ext cx="82296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600"/>
              <a:buFont typeface="Lucida Sans"/>
              <a:buNone/>
            </a:pPr>
            <a:r>
              <a:rPr lang="en-US" sz="3600"/>
              <a:t>Billing and Accounts</a:t>
            </a:r>
            <a:br>
              <a:rPr lang="en-US" sz="3600"/>
            </a:br>
            <a:r>
              <a:rPr lang="en-US" sz="3600"/>
              <a:t>Receivable (Activity 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2">
                                            <p:txEl>
                                              <p:pRg st="0" end="0"/>
                                            </p:txEl>
                                          </p:spTgt>
                                        </p:tgtEl>
                                        <p:attrNameLst>
                                          <p:attrName>style.visibility</p:attrName>
                                        </p:attrNameLst>
                                      </p:cBhvr>
                                      <p:to>
                                        <p:strVal val="visible"/>
                                      </p:to>
                                    </p:set>
                                    <p:animEffect transition="in" filter="fade">
                                      <p:cBhvr>
                                        <p:cTn id="7" dur="500"/>
                                        <p:tgtEl>
                                          <p:spTgt spid="8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2">
                                            <p:txEl>
                                              <p:pRg st="1" end="1"/>
                                            </p:txEl>
                                          </p:spTgt>
                                        </p:tgtEl>
                                        <p:attrNameLst>
                                          <p:attrName>style.visibility</p:attrName>
                                        </p:attrNameLst>
                                      </p:cBhvr>
                                      <p:to>
                                        <p:strVal val="visible"/>
                                      </p:to>
                                    </p:set>
                                    <p:animEffect transition="in" filter="fade">
                                      <p:cBhvr>
                                        <p:cTn id="12" dur="500"/>
                                        <p:tgtEl>
                                          <p:spTgt spid="8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2">
                                            <p:txEl>
                                              <p:pRg st="2" end="2"/>
                                            </p:txEl>
                                          </p:spTgt>
                                        </p:tgtEl>
                                        <p:attrNameLst>
                                          <p:attrName>style.visibility</p:attrName>
                                        </p:attrNameLst>
                                      </p:cBhvr>
                                      <p:to>
                                        <p:strVal val="visible"/>
                                      </p:to>
                                    </p:set>
                                    <p:animEffect transition="in" filter="fade">
                                      <p:cBhvr>
                                        <p:cTn id="17" dur="500"/>
                                        <p:tgtEl>
                                          <p:spTgt spid="8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2">
                                            <p:txEl>
                                              <p:pRg st="3" end="3"/>
                                            </p:txEl>
                                          </p:spTgt>
                                        </p:tgtEl>
                                        <p:attrNameLst>
                                          <p:attrName>style.visibility</p:attrName>
                                        </p:attrNameLst>
                                      </p:cBhvr>
                                      <p:to>
                                        <p:strVal val="visible"/>
                                      </p:to>
                                    </p:set>
                                    <p:animEffect transition="in" filter="fade">
                                      <p:cBhvr>
                                        <p:cTn id="22" dur="500"/>
                                        <p:tgtEl>
                                          <p:spTgt spid="8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2">
                                            <p:txEl>
                                              <p:pRg st="4" end="4"/>
                                            </p:txEl>
                                          </p:spTgt>
                                        </p:tgtEl>
                                        <p:attrNameLst>
                                          <p:attrName>style.visibility</p:attrName>
                                        </p:attrNameLst>
                                      </p:cBhvr>
                                      <p:to>
                                        <p:strVal val="visible"/>
                                      </p:to>
                                    </p:set>
                                    <p:animEffect transition="in" filter="fade">
                                      <p:cBhvr>
                                        <p:cTn id="27" dur="500"/>
                                        <p:tgtEl>
                                          <p:spTgt spid="8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2">
                                            <p:txEl>
                                              <p:pRg st="5" end="5"/>
                                            </p:txEl>
                                          </p:spTgt>
                                        </p:tgtEl>
                                        <p:attrNameLst>
                                          <p:attrName>style.visibility</p:attrName>
                                        </p:attrNameLst>
                                      </p:cBhvr>
                                      <p:to>
                                        <p:strVal val="visible"/>
                                      </p:to>
                                    </p:set>
                                    <p:animEffect transition="in" filter="fade">
                                      <p:cBhvr>
                                        <p:cTn id="32" dur="500"/>
                                        <p:tgtEl>
                                          <p:spTgt spid="8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22">
                                            <p:txEl>
                                              <p:pRg st="6" end="6"/>
                                            </p:txEl>
                                          </p:spTgt>
                                        </p:tgtEl>
                                        <p:attrNameLst>
                                          <p:attrName>style.visibility</p:attrName>
                                        </p:attrNameLst>
                                      </p:cBhvr>
                                      <p:to>
                                        <p:strVal val="visible"/>
                                      </p:to>
                                    </p:set>
                                    <p:animEffect transition="in" filter="fade">
                                      <p:cBhvr>
                                        <p:cTn id="37" dur="500"/>
                                        <p:tgtEl>
                                          <p:spTgt spid="82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96"/>
          <p:cNvSpPr txBox="1">
            <a:spLocks noGrp="1"/>
          </p:cNvSpPr>
          <p:nvPr>
            <p:ph type="body" idx="1"/>
          </p:nvPr>
        </p:nvSpPr>
        <p:spPr>
          <a:xfrm>
            <a:off x="457200" y="1219200"/>
            <a:ext cx="8229600" cy="5334000"/>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lnSpc>
                <a:spcPct val="90000"/>
              </a:lnSpc>
              <a:spcBef>
                <a:spcPts val="0"/>
              </a:spcBef>
              <a:spcAft>
                <a:spcPts val="0"/>
              </a:spcAft>
              <a:buSzPts val="1384"/>
              <a:buChar char="🞂"/>
            </a:pPr>
            <a:r>
              <a:rPr lang="en-US" sz="2035" b="1" u="sng"/>
              <a:t>14-4 Tue Cycle billing</a:t>
            </a:r>
            <a:r>
              <a:rPr lang="en-US" sz="2035"/>
              <a:t> is commonly used with the balance-forward method.</a:t>
            </a:r>
            <a:endParaRPr/>
          </a:p>
          <a:p>
            <a:pPr marL="621792" lvl="1" indent="-228600" algn="l" rtl="0">
              <a:lnSpc>
                <a:spcPct val="90000"/>
              </a:lnSpc>
              <a:spcBef>
                <a:spcPts val="324"/>
              </a:spcBef>
              <a:spcAft>
                <a:spcPts val="0"/>
              </a:spcAft>
              <a:buSzPts val="2035"/>
              <a:buChar char="◦"/>
            </a:pPr>
            <a:r>
              <a:rPr lang="en-US" sz="2035"/>
              <a:t>Monthly statements are prepared for subsets of customers at different times.</a:t>
            </a:r>
            <a:endParaRPr/>
          </a:p>
          <a:p>
            <a:pPr marL="859536" lvl="2" indent="-228600" algn="l" rtl="0">
              <a:lnSpc>
                <a:spcPct val="90000"/>
              </a:lnSpc>
              <a:spcBef>
                <a:spcPts val="350"/>
              </a:spcBef>
              <a:spcAft>
                <a:spcPts val="0"/>
              </a:spcAft>
              <a:buSzPts val="2035"/>
              <a:buChar char="●"/>
            </a:pPr>
            <a:r>
              <a:rPr lang="en-US" sz="2035"/>
              <a:t>EXAMPLE: Bill customers according to the following schedule:</a:t>
            </a:r>
            <a:endParaRPr/>
          </a:p>
          <a:p>
            <a:pPr marL="1143000" lvl="3" indent="-228600" algn="l" rtl="0">
              <a:lnSpc>
                <a:spcPct val="90000"/>
              </a:lnSpc>
              <a:spcBef>
                <a:spcPts val="350"/>
              </a:spcBef>
              <a:spcAft>
                <a:spcPts val="0"/>
              </a:spcAft>
              <a:buSzPts val="2035"/>
              <a:buChar char="●"/>
            </a:pPr>
            <a:r>
              <a:rPr lang="en-US" sz="2035"/>
              <a:t>1</a:t>
            </a:r>
            <a:r>
              <a:rPr lang="en-US" sz="2035" baseline="30000"/>
              <a:t>st</a:t>
            </a:r>
            <a:r>
              <a:rPr lang="en-US" sz="2035"/>
              <a:t> week of month—Last names beginning with A-F</a:t>
            </a:r>
            <a:endParaRPr/>
          </a:p>
          <a:p>
            <a:pPr marL="1143000" lvl="3" indent="-228600" algn="l" rtl="0">
              <a:lnSpc>
                <a:spcPct val="90000"/>
              </a:lnSpc>
              <a:spcBef>
                <a:spcPts val="350"/>
              </a:spcBef>
              <a:spcAft>
                <a:spcPts val="0"/>
              </a:spcAft>
              <a:buSzPts val="2035"/>
              <a:buChar char="●"/>
            </a:pPr>
            <a:r>
              <a:rPr lang="en-US" sz="2035"/>
              <a:t>2</a:t>
            </a:r>
            <a:r>
              <a:rPr lang="en-US" sz="2035" baseline="30000"/>
              <a:t>nd</a:t>
            </a:r>
            <a:r>
              <a:rPr lang="en-US" sz="2035"/>
              <a:t> week of month—Last names beginning with G-M</a:t>
            </a:r>
            <a:endParaRPr/>
          </a:p>
          <a:p>
            <a:pPr marL="1143000" lvl="3" indent="-228600" algn="l" rtl="0">
              <a:lnSpc>
                <a:spcPct val="90000"/>
              </a:lnSpc>
              <a:spcBef>
                <a:spcPts val="350"/>
              </a:spcBef>
              <a:spcAft>
                <a:spcPts val="0"/>
              </a:spcAft>
              <a:buSzPts val="2035"/>
              <a:buChar char="●"/>
            </a:pPr>
            <a:r>
              <a:rPr lang="en-US" sz="2035"/>
              <a:t>3</a:t>
            </a:r>
            <a:r>
              <a:rPr lang="en-US" sz="2035" baseline="30000"/>
              <a:t>rd</a:t>
            </a:r>
            <a:r>
              <a:rPr lang="en-US" sz="2035"/>
              <a:t> week of month—Last names beginning with N-S</a:t>
            </a:r>
            <a:endParaRPr/>
          </a:p>
          <a:p>
            <a:pPr marL="1143000" lvl="3" indent="-228600" algn="l" rtl="0">
              <a:lnSpc>
                <a:spcPct val="90000"/>
              </a:lnSpc>
              <a:spcBef>
                <a:spcPts val="350"/>
              </a:spcBef>
              <a:spcAft>
                <a:spcPts val="0"/>
              </a:spcAft>
              <a:buSzPts val="2035"/>
              <a:buChar char="●"/>
            </a:pPr>
            <a:r>
              <a:rPr lang="en-US" sz="2035"/>
              <a:t>4</a:t>
            </a:r>
            <a:r>
              <a:rPr lang="en-US" sz="2035" baseline="30000"/>
              <a:t>th</a:t>
            </a:r>
            <a:r>
              <a:rPr lang="en-US" sz="2035"/>
              <a:t> week of month—Last names beginning with T-Z</a:t>
            </a:r>
            <a:endParaRPr/>
          </a:p>
          <a:p>
            <a:pPr marL="621792" lvl="1" indent="-228600" algn="l" rtl="0">
              <a:lnSpc>
                <a:spcPct val="90000"/>
              </a:lnSpc>
              <a:spcBef>
                <a:spcPts val="324"/>
              </a:spcBef>
              <a:spcAft>
                <a:spcPts val="0"/>
              </a:spcAft>
              <a:buSzPts val="2035"/>
              <a:buChar char="◦"/>
            </a:pPr>
            <a:r>
              <a:rPr lang="en-US" sz="2035"/>
              <a:t>Advantages of cycle billing:</a:t>
            </a:r>
            <a:endParaRPr/>
          </a:p>
          <a:p>
            <a:pPr marL="859536" lvl="2" indent="-228600" algn="l" rtl="0">
              <a:lnSpc>
                <a:spcPct val="90000"/>
              </a:lnSpc>
              <a:spcBef>
                <a:spcPts val="350"/>
              </a:spcBef>
              <a:spcAft>
                <a:spcPts val="0"/>
              </a:spcAft>
              <a:buSzPts val="2035"/>
              <a:buChar char="●"/>
            </a:pPr>
            <a:r>
              <a:rPr lang="en-US" sz="2035"/>
              <a:t>Produces more even cash flow.</a:t>
            </a:r>
            <a:endParaRPr/>
          </a:p>
          <a:p>
            <a:pPr marL="859536" lvl="2" indent="-228600" algn="l" rtl="0">
              <a:lnSpc>
                <a:spcPct val="90000"/>
              </a:lnSpc>
              <a:spcBef>
                <a:spcPts val="350"/>
              </a:spcBef>
              <a:spcAft>
                <a:spcPts val="0"/>
              </a:spcAft>
              <a:buSzPts val="2035"/>
              <a:buChar char="●"/>
            </a:pPr>
            <a:r>
              <a:rPr lang="en-US" sz="2035"/>
              <a:t>Produces more even workload.</a:t>
            </a:r>
            <a:endParaRPr/>
          </a:p>
          <a:p>
            <a:pPr marL="859536" lvl="2" indent="-228600" algn="l" rtl="0">
              <a:lnSpc>
                <a:spcPct val="90000"/>
              </a:lnSpc>
              <a:spcBef>
                <a:spcPts val="350"/>
              </a:spcBef>
              <a:spcAft>
                <a:spcPts val="0"/>
              </a:spcAft>
              <a:buSzPts val="2035"/>
              <a:buChar char="●"/>
            </a:pPr>
            <a:r>
              <a:rPr lang="en-US" sz="2035"/>
              <a:t>Doesn’t tie up computer for several days to print statements.</a:t>
            </a:r>
            <a:endParaRPr/>
          </a:p>
          <a:p>
            <a:pPr marL="1143000" lvl="3" indent="-99377" algn="l" rtl="0">
              <a:lnSpc>
                <a:spcPct val="90000"/>
              </a:lnSpc>
              <a:spcBef>
                <a:spcPts val="350"/>
              </a:spcBef>
              <a:spcAft>
                <a:spcPts val="0"/>
              </a:spcAft>
              <a:buSzPts val="2035"/>
              <a:buNone/>
            </a:pPr>
            <a:endParaRPr sz="2035"/>
          </a:p>
        </p:txBody>
      </p:sp>
      <p:sp>
        <p:nvSpPr>
          <p:cNvPr id="829" name="Google Shape;829;p96"/>
          <p:cNvSpPr txBox="1">
            <a:spLocks noGrp="1"/>
          </p:cNvSpPr>
          <p:nvPr>
            <p:ph type="title"/>
          </p:nvPr>
        </p:nvSpPr>
        <p:spPr>
          <a:xfrm>
            <a:off x="762000" y="0"/>
            <a:ext cx="82296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600"/>
              <a:buFont typeface="Lucida Sans"/>
              <a:buNone/>
            </a:pPr>
            <a:r>
              <a:rPr lang="en-US" sz="3600"/>
              <a:t>Billing and Accounts</a:t>
            </a:r>
            <a:br>
              <a:rPr lang="en-US" sz="3600"/>
            </a:br>
            <a:r>
              <a:rPr lang="en-US" sz="3600"/>
              <a:t>Receivable (Activity 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8">
                                            <p:txEl>
                                              <p:pRg st="0" end="0"/>
                                            </p:txEl>
                                          </p:spTgt>
                                        </p:tgtEl>
                                        <p:attrNameLst>
                                          <p:attrName>style.visibility</p:attrName>
                                        </p:attrNameLst>
                                      </p:cBhvr>
                                      <p:to>
                                        <p:strVal val="visible"/>
                                      </p:to>
                                    </p:set>
                                    <p:animEffect transition="in" filter="fade">
                                      <p:cBhvr>
                                        <p:cTn id="7" dur="500"/>
                                        <p:tgtEl>
                                          <p:spTgt spid="8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8">
                                            <p:txEl>
                                              <p:pRg st="1" end="1"/>
                                            </p:txEl>
                                          </p:spTgt>
                                        </p:tgtEl>
                                        <p:attrNameLst>
                                          <p:attrName>style.visibility</p:attrName>
                                        </p:attrNameLst>
                                      </p:cBhvr>
                                      <p:to>
                                        <p:strVal val="visible"/>
                                      </p:to>
                                    </p:set>
                                    <p:animEffect transition="in" filter="fade">
                                      <p:cBhvr>
                                        <p:cTn id="12" dur="500"/>
                                        <p:tgtEl>
                                          <p:spTgt spid="8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8">
                                            <p:txEl>
                                              <p:pRg st="2" end="2"/>
                                            </p:txEl>
                                          </p:spTgt>
                                        </p:tgtEl>
                                        <p:attrNameLst>
                                          <p:attrName>style.visibility</p:attrName>
                                        </p:attrNameLst>
                                      </p:cBhvr>
                                      <p:to>
                                        <p:strVal val="visible"/>
                                      </p:to>
                                    </p:set>
                                    <p:animEffect transition="in" filter="fade">
                                      <p:cBhvr>
                                        <p:cTn id="17" dur="500"/>
                                        <p:tgtEl>
                                          <p:spTgt spid="8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8">
                                            <p:txEl>
                                              <p:pRg st="3" end="3"/>
                                            </p:txEl>
                                          </p:spTgt>
                                        </p:tgtEl>
                                        <p:attrNameLst>
                                          <p:attrName>style.visibility</p:attrName>
                                        </p:attrNameLst>
                                      </p:cBhvr>
                                      <p:to>
                                        <p:strVal val="visible"/>
                                      </p:to>
                                    </p:set>
                                    <p:animEffect transition="in" filter="fade">
                                      <p:cBhvr>
                                        <p:cTn id="22" dur="500"/>
                                        <p:tgtEl>
                                          <p:spTgt spid="8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8">
                                            <p:txEl>
                                              <p:pRg st="4" end="4"/>
                                            </p:txEl>
                                          </p:spTgt>
                                        </p:tgtEl>
                                        <p:attrNameLst>
                                          <p:attrName>style.visibility</p:attrName>
                                        </p:attrNameLst>
                                      </p:cBhvr>
                                      <p:to>
                                        <p:strVal val="visible"/>
                                      </p:to>
                                    </p:set>
                                    <p:animEffect transition="in" filter="fade">
                                      <p:cBhvr>
                                        <p:cTn id="27" dur="500"/>
                                        <p:tgtEl>
                                          <p:spTgt spid="8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8">
                                            <p:txEl>
                                              <p:pRg st="5" end="5"/>
                                            </p:txEl>
                                          </p:spTgt>
                                        </p:tgtEl>
                                        <p:attrNameLst>
                                          <p:attrName>style.visibility</p:attrName>
                                        </p:attrNameLst>
                                      </p:cBhvr>
                                      <p:to>
                                        <p:strVal val="visible"/>
                                      </p:to>
                                    </p:set>
                                    <p:animEffect transition="in" filter="fade">
                                      <p:cBhvr>
                                        <p:cTn id="32" dur="500"/>
                                        <p:tgtEl>
                                          <p:spTgt spid="8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28">
                                            <p:txEl>
                                              <p:pRg st="6" end="6"/>
                                            </p:txEl>
                                          </p:spTgt>
                                        </p:tgtEl>
                                        <p:attrNameLst>
                                          <p:attrName>style.visibility</p:attrName>
                                        </p:attrNameLst>
                                      </p:cBhvr>
                                      <p:to>
                                        <p:strVal val="visible"/>
                                      </p:to>
                                    </p:set>
                                    <p:animEffect transition="in" filter="fade">
                                      <p:cBhvr>
                                        <p:cTn id="37" dur="500"/>
                                        <p:tgtEl>
                                          <p:spTgt spid="82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28">
                                            <p:txEl>
                                              <p:pRg st="7" end="7"/>
                                            </p:txEl>
                                          </p:spTgt>
                                        </p:tgtEl>
                                        <p:attrNameLst>
                                          <p:attrName>style.visibility</p:attrName>
                                        </p:attrNameLst>
                                      </p:cBhvr>
                                      <p:to>
                                        <p:strVal val="visible"/>
                                      </p:to>
                                    </p:set>
                                    <p:animEffect transition="in" filter="fade">
                                      <p:cBhvr>
                                        <p:cTn id="42" dur="500"/>
                                        <p:tgtEl>
                                          <p:spTgt spid="82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28">
                                            <p:txEl>
                                              <p:pRg st="8" end="8"/>
                                            </p:txEl>
                                          </p:spTgt>
                                        </p:tgtEl>
                                        <p:attrNameLst>
                                          <p:attrName>style.visibility</p:attrName>
                                        </p:attrNameLst>
                                      </p:cBhvr>
                                      <p:to>
                                        <p:strVal val="visible"/>
                                      </p:to>
                                    </p:set>
                                    <p:animEffect transition="in" filter="fade">
                                      <p:cBhvr>
                                        <p:cTn id="47" dur="500"/>
                                        <p:tgtEl>
                                          <p:spTgt spid="82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28">
                                            <p:txEl>
                                              <p:pRg st="9" end="9"/>
                                            </p:txEl>
                                          </p:spTgt>
                                        </p:tgtEl>
                                        <p:attrNameLst>
                                          <p:attrName>style.visibility</p:attrName>
                                        </p:attrNameLst>
                                      </p:cBhvr>
                                      <p:to>
                                        <p:strVal val="visible"/>
                                      </p:to>
                                    </p:set>
                                    <p:animEffect transition="in" filter="fade">
                                      <p:cBhvr>
                                        <p:cTn id="52" dur="500"/>
                                        <p:tgtEl>
                                          <p:spTgt spid="82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28">
                                            <p:txEl>
                                              <p:pRg st="10" end="10"/>
                                            </p:txEl>
                                          </p:spTgt>
                                        </p:tgtEl>
                                        <p:attrNameLst>
                                          <p:attrName>style.visibility</p:attrName>
                                        </p:attrNameLst>
                                      </p:cBhvr>
                                      <p:to>
                                        <p:strVal val="visible"/>
                                      </p:to>
                                    </p:set>
                                    <p:animEffect transition="in" filter="fade">
                                      <p:cBhvr>
                                        <p:cTn id="57" dur="500"/>
                                        <p:tgtEl>
                                          <p:spTgt spid="82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28">
                                            <p:txEl>
                                              <p:pRg st="11" end="11"/>
                                            </p:txEl>
                                          </p:spTgt>
                                        </p:tgtEl>
                                        <p:attrNameLst>
                                          <p:attrName>style.visibility</p:attrName>
                                        </p:attrNameLst>
                                      </p:cBhvr>
                                      <p:to>
                                        <p:strVal val="visible"/>
                                      </p:to>
                                    </p:set>
                                    <p:animEffect transition="in" filter="fade">
                                      <p:cBhvr>
                                        <p:cTn id="62" dur="500"/>
                                        <p:tgtEl>
                                          <p:spTgt spid="82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97"/>
          <p:cNvSpPr txBox="1">
            <a:spLocks noGrp="1"/>
          </p:cNvSpPr>
          <p:nvPr>
            <p:ph type="title"/>
          </p:nvPr>
        </p:nvSpPr>
        <p:spPr>
          <a:xfrm>
            <a:off x="3810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200"/>
              <a:buFont typeface="Lucida Sans"/>
              <a:buNone/>
            </a:pPr>
            <a:r>
              <a:rPr lang="en-US" sz="3200"/>
              <a:t>3 Information Needs and Procedures</a:t>
            </a:r>
            <a:endParaRPr sz="3200"/>
          </a:p>
        </p:txBody>
      </p:sp>
      <p:sp>
        <p:nvSpPr>
          <p:cNvPr id="836" name="Google Shape;836;p97"/>
          <p:cNvSpPr txBox="1">
            <a:spLocks noGrp="1"/>
          </p:cNvSpPr>
          <p:nvPr>
            <p:ph type="body" idx="1"/>
          </p:nvPr>
        </p:nvSpPr>
        <p:spPr>
          <a:xfrm>
            <a:off x="457200" y="1295400"/>
            <a:ext cx="8347075" cy="5029200"/>
          </a:xfrm>
          <a:prstGeom prst="rect">
            <a:avLst/>
          </a:prstGeom>
          <a:noFill/>
          <a:ln>
            <a:noFill/>
          </a:ln>
        </p:spPr>
        <p:txBody>
          <a:bodyPr spcFirstLastPara="1" wrap="square" lIns="90475" tIns="44450" rIns="90475" bIns="44450" anchor="t" anchorCtr="0">
            <a:noAutofit/>
          </a:bodyPr>
          <a:lstStyle/>
          <a:p>
            <a:pPr marL="365760" lvl="0" indent="-256032" algn="l" rtl="0">
              <a:lnSpc>
                <a:spcPct val="80000"/>
              </a:lnSpc>
              <a:spcBef>
                <a:spcPts val="0"/>
              </a:spcBef>
              <a:spcAft>
                <a:spcPts val="0"/>
              </a:spcAft>
              <a:buSzPts val="1904"/>
              <a:buChar char="🞂"/>
            </a:pPr>
            <a:r>
              <a:rPr lang="en-US" sz="2800"/>
              <a:t>What are examples of additional information the AIS should provide? </a:t>
            </a:r>
            <a:r>
              <a:rPr lang="en-US" sz="1600"/>
              <a:t>(performance Evaluation.)</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Respond time to customer inquiries</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Time required to fill and deliver orders</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Percentage of sales that required back orders</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Customer satisfaction rates and trends</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Profitability analyses by product, customer, and sales region</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Sales volume in both dollars and number of customers</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Effectiveness of advertising and promotions</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Sales staff performance</a:t>
            </a:r>
            <a:endParaRPr/>
          </a:p>
          <a:p>
            <a:pPr marL="621792" lvl="1" indent="-228600" algn="l" rtl="0">
              <a:lnSpc>
                <a:spcPct val="80000"/>
              </a:lnSpc>
              <a:spcBef>
                <a:spcPts val="324"/>
              </a:spcBef>
              <a:spcAft>
                <a:spcPts val="0"/>
              </a:spcAft>
              <a:buClr>
                <a:schemeClr val="accent1"/>
              </a:buClr>
              <a:buSzPts val="2400"/>
              <a:buFont typeface="Lucida Sans"/>
              <a:buChar char="•"/>
            </a:pPr>
            <a:r>
              <a:rPr lang="en-US" sz="2400"/>
              <a:t>Bad debt expenses and credit policies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98"/>
          <p:cNvSpPr txBox="1">
            <a:spLocks noGrp="1"/>
          </p:cNvSpPr>
          <p:nvPr>
            <p:ph type="title"/>
          </p:nvPr>
        </p:nvSpPr>
        <p:spPr>
          <a:xfrm>
            <a:off x="914400" y="22860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 Cash Collections (Activity 4)</a:t>
            </a:r>
            <a:endParaRPr/>
          </a:p>
        </p:txBody>
      </p:sp>
      <p:sp>
        <p:nvSpPr>
          <p:cNvPr id="843" name="Google Shape;843;p98"/>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Two areas are involved in this activity:</a:t>
            </a:r>
            <a:endParaRPr/>
          </a:p>
          <a:p>
            <a:pPr marL="621792" lvl="1" indent="-228600" algn="l" rtl="0">
              <a:spcBef>
                <a:spcPts val="324"/>
              </a:spcBef>
              <a:spcAft>
                <a:spcPts val="0"/>
              </a:spcAft>
              <a:buSzPts val="3000"/>
              <a:buFont typeface="Lucida Sans"/>
              <a:buChar char="1"/>
            </a:pPr>
            <a:r>
              <a:rPr lang="en-US" sz="3000"/>
              <a:t>The cashier, who reports to the treasurer, handles customer remittances and deposits them in the bank</a:t>
            </a:r>
            <a:endParaRPr/>
          </a:p>
          <a:p>
            <a:pPr marL="621792" lvl="1" indent="-228600" algn="l" rtl="0">
              <a:spcBef>
                <a:spcPts val="324"/>
              </a:spcBef>
              <a:spcAft>
                <a:spcPts val="0"/>
              </a:spcAft>
              <a:buSzPts val="2300"/>
              <a:buFont typeface="Lucida Sans"/>
              <a:buChar char="2"/>
            </a:pPr>
            <a:r>
              <a:rPr lang="en-US"/>
              <a:t>The accounts receivable function</a:t>
            </a:r>
            <a:endParaRPr/>
          </a:p>
        </p:txBody>
      </p:sp>
      <p:pic>
        <p:nvPicPr>
          <p:cNvPr id="844" name="Google Shape;844;p98"/>
          <p:cNvPicPr preferRelativeResize="0"/>
          <p:nvPr/>
        </p:nvPicPr>
        <p:blipFill rotWithShape="1">
          <a:blip r:embed="rId3">
            <a:alphaModFix/>
          </a:blip>
          <a:srcRect/>
          <a:stretch/>
        </p:blipFill>
        <p:spPr>
          <a:xfrm>
            <a:off x="0" y="4202113"/>
            <a:ext cx="2936875" cy="2655887"/>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99"/>
          <p:cNvSpPr txBox="1">
            <a:spLocks noGrp="1"/>
          </p:cNvSpPr>
          <p:nvPr>
            <p:ph type="title"/>
          </p:nvPr>
        </p:nvSpPr>
        <p:spPr>
          <a:xfrm>
            <a:off x="914400" y="22860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Cash Collections (Activity 4)</a:t>
            </a:r>
            <a:endParaRPr/>
          </a:p>
        </p:txBody>
      </p:sp>
      <p:sp>
        <p:nvSpPr>
          <p:cNvPr id="851" name="Google Shape;851;p99"/>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836"/>
              <a:buChar char="🞂"/>
            </a:pPr>
            <a:r>
              <a:rPr lang="en-US" i="1"/>
              <a:t>Key decisions and information needs:</a:t>
            </a:r>
            <a:endParaRPr/>
          </a:p>
          <a:p>
            <a:pPr marL="621792" lvl="1" indent="-228600" algn="l" rtl="0">
              <a:lnSpc>
                <a:spcPct val="90000"/>
              </a:lnSpc>
              <a:spcBef>
                <a:spcPts val="324"/>
              </a:spcBef>
              <a:spcAft>
                <a:spcPts val="0"/>
              </a:spcAft>
              <a:buSzPts val="2300"/>
              <a:buChar char="◦"/>
            </a:pPr>
            <a:r>
              <a:rPr lang="en-US"/>
              <a:t>Reduction of cash theft is essential.</a:t>
            </a:r>
            <a:endParaRPr/>
          </a:p>
          <a:p>
            <a:pPr marL="621792" lvl="1" indent="-228600" algn="l" rtl="0">
              <a:lnSpc>
                <a:spcPct val="90000"/>
              </a:lnSpc>
              <a:spcBef>
                <a:spcPts val="324"/>
              </a:spcBef>
              <a:spcAft>
                <a:spcPts val="0"/>
              </a:spcAft>
              <a:buSzPts val="2300"/>
              <a:buChar char="◦"/>
            </a:pPr>
            <a:r>
              <a:rPr lang="en-US"/>
              <a:t>The </a:t>
            </a:r>
            <a:r>
              <a:rPr lang="en-US" u="sng"/>
              <a:t>billing/accounts</a:t>
            </a:r>
            <a:r>
              <a:rPr lang="en-US"/>
              <a:t> receivable function should not have physical access to </a:t>
            </a:r>
            <a:r>
              <a:rPr lang="en-US" u="sng"/>
              <a:t>cash</a:t>
            </a:r>
            <a:r>
              <a:rPr lang="en-US"/>
              <a:t> or checks.</a:t>
            </a:r>
            <a:endParaRPr/>
          </a:p>
          <a:p>
            <a:pPr marL="621792" lvl="1" indent="-228600" algn="l" rtl="0">
              <a:lnSpc>
                <a:spcPct val="90000"/>
              </a:lnSpc>
              <a:spcBef>
                <a:spcPts val="324"/>
              </a:spcBef>
              <a:spcAft>
                <a:spcPts val="0"/>
              </a:spcAft>
              <a:buSzPts val="2300"/>
              <a:buChar char="◦"/>
            </a:pPr>
            <a:r>
              <a:rPr lang="en-US"/>
              <a:t>The accounts receivable function must be able to </a:t>
            </a:r>
            <a:r>
              <a:rPr lang="en-US" u="sng"/>
              <a:t>identify the source of any remittances</a:t>
            </a:r>
            <a:r>
              <a:rPr lang="en-US"/>
              <a:t> and the applicable </a:t>
            </a:r>
            <a:r>
              <a:rPr lang="en-US" u="sng"/>
              <a:t>invoices</a:t>
            </a:r>
            <a:r>
              <a:rPr lang="en-US"/>
              <a:t> that should be credited.</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00"/>
          <p:cNvSpPr txBox="1">
            <a:spLocks noGrp="1"/>
          </p:cNvSpPr>
          <p:nvPr>
            <p:ph type="title"/>
          </p:nvPr>
        </p:nvSpPr>
        <p:spPr>
          <a:xfrm>
            <a:off x="914400" y="30480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4100"/>
              <a:buFont typeface="Lucida Sans"/>
              <a:buNone/>
            </a:pPr>
            <a:r>
              <a:rPr lang="en-US"/>
              <a:t>Cash Collections (Activity 4)</a:t>
            </a:r>
            <a:endParaRPr/>
          </a:p>
        </p:txBody>
      </p:sp>
      <p:sp>
        <p:nvSpPr>
          <p:cNvPr id="858" name="Google Shape;858;p100"/>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836"/>
              <a:buChar char="🞂"/>
            </a:pPr>
            <a:r>
              <a:rPr lang="en-US" i="1"/>
              <a:t>Documents, records, and procedures:</a:t>
            </a:r>
            <a:endParaRPr/>
          </a:p>
          <a:p>
            <a:pPr marL="621792" lvl="1" indent="-228600" algn="l" rtl="0">
              <a:lnSpc>
                <a:spcPct val="90000"/>
              </a:lnSpc>
              <a:spcBef>
                <a:spcPts val="324"/>
              </a:spcBef>
              <a:spcAft>
                <a:spcPts val="0"/>
              </a:spcAft>
              <a:buSzPts val="2300"/>
              <a:buChar char="◦"/>
            </a:pPr>
            <a:r>
              <a:rPr lang="en-US" u="sng"/>
              <a:t>Checks</a:t>
            </a:r>
            <a:r>
              <a:rPr lang="en-US"/>
              <a:t> are received and deposited.</a:t>
            </a:r>
            <a:endParaRPr/>
          </a:p>
          <a:p>
            <a:pPr marL="621792" lvl="1" indent="-228600" algn="l" rtl="0">
              <a:lnSpc>
                <a:spcPct val="90000"/>
              </a:lnSpc>
              <a:spcBef>
                <a:spcPts val="324"/>
              </a:spcBef>
              <a:spcAft>
                <a:spcPts val="0"/>
              </a:spcAft>
              <a:buSzPts val="2300"/>
              <a:buChar char="◦"/>
            </a:pPr>
            <a:r>
              <a:rPr lang="en-US" i="1" u="sng"/>
              <a:t>A remittance list</a:t>
            </a:r>
            <a:r>
              <a:rPr lang="en-US" i="1"/>
              <a:t> </a:t>
            </a:r>
            <a:r>
              <a:rPr lang="en-US"/>
              <a:t>is prepared and entered on-line showing the customer, invoice number, and the amount of each payment.</a:t>
            </a:r>
            <a:endParaRPr/>
          </a:p>
          <a:p>
            <a:pPr marL="621792" lvl="1" indent="-228600" algn="l" rtl="0">
              <a:lnSpc>
                <a:spcPct val="90000"/>
              </a:lnSpc>
              <a:spcBef>
                <a:spcPts val="324"/>
              </a:spcBef>
              <a:spcAft>
                <a:spcPts val="0"/>
              </a:spcAft>
              <a:buSzPts val="2300"/>
              <a:buChar char="◦"/>
            </a:pPr>
            <a:r>
              <a:rPr lang="en-US"/>
              <a:t>The system performs a number of on-line </a:t>
            </a:r>
            <a:r>
              <a:rPr lang="en-US" u="sng"/>
              <a:t>edit checks</a:t>
            </a:r>
            <a:r>
              <a:rPr lang="en-US"/>
              <a:t> to verify the accuracy of data entry.</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101"/>
          <p:cNvSpPr txBox="1">
            <a:spLocks noGrp="1"/>
          </p:cNvSpPr>
          <p:nvPr>
            <p:ph type="title"/>
          </p:nvPr>
        </p:nvSpPr>
        <p:spPr>
          <a:xfrm>
            <a:off x="4572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Control: Objectives,</a:t>
            </a:r>
            <a:br>
              <a:rPr lang="en-US" sz="3690"/>
            </a:br>
            <a:r>
              <a:rPr lang="en-US" sz="3690"/>
              <a:t>Threats, and Procedures</a:t>
            </a:r>
            <a:endParaRPr/>
          </a:p>
        </p:txBody>
      </p:sp>
      <p:sp>
        <p:nvSpPr>
          <p:cNvPr id="865" name="Google Shape;865;p101"/>
          <p:cNvSpPr txBox="1">
            <a:spLocks noGrp="1"/>
          </p:cNvSpPr>
          <p:nvPr>
            <p:ph type="body" idx="1"/>
          </p:nvPr>
        </p:nvSpPr>
        <p:spPr>
          <a:xfrm>
            <a:off x="457200" y="1481328"/>
            <a:ext cx="8229600" cy="4525963"/>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In the revenue cycle (or any cycle), The </a:t>
            </a:r>
            <a:r>
              <a:rPr lang="en-US" i="1"/>
              <a:t>second function</a:t>
            </a:r>
            <a:r>
              <a:rPr lang="en-US"/>
              <a:t> of a well-designed AIS is to provide adequate controls to ensure that the following objectives are met:</a:t>
            </a:r>
            <a:endParaRPr/>
          </a:p>
          <a:p>
            <a:pPr marL="621792" lvl="1" indent="-228600" algn="l" rtl="0">
              <a:spcBef>
                <a:spcPts val="324"/>
              </a:spcBef>
              <a:spcAft>
                <a:spcPts val="0"/>
              </a:spcAft>
              <a:buSzPts val="2300"/>
              <a:buChar char="◦"/>
            </a:pPr>
            <a:r>
              <a:rPr lang="en-US"/>
              <a:t>Transactions are properly authorized.</a:t>
            </a:r>
            <a:endParaRPr/>
          </a:p>
          <a:p>
            <a:pPr marL="621792" lvl="1" indent="-228600" algn="l" rtl="0">
              <a:spcBef>
                <a:spcPts val="324"/>
              </a:spcBef>
              <a:spcAft>
                <a:spcPts val="0"/>
              </a:spcAft>
              <a:buSzPts val="2300"/>
              <a:buFont typeface="Lucida Sans"/>
              <a:buNone/>
            </a:pPr>
            <a:r>
              <a:rPr lang="en-US"/>
              <a:t>(emp_ write off account)</a:t>
            </a:r>
            <a:endParaRPr/>
          </a:p>
          <a:p>
            <a:pPr marL="621792" lvl="1" indent="-228600" algn="l" rtl="0">
              <a:spcBef>
                <a:spcPts val="324"/>
              </a:spcBef>
              <a:spcAft>
                <a:spcPts val="0"/>
              </a:spcAft>
              <a:buSzPts val="2300"/>
              <a:buChar char="◦"/>
            </a:pPr>
            <a:r>
              <a:rPr lang="en-US"/>
              <a:t>Recorded transactions are valid.</a:t>
            </a:r>
            <a:endParaRPr/>
          </a:p>
          <a:p>
            <a:pPr marL="621792" lvl="1" indent="-228600" algn="l" rtl="0">
              <a:spcBef>
                <a:spcPts val="324"/>
              </a:spcBef>
              <a:spcAft>
                <a:spcPts val="0"/>
              </a:spcAft>
              <a:buSzPts val="1800"/>
              <a:buFont typeface="Lucida Sans"/>
              <a:buNone/>
            </a:pPr>
            <a:r>
              <a:rPr lang="en-US" sz="1800" b="1"/>
              <a:t> Showing false revenues in a financial statement</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pic>
        <p:nvPicPr>
          <p:cNvPr id="871" name="Google Shape;871;p102"/>
          <p:cNvPicPr preferRelativeResize="0"/>
          <p:nvPr/>
        </p:nvPicPr>
        <p:blipFill rotWithShape="1">
          <a:blip r:embed="rId3">
            <a:alphaModFix/>
          </a:blip>
          <a:srcRect/>
          <a:stretch/>
        </p:blipFill>
        <p:spPr>
          <a:xfrm>
            <a:off x="152400" y="4048125"/>
            <a:ext cx="1828800" cy="2200275"/>
          </a:xfrm>
          <a:prstGeom prst="rect">
            <a:avLst/>
          </a:prstGeom>
          <a:noFill/>
          <a:ln>
            <a:noFill/>
          </a:ln>
        </p:spPr>
      </p:pic>
      <p:sp>
        <p:nvSpPr>
          <p:cNvPr id="872" name="Google Shape;872;p102"/>
          <p:cNvSpPr txBox="1">
            <a:spLocks noGrp="1"/>
          </p:cNvSpPr>
          <p:nvPr>
            <p:ph type="title"/>
          </p:nvPr>
        </p:nvSpPr>
        <p:spPr>
          <a:xfrm>
            <a:off x="5334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2"/>
              </a:buClr>
              <a:buSzPts val="3690"/>
              <a:buFont typeface="Lucida Sans"/>
              <a:buNone/>
            </a:pPr>
            <a:r>
              <a:rPr lang="en-US" sz="3690"/>
              <a:t>Control: Objectives,</a:t>
            </a:r>
            <a:br>
              <a:rPr lang="en-US" sz="3690"/>
            </a:br>
            <a:r>
              <a:rPr lang="en-US" sz="3690"/>
              <a:t>Threats, and Procedures</a:t>
            </a:r>
            <a:endParaRPr/>
          </a:p>
        </p:txBody>
      </p:sp>
      <p:sp>
        <p:nvSpPr>
          <p:cNvPr id="873" name="Google Shape;873;p102"/>
          <p:cNvSpPr txBox="1">
            <a:spLocks noGrp="1"/>
          </p:cNvSpPr>
          <p:nvPr>
            <p:ph type="body" idx="1"/>
          </p:nvPr>
        </p:nvSpPr>
        <p:spPr>
          <a:xfrm>
            <a:off x="1524000" y="2209800"/>
            <a:ext cx="7010400" cy="4114800"/>
          </a:xfrm>
          <a:prstGeom prst="rect">
            <a:avLst/>
          </a:prstGeom>
          <a:noFill/>
          <a:ln>
            <a:noFill/>
          </a:ln>
        </p:spPr>
        <p:txBody>
          <a:bodyPr spcFirstLastPara="1" wrap="square" lIns="90475" tIns="44450" rIns="90475" bIns="44450" anchor="t" anchorCtr="0">
            <a:noAutofit/>
          </a:bodyPr>
          <a:lstStyle/>
          <a:p>
            <a:pPr marL="621792" lvl="1" indent="-228600" algn="l" rtl="0">
              <a:spcBef>
                <a:spcPts val="0"/>
              </a:spcBef>
              <a:spcAft>
                <a:spcPts val="0"/>
              </a:spcAft>
              <a:buSzPts val="2300"/>
              <a:buChar char="◦"/>
            </a:pPr>
            <a:r>
              <a:rPr lang="en-US"/>
              <a:t>Valid, authorized transactions are recorded. </a:t>
            </a:r>
            <a:r>
              <a:rPr lang="en-US" sz="1600" b="1"/>
              <a:t>Don’t show Discounts🡪 higher net sales </a:t>
            </a:r>
            <a:endParaRPr/>
          </a:p>
          <a:p>
            <a:pPr marL="621792" lvl="1" indent="-228600" algn="l" rtl="0">
              <a:spcBef>
                <a:spcPts val="324"/>
              </a:spcBef>
              <a:spcAft>
                <a:spcPts val="0"/>
              </a:spcAft>
              <a:buSzPts val="2300"/>
              <a:buChar char="◦"/>
            </a:pPr>
            <a:r>
              <a:rPr lang="en-US"/>
              <a:t>Transactions are recorded accurately.</a:t>
            </a:r>
            <a:endParaRPr/>
          </a:p>
          <a:p>
            <a:pPr marL="621792" lvl="1" indent="-228600" algn="l" rtl="0">
              <a:spcBef>
                <a:spcPts val="324"/>
              </a:spcBef>
              <a:spcAft>
                <a:spcPts val="0"/>
              </a:spcAft>
              <a:buSzPts val="2300"/>
              <a:buChar char="◦"/>
            </a:pPr>
            <a:r>
              <a:rPr lang="en-US"/>
              <a:t>Assets (cash, inventory, and data) are safeguarded from loss or theft.</a:t>
            </a:r>
            <a:endParaRPr/>
          </a:p>
          <a:p>
            <a:pPr marL="621792" lvl="1" indent="-228600" algn="l" rtl="0">
              <a:spcBef>
                <a:spcPts val="324"/>
              </a:spcBef>
              <a:spcAft>
                <a:spcPts val="0"/>
              </a:spcAft>
              <a:buSzPts val="2300"/>
              <a:buChar char="◦"/>
            </a:pPr>
            <a:r>
              <a:rPr lang="en-US"/>
              <a:t>Business activities are performed efficiently and effectively.</a:t>
            </a:r>
            <a:endParaRPr/>
          </a:p>
        </p:txBody>
      </p:sp>
      <p:sp>
        <p:nvSpPr>
          <p:cNvPr id="874" name="Google Shape;874;p102"/>
          <p:cNvSpPr txBox="1"/>
          <p:nvPr/>
        </p:nvSpPr>
        <p:spPr>
          <a:xfrm>
            <a:off x="1447800" y="1752600"/>
            <a:ext cx="32766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Objectives, continued</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3"/>
          <p:cNvSpPr txBox="1">
            <a:spLocks noGrp="1"/>
          </p:cNvSpPr>
          <p:nvPr>
            <p:ph type="title"/>
          </p:nvPr>
        </p:nvSpPr>
        <p:spPr>
          <a:xfrm>
            <a:off x="9144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1"/>
              </a:buClr>
              <a:buSzPts val="3420"/>
              <a:buFont typeface="Lucida Sans"/>
              <a:buNone/>
            </a:pPr>
            <a:r>
              <a:rPr lang="en-US" sz="3420" i="1">
                <a:solidFill>
                  <a:schemeClr val="dk1"/>
                </a:solidFill>
              </a:rPr>
              <a:t>Threats </a:t>
            </a:r>
            <a:r>
              <a:rPr lang="en-US" sz="3420">
                <a:solidFill>
                  <a:schemeClr val="dk1"/>
                </a:solidFill>
              </a:rPr>
              <a:t>and </a:t>
            </a:r>
            <a:r>
              <a:rPr lang="en-US" sz="3420" i="1">
                <a:solidFill>
                  <a:schemeClr val="dk1"/>
                </a:solidFill>
              </a:rPr>
              <a:t>Applicable Control Procedures </a:t>
            </a:r>
            <a:r>
              <a:rPr lang="en-US" sz="3420">
                <a:solidFill>
                  <a:schemeClr val="dk1"/>
                </a:solidFill>
              </a:rPr>
              <a:t>to</a:t>
            </a:r>
            <a:r>
              <a:rPr lang="en-US" sz="3420" i="1">
                <a:solidFill>
                  <a:schemeClr val="dk1"/>
                </a:solidFill>
              </a:rPr>
              <a:t> </a:t>
            </a:r>
            <a:r>
              <a:rPr lang="en-US" sz="3420">
                <a:solidFill>
                  <a:schemeClr val="dk1"/>
                </a:solidFill>
              </a:rPr>
              <a:t>Sales Order Entry</a:t>
            </a:r>
            <a:endParaRPr/>
          </a:p>
        </p:txBody>
      </p:sp>
      <p:graphicFrame>
        <p:nvGraphicFramePr>
          <p:cNvPr id="881" name="Google Shape;881;p103"/>
          <p:cNvGraphicFramePr/>
          <p:nvPr/>
        </p:nvGraphicFramePr>
        <p:xfrm>
          <a:off x="762000" y="1752600"/>
          <a:ext cx="7848600" cy="4542830"/>
        </p:xfrm>
        <a:graphic>
          <a:graphicData uri="http://schemas.openxmlformats.org/drawingml/2006/table">
            <a:tbl>
              <a:tblPr>
                <a:noFill/>
                <a:tableStyleId>{59EC689D-A61E-491C-9692-EBFBF9B0DCE2}</a:tableStyleId>
              </a:tblPr>
              <a:tblGrid>
                <a:gridCol w="3200400"/>
                <a:gridCol w="4648200"/>
              </a:tblGrid>
              <a:tr h="304800">
                <a:tc>
                  <a:txBody>
                    <a:bodyPr/>
                    <a:lstStyle/>
                    <a:p>
                      <a:pPr marL="0" marR="0" lvl="0" indent="0" algn="ctr"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Threat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Applicable Control Procedures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7550">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1. Incomplete or inaccurate customer orders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Data entry edit checks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4375">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2. Credit sales to customers with poor credit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Credit approval by credit manager, not by sales function; accurate records of customer account balances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7550">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3. Legitimacy of orders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Signatures on paper documents; digital signatures and digital certificates for e-business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5975">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4. Stockouts, carrying costs and markdowns</a:t>
                      </a:r>
                      <a:endParaRPr/>
                    </a:p>
                    <a:p>
                      <a:pPr marL="0" marR="0" lvl="0" indent="0" algn="l" rtl="0">
                        <a:lnSpc>
                          <a:spcPct val="100000"/>
                        </a:lnSpc>
                        <a:spcBef>
                          <a:spcPts val="560"/>
                        </a:spcBef>
                        <a:spcAft>
                          <a:spcPts val="0"/>
                        </a:spcAft>
                        <a:buClr>
                          <a:schemeClr val="dk1"/>
                        </a:buClr>
                        <a:buSzPts val="1400"/>
                        <a:buFont typeface="Constantia"/>
                        <a:buNone/>
                      </a:pPr>
                      <a:r>
                        <a:rPr lang="en-US" sz="1400" b="0" i="0" u="none" strike="noStrike" cap="none">
                          <a:solidFill>
                            <a:schemeClr val="dk1"/>
                          </a:solidFill>
                          <a:latin typeface="Constantia"/>
                          <a:ea typeface="Constantia"/>
                          <a:cs typeface="Constantia"/>
                          <a:sym typeface="Constantia"/>
                        </a:rPr>
                        <a:t>Carrying Cost: warehousing costs such as rent, utilities and salaries</a:t>
                      </a:r>
                      <a:r>
                        <a:rPr lang="en-US" sz="2800" b="0" i="0" u="none" strike="noStrike" cap="none">
                          <a:solidFill>
                            <a:schemeClr val="dk1"/>
                          </a:solidFill>
                          <a:latin typeface="Constantia"/>
                          <a:ea typeface="Constantia"/>
                          <a:cs typeface="Constantia"/>
                          <a:sym typeface="Constantia"/>
                        </a:rPr>
                        <a:t> </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Inventory control systems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Tree>
  </p:cSld>
  <p:clrMapOvr>
    <a:masterClrMapping/>
  </p:clrMapOvr>
  <p:transition>
    <p:fade thruBlk="1"/>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04"/>
          <p:cNvSpPr txBox="1">
            <a:spLocks noGrp="1"/>
          </p:cNvSpPr>
          <p:nvPr>
            <p:ph type="title"/>
          </p:nvPr>
        </p:nvSpPr>
        <p:spPr>
          <a:xfrm>
            <a:off x="9144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1"/>
              </a:buClr>
              <a:buSzPts val="3420"/>
              <a:buFont typeface="Lucida Sans"/>
              <a:buNone/>
            </a:pPr>
            <a:r>
              <a:rPr lang="en-US" sz="3420" i="1">
                <a:solidFill>
                  <a:schemeClr val="dk1"/>
                </a:solidFill>
              </a:rPr>
              <a:t>Threats </a:t>
            </a:r>
            <a:r>
              <a:rPr lang="en-US" sz="3420">
                <a:solidFill>
                  <a:schemeClr val="dk1"/>
                </a:solidFill>
              </a:rPr>
              <a:t>and </a:t>
            </a:r>
            <a:r>
              <a:rPr lang="en-US" sz="3420" i="1">
                <a:solidFill>
                  <a:schemeClr val="dk1"/>
                </a:solidFill>
              </a:rPr>
              <a:t>Applicable Control Procedures </a:t>
            </a:r>
            <a:r>
              <a:rPr lang="en-US" sz="3420">
                <a:solidFill>
                  <a:schemeClr val="dk1"/>
                </a:solidFill>
              </a:rPr>
              <a:t>to</a:t>
            </a:r>
            <a:r>
              <a:rPr lang="en-US" sz="3420" i="1">
                <a:solidFill>
                  <a:schemeClr val="dk1"/>
                </a:solidFill>
              </a:rPr>
              <a:t> </a:t>
            </a:r>
            <a:r>
              <a:rPr lang="en-US" sz="3420">
                <a:solidFill>
                  <a:schemeClr val="dk1"/>
                </a:solidFill>
              </a:rPr>
              <a:t>Shipping</a:t>
            </a:r>
            <a:endParaRPr/>
          </a:p>
        </p:txBody>
      </p:sp>
      <p:graphicFrame>
        <p:nvGraphicFramePr>
          <p:cNvPr id="888" name="Google Shape;888;p104"/>
          <p:cNvGraphicFramePr/>
          <p:nvPr/>
        </p:nvGraphicFramePr>
        <p:xfrm>
          <a:off x="762000" y="1752600"/>
          <a:ext cx="7848600" cy="3525550"/>
        </p:xfrm>
        <a:graphic>
          <a:graphicData uri="http://schemas.openxmlformats.org/drawingml/2006/table">
            <a:tbl>
              <a:tblPr>
                <a:noFill/>
                <a:tableStyleId>{59EC689D-A61E-491C-9692-EBFBF9B0DCE2}</a:tableStyleId>
              </a:tblPr>
              <a:tblGrid>
                <a:gridCol w="3200400"/>
                <a:gridCol w="4648200"/>
              </a:tblGrid>
              <a:tr h="304800">
                <a:tc>
                  <a:txBody>
                    <a:bodyPr/>
                    <a:lstStyle/>
                    <a:p>
                      <a:pPr marL="0" marR="0" lvl="0" indent="0" algn="ctr"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Threat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Applicable Control Procedures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7550">
                <a:tc>
                  <a:txBody>
                    <a:bodyPr/>
                    <a:lstStyle/>
                    <a:p>
                      <a:pPr marL="495300" marR="0" lvl="0" indent="-49530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1. Shipping errors:</a:t>
                      </a:r>
                      <a:endParaRPr/>
                    </a:p>
                    <a:p>
                      <a:pPr marL="495300" marR="0" lvl="0" indent="-495300" algn="l" rtl="0">
                        <a:lnSpc>
                          <a:spcPct val="100000"/>
                        </a:lnSpc>
                        <a:spcBef>
                          <a:spcPts val="400"/>
                        </a:spcBef>
                        <a:spcAft>
                          <a:spcPts val="0"/>
                        </a:spcAft>
                        <a:buClr>
                          <a:schemeClr val="accent1"/>
                        </a:buClr>
                        <a:buSzPts val="2000"/>
                        <a:buFont typeface="Constantia"/>
                        <a:buChar char="•"/>
                      </a:pPr>
                      <a:r>
                        <a:rPr lang="en-US" sz="2000" b="0" i="0" u="none" strike="noStrike" cap="none">
                          <a:solidFill>
                            <a:schemeClr val="dk1"/>
                          </a:solidFill>
                          <a:latin typeface="Constantia"/>
                          <a:ea typeface="Constantia"/>
                          <a:cs typeface="Constantia"/>
                          <a:sym typeface="Constantia"/>
                        </a:rPr>
                        <a:t>Wrong merchandise</a:t>
                      </a:r>
                      <a:endParaRPr/>
                    </a:p>
                    <a:p>
                      <a:pPr marL="495300" marR="0" lvl="0" indent="-495300" algn="l" rtl="0">
                        <a:lnSpc>
                          <a:spcPct val="100000"/>
                        </a:lnSpc>
                        <a:spcBef>
                          <a:spcPts val="400"/>
                        </a:spcBef>
                        <a:spcAft>
                          <a:spcPts val="0"/>
                        </a:spcAft>
                        <a:buClr>
                          <a:schemeClr val="accent1"/>
                        </a:buClr>
                        <a:buSzPts val="2000"/>
                        <a:buFont typeface="Constantia"/>
                        <a:buChar char="•"/>
                      </a:pPr>
                      <a:r>
                        <a:rPr lang="en-US" sz="2000" b="0" i="0" u="none" strike="noStrike" cap="none">
                          <a:solidFill>
                            <a:schemeClr val="dk1"/>
                          </a:solidFill>
                          <a:latin typeface="Constantia"/>
                          <a:ea typeface="Constantia"/>
                          <a:cs typeface="Constantia"/>
                          <a:sym typeface="Constantia"/>
                        </a:rPr>
                        <a:t>Wrong quantities</a:t>
                      </a:r>
                      <a:endParaRPr/>
                    </a:p>
                    <a:p>
                      <a:pPr marL="495300" marR="0" lvl="0" indent="-495300" algn="l" rtl="0">
                        <a:lnSpc>
                          <a:spcPct val="100000"/>
                        </a:lnSpc>
                        <a:spcBef>
                          <a:spcPts val="400"/>
                        </a:spcBef>
                        <a:spcAft>
                          <a:spcPts val="0"/>
                        </a:spcAft>
                        <a:buClr>
                          <a:schemeClr val="accent1"/>
                        </a:buClr>
                        <a:buSzPts val="2000"/>
                        <a:buFont typeface="Constantia"/>
                        <a:buChar char="•"/>
                      </a:pPr>
                      <a:r>
                        <a:rPr lang="en-US" sz="2000" b="0" i="0" u="none" strike="noStrike" cap="none">
                          <a:solidFill>
                            <a:schemeClr val="dk1"/>
                          </a:solidFill>
                          <a:latin typeface="Constantia"/>
                          <a:ea typeface="Constantia"/>
                          <a:cs typeface="Constantia"/>
                          <a:sym typeface="Constantia"/>
                        </a:rPr>
                        <a:t>Wrong address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Reconciliation of sales order with picking ticket and packing slip; bar code scanners; data entry application controls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4375">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2. Theft of inventory</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Restrict physical access to inventory; </a:t>
                      </a:r>
                      <a:endParaRPr/>
                    </a:p>
                    <a:p>
                      <a:pPr marL="0" marR="0" lvl="0" indent="0" algn="l" rtl="0">
                        <a:lnSpc>
                          <a:spcPct val="100000"/>
                        </a:lnSpc>
                        <a:spcBef>
                          <a:spcPts val="40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Documentation of all internal transfers of inventory; periodic physical counts of inventory and reconciliation of counts of recorded amounts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Tree>
  </p:cSld>
  <p:clrMapOvr>
    <a:masterClrMapping/>
  </p:clrMapOvr>
  <p:transition>
    <p:fade thruBlk="1"/>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05"/>
          <p:cNvSpPr txBox="1">
            <a:spLocks noGrp="1"/>
          </p:cNvSpPr>
          <p:nvPr>
            <p:ph type="title"/>
          </p:nvPr>
        </p:nvSpPr>
        <p:spPr>
          <a:xfrm>
            <a:off x="3048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1"/>
              </a:buClr>
              <a:buSzPts val="2160"/>
              <a:buFont typeface="Lucida Sans"/>
              <a:buNone/>
            </a:pPr>
            <a:r>
              <a:rPr lang="en-US" sz="2160" b="1" i="1">
                <a:solidFill>
                  <a:schemeClr val="dk1"/>
                </a:solidFill>
              </a:rPr>
              <a:t>Threats </a:t>
            </a:r>
            <a:r>
              <a:rPr lang="en-US" sz="2160" b="1">
                <a:solidFill>
                  <a:schemeClr val="dk1"/>
                </a:solidFill>
              </a:rPr>
              <a:t>and </a:t>
            </a:r>
            <a:r>
              <a:rPr lang="en-US" sz="2160" b="1" i="1">
                <a:solidFill>
                  <a:schemeClr val="dk1"/>
                </a:solidFill>
              </a:rPr>
              <a:t>Applicable Control Procedures </a:t>
            </a:r>
            <a:r>
              <a:rPr lang="en-US" sz="2160" b="1">
                <a:solidFill>
                  <a:schemeClr val="dk1"/>
                </a:solidFill>
              </a:rPr>
              <a:t>to</a:t>
            </a:r>
            <a:r>
              <a:rPr lang="en-US" sz="2160" b="1" i="1">
                <a:solidFill>
                  <a:schemeClr val="dk1"/>
                </a:solidFill>
              </a:rPr>
              <a:t> </a:t>
            </a:r>
            <a:r>
              <a:rPr lang="en-US" sz="2160" b="1">
                <a:solidFill>
                  <a:schemeClr val="dk1"/>
                </a:solidFill>
              </a:rPr>
              <a:t>Billing and </a:t>
            </a:r>
            <a:br>
              <a:rPr lang="en-US" sz="2160" b="1">
                <a:solidFill>
                  <a:schemeClr val="dk1"/>
                </a:solidFill>
              </a:rPr>
            </a:br>
            <a:r>
              <a:rPr lang="en-US" sz="2160" b="1">
                <a:solidFill>
                  <a:schemeClr val="dk1"/>
                </a:solidFill>
              </a:rPr>
              <a:t>Accounts Receivable</a:t>
            </a:r>
            <a:endParaRPr/>
          </a:p>
        </p:txBody>
      </p:sp>
      <p:graphicFrame>
        <p:nvGraphicFramePr>
          <p:cNvPr id="895" name="Google Shape;895;p105"/>
          <p:cNvGraphicFramePr/>
          <p:nvPr/>
        </p:nvGraphicFramePr>
        <p:xfrm>
          <a:off x="457200" y="1752600"/>
          <a:ext cx="8382000" cy="4125000"/>
        </p:xfrm>
        <a:graphic>
          <a:graphicData uri="http://schemas.openxmlformats.org/drawingml/2006/table">
            <a:tbl>
              <a:tblPr>
                <a:noFill/>
                <a:tableStyleId>{59EC689D-A61E-491C-9692-EBFBF9B0DCE2}</a:tableStyleId>
              </a:tblPr>
              <a:tblGrid>
                <a:gridCol w="3417900"/>
                <a:gridCol w="4964100"/>
              </a:tblGrid>
              <a:tr h="304800">
                <a:tc>
                  <a:txBody>
                    <a:bodyPr/>
                    <a:lstStyle/>
                    <a:p>
                      <a:pPr marL="0" marR="0" lvl="0" indent="0" algn="ctr"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Threat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Applicable Control Procedures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7550">
                <a:tc>
                  <a:txBody>
                    <a:bodyPr/>
                    <a:lstStyle/>
                    <a:p>
                      <a:pPr marL="495300" marR="0" lvl="0" indent="-49530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1. Failure to bill customers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Separation of shipping and billing functions; </a:t>
                      </a:r>
                      <a:endParaRPr/>
                    </a:p>
                    <a:p>
                      <a:pPr marL="0" marR="0" lvl="0" indent="0" algn="l" rtl="0">
                        <a:lnSpc>
                          <a:spcPct val="100000"/>
                        </a:lnSpc>
                        <a:spcBef>
                          <a:spcPts val="40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Prenumbering of all shipping documents and periodic reconciliation to invoices; reconciliation of picking tickets and bills of lading with sales orders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9150">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2. Billing errors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Data entry edit control</a:t>
                      </a:r>
                      <a:endParaRPr/>
                    </a:p>
                    <a:p>
                      <a:pPr marL="0" marR="0" lvl="0" indent="0" algn="l" rtl="0">
                        <a:lnSpc>
                          <a:spcPct val="100000"/>
                        </a:lnSpc>
                        <a:spcBef>
                          <a:spcPts val="40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Price lists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79500">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3. Posting errors in updating accounts receivable</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onstantia"/>
                        <a:buNone/>
                      </a:pPr>
                      <a:r>
                        <a:rPr lang="en-US" sz="2000" b="0" i="0" u="none" strike="noStrike" cap="none">
                          <a:solidFill>
                            <a:schemeClr val="dk1"/>
                          </a:solidFill>
                          <a:latin typeface="Constantia"/>
                          <a:ea typeface="Constantia"/>
                          <a:cs typeface="Constantia"/>
                          <a:sym typeface="Constantia"/>
                        </a:rPr>
                        <a:t>Reconciliation of subsidiary accounts receivable ledger with general ledger; monthly statements to customers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Tree>
  </p:cSld>
  <p:clrMapOvr>
    <a:masterClrMapping/>
  </p:clrMapOvr>
  <p:transition>
    <p:fade thruBlk="1"/>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06"/>
          <p:cNvSpPr txBox="1">
            <a:spLocks noGrp="1"/>
          </p:cNvSpPr>
          <p:nvPr>
            <p:ph type="title"/>
          </p:nvPr>
        </p:nvSpPr>
        <p:spPr>
          <a:xfrm>
            <a:off x="1447800" y="0"/>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1"/>
              </a:buClr>
              <a:buSzPts val="2400"/>
              <a:buFont typeface="Lucida Sans"/>
              <a:buNone/>
            </a:pPr>
            <a:r>
              <a:rPr lang="en-US" sz="2400" b="1" i="1">
                <a:solidFill>
                  <a:schemeClr val="dk1"/>
                </a:solidFill>
              </a:rPr>
              <a:t>Threat </a:t>
            </a:r>
            <a:r>
              <a:rPr lang="en-US" sz="2400" b="1">
                <a:solidFill>
                  <a:schemeClr val="dk1"/>
                </a:solidFill>
              </a:rPr>
              <a:t>and </a:t>
            </a:r>
            <a:r>
              <a:rPr lang="en-US" sz="2400" b="1" i="1">
                <a:solidFill>
                  <a:schemeClr val="dk1"/>
                </a:solidFill>
              </a:rPr>
              <a:t>Applicable Control Procedures </a:t>
            </a:r>
            <a:r>
              <a:rPr lang="en-US" sz="2400" b="1">
                <a:solidFill>
                  <a:schemeClr val="dk1"/>
                </a:solidFill>
              </a:rPr>
              <a:t>to</a:t>
            </a:r>
            <a:r>
              <a:rPr lang="en-US" sz="2400" b="1" i="1">
                <a:solidFill>
                  <a:schemeClr val="dk1"/>
                </a:solidFill>
              </a:rPr>
              <a:t> </a:t>
            </a:r>
            <a:br>
              <a:rPr lang="en-US" sz="2400" b="1" i="1">
                <a:solidFill>
                  <a:schemeClr val="dk1"/>
                </a:solidFill>
              </a:rPr>
            </a:br>
            <a:r>
              <a:rPr lang="en-US" sz="2400" b="1">
                <a:solidFill>
                  <a:schemeClr val="dk1"/>
                </a:solidFill>
              </a:rPr>
              <a:t>Cash Collections</a:t>
            </a:r>
            <a:endParaRPr/>
          </a:p>
        </p:txBody>
      </p:sp>
      <p:graphicFrame>
        <p:nvGraphicFramePr>
          <p:cNvPr id="902" name="Google Shape;902;p106"/>
          <p:cNvGraphicFramePr/>
          <p:nvPr/>
        </p:nvGraphicFramePr>
        <p:xfrm>
          <a:off x="914400" y="1752600"/>
          <a:ext cx="7467600" cy="3593170"/>
        </p:xfrm>
        <a:graphic>
          <a:graphicData uri="http://schemas.openxmlformats.org/drawingml/2006/table">
            <a:tbl>
              <a:tblPr>
                <a:noFill/>
                <a:tableStyleId>{59EC689D-A61E-491C-9692-EBFBF9B0DCE2}</a:tableStyleId>
              </a:tblPr>
              <a:tblGrid>
                <a:gridCol w="3046425"/>
                <a:gridCol w="4421175"/>
              </a:tblGrid>
              <a:tr h="433400">
                <a:tc>
                  <a:txBody>
                    <a:bodyPr/>
                    <a:lstStyle/>
                    <a:p>
                      <a:pPr marL="0" marR="0" lvl="0" indent="0" algn="ctr"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Threat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Applicable Control Procedures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843225">
                <a:tc>
                  <a:txBody>
                    <a:bodyPr/>
                    <a:lstStyle/>
                    <a:p>
                      <a:pPr marL="495300" marR="0" lvl="0" indent="-495300" algn="l"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1. Theft of Cash</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Segregation of duties; minimization of cash handling; lockbox arrangements; prompt endorsement and deposit of all receipts</a:t>
                      </a:r>
                      <a:endParaRPr/>
                    </a:p>
                    <a:p>
                      <a:pPr marL="0" marR="0" lvl="0" indent="0" algn="l" rtl="0">
                        <a:lnSpc>
                          <a:spcPct val="100000"/>
                        </a:lnSpc>
                        <a:spcBef>
                          <a:spcPts val="44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Periodic reconciliation of bank statement with records by someone not involved in cash receipts processing</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Tree>
  </p:cSld>
  <p:clrMapOvr>
    <a:masterClrMapping/>
  </p:clrMapOvr>
  <p:transition>
    <p:fade thruBlk="1"/>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07"/>
          <p:cNvSpPr txBox="1">
            <a:spLocks noGrp="1"/>
          </p:cNvSpPr>
          <p:nvPr>
            <p:ph type="title"/>
          </p:nvPr>
        </p:nvSpPr>
        <p:spPr>
          <a:xfrm>
            <a:off x="457200" y="274638"/>
            <a:ext cx="8229600"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chemeClr val="dk1"/>
              </a:buClr>
              <a:buSzPts val="3400"/>
              <a:buFont typeface="Lucida Sans"/>
              <a:buNone/>
            </a:pPr>
            <a:r>
              <a:rPr lang="en-US" sz="3400" b="1" i="1">
                <a:solidFill>
                  <a:schemeClr val="dk1"/>
                </a:solidFill>
              </a:rPr>
              <a:t>General Control Issues</a:t>
            </a:r>
            <a:endParaRPr sz="3400" b="1">
              <a:solidFill>
                <a:schemeClr val="dk1"/>
              </a:solidFill>
            </a:endParaRPr>
          </a:p>
        </p:txBody>
      </p:sp>
      <p:graphicFrame>
        <p:nvGraphicFramePr>
          <p:cNvPr id="909" name="Google Shape;909;p107"/>
          <p:cNvGraphicFramePr/>
          <p:nvPr/>
        </p:nvGraphicFramePr>
        <p:xfrm>
          <a:off x="914400" y="1752600"/>
          <a:ext cx="7391400" cy="2286030"/>
        </p:xfrm>
        <a:graphic>
          <a:graphicData uri="http://schemas.openxmlformats.org/drawingml/2006/table">
            <a:tbl>
              <a:tblPr>
                <a:noFill/>
                <a:tableStyleId>{59EC689D-A61E-491C-9692-EBFBF9B0DCE2}</a:tableStyleId>
              </a:tblPr>
              <a:tblGrid>
                <a:gridCol w="3014675"/>
                <a:gridCol w="4376725"/>
              </a:tblGrid>
              <a:tr h="304800">
                <a:tc>
                  <a:txBody>
                    <a:bodyPr/>
                    <a:lstStyle/>
                    <a:p>
                      <a:pPr marL="0" marR="0" lvl="0" indent="0" algn="ctr"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Threat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Applicable Control Procedures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7550">
                <a:tc>
                  <a:txBody>
                    <a:bodyPr/>
                    <a:lstStyle/>
                    <a:p>
                      <a:pPr marL="495300" marR="0" lvl="0" indent="-495300" algn="l"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1. Loss of Data</a:t>
                      </a:r>
                      <a:endParaRPr/>
                    </a:p>
                    <a:p>
                      <a:pPr marL="495300" marR="0" lvl="0" indent="-355600" algn="l" rtl="0">
                        <a:lnSpc>
                          <a:spcPct val="100000"/>
                        </a:lnSpc>
                        <a:spcBef>
                          <a:spcPts val="440"/>
                        </a:spcBef>
                        <a:spcAft>
                          <a:spcPts val="0"/>
                        </a:spcAft>
                        <a:buClr>
                          <a:schemeClr val="dk1"/>
                        </a:buClr>
                        <a:buSzPts val="2200"/>
                        <a:buFont typeface="Lucida Sans"/>
                        <a:buNone/>
                      </a:pPr>
                      <a:endParaRPr sz="2200" b="0" i="0" u="none" strike="noStrike" cap="none">
                        <a:solidFill>
                          <a:schemeClr val="dk1"/>
                        </a:solidFill>
                        <a:latin typeface="Constantia"/>
                        <a:ea typeface="Constantia"/>
                        <a:cs typeface="Constantia"/>
                        <a:sym typeface="Constanti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Backup and disaster recovery procedures; access controls (physical and logical)</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17550">
                <a:tc>
                  <a:txBody>
                    <a:bodyPr/>
                    <a:lstStyle/>
                    <a:p>
                      <a:pPr marL="495300" marR="0" lvl="0" indent="-495300" algn="l"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2. Poor performance </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200"/>
                        <a:buFont typeface="Constantia"/>
                        <a:buNone/>
                      </a:pPr>
                      <a:r>
                        <a:rPr lang="en-US" sz="2200" b="0" i="0" u="none" strike="noStrike" cap="none">
                          <a:solidFill>
                            <a:schemeClr val="dk1"/>
                          </a:solidFill>
                          <a:latin typeface="Constantia"/>
                          <a:ea typeface="Constantia"/>
                          <a:cs typeface="Constantia"/>
                          <a:sym typeface="Constantia"/>
                        </a:rPr>
                        <a:t>Preparation and review of performance reports</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Tree>
  </p:cSld>
  <p:clrMapOvr>
    <a:masterClrMapping/>
  </p:clrMapOvr>
  <p:transition>
    <p:fade thruBlk="1"/>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108"/>
          <p:cNvSpPr txBox="1">
            <a:spLocks noGrp="1"/>
          </p:cNvSpPr>
          <p:nvPr>
            <p:ph type="title"/>
          </p:nvPr>
        </p:nvSpPr>
        <p:spPr>
          <a:xfrm>
            <a:off x="914400" y="0"/>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240"/>
              <a:buFont typeface="Lucida Sans"/>
              <a:buNone/>
            </a:pPr>
            <a:r>
              <a:rPr lang="en-US" sz="3240"/>
              <a:t>Revenue Cycle Information Needs:  Operational Data		</a:t>
            </a:r>
            <a:endParaRPr/>
          </a:p>
        </p:txBody>
      </p:sp>
      <p:sp>
        <p:nvSpPr>
          <p:cNvPr id="915" name="Google Shape;915;p108"/>
          <p:cNvSpPr txBox="1">
            <a:spLocks noGrp="1"/>
          </p:cNvSpPr>
          <p:nvPr>
            <p:ph type="body" idx="1"/>
          </p:nvPr>
        </p:nvSpPr>
        <p:spPr>
          <a:xfrm>
            <a:off x="457200" y="1481328"/>
            <a:ext cx="8229600" cy="4525963"/>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spcBef>
                <a:spcPts val="0"/>
              </a:spcBef>
              <a:spcAft>
                <a:spcPts val="0"/>
              </a:spcAft>
              <a:buSzPts val="1904"/>
              <a:buFont typeface="Lucida Sans"/>
              <a:buNone/>
            </a:pPr>
            <a:r>
              <a:rPr lang="en-US" sz="2800"/>
              <a:t>	Operational Data are needed to monitor performance and to perform the following recurring tasks:</a:t>
            </a:r>
            <a:endParaRPr/>
          </a:p>
          <a:p>
            <a:pPr marL="621792" lvl="1" indent="-228600" algn="l" rtl="0">
              <a:spcBef>
                <a:spcPts val="324"/>
              </a:spcBef>
              <a:spcAft>
                <a:spcPts val="0"/>
              </a:spcAft>
              <a:buSzPts val="2400"/>
              <a:buFont typeface="Lucida Sans"/>
              <a:buChar char="•"/>
            </a:pPr>
            <a:r>
              <a:rPr lang="en-US" sz="2400"/>
              <a:t>Respond to customer inquiries about account balances and order status</a:t>
            </a:r>
            <a:endParaRPr/>
          </a:p>
          <a:p>
            <a:pPr marL="621792" lvl="1" indent="-228600" algn="l" rtl="0">
              <a:spcBef>
                <a:spcPts val="324"/>
              </a:spcBef>
              <a:spcAft>
                <a:spcPts val="0"/>
              </a:spcAft>
              <a:buSzPts val="2400"/>
              <a:buFont typeface="Lucida Sans"/>
              <a:buChar char="•"/>
            </a:pPr>
            <a:r>
              <a:rPr lang="en-US" sz="2400"/>
              <a:t>Decide whether to extend credit to a particular customer</a:t>
            </a:r>
            <a:endParaRPr/>
          </a:p>
          <a:p>
            <a:pPr marL="621792" lvl="1" indent="-228600" algn="l" rtl="0">
              <a:spcBef>
                <a:spcPts val="324"/>
              </a:spcBef>
              <a:spcAft>
                <a:spcPts val="0"/>
              </a:spcAft>
              <a:buSzPts val="2400"/>
              <a:buFont typeface="Lucida Sans"/>
              <a:buChar char="•"/>
            </a:pPr>
            <a:r>
              <a:rPr lang="en-US" sz="2400"/>
              <a:t>Determine inventory availability</a:t>
            </a:r>
            <a:endParaRPr/>
          </a:p>
          <a:p>
            <a:pPr marL="621792" lvl="1" indent="-228600" algn="l" rtl="0">
              <a:spcBef>
                <a:spcPts val="324"/>
              </a:spcBef>
              <a:spcAft>
                <a:spcPts val="0"/>
              </a:spcAft>
              <a:buSzPts val="2400"/>
              <a:buFont typeface="Lucida Sans"/>
              <a:buChar char="•"/>
            </a:pPr>
            <a:r>
              <a:rPr lang="en-US" sz="2400"/>
              <a:t>Select methods for delivering merchandise</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109"/>
          <p:cNvSpPr txBox="1">
            <a:spLocks noGrp="1"/>
          </p:cNvSpPr>
          <p:nvPr>
            <p:ph type="title"/>
          </p:nvPr>
        </p:nvSpPr>
        <p:spPr>
          <a:xfrm>
            <a:off x="914400" y="0"/>
            <a:ext cx="8229600" cy="114300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420"/>
              <a:buFont typeface="Lucida Sans"/>
              <a:buNone/>
            </a:pPr>
            <a:r>
              <a:rPr lang="en-US" sz="3420"/>
              <a:t>Revenue Cycle Information Needs: Current and Historical Information	</a:t>
            </a:r>
            <a:r>
              <a:rPr lang="en-US" sz="3600"/>
              <a:t>	</a:t>
            </a:r>
            <a:endParaRPr/>
          </a:p>
        </p:txBody>
      </p:sp>
      <p:sp>
        <p:nvSpPr>
          <p:cNvPr id="921" name="Google Shape;921;p109"/>
          <p:cNvSpPr txBox="1">
            <a:spLocks noGrp="1"/>
          </p:cNvSpPr>
          <p:nvPr>
            <p:ph type="body" idx="1"/>
          </p:nvPr>
        </p:nvSpPr>
        <p:spPr>
          <a:xfrm>
            <a:off x="457200" y="1481328"/>
            <a:ext cx="8229600" cy="4525963"/>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lnSpc>
                <a:spcPct val="90000"/>
              </a:lnSpc>
              <a:spcBef>
                <a:spcPts val="0"/>
              </a:spcBef>
              <a:spcAft>
                <a:spcPts val="0"/>
              </a:spcAft>
              <a:buSzPts val="1904"/>
              <a:buFont typeface="Lucida Sans"/>
              <a:buNone/>
            </a:pPr>
            <a:r>
              <a:rPr lang="en-US" sz="2800"/>
              <a:t>	Current and historical information is needed to enable management of make the following strategic decisions:</a:t>
            </a:r>
            <a:endParaRPr/>
          </a:p>
          <a:p>
            <a:pPr marL="621792" lvl="1" indent="-228600" algn="l" rtl="0">
              <a:lnSpc>
                <a:spcPct val="90000"/>
              </a:lnSpc>
              <a:spcBef>
                <a:spcPts val="324"/>
              </a:spcBef>
              <a:spcAft>
                <a:spcPts val="0"/>
              </a:spcAft>
              <a:buSzPts val="2400"/>
              <a:buFont typeface="Lucida Sans"/>
              <a:buChar char="•"/>
            </a:pPr>
            <a:r>
              <a:rPr lang="en-US" sz="2400"/>
              <a:t>Setting prices for products and services</a:t>
            </a:r>
            <a:endParaRPr/>
          </a:p>
          <a:p>
            <a:pPr marL="621792" lvl="1" indent="-228600" algn="l" rtl="0">
              <a:lnSpc>
                <a:spcPct val="90000"/>
              </a:lnSpc>
              <a:spcBef>
                <a:spcPts val="324"/>
              </a:spcBef>
              <a:spcAft>
                <a:spcPts val="0"/>
              </a:spcAft>
              <a:buSzPts val="2400"/>
              <a:buFont typeface="Lucida Sans"/>
              <a:buChar char="•"/>
            </a:pPr>
            <a:r>
              <a:rPr lang="en-US" sz="2400"/>
              <a:t>Establishing policies regarding sales returns and warranties</a:t>
            </a:r>
            <a:endParaRPr/>
          </a:p>
          <a:p>
            <a:pPr marL="621792" lvl="1" indent="-228600" algn="l" rtl="0">
              <a:lnSpc>
                <a:spcPct val="90000"/>
              </a:lnSpc>
              <a:spcBef>
                <a:spcPts val="324"/>
              </a:spcBef>
              <a:spcAft>
                <a:spcPts val="0"/>
              </a:spcAft>
              <a:buSzPts val="2400"/>
              <a:buFont typeface="Lucida Sans"/>
              <a:buChar char="•"/>
            </a:pPr>
            <a:r>
              <a:rPr lang="en-US" sz="2400"/>
              <a:t>Deciding what types of credit terms to offer</a:t>
            </a:r>
            <a:endParaRPr/>
          </a:p>
          <a:p>
            <a:pPr marL="621792" lvl="1" indent="-228600" algn="l" rtl="0">
              <a:lnSpc>
                <a:spcPct val="90000"/>
              </a:lnSpc>
              <a:spcBef>
                <a:spcPts val="324"/>
              </a:spcBef>
              <a:spcAft>
                <a:spcPts val="0"/>
              </a:spcAft>
              <a:buSzPts val="2400"/>
              <a:buFont typeface="Lucida Sans"/>
              <a:buChar char="•"/>
            </a:pPr>
            <a:r>
              <a:rPr lang="en-US" sz="2400"/>
              <a:t>Determining the need for short-term borrowing</a:t>
            </a:r>
            <a:endParaRPr/>
          </a:p>
          <a:p>
            <a:pPr marL="621792" lvl="1" indent="-228600" algn="l" rtl="0">
              <a:lnSpc>
                <a:spcPct val="90000"/>
              </a:lnSpc>
              <a:spcBef>
                <a:spcPts val="324"/>
              </a:spcBef>
              <a:spcAft>
                <a:spcPts val="0"/>
              </a:spcAft>
              <a:buSzPts val="2400"/>
              <a:buFont typeface="Lucida Sans"/>
              <a:buChar char="•"/>
            </a:pPr>
            <a:r>
              <a:rPr lang="en-US" sz="2400"/>
              <a:t>Planning new marketing campaigns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110"/>
          <p:cNvSpPr txBox="1">
            <a:spLocks noGrp="1"/>
          </p:cNvSpPr>
          <p:nvPr>
            <p:ph type="title"/>
          </p:nvPr>
        </p:nvSpPr>
        <p:spPr>
          <a:xfrm>
            <a:off x="1905000" y="0"/>
            <a:ext cx="7239000" cy="1260475"/>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3240"/>
              <a:buFont typeface="Lucida Sans"/>
              <a:buNone/>
            </a:pPr>
            <a:r>
              <a:rPr lang="en-US" sz="3240"/>
              <a:t>Revenue Cycle Information Needs: Performance Evaluation	</a:t>
            </a:r>
            <a:endParaRPr/>
          </a:p>
        </p:txBody>
      </p:sp>
      <p:sp>
        <p:nvSpPr>
          <p:cNvPr id="927" name="Google Shape;927;p110"/>
          <p:cNvSpPr txBox="1">
            <a:spLocks noGrp="1"/>
          </p:cNvSpPr>
          <p:nvPr>
            <p:ph type="body" idx="1"/>
          </p:nvPr>
        </p:nvSpPr>
        <p:spPr>
          <a:xfrm>
            <a:off x="914400" y="1676400"/>
            <a:ext cx="8001000" cy="4648200"/>
          </a:xfrm>
          <a:prstGeom prst="rect">
            <a:avLst/>
          </a:prstGeom>
          <a:solidFill>
            <a:srgbClr val="FFFFFF"/>
          </a:solidFill>
          <a:ln>
            <a:noFill/>
          </a:ln>
        </p:spPr>
        <p:txBody>
          <a:bodyPr spcFirstLastPara="1" wrap="square" lIns="91425" tIns="45700" rIns="91425" bIns="45700" anchor="t" anchorCtr="0">
            <a:noAutofit/>
          </a:bodyPr>
          <a:lstStyle/>
          <a:p>
            <a:pPr marL="365760" lvl="0" indent="-256032" algn="l" rtl="0">
              <a:lnSpc>
                <a:spcPct val="80000"/>
              </a:lnSpc>
              <a:spcBef>
                <a:spcPts val="0"/>
              </a:spcBef>
              <a:spcAft>
                <a:spcPts val="0"/>
              </a:spcAft>
              <a:buSzPts val="1632"/>
              <a:buFont typeface="Lucida Sans"/>
              <a:buNone/>
            </a:pPr>
            <a:r>
              <a:rPr lang="en-US" sz="2400"/>
              <a:t>	The AIS must also supply the information needed to evaluate performance of the following critical processes:</a:t>
            </a:r>
            <a:endParaRPr/>
          </a:p>
          <a:p>
            <a:pPr marL="365760" lvl="0" indent="-256032" algn="l" rtl="0">
              <a:lnSpc>
                <a:spcPct val="80000"/>
              </a:lnSpc>
              <a:spcBef>
                <a:spcPts val="400"/>
              </a:spcBef>
              <a:spcAft>
                <a:spcPts val="0"/>
              </a:spcAft>
              <a:buClr>
                <a:schemeClr val="accent1"/>
              </a:buClr>
              <a:buSzPts val="1632"/>
              <a:buChar char="🞂"/>
            </a:pPr>
            <a:r>
              <a:rPr lang="en-US" sz="2400"/>
              <a:t>Respond time to customer inquiries</a:t>
            </a:r>
            <a:endParaRPr/>
          </a:p>
          <a:p>
            <a:pPr marL="365760" lvl="0" indent="-256032" algn="l" rtl="0">
              <a:lnSpc>
                <a:spcPct val="80000"/>
              </a:lnSpc>
              <a:spcBef>
                <a:spcPts val="400"/>
              </a:spcBef>
              <a:spcAft>
                <a:spcPts val="0"/>
              </a:spcAft>
              <a:buClr>
                <a:schemeClr val="accent1"/>
              </a:buClr>
              <a:buSzPts val="1632"/>
              <a:buChar char="🞂"/>
            </a:pPr>
            <a:r>
              <a:rPr lang="en-US" sz="2400"/>
              <a:t>Time required to fill and deliver orders</a:t>
            </a:r>
            <a:endParaRPr/>
          </a:p>
          <a:p>
            <a:pPr marL="365760" lvl="0" indent="-256032" algn="l" rtl="0">
              <a:lnSpc>
                <a:spcPct val="80000"/>
              </a:lnSpc>
              <a:spcBef>
                <a:spcPts val="400"/>
              </a:spcBef>
              <a:spcAft>
                <a:spcPts val="0"/>
              </a:spcAft>
              <a:buClr>
                <a:schemeClr val="accent1"/>
              </a:buClr>
              <a:buSzPts val="1632"/>
              <a:buChar char="🞂"/>
            </a:pPr>
            <a:r>
              <a:rPr lang="en-US" sz="2400"/>
              <a:t>Percentage of sales that required back orders</a:t>
            </a:r>
            <a:endParaRPr/>
          </a:p>
          <a:p>
            <a:pPr marL="365760" lvl="0" indent="-256032" algn="l" rtl="0">
              <a:lnSpc>
                <a:spcPct val="80000"/>
              </a:lnSpc>
              <a:spcBef>
                <a:spcPts val="400"/>
              </a:spcBef>
              <a:spcAft>
                <a:spcPts val="0"/>
              </a:spcAft>
              <a:buClr>
                <a:schemeClr val="accent1"/>
              </a:buClr>
              <a:buSzPts val="1632"/>
              <a:buChar char="🞂"/>
            </a:pPr>
            <a:r>
              <a:rPr lang="en-US" sz="2400"/>
              <a:t>Customer satisfaction rates and trends</a:t>
            </a:r>
            <a:endParaRPr/>
          </a:p>
          <a:p>
            <a:pPr marL="365760" lvl="0" indent="-256032" algn="l" rtl="0">
              <a:lnSpc>
                <a:spcPct val="80000"/>
              </a:lnSpc>
              <a:spcBef>
                <a:spcPts val="400"/>
              </a:spcBef>
              <a:spcAft>
                <a:spcPts val="0"/>
              </a:spcAft>
              <a:buClr>
                <a:schemeClr val="accent1"/>
              </a:buClr>
              <a:buSzPts val="1632"/>
              <a:buChar char="🞂"/>
            </a:pPr>
            <a:r>
              <a:rPr lang="en-US" sz="2400"/>
              <a:t>Profitability analyses by product, customer, and sales region</a:t>
            </a:r>
            <a:endParaRPr/>
          </a:p>
          <a:p>
            <a:pPr marL="365760" lvl="0" indent="-256032" algn="l" rtl="0">
              <a:lnSpc>
                <a:spcPct val="80000"/>
              </a:lnSpc>
              <a:spcBef>
                <a:spcPts val="400"/>
              </a:spcBef>
              <a:spcAft>
                <a:spcPts val="0"/>
              </a:spcAft>
              <a:buClr>
                <a:schemeClr val="accent1"/>
              </a:buClr>
              <a:buSzPts val="1632"/>
              <a:buChar char="🞂"/>
            </a:pPr>
            <a:r>
              <a:rPr lang="en-US" sz="2400"/>
              <a:t>Sales volume in both dollars and number of customers</a:t>
            </a:r>
            <a:endParaRPr/>
          </a:p>
          <a:p>
            <a:pPr marL="365760" lvl="0" indent="-256032" algn="l" rtl="0">
              <a:lnSpc>
                <a:spcPct val="80000"/>
              </a:lnSpc>
              <a:spcBef>
                <a:spcPts val="400"/>
              </a:spcBef>
              <a:spcAft>
                <a:spcPts val="0"/>
              </a:spcAft>
              <a:buClr>
                <a:schemeClr val="accent1"/>
              </a:buClr>
              <a:buSzPts val="1632"/>
              <a:buChar char="🞂"/>
            </a:pPr>
            <a:r>
              <a:rPr lang="en-US" sz="2400"/>
              <a:t>Effectiveness of advertising and promotions</a:t>
            </a:r>
            <a:endParaRPr/>
          </a:p>
          <a:p>
            <a:pPr marL="365760" lvl="0" indent="-256032" algn="l" rtl="0">
              <a:lnSpc>
                <a:spcPct val="80000"/>
              </a:lnSpc>
              <a:spcBef>
                <a:spcPts val="400"/>
              </a:spcBef>
              <a:spcAft>
                <a:spcPts val="0"/>
              </a:spcAft>
              <a:buClr>
                <a:schemeClr val="accent1"/>
              </a:buClr>
              <a:buSzPts val="1632"/>
              <a:buChar char="🞂"/>
            </a:pPr>
            <a:r>
              <a:rPr lang="en-US" sz="2400"/>
              <a:t>Sales staff performance</a:t>
            </a:r>
            <a:endParaRPr/>
          </a:p>
          <a:p>
            <a:pPr marL="365760" lvl="0" indent="-256032" algn="l" rtl="0">
              <a:lnSpc>
                <a:spcPct val="80000"/>
              </a:lnSpc>
              <a:spcBef>
                <a:spcPts val="400"/>
              </a:spcBef>
              <a:spcAft>
                <a:spcPts val="0"/>
              </a:spcAft>
              <a:buClr>
                <a:schemeClr val="accent1"/>
              </a:buClr>
              <a:buSzPts val="1632"/>
              <a:buChar char="🞂"/>
            </a:pPr>
            <a:r>
              <a:rPr lang="en-US" sz="2400"/>
              <a:t>Bad debt expenses and credit policies</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b="1"/>
              <a:t>The Expenditure Cycle</a:t>
            </a:r>
            <a:endParaRPr/>
          </a:p>
        </p:txBody>
      </p:sp>
      <p:sp>
        <p:nvSpPr>
          <p:cNvPr id="933" name="Google Shape;933;p111"/>
          <p:cNvSpPr txBox="1">
            <a:spLocks noGrp="1"/>
          </p:cNvSpPr>
          <p:nvPr>
            <p:ph type="body" idx="1"/>
          </p:nvPr>
        </p:nvSpPr>
        <p:spPr>
          <a:xfrm>
            <a:off x="228600" y="2362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2040"/>
              <a:buChar char="🞂"/>
            </a:pPr>
            <a:r>
              <a:rPr lang="en-US" sz="3000"/>
              <a:t>The purpose of the </a:t>
            </a:r>
            <a:r>
              <a:rPr lang="en-US" sz="3000" b="1">
                <a:solidFill>
                  <a:schemeClr val="hlink"/>
                </a:solidFill>
              </a:rPr>
              <a:t>Expenditure Cycle </a:t>
            </a:r>
            <a:r>
              <a:rPr lang="en-US" sz="3000"/>
              <a:t>is to facilitate the exchange of cash with vendors for needed goods and services.</a:t>
            </a:r>
            <a:endParaRPr/>
          </a:p>
          <a:p>
            <a:pPr marL="365760" lvl="0" indent="-256032" algn="l" rtl="0">
              <a:spcBef>
                <a:spcPts val="400"/>
              </a:spcBef>
              <a:spcAft>
                <a:spcPts val="0"/>
              </a:spcAft>
              <a:buSzPts val="2040"/>
              <a:buChar char="🞂"/>
            </a:pPr>
            <a:r>
              <a:rPr lang="en-US" sz="3000"/>
              <a:t>Purchases may be for cash or credit</a:t>
            </a:r>
            <a:endParaRPr/>
          </a:p>
          <a:p>
            <a:pPr marL="365760" lvl="0" indent="-256032" algn="l" rtl="0">
              <a:spcBef>
                <a:spcPts val="400"/>
              </a:spcBef>
              <a:spcAft>
                <a:spcPts val="0"/>
              </a:spcAft>
              <a:buSzPts val="2040"/>
              <a:buChar char="🞂"/>
            </a:pPr>
            <a:r>
              <a:rPr lang="en-US" sz="3000"/>
              <a:t>The Expenditure Cycle captures                       information relating to purchases,            suppliers, and payables.</a:t>
            </a:r>
            <a:endParaRPr/>
          </a:p>
        </p:txBody>
      </p:sp>
      <p:pic>
        <p:nvPicPr>
          <p:cNvPr id="934" name="Google Shape;934;p111"/>
          <p:cNvPicPr preferRelativeResize="0"/>
          <p:nvPr/>
        </p:nvPicPr>
        <p:blipFill rotWithShape="1">
          <a:blip r:embed="rId3">
            <a:alphaModFix/>
          </a:blip>
          <a:srcRect/>
          <a:stretch/>
        </p:blipFill>
        <p:spPr>
          <a:xfrm>
            <a:off x="7315200" y="4495800"/>
            <a:ext cx="1803400" cy="189547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3">
                                            <p:txEl>
                                              <p:pRg st="0" end="0"/>
                                            </p:txEl>
                                          </p:spTgt>
                                        </p:tgtEl>
                                        <p:attrNameLst>
                                          <p:attrName>style.visibility</p:attrName>
                                        </p:attrNameLst>
                                      </p:cBhvr>
                                      <p:to>
                                        <p:strVal val="visible"/>
                                      </p:to>
                                    </p:set>
                                    <p:animEffect transition="in" filter="fade">
                                      <p:cBhvr>
                                        <p:cTn id="7" dur="500"/>
                                        <p:tgtEl>
                                          <p:spTgt spid="9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3">
                                            <p:txEl>
                                              <p:pRg st="1" end="1"/>
                                            </p:txEl>
                                          </p:spTgt>
                                        </p:tgtEl>
                                        <p:attrNameLst>
                                          <p:attrName>style.visibility</p:attrName>
                                        </p:attrNameLst>
                                      </p:cBhvr>
                                      <p:to>
                                        <p:strVal val="visible"/>
                                      </p:to>
                                    </p:set>
                                    <p:animEffect transition="in" filter="fade">
                                      <p:cBhvr>
                                        <p:cTn id="12" dur="500"/>
                                        <p:tgtEl>
                                          <p:spTgt spid="9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33">
                                            <p:txEl>
                                              <p:pRg st="2" end="2"/>
                                            </p:txEl>
                                          </p:spTgt>
                                        </p:tgtEl>
                                        <p:attrNameLst>
                                          <p:attrName>style.visibility</p:attrName>
                                        </p:attrNameLst>
                                      </p:cBhvr>
                                      <p:to>
                                        <p:strVal val="visible"/>
                                      </p:to>
                                    </p:set>
                                    <p:animEffect transition="in" filter="fade">
                                      <p:cBhvr>
                                        <p:cTn id="17" dur="500"/>
                                        <p:tgtEl>
                                          <p:spTgt spid="9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1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Objectives of the Expenditure Cycle</a:t>
            </a:r>
            <a:endParaRPr/>
          </a:p>
        </p:txBody>
      </p:sp>
      <p:sp>
        <p:nvSpPr>
          <p:cNvPr id="940" name="Google Shape;940;p112"/>
          <p:cNvSpPr txBox="1">
            <a:spLocks noGrp="1"/>
          </p:cNvSpPr>
          <p:nvPr>
            <p:ph type="body" idx="1"/>
          </p:nvPr>
        </p:nvSpPr>
        <p:spPr>
          <a:xfrm>
            <a:off x="685800" y="1905000"/>
            <a:ext cx="7772400" cy="4114800"/>
          </a:xfrm>
          <a:prstGeom prst="rect">
            <a:avLst/>
          </a:prstGeom>
          <a:noFill/>
          <a:ln>
            <a:noFill/>
          </a:ln>
        </p:spPr>
        <p:txBody>
          <a:bodyPr spcFirstLastPara="1" wrap="square" lIns="90475" tIns="44450" rIns="90475" bIns="44450" anchor="t" anchorCtr="0">
            <a:noAutofit/>
          </a:bodyPr>
          <a:lstStyle/>
          <a:p>
            <a:pPr marL="365760" lvl="0" indent="-256031" algn="l" rtl="0">
              <a:lnSpc>
                <a:spcPct val="80000"/>
              </a:lnSpc>
              <a:spcBef>
                <a:spcPts val="0"/>
              </a:spcBef>
              <a:spcAft>
                <a:spcPts val="0"/>
              </a:spcAft>
              <a:buSzPts val="1572"/>
              <a:buChar char="🞂"/>
            </a:pPr>
            <a:r>
              <a:rPr lang="en-US" sz="2312"/>
              <a:t>Ensure goods and services are ordered as needed.</a:t>
            </a:r>
            <a:endParaRPr/>
          </a:p>
          <a:p>
            <a:pPr marL="365760" lvl="0" indent="-256031" algn="l" rtl="0">
              <a:lnSpc>
                <a:spcPct val="80000"/>
              </a:lnSpc>
              <a:spcBef>
                <a:spcPts val="400"/>
              </a:spcBef>
              <a:spcAft>
                <a:spcPts val="0"/>
              </a:spcAft>
              <a:buSzPts val="1572"/>
              <a:buChar char="🞂"/>
            </a:pPr>
            <a:r>
              <a:rPr lang="en-US" sz="2312"/>
              <a:t>Receive all ordered goods, verify condition, and safeguard until needed.</a:t>
            </a:r>
            <a:endParaRPr/>
          </a:p>
          <a:p>
            <a:pPr marL="365760" lvl="0" indent="-256031" algn="l" rtl="0">
              <a:lnSpc>
                <a:spcPct val="80000"/>
              </a:lnSpc>
              <a:spcBef>
                <a:spcPts val="400"/>
              </a:spcBef>
              <a:spcAft>
                <a:spcPts val="0"/>
              </a:spcAft>
              <a:buSzPts val="1572"/>
              <a:buChar char="🞂"/>
            </a:pPr>
            <a:r>
              <a:rPr lang="en-US" sz="2312"/>
              <a:t>Determine that vendor invoices are valid and correct and paid at the optimal time for cash discounts and avoidance of finance charges for late payment.</a:t>
            </a:r>
            <a:endParaRPr/>
          </a:p>
          <a:p>
            <a:pPr marL="365760" lvl="0" indent="-256031" algn="l" rtl="0">
              <a:lnSpc>
                <a:spcPct val="80000"/>
              </a:lnSpc>
              <a:spcBef>
                <a:spcPts val="400"/>
              </a:spcBef>
              <a:spcAft>
                <a:spcPts val="0"/>
              </a:spcAft>
              <a:buSzPts val="1572"/>
              <a:buChar char="🞂"/>
            </a:pPr>
            <a:r>
              <a:rPr lang="en-US" sz="2312"/>
              <a:t>Maintenance of vendor records by the purchasing department, which is responsible for finding reputable vendors who offer quality goods and services at reasonable prices.</a:t>
            </a:r>
            <a:endParaRPr/>
          </a:p>
          <a:p>
            <a:pPr marL="365760" lvl="0" indent="-256031" algn="l" rtl="0">
              <a:lnSpc>
                <a:spcPct val="80000"/>
              </a:lnSpc>
              <a:spcBef>
                <a:spcPts val="400"/>
              </a:spcBef>
              <a:spcAft>
                <a:spcPts val="0"/>
              </a:spcAft>
              <a:buSzPts val="1572"/>
              <a:buChar char="🞂"/>
            </a:pPr>
            <a:r>
              <a:rPr lang="en-US" sz="2312"/>
              <a:t>Forecast cash outflows in order to prepare a cash budget.</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0">
                                            <p:txEl>
                                              <p:pRg st="0" end="0"/>
                                            </p:txEl>
                                          </p:spTgt>
                                        </p:tgtEl>
                                        <p:attrNameLst>
                                          <p:attrName>style.visibility</p:attrName>
                                        </p:attrNameLst>
                                      </p:cBhvr>
                                      <p:to>
                                        <p:strVal val="visible"/>
                                      </p:to>
                                    </p:set>
                                    <p:animEffect transition="in" filter="fade">
                                      <p:cBhvr>
                                        <p:cTn id="7" dur="500"/>
                                        <p:tgtEl>
                                          <p:spTgt spid="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40">
                                            <p:txEl>
                                              <p:pRg st="1" end="1"/>
                                            </p:txEl>
                                          </p:spTgt>
                                        </p:tgtEl>
                                        <p:attrNameLst>
                                          <p:attrName>style.visibility</p:attrName>
                                        </p:attrNameLst>
                                      </p:cBhvr>
                                      <p:to>
                                        <p:strVal val="visible"/>
                                      </p:to>
                                    </p:set>
                                    <p:animEffect transition="in" filter="fade">
                                      <p:cBhvr>
                                        <p:cTn id="12" dur="500"/>
                                        <p:tgtEl>
                                          <p:spTgt spid="9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40">
                                            <p:txEl>
                                              <p:pRg st="2" end="2"/>
                                            </p:txEl>
                                          </p:spTgt>
                                        </p:tgtEl>
                                        <p:attrNameLst>
                                          <p:attrName>style.visibility</p:attrName>
                                        </p:attrNameLst>
                                      </p:cBhvr>
                                      <p:to>
                                        <p:strVal val="visible"/>
                                      </p:to>
                                    </p:set>
                                    <p:animEffect transition="in" filter="fade">
                                      <p:cBhvr>
                                        <p:cTn id="17" dur="500"/>
                                        <p:tgtEl>
                                          <p:spTgt spid="9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40">
                                            <p:txEl>
                                              <p:pRg st="3" end="3"/>
                                            </p:txEl>
                                          </p:spTgt>
                                        </p:tgtEl>
                                        <p:attrNameLst>
                                          <p:attrName>style.visibility</p:attrName>
                                        </p:attrNameLst>
                                      </p:cBhvr>
                                      <p:to>
                                        <p:strVal val="visible"/>
                                      </p:to>
                                    </p:set>
                                    <p:animEffect transition="in" filter="fade">
                                      <p:cBhvr>
                                        <p:cTn id="22" dur="500"/>
                                        <p:tgtEl>
                                          <p:spTgt spid="9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40">
                                            <p:txEl>
                                              <p:pRg st="4" end="4"/>
                                            </p:txEl>
                                          </p:spTgt>
                                        </p:tgtEl>
                                        <p:attrNameLst>
                                          <p:attrName>style.visibility</p:attrName>
                                        </p:attrNameLst>
                                      </p:cBhvr>
                                      <p:to>
                                        <p:strVal val="visible"/>
                                      </p:to>
                                    </p:set>
                                    <p:animEffect transition="in" filter="fade">
                                      <p:cBhvr>
                                        <p:cTn id="27" dur="500"/>
                                        <p:tgtEl>
                                          <p:spTgt spid="9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1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Functions in the Expenditure Cycle</a:t>
            </a:r>
            <a:endParaRPr/>
          </a:p>
        </p:txBody>
      </p:sp>
      <p:sp>
        <p:nvSpPr>
          <p:cNvPr id="946" name="Google Shape;946;p113"/>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904"/>
              <a:buChar char="🞂"/>
            </a:pPr>
            <a:r>
              <a:rPr lang="en-US" sz="2800"/>
              <a:t>Stores recognizes the need for goods or services and issues a </a:t>
            </a:r>
            <a:r>
              <a:rPr lang="en-US" sz="2800" b="1">
                <a:solidFill>
                  <a:srgbClr val="F76681"/>
                </a:solidFill>
              </a:rPr>
              <a:t>purchase requisition</a:t>
            </a:r>
            <a:r>
              <a:rPr lang="en-US" sz="2800" b="1"/>
              <a:t>.convec ended 16/10/2014</a:t>
            </a:r>
            <a:endParaRPr/>
          </a:p>
          <a:p>
            <a:pPr marL="365760" lvl="0" indent="-256032" algn="l" rtl="0">
              <a:lnSpc>
                <a:spcPct val="90000"/>
              </a:lnSpc>
              <a:spcBef>
                <a:spcPts val="400"/>
              </a:spcBef>
              <a:spcAft>
                <a:spcPts val="0"/>
              </a:spcAft>
              <a:buSzPts val="1904"/>
              <a:buChar char="🞂"/>
            </a:pPr>
            <a:r>
              <a:rPr lang="en-US" sz="2800"/>
              <a:t>Purchasing department places an order for goods or services by issuing a legally binding </a:t>
            </a:r>
            <a:r>
              <a:rPr lang="en-US" sz="2800" b="1">
                <a:solidFill>
                  <a:srgbClr val="F76681"/>
                </a:solidFill>
              </a:rPr>
              <a:t>purchase order </a:t>
            </a:r>
            <a:r>
              <a:rPr lang="en-US" sz="2800"/>
              <a:t>with a supplier.</a:t>
            </a:r>
            <a:endParaRPr/>
          </a:p>
          <a:p>
            <a:pPr marL="365760" lvl="0" indent="-256032" algn="l" rtl="0">
              <a:lnSpc>
                <a:spcPct val="90000"/>
              </a:lnSpc>
              <a:spcBef>
                <a:spcPts val="400"/>
              </a:spcBef>
              <a:spcAft>
                <a:spcPts val="0"/>
              </a:spcAft>
              <a:buSzPts val="1904"/>
              <a:buChar char="🞂"/>
            </a:pPr>
            <a:r>
              <a:rPr lang="en-US" sz="2800"/>
              <a:t>Receiving department receives goods or accepts services and completes a </a:t>
            </a:r>
            <a:r>
              <a:rPr lang="en-US" sz="2800" b="1">
                <a:solidFill>
                  <a:srgbClr val="F76681"/>
                </a:solidFill>
              </a:rPr>
              <a:t>receiving report </a:t>
            </a:r>
            <a:r>
              <a:rPr lang="en-US" sz="2800"/>
              <a:t>after inspecting and counting goods.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6">
                                            <p:txEl>
                                              <p:pRg st="0" end="0"/>
                                            </p:txEl>
                                          </p:spTgt>
                                        </p:tgtEl>
                                        <p:attrNameLst>
                                          <p:attrName>style.visibility</p:attrName>
                                        </p:attrNameLst>
                                      </p:cBhvr>
                                      <p:to>
                                        <p:strVal val="visible"/>
                                      </p:to>
                                    </p:set>
                                    <p:animEffect transition="in" filter="fade">
                                      <p:cBhvr>
                                        <p:cTn id="7" dur="500"/>
                                        <p:tgtEl>
                                          <p:spTgt spid="9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46">
                                            <p:txEl>
                                              <p:pRg st="1" end="1"/>
                                            </p:txEl>
                                          </p:spTgt>
                                        </p:tgtEl>
                                        <p:attrNameLst>
                                          <p:attrName>style.visibility</p:attrName>
                                        </p:attrNameLst>
                                      </p:cBhvr>
                                      <p:to>
                                        <p:strVal val="visible"/>
                                      </p:to>
                                    </p:set>
                                    <p:animEffect transition="in" filter="fade">
                                      <p:cBhvr>
                                        <p:cTn id="12" dur="500"/>
                                        <p:tgtEl>
                                          <p:spTgt spid="9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46">
                                            <p:txEl>
                                              <p:pRg st="2" end="2"/>
                                            </p:txEl>
                                          </p:spTgt>
                                        </p:tgtEl>
                                        <p:attrNameLst>
                                          <p:attrName>style.visibility</p:attrName>
                                        </p:attrNameLst>
                                      </p:cBhvr>
                                      <p:to>
                                        <p:strVal val="visible"/>
                                      </p:to>
                                    </p:set>
                                    <p:animEffect transition="in" filter="fade">
                                      <p:cBhvr>
                                        <p:cTn id="17" dur="500"/>
                                        <p:tgtEl>
                                          <p:spTgt spid="9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1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Functions in the Expenditure Cycle</a:t>
            </a:r>
            <a:endParaRPr/>
          </a:p>
        </p:txBody>
      </p:sp>
      <p:sp>
        <p:nvSpPr>
          <p:cNvPr id="952" name="Google Shape;952;p114"/>
          <p:cNvSpPr txBox="1">
            <a:spLocks noGrp="1"/>
          </p:cNvSpPr>
          <p:nvPr>
            <p:ph type="body" idx="1"/>
          </p:nvPr>
        </p:nvSpPr>
        <p:spPr>
          <a:xfrm>
            <a:off x="685800" y="2057400"/>
            <a:ext cx="7772400" cy="4114800"/>
          </a:xfrm>
          <a:prstGeom prst="rect">
            <a:avLst/>
          </a:prstGeom>
          <a:noFill/>
          <a:ln>
            <a:noFill/>
          </a:ln>
        </p:spPr>
        <p:txBody>
          <a:bodyPr spcFirstLastPara="1" wrap="square" lIns="90475" tIns="44450" rIns="90475" bIns="44450" anchor="t" anchorCtr="0">
            <a:noAutofit/>
          </a:bodyPr>
          <a:lstStyle/>
          <a:p>
            <a:pPr marL="365760" lvl="0" indent="-256031" algn="l" rtl="0">
              <a:lnSpc>
                <a:spcPct val="90000"/>
              </a:lnSpc>
              <a:spcBef>
                <a:spcPts val="0"/>
              </a:spcBef>
              <a:spcAft>
                <a:spcPts val="0"/>
              </a:spcAft>
              <a:buSzPts val="1561"/>
              <a:buChar char="🞂"/>
            </a:pPr>
            <a:r>
              <a:rPr lang="en-US" sz="2295"/>
              <a:t>Accounts payable department ascertains validity of the payment obligation by vouching the </a:t>
            </a:r>
            <a:r>
              <a:rPr lang="en-US" sz="2295" b="1">
                <a:solidFill>
                  <a:srgbClr val="F76681"/>
                </a:solidFill>
              </a:rPr>
              <a:t>vendor invoice </a:t>
            </a:r>
            <a:r>
              <a:rPr lang="en-US" sz="2295"/>
              <a:t>to supporting documentation.</a:t>
            </a:r>
            <a:endParaRPr/>
          </a:p>
          <a:p>
            <a:pPr marL="365760" lvl="0" indent="-256031" algn="l" rtl="0">
              <a:lnSpc>
                <a:spcPct val="90000"/>
              </a:lnSpc>
              <a:spcBef>
                <a:spcPts val="400"/>
              </a:spcBef>
              <a:spcAft>
                <a:spcPts val="0"/>
              </a:spcAft>
              <a:buSzPts val="1561"/>
              <a:buChar char="🞂"/>
            </a:pPr>
            <a:r>
              <a:rPr lang="en-US" sz="2295"/>
              <a:t>Accounts payable prepares the </a:t>
            </a:r>
            <a:r>
              <a:rPr lang="en-US" sz="2295" b="1">
                <a:solidFill>
                  <a:srgbClr val="F76681"/>
                </a:solidFill>
              </a:rPr>
              <a:t>disbursement check </a:t>
            </a:r>
            <a:r>
              <a:rPr lang="en-US" sz="2295"/>
              <a:t>on the basis of approved vendor invoices.</a:t>
            </a:r>
            <a:endParaRPr/>
          </a:p>
          <a:p>
            <a:pPr marL="365760" lvl="0" indent="-256031" algn="l" rtl="0">
              <a:lnSpc>
                <a:spcPct val="90000"/>
              </a:lnSpc>
              <a:spcBef>
                <a:spcPts val="400"/>
              </a:spcBef>
              <a:spcAft>
                <a:spcPts val="0"/>
              </a:spcAft>
              <a:buSzPts val="1561"/>
              <a:buChar char="🞂"/>
            </a:pPr>
            <a:r>
              <a:rPr lang="en-US" sz="2295"/>
              <a:t>Accounts payable department maintains accounts payable and General ledger department posts transactions to the general ledger.</a:t>
            </a:r>
            <a:endParaRPr/>
          </a:p>
          <a:p>
            <a:pPr marL="365760" lvl="0" indent="-256031" algn="l" rtl="0">
              <a:lnSpc>
                <a:spcPct val="90000"/>
              </a:lnSpc>
              <a:spcBef>
                <a:spcPts val="400"/>
              </a:spcBef>
              <a:spcAft>
                <a:spcPts val="0"/>
              </a:spcAft>
              <a:buSzPts val="1561"/>
              <a:buChar char="🞂"/>
            </a:pPr>
            <a:r>
              <a:rPr lang="en-US" sz="2295"/>
              <a:t>Appropriate personnel prepare needed financial reports and other outputs.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2">
                                            <p:txEl>
                                              <p:pRg st="0" end="0"/>
                                            </p:txEl>
                                          </p:spTgt>
                                        </p:tgtEl>
                                        <p:attrNameLst>
                                          <p:attrName>style.visibility</p:attrName>
                                        </p:attrNameLst>
                                      </p:cBhvr>
                                      <p:to>
                                        <p:strVal val="visible"/>
                                      </p:to>
                                    </p:set>
                                    <p:animEffect transition="in" filter="fade">
                                      <p:cBhvr>
                                        <p:cTn id="7" dur="500"/>
                                        <p:tgtEl>
                                          <p:spTgt spid="9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2">
                                            <p:txEl>
                                              <p:pRg st="1" end="1"/>
                                            </p:txEl>
                                          </p:spTgt>
                                        </p:tgtEl>
                                        <p:attrNameLst>
                                          <p:attrName>style.visibility</p:attrName>
                                        </p:attrNameLst>
                                      </p:cBhvr>
                                      <p:to>
                                        <p:strVal val="visible"/>
                                      </p:to>
                                    </p:set>
                                    <p:animEffect transition="in" filter="fade">
                                      <p:cBhvr>
                                        <p:cTn id="12" dur="500"/>
                                        <p:tgtEl>
                                          <p:spTgt spid="9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2">
                                            <p:txEl>
                                              <p:pRg st="2" end="2"/>
                                            </p:txEl>
                                          </p:spTgt>
                                        </p:tgtEl>
                                        <p:attrNameLst>
                                          <p:attrName>style.visibility</p:attrName>
                                        </p:attrNameLst>
                                      </p:cBhvr>
                                      <p:to>
                                        <p:strVal val="visible"/>
                                      </p:to>
                                    </p:set>
                                    <p:animEffect transition="in" filter="fade">
                                      <p:cBhvr>
                                        <p:cTn id="17" dur="500"/>
                                        <p:tgtEl>
                                          <p:spTgt spid="9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2">
                                            <p:txEl>
                                              <p:pRg st="3" end="3"/>
                                            </p:txEl>
                                          </p:spTgt>
                                        </p:tgtEl>
                                        <p:attrNameLst>
                                          <p:attrName>style.visibility</p:attrName>
                                        </p:attrNameLst>
                                      </p:cBhvr>
                                      <p:to>
                                        <p:strVal val="visible"/>
                                      </p:to>
                                    </p:set>
                                    <p:animEffect transition="in" filter="fade">
                                      <p:cBhvr>
                                        <p:cTn id="22" dur="500"/>
                                        <p:tgtEl>
                                          <p:spTgt spid="9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1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Other Related Functions of the Expenditure Cycle</a:t>
            </a:r>
            <a:endParaRPr/>
          </a:p>
        </p:txBody>
      </p:sp>
      <p:sp>
        <p:nvSpPr>
          <p:cNvPr id="958" name="Google Shape;958;p115"/>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1" algn="l" rtl="0">
              <a:lnSpc>
                <a:spcPct val="80000"/>
              </a:lnSpc>
              <a:spcBef>
                <a:spcPts val="0"/>
              </a:spcBef>
              <a:spcAft>
                <a:spcPts val="0"/>
              </a:spcAft>
              <a:buSzPts val="1572"/>
              <a:buChar char="🞂"/>
            </a:pPr>
            <a:r>
              <a:rPr lang="en-US" sz="2312"/>
              <a:t>Payroll disbursements - includes accrual of payroll and employer payroll taxes</a:t>
            </a:r>
            <a:endParaRPr/>
          </a:p>
          <a:p>
            <a:pPr marL="365760" lvl="0" indent="-256031" algn="l" rtl="0">
              <a:lnSpc>
                <a:spcPct val="80000"/>
              </a:lnSpc>
              <a:spcBef>
                <a:spcPts val="400"/>
              </a:spcBef>
              <a:spcAft>
                <a:spcPts val="0"/>
              </a:spcAft>
              <a:buSzPts val="1572"/>
              <a:buChar char="🞂"/>
            </a:pPr>
            <a:r>
              <a:rPr lang="en-US" sz="2312"/>
              <a:t>Capital expenditures - includes acquiring, trading, salvaging and depreciating plant assets</a:t>
            </a:r>
            <a:endParaRPr/>
          </a:p>
          <a:p>
            <a:pPr marL="365760" lvl="0" indent="-256031" algn="l" rtl="0">
              <a:lnSpc>
                <a:spcPct val="80000"/>
              </a:lnSpc>
              <a:spcBef>
                <a:spcPts val="400"/>
              </a:spcBef>
              <a:spcAft>
                <a:spcPts val="0"/>
              </a:spcAft>
              <a:buSzPts val="1572"/>
              <a:buChar char="🞂"/>
            </a:pPr>
            <a:r>
              <a:rPr lang="en-US" sz="2312" b="1">
                <a:solidFill>
                  <a:srgbClr val="F76681"/>
                </a:solidFill>
              </a:rPr>
              <a:t>Purchase returns and allowances </a:t>
            </a:r>
            <a:r>
              <a:rPr lang="en-US" sz="2312"/>
              <a:t>- arise when the purchasing firm is unsatisfied with ordered goods and a </a:t>
            </a:r>
            <a:r>
              <a:rPr lang="en-US" sz="2312" b="1">
                <a:solidFill>
                  <a:srgbClr val="F76681"/>
                </a:solidFill>
              </a:rPr>
              <a:t>debit memorandum </a:t>
            </a:r>
            <a:r>
              <a:rPr lang="en-US" sz="2312"/>
              <a:t>is issued</a:t>
            </a:r>
            <a:endParaRPr/>
          </a:p>
          <a:p>
            <a:pPr marL="365760" lvl="0" indent="-256031" algn="l" rtl="0">
              <a:lnSpc>
                <a:spcPct val="80000"/>
              </a:lnSpc>
              <a:spcBef>
                <a:spcPts val="400"/>
              </a:spcBef>
              <a:spcAft>
                <a:spcPts val="0"/>
              </a:spcAft>
              <a:buSzPts val="1572"/>
              <a:buChar char="🞂"/>
            </a:pPr>
            <a:r>
              <a:rPr lang="en-US" sz="2312"/>
              <a:t>Miscellaneous cash disbursements - i.e., discharge bank loans, acquire investments and repurchase stock</a:t>
            </a:r>
            <a:endParaRPr/>
          </a:p>
          <a:p>
            <a:pPr marL="365760" lvl="0" indent="-256031" algn="l" rtl="0">
              <a:lnSpc>
                <a:spcPct val="80000"/>
              </a:lnSpc>
              <a:spcBef>
                <a:spcPts val="400"/>
              </a:spcBef>
              <a:spcAft>
                <a:spcPts val="0"/>
              </a:spcAft>
              <a:buSzPts val="1572"/>
              <a:buChar char="🞂"/>
            </a:pPr>
            <a:r>
              <a:rPr lang="en-US" sz="2312"/>
              <a:t>Petty cash disbursements - in order to control these small expenditures an </a:t>
            </a:r>
            <a:r>
              <a:rPr lang="en-US" sz="2312" b="1">
                <a:solidFill>
                  <a:srgbClr val="F76681"/>
                </a:solidFill>
              </a:rPr>
              <a:t>imprest system </a:t>
            </a:r>
            <a:r>
              <a:rPr lang="en-US" sz="2312"/>
              <a:t>is normally used.</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8">
                                            <p:txEl>
                                              <p:pRg st="0" end="0"/>
                                            </p:txEl>
                                          </p:spTgt>
                                        </p:tgtEl>
                                        <p:attrNameLst>
                                          <p:attrName>style.visibility</p:attrName>
                                        </p:attrNameLst>
                                      </p:cBhvr>
                                      <p:to>
                                        <p:strVal val="visible"/>
                                      </p:to>
                                    </p:set>
                                    <p:animEffect transition="in" filter="fade">
                                      <p:cBhvr>
                                        <p:cTn id="7" dur="500"/>
                                        <p:tgtEl>
                                          <p:spTgt spid="9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8">
                                            <p:txEl>
                                              <p:pRg st="1" end="1"/>
                                            </p:txEl>
                                          </p:spTgt>
                                        </p:tgtEl>
                                        <p:attrNameLst>
                                          <p:attrName>style.visibility</p:attrName>
                                        </p:attrNameLst>
                                      </p:cBhvr>
                                      <p:to>
                                        <p:strVal val="visible"/>
                                      </p:to>
                                    </p:set>
                                    <p:animEffect transition="in" filter="fade">
                                      <p:cBhvr>
                                        <p:cTn id="12" dur="500"/>
                                        <p:tgtEl>
                                          <p:spTgt spid="9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8">
                                            <p:txEl>
                                              <p:pRg st="2" end="2"/>
                                            </p:txEl>
                                          </p:spTgt>
                                        </p:tgtEl>
                                        <p:attrNameLst>
                                          <p:attrName>style.visibility</p:attrName>
                                        </p:attrNameLst>
                                      </p:cBhvr>
                                      <p:to>
                                        <p:strVal val="visible"/>
                                      </p:to>
                                    </p:set>
                                    <p:animEffect transition="in" filter="fade">
                                      <p:cBhvr>
                                        <p:cTn id="17" dur="500"/>
                                        <p:tgtEl>
                                          <p:spTgt spid="9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8">
                                            <p:txEl>
                                              <p:pRg st="3" end="3"/>
                                            </p:txEl>
                                          </p:spTgt>
                                        </p:tgtEl>
                                        <p:attrNameLst>
                                          <p:attrName>style.visibility</p:attrName>
                                        </p:attrNameLst>
                                      </p:cBhvr>
                                      <p:to>
                                        <p:strVal val="visible"/>
                                      </p:to>
                                    </p:set>
                                    <p:animEffect transition="in" filter="fade">
                                      <p:cBhvr>
                                        <p:cTn id="22" dur="500"/>
                                        <p:tgtEl>
                                          <p:spTgt spid="9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58">
                                            <p:txEl>
                                              <p:pRg st="4" end="4"/>
                                            </p:txEl>
                                          </p:spTgt>
                                        </p:tgtEl>
                                        <p:attrNameLst>
                                          <p:attrName>style.visibility</p:attrName>
                                        </p:attrNameLst>
                                      </p:cBhvr>
                                      <p:to>
                                        <p:strVal val="visible"/>
                                      </p:to>
                                    </p:set>
                                    <p:animEffect transition="in" filter="fade">
                                      <p:cBhvr>
                                        <p:cTn id="27" dur="500"/>
                                        <p:tgtEl>
                                          <p:spTgt spid="9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1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b="1"/>
              <a:t>Inputs to the Expenditure Cycle</a:t>
            </a:r>
            <a:endParaRPr/>
          </a:p>
        </p:txBody>
      </p:sp>
      <p:sp>
        <p:nvSpPr>
          <p:cNvPr id="964" name="Google Shape;964;p116"/>
          <p:cNvSpPr txBox="1">
            <a:spLocks noGrp="1"/>
          </p:cNvSpPr>
          <p:nvPr>
            <p:ph type="body" idx="1"/>
          </p:nvPr>
        </p:nvSpPr>
        <p:spPr>
          <a:xfrm>
            <a:off x="762000" y="1981200"/>
            <a:ext cx="7772400" cy="4114800"/>
          </a:xfrm>
          <a:prstGeom prst="rect">
            <a:avLst/>
          </a:prstGeom>
          <a:noFill/>
          <a:ln>
            <a:noFill/>
          </a:ln>
        </p:spPr>
        <p:txBody>
          <a:bodyPr spcFirstLastPara="1" wrap="square" lIns="90475" tIns="44450" rIns="90475" bIns="44450" anchor="t" anchorCtr="0">
            <a:noAutofit/>
          </a:bodyPr>
          <a:lstStyle/>
          <a:p>
            <a:pPr marL="365760" lvl="0" indent="-256031" algn="l" rtl="0">
              <a:lnSpc>
                <a:spcPct val="80000"/>
              </a:lnSpc>
              <a:spcBef>
                <a:spcPts val="0"/>
              </a:spcBef>
              <a:spcAft>
                <a:spcPts val="0"/>
              </a:spcAft>
              <a:buSzPts val="1572"/>
              <a:buChar char="🞂"/>
            </a:pPr>
            <a:r>
              <a:rPr lang="en-US" sz="2312" b="1">
                <a:solidFill>
                  <a:srgbClr val="F76681"/>
                </a:solidFill>
              </a:rPr>
              <a:t>List of Approved Vendors </a:t>
            </a:r>
            <a:r>
              <a:rPr lang="en-US" sz="2312"/>
              <a:t>- reflects merchants with whom the company has been authorized to do business</a:t>
            </a:r>
            <a:endParaRPr/>
          </a:p>
          <a:p>
            <a:pPr marL="365760" lvl="0" indent="-256031" algn="l" rtl="0">
              <a:lnSpc>
                <a:spcPct val="80000"/>
              </a:lnSpc>
              <a:spcBef>
                <a:spcPts val="400"/>
              </a:spcBef>
              <a:spcAft>
                <a:spcPts val="0"/>
              </a:spcAft>
              <a:buSzPts val="1572"/>
              <a:buChar char="🞂"/>
            </a:pPr>
            <a:r>
              <a:rPr lang="en-US" sz="2312" b="1">
                <a:solidFill>
                  <a:srgbClr val="F76681"/>
                </a:solidFill>
              </a:rPr>
              <a:t>Purchase Requisition </a:t>
            </a:r>
            <a:r>
              <a:rPr lang="en-US" sz="2312"/>
              <a:t>- shows items requested by  stores and may indicate the name of the vendor</a:t>
            </a:r>
            <a:endParaRPr/>
          </a:p>
          <a:p>
            <a:pPr marL="365760" lvl="0" indent="-256031" algn="l" rtl="0">
              <a:lnSpc>
                <a:spcPct val="80000"/>
              </a:lnSpc>
              <a:spcBef>
                <a:spcPts val="400"/>
              </a:spcBef>
              <a:spcAft>
                <a:spcPts val="0"/>
              </a:spcAft>
              <a:buSzPts val="1572"/>
              <a:buChar char="🞂"/>
            </a:pPr>
            <a:r>
              <a:rPr lang="en-US" sz="2312" b="1">
                <a:solidFill>
                  <a:srgbClr val="F76681"/>
                </a:solidFill>
              </a:rPr>
              <a:t>Purchase Order </a:t>
            </a:r>
            <a:r>
              <a:rPr lang="en-US" sz="2312"/>
              <a:t>- based on purchase requisition but also includes vendor information and payment terms</a:t>
            </a:r>
            <a:endParaRPr/>
          </a:p>
          <a:p>
            <a:pPr marL="365760" lvl="0" indent="-256031" algn="l" rtl="0">
              <a:lnSpc>
                <a:spcPct val="80000"/>
              </a:lnSpc>
              <a:spcBef>
                <a:spcPts val="400"/>
              </a:spcBef>
              <a:spcAft>
                <a:spcPts val="0"/>
              </a:spcAft>
              <a:buSzPts val="1572"/>
              <a:buChar char="🞂"/>
            </a:pPr>
            <a:r>
              <a:rPr lang="en-US" sz="2312" b="1">
                <a:solidFill>
                  <a:srgbClr val="F76681"/>
                </a:solidFill>
              </a:rPr>
              <a:t>Vendor Invoice </a:t>
            </a:r>
            <a:r>
              <a:rPr lang="en-US" sz="2312"/>
              <a:t>- includes items shipped by vendors, prices, shipping terms, and discounts provided</a:t>
            </a:r>
            <a:endParaRPr/>
          </a:p>
          <a:p>
            <a:pPr marL="365760" lvl="0" indent="-256031" algn="l" rtl="0">
              <a:lnSpc>
                <a:spcPct val="80000"/>
              </a:lnSpc>
              <a:spcBef>
                <a:spcPts val="400"/>
              </a:spcBef>
              <a:spcAft>
                <a:spcPts val="0"/>
              </a:spcAft>
              <a:buSzPts val="1572"/>
              <a:buChar char="🞂"/>
            </a:pPr>
            <a:r>
              <a:rPr lang="en-US" sz="2312" b="1">
                <a:solidFill>
                  <a:srgbClr val="F76681"/>
                </a:solidFill>
              </a:rPr>
              <a:t>Receiving Report </a:t>
            </a:r>
            <a:r>
              <a:rPr lang="en-US" sz="2312"/>
              <a:t>- reflects the count and condition of received goods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4">
                                            <p:txEl>
                                              <p:pRg st="0" end="0"/>
                                            </p:txEl>
                                          </p:spTgt>
                                        </p:tgtEl>
                                        <p:attrNameLst>
                                          <p:attrName>style.visibility</p:attrName>
                                        </p:attrNameLst>
                                      </p:cBhvr>
                                      <p:to>
                                        <p:strVal val="visible"/>
                                      </p:to>
                                    </p:set>
                                    <p:animEffect transition="in" filter="fade">
                                      <p:cBhvr>
                                        <p:cTn id="7" dur="500"/>
                                        <p:tgtEl>
                                          <p:spTgt spid="9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64">
                                            <p:txEl>
                                              <p:pRg st="1" end="1"/>
                                            </p:txEl>
                                          </p:spTgt>
                                        </p:tgtEl>
                                        <p:attrNameLst>
                                          <p:attrName>style.visibility</p:attrName>
                                        </p:attrNameLst>
                                      </p:cBhvr>
                                      <p:to>
                                        <p:strVal val="visible"/>
                                      </p:to>
                                    </p:set>
                                    <p:animEffect transition="in" filter="fade">
                                      <p:cBhvr>
                                        <p:cTn id="12" dur="500"/>
                                        <p:tgtEl>
                                          <p:spTgt spid="9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64">
                                            <p:txEl>
                                              <p:pRg st="2" end="2"/>
                                            </p:txEl>
                                          </p:spTgt>
                                        </p:tgtEl>
                                        <p:attrNameLst>
                                          <p:attrName>style.visibility</p:attrName>
                                        </p:attrNameLst>
                                      </p:cBhvr>
                                      <p:to>
                                        <p:strVal val="visible"/>
                                      </p:to>
                                    </p:set>
                                    <p:animEffect transition="in" filter="fade">
                                      <p:cBhvr>
                                        <p:cTn id="17" dur="500"/>
                                        <p:tgtEl>
                                          <p:spTgt spid="9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64">
                                            <p:txEl>
                                              <p:pRg st="3" end="3"/>
                                            </p:txEl>
                                          </p:spTgt>
                                        </p:tgtEl>
                                        <p:attrNameLst>
                                          <p:attrName>style.visibility</p:attrName>
                                        </p:attrNameLst>
                                      </p:cBhvr>
                                      <p:to>
                                        <p:strVal val="visible"/>
                                      </p:to>
                                    </p:set>
                                    <p:animEffect transition="in" filter="fade">
                                      <p:cBhvr>
                                        <p:cTn id="22" dur="500"/>
                                        <p:tgtEl>
                                          <p:spTgt spid="9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64">
                                            <p:txEl>
                                              <p:pRg st="4" end="4"/>
                                            </p:txEl>
                                          </p:spTgt>
                                        </p:tgtEl>
                                        <p:attrNameLst>
                                          <p:attrName>style.visibility</p:attrName>
                                        </p:attrNameLst>
                                      </p:cBhvr>
                                      <p:to>
                                        <p:strVal val="visible"/>
                                      </p:to>
                                    </p:set>
                                    <p:animEffect transition="in" filter="fade">
                                      <p:cBhvr>
                                        <p:cTn id="27" dur="500"/>
                                        <p:tgtEl>
                                          <p:spTgt spid="9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Outputs of the Expenditure Cycle</a:t>
            </a:r>
            <a:endParaRPr/>
          </a:p>
        </p:txBody>
      </p:sp>
      <p:sp>
        <p:nvSpPr>
          <p:cNvPr id="970" name="Google Shape;970;p117"/>
          <p:cNvSpPr txBox="1">
            <a:spLocks noGrp="1"/>
          </p:cNvSpPr>
          <p:nvPr>
            <p:ph type="body" idx="1"/>
          </p:nvPr>
        </p:nvSpPr>
        <p:spPr>
          <a:xfrm>
            <a:off x="381000" y="1981200"/>
            <a:ext cx="8534400" cy="4343400"/>
          </a:xfrm>
          <a:prstGeom prst="rect">
            <a:avLst/>
          </a:prstGeom>
          <a:noFill/>
          <a:ln>
            <a:noFill/>
          </a:ln>
        </p:spPr>
        <p:txBody>
          <a:bodyPr spcFirstLastPara="1" wrap="square" lIns="90475" tIns="44450" rIns="90475" bIns="44450" anchor="t" anchorCtr="0">
            <a:noAutofit/>
          </a:bodyPr>
          <a:lstStyle/>
          <a:p>
            <a:pPr marL="365760" lvl="0" indent="-256031" algn="l" rtl="0">
              <a:spcBef>
                <a:spcPts val="0"/>
              </a:spcBef>
              <a:spcAft>
                <a:spcPts val="0"/>
              </a:spcAft>
              <a:buSzPts val="1572"/>
              <a:buChar char="🞂"/>
            </a:pPr>
            <a:r>
              <a:rPr lang="en-US" sz="2312" b="1">
                <a:solidFill>
                  <a:srgbClr val="F76681"/>
                </a:solidFill>
              </a:rPr>
              <a:t>Open Purchase Order reports </a:t>
            </a:r>
            <a:r>
              <a:rPr lang="en-US" sz="2312" b="1"/>
              <a:t>-</a:t>
            </a:r>
            <a:r>
              <a:rPr lang="en-US" sz="2312" b="1">
                <a:solidFill>
                  <a:srgbClr val="F76681"/>
                </a:solidFill>
              </a:rPr>
              <a:t> </a:t>
            </a:r>
            <a:r>
              <a:rPr lang="en-US" sz="2312"/>
              <a:t>show all purchases for which invoices have not been approved for payment</a:t>
            </a:r>
            <a:endParaRPr/>
          </a:p>
          <a:p>
            <a:pPr marL="365760" lvl="0" indent="-256031" algn="l" rtl="0">
              <a:spcBef>
                <a:spcPts val="400"/>
              </a:spcBef>
              <a:spcAft>
                <a:spcPts val="0"/>
              </a:spcAft>
              <a:buSzPts val="1572"/>
              <a:buChar char="🞂"/>
            </a:pPr>
            <a:r>
              <a:rPr lang="en-US" sz="2312" b="1">
                <a:solidFill>
                  <a:srgbClr val="F76681"/>
                </a:solidFill>
              </a:rPr>
              <a:t>Open Invoices reports </a:t>
            </a:r>
            <a:r>
              <a:rPr lang="en-US" sz="2312" b="1"/>
              <a:t>- </a:t>
            </a:r>
            <a:r>
              <a:rPr lang="en-US" sz="2312"/>
              <a:t>list all approved invoices that are currently unpaid</a:t>
            </a:r>
            <a:endParaRPr/>
          </a:p>
          <a:p>
            <a:pPr marL="365760" lvl="0" indent="-256031" algn="l" rtl="0">
              <a:spcBef>
                <a:spcPts val="400"/>
              </a:spcBef>
              <a:spcAft>
                <a:spcPts val="0"/>
              </a:spcAft>
              <a:buSzPts val="1572"/>
              <a:buChar char="🞂"/>
            </a:pPr>
            <a:r>
              <a:rPr lang="en-US" sz="2312" b="1">
                <a:solidFill>
                  <a:srgbClr val="F76681"/>
                </a:solidFill>
              </a:rPr>
              <a:t>Inventory Status reports</a:t>
            </a:r>
            <a:r>
              <a:rPr lang="en-US" sz="2312" b="1"/>
              <a:t> - </a:t>
            </a:r>
            <a:r>
              <a:rPr lang="en-US" sz="2312"/>
              <a:t>contain quantities received, shipped, and on hand for each type of inventory</a:t>
            </a:r>
            <a:endParaRPr/>
          </a:p>
          <a:p>
            <a:pPr marL="365760" lvl="0" indent="-256031" algn="l" rtl="0">
              <a:spcBef>
                <a:spcPts val="400"/>
              </a:spcBef>
              <a:spcAft>
                <a:spcPts val="0"/>
              </a:spcAft>
              <a:buSzPts val="1572"/>
              <a:buChar char="🞂"/>
            </a:pPr>
            <a:r>
              <a:rPr lang="en-US" sz="2312" b="1">
                <a:solidFill>
                  <a:srgbClr val="F76681"/>
                </a:solidFill>
              </a:rPr>
              <a:t>Overdue Deliveries reports </a:t>
            </a:r>
            <a:r>
              <a:rPr lang="en-US" sz="2312" b="1"/>
              <a:t>- </a:t>
            </a:r>
            <a:r>
              <a:rPr lang="en-US" sz="2312"/>
              <a:t>reflect purchase transactions which have arrived late from suppliers</a:t>
            </a:r>
            <a:endParaRPr/>
          </a:p>
          <a:p>
            <a:pPr marL="365760" lvl="0" indent="-256031" algn="l" rtl="0">
              <a:spcBef>
                <a:spcPts val="400"/>
              </a:spcBef>
              <a:spcAft>
                <a:spcPts val="0"/>
              </a:spcAft>
              <a:buSzPts val="1572"/>
              <a:buChar char="🞂"/>
            </a:pPr>
            <a:r>
              <a:rPr lang="en-US" sz="2312" b="1">
                <a:solidFill>
                  <a:srgbClr val="F76681"/>
                </a:solidFill>
              </a:rPr>
              <a:t>Payables Aging reports</a:t>
            </a:r>
            <a:r>
              <a:rPr lang="en-US" sz="2312" b="1">
                <a:solidFill>
                  <a:schemeClr val="dk2"/>
                </a:solidFill>
              </a:rPr>
              <a:t>- </a:t>
            </a:r>
            <a:r>
              <a:rPr lang="en-US" sz="2312"/>
              <a:t>reflect the status of old unpaid invoices due to unresolved questions or liquidity problems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0">
                                            <p:txEl>
                                              <p:pRg st="0" end="0"/>
                                            </p:txEl>
                                          </p:spTgt>
                                        </p:tgtEl>
                                        <p:attrNameLst>
                                          <p:attrName>style.visibility</p:attrName>
                                        </p:attrNameLst>
                                      </p:cBhvr>
                                      <p:to>
                                        <p:strVal val="visible"/>
                                      </p:to>
                                    </p:set>
                                    <p:animEffect transition="in" filter="fade">
                                      <p:cBhvr>
                                        <p:cTn id="7" dur="500"/>
                                        <p:tgtEl>
                                          <p:spTgt spid="9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0">
                                            <p:txEl>
                                              <p:pRg st="1" end="1"/>
                                            </p:txEl>
                                          </p:spTgt>
                                        </p:tgtEl>
                                        <p:attrNameLst>
                                          <p:attrName>style.visibility</p:attrName>
                                        </p:attrNameLst>
                                      </p:cBhvr>
                                      <p:to>
                                        <p:strVal val="visible"/>
                                      </p:to>
                                    </p:set>
                                    <p:animEffect transition="in" filter="fade">
                                      <p:cBhvr>
                                        <p:cTn id="12" dur="500"/>
                                        <p:tgtEl>
                                          <p:spTgt spid="9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70">
                                            <p:txEl>
                                              <p:pRg st="2" end="2"/>
                                            </p:txEl>
                                          </p:spTgt>
                                        </p:tgtEl>
                                        <p:attrNameLst>
                                          <p:attrName>style.visibility</p:attrName>
                                        </p:attrNameLst>
                                      </p:cBhvr>
                                      <p:to>
                                        <p:strVal val="visible"/>
                                      </p:to>
                                    </p:set>
                                    <p:animEffect transition="in" filter="fade">
                                      <p:cBhvr>
                                        <p:cTn id="17" dur="500"/>
                                        <p:tgtEl>
                                          <p:spTgt spid="9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70">
                                            <p:txEl>
                                              <p:pRg st="3" end="3"/>
                                            </p:txEl>
                                          </p:spTgt>
                                        </p:tgtEl>
                                        <p:attrNameLst>
                                          <p:attrName>style.visibility</p:attrName>
                                        </p:attrNameLst>
                                      </p:cBhvr>
                                      <p:to>
                                        <p:strVal val="visible"/>
                                      </p:to>
                                    </p:set>
                                    <p:animEffect transition="in" filter="fade">
                                      <p:cBhvr>
                                        <p:cTn id="22" dur="500"/>
                                        <p:tgtEl>
                                          <p:spTgt spid="9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70">
                                            <p:txEl>
                                              <p:pRg st="4" end="4"/>
                                            </p:txEl>
                                          </p:spTgt>
                                        </p:tgtEl>
                                        <p:attrNameLst>
                                          <p:attrName>style.visibility</p:attrName>
                                        </p:attrNameLst>
                                      </p:cBhvr>
                                      <p:to>
                                        <p:strVal val="visible"/>
                                      </p:to>
                                    </p:set>
                                    <p:animEffect transition="in" filter="fade">
                                      <p:cBhvr>
                                        <p:cTn id="27" dur="500"/>
                                        <p:tgtEl>
                                          <p:spTgt spid="9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1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Outputs of the Expenditure Cycle</a:t>
            </a:r>
            <a:endParaRPr/>
          </a:p>
        </p:txBody>
      </p:sp>
      <p:sp>
        <p:nvSpPr>
          <p:cNvPr id="976" name="Google Shape;976;p118"/>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80000"/>
              </a:lnSpc>
              <a:spcBef>
                <a:spcPts val="0"/>
              </a:spcBef>
              <a:spcAft>
                <a:spcPts val="0"/>
              </a:spcAft>
              <a:buSzPts val="1698"/>
              <a:buChar char="🞂"/>
            </a:pPr>
            <a:r>
              <a:rPr lang="en-US" sz="2497" b="1">
                <a:solidFill>
                  <a:srgbClr val="F76681"/>
                </a:solidFill>
              </a:rPr>
              <a:t>Vendor checks </a:t>
            </a:r>
            <a:r>
              <a:rPr lang="en-US" sz="2497"/>
              <a:t>- should be supported by a voucher and signed by a person designated by management</a:t>
            </a:r>
            <a:endParaRPr/>
          </a:p>
          <a:p>
            <a:pPr marL="365760" lvl="0" indent="-256032" algn="l" rtl="0">
              <a:lnSpc>
                <a:spcPct val="80000"/>
              </a:lnSpc>
              <a:spcBef>
                <a:spcPts val="400"/>
              </a:spcBef>
              <a:spcAft>
                <a:spcPts val="0"/>
              </a:spcAft>
              <a:buSzPts val="1698"/>
              <a:buChar char="🞂"/>
            </a:pPr>
            <a:r>
              <a:rPr lang="en-US" sz="2497" b="1">
                <a:solidFill>
                  <a:srgbClr val="F76681"/>
                </a:solidFill>
              </a:rPr>
              <a:t>Check registers</a:t>
            </a:r>
            <a:r>
              <a:rPr lang="en-US" sz="2497" b="1"/>
              <a:t> - </a:t>
            </a:r>
            <a:r>
              <a:rPr lang="en-US" sz="2497"/>
              <a:t>list all checks issued for a particular period</a:t>
            </a:r>
            <a:endParaRPr/>
          </a:p>
          <a:p>
            <a:pPr marL="365760" lvl="0" indent="-256032" algn="l" rtl="0">
              <a:lnSpc>
                <a:spcPct val="80000"/>
              </a:lnSpc>
              <a:spcBef>
                <a:spcPts val="400"/>
              </a:spcBef>
              <a:spcAft>
                <a:spcPts val="0"/>
              </a:spcAft>
              <a:buSzPts val="1698"/>
              <a:buChar char="🞂"/>
            </a:pPr>
            <a:r>
              <a:rPr lang="en-US" sz="2497" b="1">
                <a:solidFill>
                  <a:srgbClr val="F76681"/>
                </a:solidFill>
              </a:rPr>
              <a:t>Discrepancy reports</a:t>
            </a:r>
            <a:r>
              <a:rPr lang="en-US" sz="2497" b="1"/>
              <a:t> - </a:t>
            </a:r>
            <a:r>
              <a:rPr lang="en-US" sz="2497"/>
              <a:t>used to identify any differences among quantities on the purchase order, receiving report, and vendor invoice</a:t>
            </a:r>
            <a:endParaRPr/>
          </a:p>
          <a:p>
            <a:pPr marL="365760" lvl="0" indent="-256032" algn="l" rtl="0">
              <a:lnSpc>
                <a:spcPct val="80000"/>
              </a:lnSpc>
              <a:spcBef>
                <a:spcPts val="400"/>
              </a:spcBef>
              <a:spcAft>
                <a:spcPts val="0"/>
              </a:spcAft>
              <a:buSzPts val="1698"/>
              <a:buChar char="🞂"/>
            </a:pPr>
            <a:r>
              <a:rPr lang="en-US" sz="2497" b="1">
                <a:solidFill>
                  <a:srgbClr val="F76681"/>
                </a:solidFill>
              </a:rPr>
              <a:t>Cash requirement forecasts </a:t>
            </a:r>
            <a:r>
              <a:rPr lang="en-US" sz="2497" b="1"/>
              <a:t>-</a:t>
            </a:r>
            <a:r>
              <a:rPr lang="en-US" sz="2497" b="1">
                <a:solidFill>
                  <a:srgbClr val="F76681"/>
                </a:solidFill>
              </a:rPr>
              <a:t> </a:t>
            </a:r>
            <a:r>
              <a:rPr lang="en-US" sz="2497"/>
              <a:t>predict future payments and payment dates by reference to outstanding purchase order, unbilled receiving reports, and vendor invoices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6">
                                            <p:txEl>
                                              <p:pRg st="0" end="0"/>
                                            </p:txEl>
                                          </p:spTgt>
                                        </p:tgtEl>
                                        <p:attrNameLst>
                                          <p:attrName>style.visibility</p:attrName>
                                        </p:attrNameLst>
                                      </p:cBhvr>
                                      <p:to>
                                        <p:strVal val="visible"/>
                                      </p:to>
                                    </p:set>
                                    <p:animEffect transition="in" filter="fade">
                                      <p:cBhvr>
                                        <p:cTn id="7" dur="500"/>
                                        <p:tgtEl>
                                          <p:spTgt spid="9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6">
                                            <p:txEl>
                                              <p:pRg st="1" end="1"/>
                                            </p:txEl>
                                          </p:spTgt>
                                        </p:tgtEl>
                                        <p:attrNameLst>
                                          <p:attrName>style.visibility</p:attrName>
                                        </p:attrNameLst>
                                      </p:cBhvr>
                                      <p:to>
                                        <p:strVal val="visible"/>
                                      </p:to>
                                    </p:set>
                                    <p:animEffect transition="in" filter="fade">
                                      <p:cBhvr>
                                        <p:cTn id="12" dur="500"/>
                                        <p:tgtEl>
                                          <p:spTgt spid="9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76">
                                            <p:txEl>
                                              <p:pRg st="2" end="2"/>
                                            </p:txEl>
                                          </p:spTgt>
                                        </p:tgtEl>
                                        <p:attrNameLst>
                                          <p:attrName>style.visibility</p:attrName>
                                        </p:attrNameLst>
                                      </p:cBhvr>
                                      <p:to>
                                        <p:strVal val="visible"/>
                                      </p:to>
                                    </p:set>
                                    <p:animEffect transition="in" filter="fade">
                                      <p:cBhvr>
                                        <p:cTn id="17" dur="500"/>
                                        <p:tgtEl>
                                          <p:spTgt spid="9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76">
                                            <p:txEl>
                                              <p:pRg st="3" end="3"/>
                                            </p:txEl>
                                          </p:spTgt>
                                        </p:tgtEl>
                                        <p:attrNameLst>
                                          <p:attrName>style.visibility</p:attrName>
                                        </p:attrNameLst>
                                      </p:cBhvr>
                                      <p:to>
                                        <p:strVal val="visible"/>
                                      </p:to>
                                    </p:set>
                                    <p:animEffect transition="in" filter="fade">
                                      <p:cBhvr>
                                        <p:cTn id="22" dur="500"/>
                                        <p:tgtEl>
                                          <p:spTgt spid="9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119"/>
          <p:cNvSpPr txBox="1">
            <a:spLocks noGrp="1"/>
          </p:cNvSpPr>
          <p:nvPr>
            <p:ph type="title"/>
          </p:nvPr>
        </p:nvSpPr>
        <p:spPr>
          <a:xfrm>
            <a:off x="609600" y="5334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509"/>
              <a:buFont typeface="Lucida Sans"/>
              <a:buNone/>
            </a:pPr>
            <a:r>
              <a:rPr lang="en-US" sz="3509" b="1"/>
              <a:t>Inventory Control Output Reports of the Expenditure Cycle</a:t>
            </a:r>
            <a:endParaRPr/>
          </a:p>
        </p:txBody>
      </p:sp>
      <p:sp>
        <p:nvSpPr>
          <p:cNvPr id="982" name="Google Shape;982;p119"/>
          <p:cNvSpPr txBox="1">
            <a:spLocks noGrp="1"/>
          </p:cNvSpPr>
          <p:nvPr>
            <p:ph type="body" idx="1"/>
          </p:nvPr>
        </p:nvSpPr>
        <p:spPr>
          <a:xfrm>
            <a:off x="685800" y="19050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618"/>
              <a:buChar char="🞂"/>
            </a:pPr>
            <a:r>
              <a:rPr lang="en-US" sz="2380" b="1">
                <a:solidFill>
                  <a:srgbClr val="F76681"/>
                </a:solidFill>
              </a:rPr>
              <a:t>Price lists</a:t>
            </a:r>
            <a:r>
              <a:rPr lang="en-US" sz="2380" b="1"/>
              <a:t> -</a:t>
            </a:r>
            <a:r>
              <a:rPr lang="en-US" sz="2380"/>
              <a:t> maintained to show prices charged for raw materials and to determine standard costs for budgeting production costs</a:t>
            </a:r>
            <a:endParaRPr/>
          </a:p>
          <a:p>
            <a:pPr marL="365760" lvl="0" indent="-256032" algn="l" rtl="0">
              <a:lnSpc>
                <a:spcPct val="90000"/>
              </a:lnSpc>
              <a:spcBef>
                <a:spcPts val="400"/>
              </a:spcBef>
              <a:spcAft>
                <a:spcPts val="0"/>
              </a:spcAft>
              <a:buSzPts val="1618"/>
              <a:buChar char="🞂"/>
            </a:pPr>
            <a:r>
              <a:rPr lang="en-US" sz="2380" b="1">
                <a:solidFill>
                  <a:srgbClr val="F76681"/>
                </a:solidFill>
              </a:rPr>
              <a:t>Periodic Usage reports</a:t>
            </a:r>
            <a:r>
              <a:rPr lang="en-US" sz="2380" b="1"/>
              <a:t> - </a:t>
            </a:r>
            <a:r>
              <a:rPr lang="en-US" sz="2380"/>
              <a:t>provide managerial information about how various production departments are using raw materials</a:t>
            </a:r>
            <a:endParaRPr/>
          </a:p>
          <a:p>
            <a:pPr marL="365760" lvl="0" indent="-256032" algn="l" rtl="0">
              <a:lnSpc>
                <a:spcPct val="90000"/>
              </a:lnSpc>
              <a:spcBef>
                <a:spcPts val="400"/>
              </a:spcBef>
              <a:spcAft>
                <a:spcPts val="0"/>
              </a:spcAft>
              <a:buSzPts val="1618"/>
              <a:buChar char="🞂"/>
            </a:pPr>
            <a:r>
              <a:rPr lang="en-US" sz="2380" b="1">
                <a:solidFill>
                  <a:srgbClr val="F76681"/>
                </a:solidFill>
              </a:rPr>
              <a:t>Inventory Status reports </a:t>
            </a:r>
            <a:r>
              <a:rPr lang="en-US" sz="2380"/>
              <a:t>show inventory levels for purchasing and production purposes</a:t>
            </a:r>
            <a:endParaRPr/>
          </a:p>
          <a:p>
            <a:pPr marL="365760" lvl="0" indent="-256032" algn="l" rtl="0">
              <a:lnSpc>
                <a:spcPct val="90000"/>
              </a:lnSpc>
              <a:spcBef>
                <a:spcPts val="400"/>
              </a:spcBef>
              <a:spcAft>
                <a:spcPts val="0"/>
              </a:spcAft>
              <a:buSzPts val="1618"/>
              <a:buChar char="🞂"/>
            </a:pPr>
            <a:r>
              <a:rPr lang="en-US" sz="2380" b="1">
                <a:solidFill>
                  <a:srgbClr val="F76681"/>
                </a:solidFill>
              </a:rPr>
              <a:t>Inventory Reconciliation reports </a:t>
            </a:r>
            <a:r>
              <a:rPr lang="en-US" sz="2380"/>
              <a:t>note discrepancies between the physical inventory count and book balances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2">
                                            <p:txEl>
                                              <p:pRg st="0" end="0"/>
                                            </p:txEl>
                                          </p:spTgt>
                                        </p:tgtEl>
                                        <p:attrNameLst>
                                          <p:attrName>style.visibility</p:attrName>
                                        </p:attrNameLst>
                                      </p:cBhvr>
                                      <p:to>
                                        <p:strVal val="visible"/>
                                      </p:to>
                                    </p:set>
                                    <p:animEffect transition="in" filter="fade">
                                      <p:cBhvr>
                                        <p:cTn id="7" dur="500"/>
                                        <p:tgtEl>
                                          <p:spTgt spid="9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2">
                                            <p:txEl>
                                              <p:pRg st="1" end="1"/>
                                            </p:txEl>
                                          </p:spTgt>
                                        </p:tgtEl>
                                        <p:attrNameLst>
                                          <p:attrName>style.visibility</p:attrName>
                                        </p:attrNameLst>
                                      </p:cBhvr>
                                      <p:to>
                                        <p:strVal val="visible"/>
                                      </p:to>
                                    </p:set>
                                    <p:animEffect transition="in" filter="fade">
                                      <p:cBhvr>
                                        <p:cTn id="12" dur="500"/>
                                        <p:tgtEl>
                                          <p:spTgt spid="9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2">
                                            <p:txEl>
                                              <p:pRg st="2" end="2"/>
                                            </p:txEl>
                                          </p:spTgt>
                                        </p:tgtEl>
                                        <p:attrNameLst>
                                          <p:attrName>style.visibility</p:attrName>
                                        </p:attrNameLst>
                                      </p:cBhvr>
                                      <p:to>
                                        <p:strVal val="visible"/>
                                      </p:to>
                                    </p:set>
                                    <p:animEffect transition="in" filter="fade">
                                      <p:cBhvr>
                                        <p:cTn id="17" dur="500"/>
                                        <p:tgtEl>
                                          <p:spTgt spid="9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2">
                                            <p:txEl>
                                              <p:pRg st="3" end="3"/>
                                            </p:txEl>
                                          </p:spTgt>
                                        </p:tgtEl>
                                        <p:attrNameLst>
                                          <p:attrName>style.visibility</p:attrName>
                                        </p:attrNameLst>
                                      </p:cBhvr>
                                      <p:to>
                                        <p:strVal val="visible"/>
                                      </p:to>
                                    </p:set>
                                    <p:animEffect transition="in" filter="fade">
                                      <p:cBhvr>
                                        <p:cTn id="22" dur="500"/>
                                        <p:tgtEl>
                                          <p:spTgt spid="9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120"/>
          <p:cNvSpPr txBox="1">
            <a:spLocks noGrp="1"/>
          </p:cNvSpPr>
          <p:nvPr>
            <p:ph type="title"/>
          </p:nvPr>
        </p:nvSpPr>
        <p:spPr>
          <a:xfrm>
            <a:off x="609600" y="5334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780"/>
              <a:buFont typeface="Lucida Sans"/>
              <a:buNone/>
            </a:pPr>
            <a:r>
              <a:rPr lang="en-US" sz="3780" b="1"/>
              <a:t>Check Kiting - a Risk Exposure</a:t>
            </a:r>
            <a:endParaRPr/>
          </a:p>
        </p:txBody>
      </p:sp>
      <p:sp>
        <p:nvSpPr>
          <p:cNvPr id="988" name="Google Shape;988;p120"/>
          <p:cNvSpPr txBox="1">
            <a:spLocks noGrp="1"/>
          </p:cNvSpPr>
          <p:nvPr>
            <p:ph type="body" idx="1"/>
          </p:nvPr>
        </p:nvSpPr>
        <p:spPr>
          <a:xfrm>
            <a:off x="0" y="21336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887"/>
              <a:buChar char="🞂"/>
            </a:pPr>
            <a:r>
              <a:rPr lang="en-US" sz="2775" b="1">
                <a:solidFill>
                  <a:srgbClr val="F76681"/>
                </a:solidFill>
              </a:rPr>
              <a:t>Kiting</a:t>
            </a:r>
            <a:r>
              <a:rPr lang="en-US" sz="2775"/>
              <a:t> is a type of embezzlement that involves transfers of checks among bank accounts.</a:t>
            </a:r>
            <a:endParaRPr/>
          </a:p>
          <a:p>
            <a:pPr marL="365760" lvl="0" indent="-256032" algn="l" rtl="0">
              <a:lnSpc>
                <a:spcPct val="90000"/>
              </a:lnSpc>
              <a:spcBef>
                <a:spcPts val="400"/>
              </a:spcBef>
              <a:spcAft>
                <a:spcPts val="0"/>
              </a:spcAft>
              <a:buSzPts val="1887"/>
              <a:buChar char="🞂"/>
            </a:pPr>
            <a:r>
              <a:rPr lang="en-US" sz="2775"/>
              <a:t>The purpose is generally to cover cash shortages or to inflate assets.</a:t>
            </a:r>
            <a:endParaRPr/>
          </a:p>
          <a:p>
            <a:pPr marL="365760" lvl="0" indent="-256032" algn="l" rtl="0">
              <a:lnSpc>
                <a:spcPct val="90000"/>
              </a:lnSpc>
              <a:spcBef>
                <a:spcPts val="400"/>
              </a:spcBef>
              <a:spcAft>
                <a:spcPts val="0"/>
              </a:spcAft>
              <a:buSzPts val="1887"/>
              <a:buChar char="🞂"/>
            </a:pPr>
            <a:r>
              <a:rPr lang="en-US" sz="2775"/>
              <a:t>The risk of kiting can be                                     reduced if bank reconciliations                               are prepared and compared with                      respect to all bank accounts as of                        the same date.</a:t>
            </a:r>
            <a:endParaRPr/>
          </a:p>
        </p:txBody>
      </p:sp>
      <p:pic>
        <p:nvPicPr>
          <p:cNvPr id="989" name="Google Shape;989;p120"/>
          <p:cNvPicPr preferRelativeResize="0"/>
          <p:nvPr/>
        </p:nvPicPr>
        <p:blipFill rotWithShape="1">
          <a:blip r:embed="rId3">
            <a:alphaModFix/>
          </a:blip>
          <a:srcRect/>
          <a:stretch/>
        </p:blipFill>
        <p:spPr>
          <a:xfrm>
            <a:off x="5029200" y="3276600"/>
            <a:ext cx="3876675" cy="225742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8">
                                            <p:txEl>
                                              <p:pRg st="0" end="0"/>
                                            </p:txEl>
                                          </p:spTgt>
                                        </p:tgtEl>
                                        <p:attrNameLst>
                                          <p:attrName>style.visibility</p:attrName>
                                        </p:attrNameLst>
                                      </p:cBhvr>
                                      <p:to>
                                        <p:strVal val="visible"/>
                                      </p:to>
                                    </p:set>
                                    <p:animEffect transition="in" filter="fade">
                                      <p:cBhvr>
                                        <p:cTn id="7" dur="500"/>
                                        <p:tgtEl>
                                          <p:spTgt spid="9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8">
                                            <p:txEl>
                                              <p:pRg st="1" end="1"/>
                                            </p:txEl>
                                          </p:spTgt>
                                        </p:tgtEl>
                                        <p:attrNameLst>
                                          <p:attrName>style.visibility</p:attrName>
                                        </p:attrNameLst>
                                      </p:cBhvr>
                                      <p:to>
                                        <p:strVal val="visible"/>
                                      </p:to>
                                    </p:set>
                                    <p:animEffect transition="in" filter="fade">
                                      <p:cBhvr>
                                        <p:cTn id="12" dur="500"/>
                                        <p:tgtEl>
                                          <p:spTgt spid="9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8">
                                            <p:txEl>
                                              <p:pRg st="2" end="2"/>
                                            </p:txEl>
                                          </p:spTgt>
                                        </p:tgtEl>
                                        <p:attrNameLst>
                                          <p:attrName>style.visibility</p:attrName>
                                        </p:attrNameLst>
                                      </p:cBhvr>
                                      <p:to>
                                        <p:strVal val="visible"/>
                                      </p:to>
                                    </p:set>
                                    <p:animEffect transition="in" filter="fade">
                                      <p:cBhvr>
                                        <p:cTn id="17" dur="500"/>
                                        <p:tgtEl>
                                          <p:spTgt spid="9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Voucher System of Cash Disbursements</a:t>
            </a:r>
            <a:endParaRPr/>
          </a:p>
        </p:txBody>
      </p:sp>
      <p:sp>
        <p:nvSpPr>
          <p:cNvPr id="995" name="Google Shape;995;p121"/>
          <p:cNvSpPr txBox="1">
            <a:spLocks noGrp="1"/>
          </p:cNvSpPr>
          <p:nvPr>
            <p:ph type="body" idx="1"/>
          </p:nvPr>
        </p:nvSpPr>
        <p:spPr>
          <a:xfrm>
            <a:off x="76200" y="22860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2040"/>
              <a:buChar char="🞂"/>
            </a:pPr>
            <a:r>
              <a:rPr lang="en-US" sz="3000"/>
              <a:t>Before payment to a vendor an accounts payable clerk matches together the purchase requisition, purchase order, and receiving report with the vendor invoice and          prepares a </a:t>
            </a:r>
            <a:r>
              <a:rPr lang="en-US" sz="3000" b="1">
                <a:solidFill>
                  <a:srgbClr val="F76681"/>
                </a:solidFill>
              </a:rPr>
              <a:t>voucher</a:t>
            </a:r>
            <a:r>
              <a:rPr lang="en-US" sz="3000"/>
              <a:t>. </a:t>
            </a:r>
            <a:endParaRPr/>
          </a:p>
          <a:p>
            <a:pPr marL="365760" lvl="0" indent="-256032" algn="l" rtl="0">
              <a:lnSpc>
                <a:spcPct val="90000"/>
              </a:lnSpc>
              <a:spcBef>
                <a:spcPts val="400"/>
              </a:spcBef>
              <a:spcAft>
                <a:spcPts val="0"/>
              </a:spcAft>
              <a:buSzPts val="2040"/>
              <a:buChar char="🞂"/>
            </a:pPr>
            <a:r>
              <a:rPr lang="en-US" sz="3000"/>
              <a:t>The voucher serves as a control                    over cash disbursements to vendors                    by avoiding duplicate payments.</a:t>
            </a:r>
            <a:endParaRPr/>
          </a:p>
        </p:txBody>
      </p:sp>
      <p:pic>
        <p:nvPicPr>
          <p:cNvPr id="996" name="Google Shape;996;p121"/>
          <p:cNvPicPr preferRelativeResize="0"/>
          <p:nvPr/>
        </p:nvPicPr>
        <p:blipFill rotWithShape="1">
          <a:blip r:embed="rId3">
            <a:alphaModFix/>
          </a:blip>
          <a:srcRect/>
          <a:stretch/>
        </p:blipFill>
        <p:spPr>
          <a:xfrm>
            <a:off x="6705600" y="3295650"/>
            <a:ext cx="2362200" cy="211455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5">
                                            <p:txEl>
                                              <p:pRg st="0" end="0"/>
                                            </p:txEl>
                                          </p:spTgt>
                                        </p:tgtEl>
                                        <p:attrNameLst>
                                          <p:attrName>style.visibility</p:attrName>
                                        </p:attrNameLst>
                                      </p:cBhvr>
                                      <p:to>
                                        <p:strVal val="visible"/>
                                      </p:to>
                                    </p:set>
                                    <p:animEffect transition="in" filter="fade">
                                      <p:cBhvr>
                                        <p:cTn id="7" dur="500"/>
                                        <p:tgtEl>
                                          <p:spTgt spid="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5">
                                            <p:txEl>
                                              <p:pRg st="1" end="1"/>
                                            </p:txEl>
                                          </p:spTgt>
                                        </p:tgtEl>
                                        <p:attrNameLst>
                                          <p:attrName>style.visibility</p:attrName>
                                        </p:attrNameLst>
                                      </p:cBhvr>
                                      <p:to>
                                        <p:strVal val="visible"/>
                                      </p:to>
                                    </p:set>
                                    <p:animEffect transition="in" filter="fade">
                                      <p:cBhvr>
                                        <p:cTn id="12" dur="500"/>
                                        <p:tgtEl>
                                          <p:spTgt spid="9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b="1"/>
              <a:t>Internal Controls in the Expenditure Cycle</a:t>
            </a:r>
            <a:endParaRPr/>
          </a:p>
        </p:txBody>
      </p:sp>
      <p:sp>
        <p:nvSpPr>
          <p:cNvPr id="1002" name="Google Shape;1002;p122"/>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lnSpc>
                <a:spcPct val="90000"/>
              </a:lnSpc>
              <a:spcBef>
                <a:spcPts val="0"/>
              </a:spcBef>
              <a:spcAft>
                <a:spcPts val="0"/>
              </a:spcAft>
              <a:buSzPts val="1510"/>
              <a:buChar char="🞂"/>
            </a:pPr>
            <a:r>
              <a:rPr lang="en-US" sz="2220"/>
              <a:t>Purchase requisitions should originate and be approved outside the purchasing department.</a:t>
            </a:r>
            <a:endParaRPr/>
          </a:p>
          <a:p>
            <a:pPr marL="365760" lvl="0" indent="-256032" algn="l" rtl="0">
              <a:lnSpc>
                <a:spcPct val="90000"/>
              </a:lnSpc>
              <a:spcBef>
                <a:spcPts val="400"/>
              </a:spcBef>
              <a:spcAft>
                <a:spcPts val="0"/>
              </a:spcAft>
              <a:buSzPts val="1510"/>
              <a:buChar char="🞂"/>
            </a:pPr>
            <a:r>
              <a:rPr lang="en-US" sz="2220"/>
              <a:t>Purchasing should implement competitive bidding procedures. </a:t>
            </a:r>
            <a:endParaRPr/>
          </a:p>
          <a:p>
            <a:pPr marL="365760" lvl="0" indent="-256032" algn="l" rtl="0">
              <a:lnSpc>
                <a:spcPct val="90000"/>
              </a:lnSpc>
              <a:spcBef>
                <a:spcPts val="400"/>
              </a:spcBef>
              <a:spcAft>
                <a:spcPts val="0"/>
              </a:spcAft>
              <a:buSzPts val="1510"/>
              <a:buChar char="🞂"/>
            </a:pPr>
            <a:r>
              <a:rPr lang="en-US" sz="2220"/>
              <a:t>Receiving should be separate from stores and should perform a blind count of shipments received.</a:t>
            </a:r>
            <a:endParaRPr/>
          </a:p>
          <a:p>
            <a:pPr marL="365760" lvl="0" indent="-256032" algn="l" rtl="0">
              <a:lnSpc>
                <a:spcPct val="90000"/>
              </a:lnSpc>
              <a:spcBef>
                <a:spcPts val="400"/>
              </a:spcBef>
              <a:spcAft>
                <a:spcPts val="0"/>
              </a:spcAft>
              <a:buSzPts val="1510"/>
              <a:buChar char="🞂"/>
            </a:pPr>
            <a:r>
              <a:rPr lang="en-US" sz="2220"/>
              <a:t>Written authorization should accompany the movement of inventory.</a:t>
            </a:r>
            <a:endParaRPr/>
          </a:p>
          <a:p>
            <a:pPr marL="365760" lvl="0" indent="-256032" algn="l" rtl="0">
              <a:lnSpc>
                <a:spcPct val="90000"/>
              </a:lnSpc>
              <a:spcBef>
                <a:spcPts val="400"/>
              </a:spcBef>
              <a:spcAft>
                <a:spcPts val="0"/>
              </a:spcAft>
              <a:buSzPts val="1510"/>
              <a:buChar char="🞂"/>
            </a:pPr>
            <a:r>
              <a:rPr lang="en-US" sz="2220"/>
              <a:t>Accounts payable should employ a voucher system. </a:t>
            </a:r>
            <a:endParaRPr/>
          </a:p>
          <a:p>
            <a:pPr marL="365760" lvl="0" indent="-256032" algn="l" rtl="0">
              <a:lnSpc>
                <a:spcPct val="90000"/>
              </a:lnSpc>
              <a:spcBef>
                <a:spcPts val="400"/>
              </a:spcBef>
              <a:spcAft>
                <a:spcPts val="0"/>
              </a:spcAft>
              <a:buSzPts val="1510"/>
              <a:buChar char="🞂"/>
            </a:pPr>
            <a:r>
              <a:rPr lang="en-US" sz="2220"/>
              <a:t>Cashier should sign checks.</a:t>
            </a:r>
            <a:endParaRPr/>
          </a:p>
          <a:p>
            <a:pPr marL="365760" lvl="0" indent="-256032" algn="l" rtl="0">
              <a:lnSpc>
                <a:spcPct val="90000"/>
              </a:lnSpc>
              <a:spcBef>
                <a:spcPts val="400"/>
              </a:spcBef>
              <a:spcAft>
                <a:spcPts val="0"/>
              </a:spcAft>
              <a:buSzPts val="1510"/>
              <a:buChar char="🞂"/>
            </a:pPr>
            <a:r>
              <a:rPr lang="en-US" sz="2220"/>
              <a:t>A physical count of inventory should be taken and compared to inventory records.</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2">
                                            <p:txEl>
                                              <p:pRg st="0" end="0"/>
                                            </p:txEl>
                                          </p:spTgt>
                                        </p:tgtEl>
                                        <p:attrNameLst>
                                          <p:attrName>style.visibility</p:attrName>
                                        </p:attrNameLst>
                                      </p:cBhvr>
                                      <p:to>
                                        <p:strVal val="visible"/>
                                      </p:to>
                                    </p:set>
                                    <p:animEffect transition="in" filter="fade">
                                      <p:cBhvr>
                                        <p:cTn id="7" dur="500"/>
                                        <p:tgtEl>
                                          <p:spTgt spid="10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2">
                                            <p:txEl>
                                              <p:pRg st="1" end="1"/>
                                            </p:txEl>
                                          </p:spTgt>
                                        </p:tgtEl>
                                        <p:attrNameLst>
                                          <p:attrName>style.visibility</p:attrName>
                                        </p:attrNameLst>
                                      </p:cBhvr>
                                      <p:to>
                                        <p:strVal val="visible"/>
                                      </p:to>
                                    </p:set>
                                    <p:animEffect transition="in" filter="fade">
                                      <p:cBhvr>
                                        <p:cTn id="12" dur="500"/>
                                        <p:tgtEl>
                                          <p:spTgt spid="10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2">
                                            <p:txEl>
                                              <p:pRg st="2" end="2"/>
                                            </p:txEl>
                                          </p:spTgt>
                                        </p:tgtEl>
                                        <p:attrNameLst>
                                          <p:attrName>style.visibility</p:attrName>
                                        </p:attrNameLst>
                                      </p:cBhvr>
                                      <p:to>
                                        <p:strVal val="visible"/>
                                      </p:to>
                                    </p:set>
                                    <p:animEffect transition="in" filter="fade">
                                      <p:cBhvr>
                                        <p:cTn id="17" dur="500"/>
                                        <p:tgtEl>
                                          <p:spTgt spid="10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2">
                                            <p:txEl>
                                              <p:pRg st="3" end="3"/>
                                            </p:txEl>
                                          </p:spTgt>
                                        </p:tgtEl>
                                        <p:attrNameLst>
                                          <p:attrName>style.visibility</p:attrName>
                                        </p:attrNameLst>
                                      </p:cBhvr>
                                      <p:to>
                                        <p:strVal val="visible"/>
                                      </p:to>
                                    </p:set>
                                    <p:animEffect transition="in" filter="fade">
                                      <p:cBhvr>
                                        <p:cTn id="22" dur="500"/>
                                        <p:tgtEl>
                                          <p:spTgt spid="10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2">
                                            <p:txEl>
                                              <p:pRg st="4" end="4"/>
                                            </p:txEl>
                                          </p:spTgt>
                                        </p:tgtEl>
                                        <p:attrNameLst>
                                          <p:attrName>style.visibility</p:attrName>
                                        </p:attrNameLst>
                                      </p:cBhvr>
                                      <p:to>
                                        <p:strVal val="visible"/>
                                      </p:to>
                                    </p:set>
                                    <p:animEffect transition="in" filter="fade">
                                      <p:cBhvr>
                                        <p:cTn id="27" dur="500"/>
                                        <p:tgtEl>
                                          <p:spTgt spid="100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2">
                                            <p:txEl>
                                              <p:pRg st="5" end="5"/>
                                            </p:txEl>
                                          </p:spTgt>
                                        </p:tgtEl>
                                        <p:attrNameLst>
                                          <p:attrName>style.visibility</p:attrName>
                                        </p:attrNameLst>
                                      </p:cBhvr>
                                      <p:to>
                                        <p:strVal val="visible"/>
                                      </p:to>
                                    </p:set>
                                    <p:animEffect transition="in" filter="fade">
                                      <p:cBhvr>
                                        <p:cTn id="32" dur="500"/>
                                        <p:tgtEl>
                                          <p:spTgt spid="100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2">
                                            <p:txEl>
                                              <p:pRg st="6" end="6"/>
                                            </p:txEl>
                                          </p:spTgt>
                                        </p:tgtEl>
                                        <p:attrNameLst>
                                          <p:attrName>style.visibility</p:attrName>
                                        </p:attrNameLst>
                                      </p:cBhvr>
                                      <p:to>
                                        <p:strVal val="visible"/>
                                      </p:to>
                                    </p:set>
                                    <p:animEffect transition="in" filter="fade">
                                      <p:cBhvr>
                                        <p:cTn id="37" dur="500"/>
                                        <p:tgtEl>
                                          <p:spTgt spid="10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1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a:t>
            </a:r>
            <a:endParaRPr/>
          </a:p>
        </p:txBody>
      </p:sp>
      <p:sp>
        <p:nvSpPr>
          <p:cNvPr id="1008" name="Google Shape;1008;p123"/>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Personnel</a:t>
            </a:r>
            <a:endParaRPr/>
          </a:p>
          <a:p>
            <a:pPr marL="365760" lvl="0" indent="-256032" algn="l" rtl="0">
              <a:spcBef>
                <a:spcPts val="400"/>
              </a:spcBef>
              <a:spcAft>
                <a:spcPts val="0"/>
              </a:spcAft>
              <a:buSzPts val="1836"/>
              <a:buChar char="🞂"/>
            </a:pPr>
            <a:r>
              <a:rPr lang="en-US"/>
              <a:t>Timekeeping</a:t>
            </a:r>
            <a:endParaRPr/>
          </a:p>
          <a:p>
            <a:pPr marL="365760" lvl="0" indent="-256032" algn="l" rtl="0">
              <a:spcBef>
                <a:spcPts val="400"/>
              </a:spcBef>
              <a:spcAft>
                <a:spcPts val="0"/>
              </a:spcAft>
              <a:buSzPts val="1836"/>
              <a:buChar char="🞂"/>
            </a:pPr>
            <a:r>
              <a:rPr lang="en-US"/>
              <a:t>Payroll</a:t>
            </a:r>
            <a:endParaRPr/>
          </a:p>
        </p:txBody>
      </p:sp>
    </p:spTree>
  </p:cSld>
  <p:clrMapOvr>
    <a:masterClrMapping/>
  </p:clrMapOvr>
  <p:transition spd="slow">
    <p:push/>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1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Personnel</a:t>
            </a:r>
            <a:endParaRPr/>
          </a:p>
        </p:txBody>
      </p:sp>
      <p:sp>
        <p:nvSpPr>
          <p:cNvPr id="1014" name="Google Shape;1014;p124"/>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responsible for placing people on the company's payroll, specifying rates of pay, and authorizing all deductions from pay.</a:t>
            </a:r>
            <a:endParaRPr/>
          </a:p>
        </p:txBody>
      </p:sp>
    </p:spTree>
  </p:cSld>
  <p:clrMapOvr>
    <a:masterClrMapping/>
  </p:clrMapOvr>
  <p:transition spd="slow">
    <p:push/>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1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Timekeeping</a:t>
            </a:r>
            <a:endParaRPr/>
          </a:p>
        </p:txBody>
      </p:sp>
      <p:sp>
        <p:nvSpPr>
          <p:cNvPr id="1020" name="Google Shape;1020;p125"/>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responsible for collecting and maintaining time cards or time reports, and reconciling these data to job time summary reports</a:t>
            </a:r>
            <a:endParaRPr/>
          </a:p>
        </p:txBody>
      </p:sp>
    </p:spTree>
  </p:cSld>
  <p:clrMapOvr>
    <a:masterClrMapping/>
  </p:clrMapOvr>
  <p:transition spd="slow">
    <p:push/>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p1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a:t>
            </a:r>
            <a:endParaRPr/>
          </a:p>
        </p:txBody>
      </p:sp>
      <p:sp>
        <p:nvSpPr>
          <p:cNvPr id="1026" name="Google Shape;1026;p126"/>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payroll department is responsible for the actual computation and preparation of payroll.</a:t>
            </a:r>
            <a:endParaRPr/>
          </a:p>
        </p:txBody>
      </p:sp>
    </p:spTree>
  </p:cSld>
  <p:clrMapOvr>
    <a:masterClrMapping/>
  </p:clrMapOvr>
  <p:transition spd="slow">
    <p:push/>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p1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 register</a:t>
            </a:r>
            <a:endParaRPr/>
          </a:p>
        </p:txBody>
      </p:sp>
      <p:sp>
        <p:nvSpPr>
          <p:cNvPr id="1032" name="Google Shape;1032;p127"/>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Details the computation of net pay (gross pay less deductions from pay). </a:t>
            </a:r>
            <a:endParaRPr/>
          </a:p>
        </p:txBody>
      </p:sp>
    </p:spTree>
  </p:cSld>
  <p:clrMapOvr>
    <a:masterClrMapping/>
  </p:clrMapOvr>
  <p:transition spd="slow">
    <p:push/>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p1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 Controls </a:t>
            </a:r>
            <a:endParaRPr/>
          </a:p>
        </p:txBody>
      </p:sp>
      <p:sp>
        <p:nvSpPr>
          <p:cNvPr id="1038" name="Google Shape;1038;p128"/>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Paychecks are sent to cash disbursements for signature, review, and distribution.</a:t>
            </a:r>
            <a:endParaRPr/>
          </a:p>
        </p:txBody>
      </p:sp>
    </p:spTree>
  </p:cSld>
  <p:clrMapOvr>
    <a:masterClrMapping/>
  </p:clrMapOvr>
  <p:transition spd="slow">
    <p:push/>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1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 Controls </a:t>
            </a:r>
            <a:endParaRPr/>
          </a:p>
        </p:txBody>
      </p:sp>
      <p:sp>
        <p:nvSpPr>
          <p:cNvPr id="1044" name="Google Shape;1044;p129"/>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The use of a separate imprest payroll account for paychecks to      facilitate reconciliation</a:t>
            </a:r>
            <a:endParaRPr/>
          </a:p>
        </p:txBody>
      </p:sp>
    </p:spTree>
  </p:cSld>
  <p:clrMapOvr>
    <a:masterClrMapping/>
  </p:clrMapOvr>
  <p:transition spd="slow">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 Controls</a:t>
            </a:r>
            <a:endParaRPr/>
          </a:p>
        </p:txBody>
      </p:sp>
      <p:sp>
        <p:nvSpPr>
          <p:cNvPr id="1050" name="Google Shape;1050;p130"/>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An independent reconciliation of the payroll account bank statement</a:t>
            </a:r>
            <a:endParaRPr/>
          </a:p>
        </p:txBody>
      </p:sp>
    </p:spTree>
  </p:cSld>
  <p:clrMapOvr>
    <a:masterClrMapping/>
  </p:clrMapOvr>
  <p:transition spd="slow">
    <p:push/>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independent paymaster</a:t>
            </a:r>
            <a:endParaRPr/>
          </a:p>
        </p:txBody>
      </p:sp>
      <p:sp>
        <p:nvSpPr>
          <p:cNvPr id="1056" name="Google Shape;1056;p131"/>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the person who distributes pay is independent of the payroll preparation process. </a:t>
            </a:r>
            <a:endParaRPr/>
          </a:p>
        </p:txBody>
      </p:sp>
    </p:spTree>
  </p:cSld>
  <p:clrMapOvr>
    <a:masterClrMapping/>
  </p:clrMapOvr>
  <p:transition spd="slow">
    <p:push/>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1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Payroll Processing Requirements</a:t>
            </a:r>
            <a:endParaRPr/>
          </a:p>
        </p:txBody>
      </p:sp>
      <p:sp>
        <p:nvSpPr>
          <p:cNvPr id="1062" name="Google Shape;1062;p132"/>
          <p:cNvSpPr txBox="1">
            <a:spLocks noGrp="1"/>
          </p:cNvSpPr>
          <p:nvPr>
            <p:ph type="body" idx="1"/>
          </p:nvPr>
        </p:nvSpPr>
        <p:spPr>
          <a:xfrm>
            <a:off x="685800" y="1981200"/>
            <a:ext cx="7772400" cy="4114800"/>
          </a:xfrm>
          <a:prstGeom prst="rect">
            <a:avLst/>
          </a:prstGeom>
          <a:noFill/>
          <a:ln>
            <a:noFill/>
          </a:ln>
        </p:spPr>
        <p:txBody>
          <a:bodyPr spcFirstLastPara="1" wrap="square" lIns="90475" tIns="44450" rIns="90475" bIns="44450" anchor="t" anchorCtr="0">
            <a:noAutofit/>
          </a:bodyPr>
          <a:lstStyle/>
          <a:p>
            <a:pPr marL="365760" lvl="0" indent="-256032" algn="l" rtl="0">
              <a:spcBef>
                <a:spcPts val="0"/>
              </a:spcBef>
              <a:spcAft>
                <a:spcPts val="0"/>
              </a:spcAft>
              <a:buSzPts val="1836"/>
              <a:buChar char="🞂"/>
            </a:pPr>
            <a:r>
              <a:rPr lang="en-US"/>
              <a:t>Federal old-age, survivors', disability, and hospital insurance (F.I.C.A.)</a:t>
            </a:r>
            <a:endParaRPr/>
          </a:p>
          <a:p>
            <a:pPr marL="365760" lvl="0" indent="-256032" algn="l" rtl="0">
              <a:spcBef>
                <a:spcPts val="400"/>
              </a:spcBef>
              <a:spcAft>
                <a:spcPts val="0"/>
              </a:spcAft>
              <a:buSzPts val="1836"/>
              <a:buChar char="🞂"/>
            </a:pPr>
            <a:r>
              <a:rPr lang="en-US"/>
              <a:t>Federal unemployment insurance</a:t>
            </a:r>
            <a:endParaRPr/>
          </a:p>
          <a:p>
            <a:pPr marL="365760" lvl="0" indent="-256032" algn="l" rtl="0">
              <a:spcBef>
                <a:spcPts val="400"/>
              </a:spcBef>
              <a:spcAft>
                <a:spcPts val="0"/>
              </a:spcAft>
              <a:buSzPts val="1836"/>
              <a:buChar char="🞂"/>
            </a:pPr>
            <a:r>
              <a:rPr lang="en-US"/>
              <a:t>State unemployment insurance</a:t>
            </a:r>
            <a:endParaRPr/>
          </a:p>
          <a:p>
            <a:pPr marL="365760" lvl="0" indent="-256032" algn="l" rtl="0">
              <a:spcBef>
                <a:spcPts val="400"/>
              </a:spcBef>
              <a:spcAft>
                <a:spcPts val="0"/>
              </a:spcAft>
              <a:buSzPts val="1836"/>
              <a:buChar char="🞂"/>
            </a:pPr>
            <a:r>
              <a:rPr lang="en-US"/>
              <a:t>Income taxes withheld</a:t>
            </a:r>
            <a:endParaRPr/>
          </a:p>
        </p:txBody>
      </p:sp>
    </p:spTree>
  </p:cSld>
  <p:clrMapOvr>
    <a:masterClrMapping/>
  </p:clrMapOvr>
  <p:transition spd="slow">
    <p:push/>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133"/>
          <p:cNvSpPr txBox="1">
            <a:spLocks noGrp="1"/>
          </p:cNvSpPr>
          <p:nvPr>
            <p:ph type="ctrTitle"/>
          </p:nvPr>
        </p:nvSpPr>
        <p:spPr>
          <a:xfrm>
            <a:off x="609600" y="609600"/>
            <a:ext cx="7772400" cy="18297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4800"/>
              <a:buFont typeface="Lucida Sans"/>
              <a:buNone/>
            </a:pPr>
            <a:r>
              <a:rPr lang="en-US">
                <a:solidFill>
                  <a:schemeClr val="dk1"/>
                </a:solidFill>
              </a:rPr>
              <a:t>The conversion cycle</a:t>
            </a:r>
            <a:endParaRPr>
              <a:solidFill>
                <a:schemeClr val="dk1"/>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134"/>
          <p:cNvSpPr txBox="1"/>
          <p:nvPr/>
        </p:nvSpPr>
        <p:spPr>
          <a:xfrm>
            <a:off x="457200" y="1066800"/>
            <a:ext cx="8229600" cy="4572000"/>
          </a:xfrm>
          <a:prstGeom prst="rect">
            <a:avLst/>
          </a:prstGeom>
          <a:noFill/>
          <a:ln>
            <a:noFill/>
          </a:ln>
        </p:spPr>
        <p:txBody>
          <a:bodyPr spcFirstLastPara="1" wrap="square" lIns="91425" tIns="45700" rIns="91425" bIns="45700" anchor="t" anchorCtr="0">
            <a:noAutofit/>
          </a:bodyPr>
          <a:lstStyle/>
          <a:p>
            <a:pPr marL="365760" marR="0" lvl="0" indent="-256032" algn="just" rtl="0">
              <a:lnSpc>
                <a:spcPct val="100000"/>
              </a:lnSpc>
              <a:spcBef>
                <a:spcPts val="0"/>
              </a:spcBef>
              <a:spcAft>
                <a:spcPts val="0"/>
              </a:spcAft>
              <a:buNone/>
            </a:pPr>
            <a:r>
              <a:rPr lang="en-US" sz="3600" b="0" i="0" u="none" strike="noStrike" cap="none">
                <a:solidFill>
                  <a:schemeClr val="dk1"/>
                </a:solidFill>
                <a:latin typeface="Lucida Sans"/>
                <a:ea typeface="Lucida Sans"/>
                <a:cs typeface="Lucida Sans"/>
                <a:sym typeface="Lucida Sans"/>
              </a:rPr>
              <a:t>Learning objectives</a:t>
            </a:r>
            <a:endParaRPr sz="4800" b="0" i="0" u="none" strike="noStrike" cap="none">
              <a:solidFill>
                <a:schemeClr val="dk1"/>
              </a:solidFill>
              <a:latin typeface="Lucida Sans"/>
              <a:ea typeface="Lucida Sans"/>
              <a:cs typeface="Lucida Sans"/>
              <a:sym typeface="Lucida Sans"/>
            </a:endParaRPr>
          </a:p>
          <a:p>
            <a:pPr marL="457200" marR="0" lvl="1" indent="-177800" algn="just" rtl="0">
              <a:lnSpc>
                <a:spcPct val="100000"/>
              </a:lnSpc>
              <a:spcBef>
                <a:spcPts val="324"/>
              </a:spcBef>
              <a:spcAft>
                <a:spcPts val="0"/>
              </a:spcAft>
              <a:buClr>
                <a:schemeClr val="accent1"/>
              </a:buClr>
              <a:buSzPts val="2800"/>
              <a:buFont typeface="Verdana"/>
              <a:buChar char="◦"/>
            </a:pPr>
            <a:r>
              <a:rPr lang="en-US" sz="2800" b="1" i="0" u="none" strike="noStrike" cap="none">
                <a:solidFill>
                  <a:schemeClr val="dk1"/>
                </a:solidFill>
                <a:latin typeface="Lucida Sans"/>
                <a:ea typeface="Lucida Sans"/>
                <a:cs typeface="Lucida Sans"/>
                <a:sym typeface="Lucida Sans"/>
              </a:rPr>
              <a:t>To learn what the conversion cycle business activities are.</a:t>
            </a:r>
            <a:endParaRPr/>
          </a:p>
          <a:p>
            <a:pPr marL="457200" marR="0" lvl="1" indent="-177800" algn="just" rtl="0">
              <a:lnSpc>
                <a:spcPct val="100000"/>
              </a:lnSpc>
              <a:spcBef>
                <a:spcPts val="324"/>
              </a:spcBef>
              <a:spcAft>
                <a:spcPts val="0"/>
              </a:spcAft>
              <a:buClr>
                <a:schemeClr val="accent1"/>
              </a:buClr>
              <a:buSzPts val="2800"/>
              <a:buFont typeface="Verdana"/>
              <a:buChar char="◦"/>
            </a:pPr>
            <a:r>
              <a:rPr lang="en-US" sz="2800" b="1" i="0" u="none" strike="noStrike" cap="none">
                <a:solidFill>
                  <a:schemeClr val="dk1"/>
                </a:solidFill>
                <a:latin typeface="Lucida Sans"/>
                <a:ea typeface="Lucida Sans"/>
                <a:cs typeface="Lucida Sans"/>
                <a:sym typeface="Lucida Sans"/>
              </a:rPr>
              <a:t>To learn how to flow chart the conversion cycle business activities.</a:t>
            </a:r>
            <a:endParaRPr/>
          </a:p>
          <a:p>
            <a:pPr marL="457200" marR="0" lvl="1" indent="-177800" algn="just" rtl="0">
              <a:lnSpc>
                <a:spcPct val="100000"/>
              </a:lnSpc>
              <a:spcBef>
                <a:spcPts val="324"/>
              </a:spcBef>
              <a:spcAft>
                <a:spcPts val="0"/>
              </a:spcAft>
              <a:buClr>
                <a:schemeClr val="accent1"/>
              </a:buClr>
              <a:buSzPts val="2800"/>
              <a:buFont typeface="Verdana"/>
              <a:buChar char="◦"/>
            </a:pPr>
            <a:r>
              <a:rPr lang="en-US" sz="2800" b="1" i="0" u="none" strike="noStrike" cap="none">
                <a:solidFill>
                  <a:schemeClr val="dk1"/>
                </a:solidFill>
                <a:latin typeface="Lucida Sans"/>
                <a:ea typeface="Lucida Sans"/>
                <a:cs typeface="Lucida Sans"/>
                <a:sym typeface="Lucida Sans"/>
              </a:rPr>
              <a:t>To understand the processing of conversion cycle transactions using a computer.</a:t>
            </a:r>
            <a:endParaRPr/>
          </a:p>
          <a:p>
            <a:pPr marL="457200" marR="0" lvl="1" indent="-177800" algn="just" rtl="0">
              <a:lnSpc>
                <a:spcPct val="100000"/>
              </a:lnSpc>
              <a:spcBef>
                <a:spcPts val="324"/>
              </a:spcBef>
              <a:spcAft>
                <a:spcPts val="0"/>
              </a:spcAft>
              <a:buClr>
                <a:schemeClr val="accent1"/>
              </a:buClr>
              <a:buSzPts val="2800"/>
              <a:buFont typeface="Verdana"/>
              <a:buChar char="◦"/>
            </a:pPr>
            <a:r>
              <a:rPr lang="en-US" sz="2800" b="1" i="0" u="none" strike="noStrike" cap="none">
                <a:solidFill>
                  <a:schemeClr val="dk1"/>
                </a:solidFill>
                <a:latin typeface="Lucida Sans"/>
                <a:ea typeface="Lucida Sans"/>
                <a:cs typeface="Lucida Sans"/>
                <a:sym typeface="Lucida Sans"/>
              </a:rPr>
              <a:t>To know the control practices and procedures required in the conversion cycle.</a:t>
            </a:r>
            <a:endParaRPr/>
          </a:p>
          <a:p>
            <a:pPr marL="365760" marR="0" lvl="0" indent="-117855" algn="just" rtl="0">
              <a:lnSpc>
                <a:spcPct val="100000"/>
              </a:lnSpc>
              <a:spcBef>
                <a:spcPts val="400"/>
              </a:spcBef>
              <a:spcAft>
                <a:spcPts val="0"/>
              </a:spcAft>
              <a:buClr>
                <a:schemeClr val="accent1"/>
              </a:buClr>
              <a:buSzPts val="2176"/>
              <a:buFont typeface="Noto Sans Symbols"/>
              <a:buNone/>
            </a:pPr>
            <a:endParaRPr sz="3200" b="1" i="0" u="none" strike="noStrike" cap="none">
              <a:solidFill>
                <a:schemeClr val="dk1"/>
              </a:solidFill>
              <a:latin typeface="Lucida Sans"/>
              <a:ea typeface="Lucida Sans"/>
              <a:cs typeface="Lucida Sans"/>
              <a:sym typeface="Lucida San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key terms</a:t>
            </a:r>
            <a:endParaRPr/>
          </a:p>
        </p:txBody>
      </p:sp>
      <p:sp>
        <p:nvSpPr>
          <p:cNvPr id="1078" name="Google Shape;1078;p135"/>
          <p:cNvSpPr txBox="1">
            <a:spLocks noGrp="1"/>
          </p:cNvSpPr>
          <p:nvPr>
            <p:ph type="body" idx="1"/>
          </p:nvPr>
        </p:nvSpPr>
        <p:spPr>
          <a:xfrm>
            <a:off x="1447800" y="1828800"/>
            <a:ext cx="7315200" cy="4114800"/>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904"/>
              <a:buChar char="🞂"/>
            </a:pPr>
            <a:r>
              <a:rPr lang="en-US" sz="2800"/>
              <a:t>direct labour cost</a:t>
            </a:r>
            <a:endParaRPr/>
          </a:p>
          <a:p>
            <a:pPr marL="365760" lvl="0" indent="-256032" algn="l" rtl="0">
              <a:spcBef>
                <a:spcPts val="400"/>
              </a:spcBef>
              <a:spcAft>
                <a:spcPts val="0"/>
              </a:spcAft>
              <a:buSzPts val="1904"/>
              <a:buChar char="🞂"/>
            </a:pPr>
            <a:r>
              <a:rPr lang="en-US" sz="2800"/>
              <a:t>direct material cost</a:t>
            </a:r>
            <a:endParaRPr/>
          </a:p>
          <a:p>
            <a:pPr marL="365760" lvl="0" indent="-256032" algn="l" rtl="0">
              <a:spcBef>
                <a:spcPts val="400"/>
              </a:spcBef>
              <a:spcAft>
                <a:spcPts val="0"/>
              </a:spcAft>
              <a:buSzPts val="1904"/>
              <a:buChar char="🞂"/>
            </a:pPr>
            <a:r>
              <a:rPr lang="en-US" sz="2800"/>
              <a:t>job order costing</a:t>
            </a:r>
            <a:endParaRPr/>
          </a:p>
          <a:p>
            <a:pPr marL="365760" lvl="0" indent="-256032" algn="l" rtl="0">
              <a:spcBef>
                <a:spcPts val="400"/>
              </a:spcBef>
              <a:spcAft>
                <a:spcPts val="0"/>
              </a:spcAft>
              <a:buSzPts val="1904"/>
              <a:buChar char="🞂"/>
            </a:pPr>
            <a:r>
              <a:rPr lang="en-US" sz="2800"/>
              <a:t>just-in-time inventory system</a:t>
            </a:r>
            <a:endParaRPr/>
          </a:p>
          <a:p>
            <a:pPr marL="365760" lvl="0" indent="-256032" algn="l" rtl="0">
              <a:spcBef>
                <a:spcPts val="400"/>
              </a:spcBef>
              <a:spcAft>
                <a:spcPts val="0"/>
              </a:spcAft>
              <a:buSzPts val="1904"/>
              <a:buChar char="🞂"/>
            </a:pPr>
            <a:r>
              <a:rPr lang="en-US" sz="2800"/>
              <a:t>material requirements planning</a:t>
            </a:r>
            <a:endParaRPr/>
          </a:p>
          <a:p>
            <a:pPr marL="365760" lvl="0" indent="-256032" algn="l" rtl="0">
              <a:spcBef>
                <a:spcPts val="400"/>
              </a:spcBef>
              <a:spcAft>
                <a:spcPts val="0"/>
              </a:spcAft>
              <a:buSzPts val="1904"/>
              <a:buChar char="🞂"/>
            </a:pPr>
            <a:r>
              <a:rPr lang="en-US" sz="2800"/>
              <a:t>overhead cost</a:t>
            </a:r>
            <a:endParaRPr/>
          </a:p>
          <a:p>
            <a:pPr marL="365760" lvl="0" indent="-256032" algn="l" rtl="0">
              <a:spcBef>
                <a:spcPts val="400"/>
              </a:spcBef>
              <a:spcAft>
                <a:spcPts val="0"/>
              </a:spcAft>
              <a:buSzPts val="1904"/>
              <a:buChar char="🞂"/>
            </a:pPr>
            <a:r>
              <a:rPr lang="en-US" sz="2800"/>
              <a:t>process costing</a:t>
            </a:r>
            <a:endParaRPr/>
          </a:p>
          <a:p>
            <a:pPr marL="365760" lvl="0" indent="-256032" algn="l" rtl="0">
              <a:spcBef>
                <a:spcPts val="400"/>
              </a:spcBef>
              <a:spcAft>
                <a:spcPts val="0"/>
              </a:spcAft>
              <a:buSzPts val="1904"/>
              <a:buChar char="🞂"/>
            </a:pPr>
            <a:r>
              <a:rPr lang="en-US" sz="2800"/>
              <a:t>work in process</a:t>
            </a:r>
            <a:endParaRPr/>
          </a:p>
          <a:p>
            <a:pPr marL="365760" lvl="0" indent="-135128" algn="l" rtl="0">
              <a:spcBef>
                <a:spcPts val="400"/>
              </a:spcBef>
              <a:spcAft>
                <a:spcPts val="0"/>
              </a:spcAft>
              <a:buSzPts val="1904"/>
              <a:buNone/>
            </a:pPr>
            <a:endParaRPr sz="28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Conversion cycle business activities</a:t>
            </a:r>
            <a:endParaRPr sz="3690"/>
          </a:p>
        </p:txBody>
      </p:sp>
      <p:sp>
        <p:nvSpPr>
          <p:cNvPr id="1084" name="Google Shape;1084;p136"/>
          <p:cNvSpPr txBox="1">
            <a:spLocks noGrp="1"/>
          </p:cNvSpPr>
          <p:nvPr>
            <p:ph type="body" idx="1"/>
          </p:nvPr>
        </p:nvSpPr>
        <p:spPr>
          <a:xfrm>
            <a:off x="1447800" y="1828800"/>
            <a:ext cx="7315200" cy="4114800"/>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Font typeface="Lucida Sans"/>
              <a:buNone/>
            </a:pPr>
            <a:r>
              <a:rPr lang="en-US"/>
              <a:t>Transactions in the conversion process:</a:t>
            </a:r>
            <a:endParaRPr/>
          </a:p>
          <a:p>
            <a:pPr marL="365760" lvl="0" indent="-256032" algn="l" rtl="0">
              <a:spcBef>
                <a:spcPts val="400"/>
              </a:spcBef>
              <a:spcAft>
                <a:spcPts val="0"/>
              </a:spcAft>
              <a:buSzPts val="1836"/>
              <a:buChar char="🞂"/>
            </a:pPr>
            <a:r>
              <a:rPr lang="en-US"/>
              <a:t>acquisition of materials</a:t>
            </a:r>
            <a:endParaRPr/>
          </a:p>
          <a:p>
            <a:pPr marL="365760" lvl="0" indent="-256032" algn="l" rtl="0">
              <a:spcBef>
                <a:spcPts val="400"/>
              </a:spcBef>
              <a:spcAft>
                <a:spcPts val="0"/>
              </a:spcAft>
              <a:buSzPts val="1836"/>
              <a:buChar char="🞂"/>
            </a:pPr>
            <a:r>
              <a:rPr lang="en-US"/>
              <a:t>acquisition of labour</a:t>
            </a:r>
            <a:endParaRPr/>
          </a:p>
          <a:p>
            <a:pPr marL="365760" lvl="0" indent="-256032" algn="l" rtl="0">
              <a:spcBef>
                <a:spcPts val="400"/>
              </a:spcBef>
              <a:spcAft>
                <a:spcPts val="0"/>
              </a:spcAft>
              <a:buSzPts val="1836"/>
              <a:buChar char="🞂"/>
            </a:pPr>
            <a:r>
              <a:rPr lang="en-US"/>
              <a:t>transfer of materials, labour and overheads into production</a:t>
            </a:r>
            <a:endParaRPr/>
          </a:p>
          <a:p>
            <a:pPr marL="365760" lvl="0" indent="-256032" algn="l" rtl="0">
              <a:spcBef>
                <a:spcPts val="400"/>
              </a:spcBef>
              <a:spcAft>
                <a:spcPts val="0"/>
              </a:spcAft>
              <a:buSzPts val="1836"/>
              <a:buChar char="🞂"/>
            </a:pPr>
            <a:r>
              <a:rPr lang="en-US"/>
              <a:t>transfer of finished goods to inventory</a:t>
            </a:r>
            <a:endParaRPr/>
          </a:p>
          <a:p>
            <a:pPr marL="365760" lvl="0" indent="-256032" algn="l" rtl="0">
              <a:spcBef>
                <a:spcPts val="400"/>
              </a:spcBef>
              <a:spcAft>
                <a:spcPts val="0"/>
              </a:spcAft>
              <a:buSzPts val="1836"/>
              <a:buChar char="🞂"/>
            </a:pPr>
            <a:r>
              <a:rPr lang="en-US"/>
              <a:t>sale of inventory</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780"/>
              <a:buFont typeface="Lucida Sans"/>
              <a:buNone/>
            </a:pPr>
            <a:r>
              <a:rPr lang="en-US" sz="3780"/>
              <a:t>Major groups in the conversion cycle</a:t>
            </a:r>
            <a:endParaRPr sz="3690"/>
          </a:p>
        </p:txBody>
      </p:sp>
      <p:sp>
        <p:nvSpPr>
          <p:cNvPr id="1090" name="Google Shape;1090;p137"/>
          <p:cNvSpPr txBox="1">
            <a:spLocks noGrp="1"/>
          </p:cNvSpPr>
          <p:nvPr>
            <p:ph type="body" idx="1"/>
          </p:nvPr>
        </p:nvSpPr>
        <p:spPr>
          <a:xfrm>
            <a:off x="1447800" y="1828800"/>
            <a:ext cx="7315200" cy="4114800"/>
          </a:xfrm>
          <a:prstGeom prst="rect">
            <a:avLst/>
          </a:prstGeom>
          <a:noFill/>
          <a:ln>
            <a:noFill/>
          </a:ln>
        </p:spPr>
        <p:txBody>
          <a:bodyPr spcFirstLastPara="1" wrap="square" lIns="91425" tIns="45700" rIns="91425" bIns="45700" anchor="t" anchorCtr="0">
            <a:noAutofit/>
          </a:bodyPr>
          <a:lstStyle/>
          <a:p>
            <a:pPr marL="609600" lvl="0" indent="-609600" algn="l" rtl="0">
              <a:spcBef>
                <a:spcPts val="0"/>
              </a:spcBef>
              <a:spcAft>
                <a:spcPts val="0"/>
              </a:spcAft>
              <a:buSzPts val="1836"/>
              <a:buFont typeface="Lucida Sans"/>
              <a:buAutoNum type="arabicPeriod"/>
            </a:pPr>
            <a:r>
              <a:rPr lang="en-US"/>
              <a:t>Inventory</a:t>
            </a:r>
            <a:endParaRPr/>
          </a:p>
          <a:p>
            <a:pPr marL="609600" lvl="0" indent="-609600" algn="l" rtl="0">
              <a:spcBef>
                <a:spcPts val="400"/>
              </a:spcBef>
              <a:spcAft>
                <a:spcPts val="0"/>
              </a:spcAft>
              <a:buSzPts val="1836"/>
              <a:buFont typeface="Lucida Sans"/>
              <a:buAutoNum type="arabicPeriod"/>
            </a:pPr>
            <a:r>
              <a:rPr lang="en-US"/>
              <a:t>Payroll</a:t>
            </a:r>
            <a:endParaRPr/>
          </a:p>
          <a:p>
            <a:pPr marL="609600" lvl="0" indent="-609600" algn="l" rtl="0">
              <a:spcBef>
                <a:spcPts val="400"/>
              </a:spcBef>
              <a:spcAft>
                <a:spcPts val="0"/>
              </a:spcAft>
              <a:buSzPts val="1836"/>
              <a:buFont typeface="Lucida Sans"/>
              <a:buAutoNum type="arabicPeriod"/>
            </a:pPr>
            <a:r>
              <a:rPr lang="en-US"/>
              <a:t>Cost accounting</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1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Inventory </a:t>
            </a:r>
            <a:endParaRPr/>
          </a:p>
        </p:txBody>
      </p:sp>
      <p:sp>
        <p:nvSpPr>
          <p:cNvPr id="1096" name="Google Shape;1096;p13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Main activity is to keep records of inventory levels:</a:t>
            </a:r>
            <a:endParaRPr/>
          </a:p>
          <a:p>
            <a:pPr marL="621792" lvl="1" indent="-228600" algn="l" rtl="0">
              <a:spcBef>
                <a:spcPts val="324"/>
              </a:spcBef>
              <a:spcAft>
                <a:spcPts val="0"/>
              </a:spcAft>
              <a:buSzPts val="2300"/>
              <a:buChar char="◦"/>
            </a:pPr>
            <a:r>
              <a:rPr lang="en-US"/>
              <a:t>raw materials </a:t>
            </a:r>
            <a:endParaRPr/>
          </a:p>
          <a:p>
            <a:pPr marL="621792" lvl="1" indent="-228600" algn="l" rtl="0">
              <a:spcBef>
                <a:spcPts val="324"/>
              </a:spcBef>
              <a:spcAft>
                <a:spcPts val="0"/>
              </a:spcAft>
              <a:buSzPts val="2300"/>
              <a:buChar char="◦"/>
            </a:pPr>
            <a:r>
              <a:rPr lang="en-US"/>
              <a:t>finished goods</a:t>
            </a:r>
            <a:endParaRPr/>
          </a:p>
          <a:p>
            <a:pPr marL="365760" lvl="0" indent="-256032" algn="l" rtl="0">
              <a:spcBef>
                <a:spcPts val="400"/>
              </a:spcBef>
              <a:spcAft>
                <a:spcPts val="0"/>
              </a:spcAft>
              <a:buSzPts val="1836"/>
              <a:buChar char="🞂"/>
            </a:pPr>
            <a:r>
              <a:rPr lang="en-US"/>
              <a:t>Valuation methods used:</a:t>
            </a:r>
            <a:endParaRPr/>
          </a:p>
          <a:p>
            <a:pPr marL="621792" lvl="1" indent="-228600" algn="l" rtl="0">
              <a:spcBef>
                <a:spcPts val="324"/>
              </a:spcBef>
              <a:spcAft>
                <a:spcPts val="0"/>
              </a:spcAft>
              <a:buSzPts val="2300"/>
              <a:buChar char="◦"/>
            </a:pPr>
            <a:r>
              <a:rPr lang="en-US"/>
              <a:t>periodic inventory method</a:t>
            </a:r>
            <a:endParaRPr/>
          </a:p>
          <a:p>
            <a:pPr marL="621792" lvl="1" indent="-228600" algn="l" rtl="0">
              <a:spcBef>
                <a:spcPts val="324"/>
              </a:spcBef>
              <a:spcAft>
                <a:spcPts val="0"/>
              </a:spcAft>
              <a:buSzPts val="2300"/>
              <a:buChar char="◦"/>
            </a:pPr>
            <a:r>
              <a:rPr lang="en-US"/>
              <a:t>perpetual inventory method</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100"/>
              <a:buFont typeface="Lucida Sans"/>
              <a:buNone/>
            </a:pPr>
            <a:r>
              <a:rPr lang="en-US"/>
              <a:t>Inventory processing</a:t>
            </a:r>
            <a:endParaRPr/>
          </a:p>
        </p:txBody>
      </p:sp>
      <p:sp>
        <p:nvSpPr>
          <p:cNvPr id="1102" name="Google Shape;1102;p139"/>
          <p:cNvSpPr txBox="1"/>
          <p:nvPr/>
        </p:nvSpPr>
        <p:spPr>
          <a:xfrm>
            <a:off x="1905000" y="2667000"/>
            <a:ext cx="39624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pic>
        <p:nvPicPr>
          <p:cNvPr id="1103" name="Google Shape;1103;p139" descr="Ch 15Slide 6"/>
          <p:cNvPicPr preferRelativeResize="0"/>
          <p:nvPr/>
        </p:nvPicPr>
        <p:blipFill rotWithShape="1">
          <a:blip r:embed="rId3">
            <a:alphaModFix/>
          </a:blip>
          <a:srcRect/>
          <a:stretch/>
        </p:blipFill>
        <p:spPr>
          <a:xfrm>
            <a:off x="1600200" y="1752600"/>
            <a:ext cx="6781800" cy="381000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Payroll system</a:t>
            </a:r>
            <a:endParaRPr/>
          </a:p>
        </p:txBody>
      </p:sp>
      <p:sp>
        <p:nvSpPr>
          <p:cNvPr id="1109" name="Google Shape;1109;p14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Records labour transactions</a:t>
            </a:r>
            <a:endParaRPr/>
          </a:p>
          <a:p>
            <a:pPr marL="365760" lvl="0" indent="-256032" algn="l" rtl="0">
              <a:spcBef>
                <a:spcPts val="400"/>
              </a:spcBef>
              <a:spcAft>
                <a:spcPts val="0"/>
              </a:spcAft>
              <a:buSzPts val="1836"/>
              <a:buChar char="🞂"/>
            </a:pPr>
            <a:r>
              <a:rPr lang="en-US"/>
              <a:t>Payroll system interfaces with conversion cycle providing information on labour transactions </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1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Cost accounting</a:t>
            </a:r>
            <a:endParaRPr/>
          </a:p>
        </p:txBody>
      </p:sp>
      <p:sp>
        <p:nvSpPr>
          <p:cNvPr id="1115" name="Google Shape;1115;p14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36"/>
              <a:buFont typeface="Lucida Sans"/>
              <a:buNone/>
            </a:pPr>
            <a:r>
              <a:rPr lang="en-US"/>
              <a:t>Records transactions of conversion cycle classifying three major elements:</a:t>
            </a:r>
            <a:endParaRPr/>
          </a:p>
          <a:p>
            <a:pPr marL="1681163" lvl="2" indent="-457200" algn="l" rtl="0">
              <a:spcBef>
                <a:spcPts val="350"/>
              </a:spcBef>
              <a:spcAft>
                <a:spcPts val="0"/>
              </a:spcAft>
              <a:buSzPts val="2800"/>
              <a:buFont typeface="Lucida Sans"/>
              <a:buAutoNum type="arabicPeriod"/>
            </a:pPr>
            <a:r>
              <a:rPr lang="en-US" sz="2800"/>
              <a:t>Direct material costs</a:t>
            </a:r>
            <a:endParaRPr/>
          </a:p>
          <a:p>
            <a:pPr marL="1681163" lvl="2" indent="-457200" algn="l" rtl="0">
              <a:spcBef>
                <a:spcPts val="350"/>
              </a:spcBef>
              <a:spcAft>
                <a:spcPts val="0"/>
              </a:spcAft>
              <a:buSzPts val="2800"/>
              <a:buFont typeface="Lucida Sans"/>
              <a:buAutoNum type="arabicPeriod"/>
            </a:pPr>
            <a:r>
              <a:rPr lang="en-US" sz="2800"/>
              <a:t>Direct labour costs</a:t>
            </a:r>
            <a:endParaRPr/>
          </a:p>
          <a:p>
            <a:pPr marL="1681163" lvl="2" indent="-457200" algn="l" rtl="0">
              <a:spcBef>
                <a:spcPts val="350"/>
              </a:spcBef>
              <a:spcAft>
                <a:spcPts val="0"/>
              </a:spcAft>
              <a:buSzPts val="2800"/>
              <a:buFont typeface="Lucida Sans"/>
              <a:buAutoNum type="arabicPeriod"/>
            </a:pPr>
            <a:r>
              <a:rPr lang="en-US" sz="2800"/>
              <a:t>Overhead costs</a:t>
            </a:r>
            <a:endParaRPr/>
          </a:p>
          <a:p>
            <a:pPr marL="0" lvl="0" indent="0" algn="l" rtl="0">
              <a:spcBef>
                <a:spcPts val="400"/>
              </a:spcBef>
              <a:spcAft>
                <a:spcPts val="0"/>
              </a:spcAft>
              <a:buSzPts val="1836"/>
              <a:buFont typeface="Lucida Sans"/>
              <a:buNone/>
            </a:pPr>
            <a:r>
              <a:rPr lang="en-US"/>
              <a:t>These are recorded in a ‘Work in process account’</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1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Non-accounting systems </a:t>
            </a:r>
            <a:endParaRPr/>
          </a:p>
        </p:txBody>
      </p:sp>
      <p:sp>
        <p:nvSpPr>
          <p:cNvPr id="1121" name="Google Shape;1121;p142"/>
          <p:cNvSpPr txBox="1">
            <a:spLocks noGrp="1"/>
          </p:cNvSpPr>
          <p:nvPr>
            <p:ph type="body" idx="1"/>
          </p:nvPr>
        </p:nvSpPr>
        <p:spPr>
          <a:xfrm>
            <a:off x="1447800" y="1828800"/>
            <a:ext cx="7315200" cy="4114800"/>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Font typeface="Lucida Sans"/>
              <a:buNone/>
            </a:pPr>
            <a:r>
              <a:rPr lang="en-US"/>
              <a:t>Systems necessary to the conversion cycle:</a:t>
            </a:r>
            <a:endParaRPr/>
          </a:p>
          <a:p>
            <a:pPr marL="365760" lvl="0" indent="-256032" algn="l" rtl="0">
              <a:spcBef>
                <a:spcPts val="400"/>
              </a:spcBef>
              <a:spcAft>
                <a:spcPts val="0"/>
              </a:spcAft>
              <a:buSzPts val="1836"/>
              <a:buChar char="🞂"/>
            </a:pPr>
            <a:r>
              <a:rPr lang="en-US"/>
              <a:t>Product design</a:t>
            </a:r>
            <a:endParaRPr/>
          </a:p>
          <a:p>
            <a:pPr marL="365760" lvl="0" indent="-256032" algn="l" rtl="0">
              <a:spcBef>
                <a:spcPts val="400"/>
              </a:spcBef>
              <a:spcAft>
                <a:spcPts val="0"/>
              </a:spcAft>
              <a:buSzPts val="1836"/>
              <a:buChar char="🞂"/>
            </a:pPr>
            <a:r>
              <a:rPr lang="en-US"/>
              <a:t>Production planning and scheduling systems</a:t>
            </a:r>
            <a:endParaRPr/>
          </a:p>
          <a:p>
            <a:pPr marL="365760" lvl="0" indent="-256032" algn="l" rtl="0">
              <a:spcBef>
                <a:spcPts val="400"/>
              </a:spcBef>
              <a:spcAft>
                <a:spcPts val="0"/>
              </a:spcAft>
              <a:buSzPts val="1836"/>
              <a:buChar char="🞂"/>
            </a:pPr>
            <a:r>
              <a:rPr lang="en-US"/>
              <a:t>Material requirements planning</a:t>
            </a:r>
            <a:endParaRPr/>
          </a:p>
          <a:p>
            <a:pPr marL="365760" lvl="0" indent="-256032" algn="l" rtl="0">
              <a:spcBef>
                <a:spcPts val="400"/>
              </a:spcBef>
              <a:spcAft>
                <a:spcPts val="0"/>
              </a:spcAft>
              <a:buSzPts val="1836"/>
              <a:buChar char="🞂"/>
            </a:pPr>
            <a:r>
              <a:rPr lang="en-US"/>
              <a:t>Just-in-time systems</a:t>
            </a:r>
            <a:endParaRPr/>
          </a:p>
          <a:p>
            <a:pPr marL="365760" lvl="0" indent="-256032" algn="l" rtl="0">
              <a:spcBef>
                <a:spcPts val="400"/>
              </a:spcBef>
              <a:spcAft>
                <a:spcPts val="0"/>
              </a:spcAft>
              <a:buSzPts val="1836"/>
              <a:buChar char="🞂"/>
            </a:pPr>
            <a:r>
              <a:rPr lang="en-US"/>
              <a:t>Computer-aided manufacturing</a:t>
            </a:r>
            <a:endParaRPr/>
          </a:p>
          <a:p>
            <a:pPr marL="365760" lvl="0" indent="-256032" algn="l" rtl="0">
              <a:spcBef>
                <a:spcPts val="400"/>
              </a:spcBef>
              <a:spcAft>
                <a:spcPts val="0"/>
              </a:spcAft>
              <a:buSzPts val="1836"/>
              <a:buFont typeface="Lucida Sans"/>
              <a:buNone/>
            </a:pPr>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1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Internal control procedures for the conversion cycle</a:t>
            </a:r>
            <a:endParaRPr sz="3690"/>
          </a:p>
        </p:txBody>
      </p:sp>
      <p:sp>
        <p:nvSpPr>
          <p:cNvPr id="1127" name="Google Shape;1127;p143"/>
          <p:cNvSpPr txBox="1">
            <a:spLocks noGrp="1"/>
          </p:cNvSpPr>
          <p:nvPr>
            <p:ph type="body" idx="1"/>
          </p:nvPr>
        </p:nvSpPr>
        <p:spPr>
          <a:xfrm>
            <a:off x="1447800" y="1676400"/>
            <a:ext cx="7315200" cy="4114800"/>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510"/>
              <a:buChar char="🞂"/>
            </a:pPr>
            <a:r>
              <a:rPr lang="en-US" sz="2220"/>
              <a:t>Material requisitions properly authorised</a:t>
            </a:r>
            <a:endParaRPr/>
          </a:p>
          <a:p>
            <a:pPr marL="365760" lvl="0" indent="-256032" algn="l" rtl="0">
              <a:spcBef>
                <a:spcPts val="400"/>
              </a:spcBef>
              <a:spcAft>
                <a:spcPts val="0"/>
              </a:spcAft>
              <a:buSzPts val="1510"/>
              <a:buChar char="🞂"/>
            </a:pPr>
            <a:r>
              <a:rPr lang="en-US" sz="2220"/>
              <a:t>Approved production schedules</a:t>
            </a:r>
            <a:endParaRPr/>
          </a:p>
          <a:p>
            <a:pPr marL="365760" lvl="0" indent="-256032" algn="l" rtl="0">
              <a:spcBef>
                <a:spcPts val="400"/>
              </a:spcBef>
              <a:spcAft>
                <a:spcPts val="0"/>
              </a:spcAft>
              <a:buSzPts val="1510"/>
              <a:buChar char="🞂"/>
            </a:pPr>
            <a:r>
              <a:rPr lang="en-US" sz="2220"/>
              <a:t>Finished goods transferred to storeperson’s care</a:t>
            </a:r>
            <a:endParaRPr/>
          </a:p>
          <a:p>
            <a:pPr marL="365760" lvl="0" indent="-256032" algn="l" rtl="0">
              <a:spcBef>
                <a:spcPts val="400"/>
              </a:spcBef>
              <a:spcAft>
                <a:spcPts val="0"/>
              </a:spcAft>
              <a:buSzPts val="1510"/>
              <a:buChar char="🞂"/>
            </a:pPr>
            <a:r>
              <a:rPr lang="en-US" sz="2220"/>
              <a:t>Inventory records checked for accuracy</a:t>
            </a:r>
            <a:endParaRPr/>
          </a:p>
          <a:p>
            <a:pPr marL="365760" lvl="0" indent="-256032" algn="l" rtl="0">
              <a:spcBef>
                <a:spcPts val="400"/>
              </a:spcBef>
              <a:spcAft>
                <a:spcPts val="0"/>
              </a:spcAft>
              <a:buSzPts val="1510"/>
              <a:buChar char="🞂"/>
            </a:pPr>
            <a:r>
              <a:rPr lang="en-US" sz="2220"/>
              <a:t>Physically verify stocks to check for losses and accuracy of records</a:t>
            </a:r>
            <a:endParaRPr/>
          </a:p>
          <a:p>
            <a:pPr marL="365760" lvl="0" indent="-256032" algn="l" rtl="0">
              <a:spcBef>
                <a:spcPts val="400"/>
              </a:spcBef>
              <a:spcAft>
                <a:spcPts val="0"/>
              </a:spcAft>
              <a:buSzPts val="1510"/>
              <a:buChar char="🞂"/>
            </a:pPr>
            <a:r>
              <a:rPr lang="en-US" sz="2220"/>
              <a:t>Investigate differences in physical and accounting records and take appropriate action</a:t>
            </a:r>
            <a:endParaRPr/>
          </a:p>
          <a:p>
            <a:pPr marL="365760" lvl="0" indent="-256032" algn="l" rtl="0">
              <a:spcBef>
                <a:spcPts val="400"/>
              </a:spcBef>
              <a:spcAft>
                <a:spcPts val="0"/>
              </a:spcAft>
              <a:buSzPts val="1510"/>
              <a:buChar char="🞂"/>
            </a:pPr>
            <a:r>
              <a:rPr lang="en-US" sz="2220"/>
              <a:t>Monitor defective production</a:t>
            </a:r>
            <a:endParaRPr/>
          </a:p>
          <a:p>
            <a:pPr marL="365760" lvl="0" indent="-256032" algn="l" rtl="0">
              <a:spcBef>
                <a:spcPts val="400"/>
              </a:spcBef>
              <a:spcAft>
                <a:spcPts val="0"/>
              </a:spcAft>
              <a:buSzPts val="1510"/>
              <a:buChar char="🞂"/>
            </a:pPr>
            <a:r>
              <a:rPr lang="en-US" sz="2220"/>
              <a:t>Investigate customer complaints</a:t>
            </a:r>
            <a:endParaRPr/>
          </a:p>
          <a:p>
            <a:pPr marL="365760" lvl="0" indent="-160172" algn="l" rtl="0">
              <a:spcBef>
                <a:spcPts val="400"/>
              </a:spcBef>
              <a:spcAft>
                <a:spcPts val="0"/>
              </a:spcAft>
              <a:buSzPts val="1510"/>
              <a:buNone/>
            </a:pPr>
            <a:endParaRPr sz="222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144"/>
          <p:cNvSpPr txBox="1">
            <a:spLocks noGrp="1"/>
          </p:cNvSpPr>
          <p:nvPr>
            <p:ph type="body" idx="1"/>
          </p:nvPr>
        </p:nvSpPr>
        <p:spPr>
          <a:xfrm>
            <a:off x="457200" y="1295400"/>
            <a:ext cx="8458200" cy="5148072"/>
          </a:xfrm>
          <a:prstGeom prst="rect">
            <a:avLst/>
          </a:prstGeom>
          <a:noFill/>
          <a:ln>
            <a:noFill/>
          </a:ln>
        </p:spPr>
        <p:txBody>
          <a:bodyPr spcFirstLastPara="1" wrap="square" lIns="91425" tIns="45700" rIns="91425" bIns="45700" anchor="t" anchorCtr="0">
            <a:noAutofit/>
          </a:bodyPr>
          <a:lstStyle/>
          <a:p>
            <a:pPr marL="859536" lvl="2" indent="-228600" algn="just" rtl="0">
              <a:spcBef>
                <a:spcPts val="0"/>
              </a:spcBef>
              <a:spcAft>
                <a:spcPts val="0"/>
              </a:spcAft>
              <a:buSzPts val="2200"/>
              <a:buNone/>
            </a:pPr>
            <a:endParaRPr sz="2200"/>
          </a:p>
          <a:p>
            <a:pPr marL="621792" lvl="1" indent="-228600" algn="just" rtl="0">
              <a:spcBef>
                <a:spcPts val="324"/>
              </a:spcBef>
              <a:spcAft>
                <a:spcPts val="0"/>
              </a:spcAft>
              <a:buSzPts val="2400"/>
              <a:buChar char="◦"/>
            </a:pPr>
            <a:r>
              <a:rPr lang="en-US" sz="2400"/>
              <a:t>The General Ledger System and the Financial Reporting Systems are operationally independent but are often viewed as being integrated.</a:t>
            </a:r>
            <a:endParaRPr/>
          </a:p>
          <a:p>
            <a:pPr marL="621792" lvl="1" indent="-228600" algn="just" rtl="0">
              <a:spcBef>
                <a:spcPts val="324"/>
              </a:spcBef>
              <a:spcAft>
                <a:spcPts val="0"/>
              </a:spcAft>
              <a:buSzPts val="2400"/>
              <a:buChar char="◦"/>
            </a:pPr>
            <a:r>
              <a:rPr lang="en-US" sz="2400"/>
              <a:t>Most input to the GLS is from the transaction cycles and is used to update the control a/c’s.</a:t>
            </a:r>
            <a:endParaRPr/>
          </a:p>
          <a:p>
            <a:pPr marL="621792" lvl="1" indent="-228600" algn="just" rtl="0">
              <a:spcBef>
                <a:spcPts val="324"/>
              </a:spcBef>
              <a:spcAft>
                <a:spcPts val="0"/>
              </a:spcAft>
              <a:buSzPts val="2400"/>
              <a:buChar char="◦"/>
            </a:pPr>
            <a:r>
              <a:rPr lang="en-US" sz="2400"/>
              <a:t>Other information may still make it to the GL including mergers, stock transactions, settlements and the like.</a:t>
            </a:r>
            <a:endParaRPr/>
          </a:p>
          <a:p>
            <a:pPr marL="621792" lvl="1" indent="-228600" algn="just" rtl="0">
              <a:spcBef>
                <a:spcPts val="324"/>
              </a:spcBef>
              <a:spcAft>
                <a:spcPts val="0"/>
              </a:spcAft>
              <a:buSzPts val="2400"/>
              <a:buChar char="◦"/>
            </a:pPr>
            <a:r>
              <a:rPr lang="en-US" sz="2400"/>
              <a:t>FRS measure &amp; report the financial status of resources and changes in those resources to external users primarily through tax returns, financial statements, legal documents and the like.</a:t>
            </a:r>
            <a:endParaRPr/>
          </a:p>
          <a:p>
            <a:pPr marL="365760" lvl="0" indent="-139446" algn="just" rtl="0">
              <a:spcBef>
                <a:spcPts val="400"/>
              </a:spcBef>
              <a:spcAft>
                <a:spcPts val="0"/>
              </a:spcAft>
              <a:buSzPts val="1836"/>
              <a:buNone/>
            </a:pPr>
            <a:endParaRPr/>
          </a:p>
        </p:txBody>
      </p:sp>
      <p:sp>
        <p:nvSpPr>
          <p:cNvPr id="1133" name="Google Shape;1133;p1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3959"/>
              <a:buFont typeface="Lucida Sans"/>
              <a:buNone/>
            </a:pPr>
            <a:r>
              <a:rPr lang="en-US" sz="3959"/>
              <a:t>2. General Ledger/Financial Reporting System (GL/FRS)</a:t>
            </a:r>
            <a:endParaRPr sz="369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14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This system primarily provides information necessary for the management and running of the organisation.</a:t>
            </a:r>
            <a:endParaRPr/>
          </a:p>
          <a:p>
            <a:pPr marL="365760" lvl="0" indent="-256032" algn="just" rtl="0">
              <a:spcBef>
                <a:spcPts val="400"/>
              </a:spcBef>
              <a:spcAft>
                <a:spcPts val="0"/>
              </a:spcAft>
              <a:buSzPts val="1836"/>
              <a:buChar char="🞂"/>
            </a:pPr>
            <a:r>
              <a:rPr lang="en-US"/>
              <a:t>Information for planning, control, organisation and leadership is critical for day to day operations.</a:t>
            </a:r>
            <a:endParaRPr/>
          </a:p>
          <a:p>
            <a:pPr marL="365760" lvl="0" indent="-256032" algn="just" rtl="0">
              <a:spcBef>
                <a:spcPts val="400"/>
              </a:spcBef>
              <a:spcAft>
                <a:spcPts val="0"/>
              </a:spcAft>
              <a:buSzPts val="1836"/>
              <a:buChar char="🞂"/>
            </a:pPr>
            <a:r>
              <a:rPr lang="en-US"/>
              <a:t>Such information may be provided through budgets, variance reports, cost volume analyses and current rather than historical data.</a:t>
            </a:r>
            <a:endParaRPr/>
          </a:p>
        </p:txBody>
      </p:sp>
      <p:sp>
        <p:nvSpPr>
          <p:cNvPr id="1139" name="Google Shape;1139;p1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3959"/>
              <a:buFont typeface="Lucida Sans"/>
              <a:buNone/>
            </a:pPr>
            <a:r>
              <a:rPr lang="en-US" sz="3959"/>
              <a:t>3. Management Reporting System (MRS)</a:t>
            </a:r>
            <a:endParaRPr sz="369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146"/>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just" rtl="0">
              <a:spcBef>
                <a:spcPts val="0"/>
              </a:spcBef>
              <a:spcAft>
                <a:spcPts val="0"/>
              </a:spcAft>
              <a:buClr>
                <a:schemeClr val="lt2"/>
              </a:buClr>
              <a:buSzPts val="4800"/>
              <a:buFont typeface="Lucida Sans"/>
              <a:buNone/>
            </a:pPr>
            <a:r>
              <a:rPr lang="en-US"/>
              <a:t>ENTERPRISE RESOURCE PLANNING SYSTEMS</a:t>
            </a:r>
            <a:endParaRPr/>
          </a:p>
        </p:txBody>
      </p:sp>
      <p:sp>
        <p:nvSpPr>
          <p:cNvPr id="1145" name="Google Shape;1145;p146"/>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SzPts val="1564"/>
              <a:buNone/>
            </a:pPr>
            <a:r>
              <a:rPr lang="en-US"/>
              <a:t>SECTION C</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4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term was coined by the Gartner Group and has been widely used in recent years.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ERP systems are multi-module software packages whose main objective is to integrate key processes of the organisation such as order entry, manufacturing, procurement and accounts payable, payroll and human resources.</a:t>
            </a:r>
            <a:endParaRPr/>
          </a:p>
        </p:txBody>
      </p:sp>
      <p:sp>
        <p:nvSpPr>
          <p:cNvPr id="1151" name="Google Shape;1151;p1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C. Enterprise Resource Planning</a:t>
            </a:r>
            <a:endParaRPr sz="369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14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result is that a single computer is able to serve the needs of each functional area.</a:t>
            </a:r>
            <a:endParaRPr/>
          </a:p>
          <a:p>
            <a:pPr marL="365760" lvl="0" indent="-256032" algn="just" rtl="0">
              <a:spcBef>
                <a:spcPts val="400"/>
              </a:spcBef>
              <a:spcAft>
                <a:spcPts val="0"/>
              </a:spcAft>
              <a:buSzPts val="1836"/>
              <a:buChar char="🞂"/>
            </a:pPr>
            <a:r>
              <a:rPr lang="en-US"/>
              <a:t>ERP systems development projects are of massive proportions as they combine all the approaches associated with each functional area.</a:t>
            </a:r>
            <a:endParaRPr/>
          </a:p>
          <a:p>
            <a:pPr marL="365760" lvl="0" indent="-256032" algn="just" rtl="0">
              <a:spcBef>
                <a:spcPts val="400"/>
              </a:spcBef>
              <a:spcAft>
                <a:spcPts val="0"/>
              </a:spcAft>
              <a:buSzPts val="1836"/>
              <a:buChar char="🞂"/>
            </a:pPr>
            <a:r>
              <a:rPr lang="en-US"/>
              <a:t>ERP systems integrate all functional area unique processes to use a single database permitting enhanced information sharing &amp; improved communication.</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1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Traditional Organisational IS</a:t>
            </a:r>
            <a:endParaRPr/>
          </a:p>
        </p:txBody>
      </p:sp>
      <p:sp>
        <p:nvSpPr>
          <p:cNvPr id="1162" name="Google Shape;1162;p149"/>
          <p:cNvSpPr/>
          <p:nvPr/>
        </p:nvSpPr>
        <p:spPr>
          <a:xfrm>
            <a:off x="76200" y="27432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Customer </a:t>
            </a:r>
            <a:endParaRPr sz="1600">
              <a:solidFill>
                <a:schemeClr val="dk1"/>
              </a:solidFill>
              <a:latin typeface="Lucida Sans"/>
              <a:ea typeface="Lucida Sans"/>
              <a:cs typeface="Lucida Sans"/>
              <a:sym typeface="Lucida Sans"/>
            </a:endParaRPr>
          </a:p>
        </p:txBody>
      </p:sp>
      <p:sp>
        <p:nvSpPr>
          <p:cNvPr id="1163" name="Google Shape;1163;p149"/>
          <p:cNvSpPr/>
          <p:nvPr/>
        </p:nvSpPr>
        <p:spPr>
          <a:xfrm>
            <a:off x="2209800" y="2743200"/>
            <a:ext cx="1219200" cy="9144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Order Entry System</a:t>
            </a:r>
            <a:endParaRPr/>
          </a:p>
        </p:txBody>
      </p:sp>
      <p:sp>
        <p:nvSpPr>
          <p:cNvPr id="1164" name="Google Shape;1164;p149"/>
          <p:cNvSpPr/>
          <p:nvPr/>
        </p:nvSpPr>
        <p:spPr>
          <a:xfrm>
            <a:off x="3657600" y="2743200"/>
            <a:ext cx="1524000" cy="9144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Manufacturing &amp; Distribution System</a:t>
            </a:r>
            <a:endParaRPr/>
          </a:p>
        </p:txBody>
      </p:sp>
      <p:sp>
        <p:nvSpPr>
          <p:cNvPr id="1165" name="Google Shape;1165;p149"/>
          <p:cNvSpPr/>
          <p:nvPr/>
        </p:nvSpPr>
        <p:spPr>
          <a:xfrm>
            <a:off x="5410200" y="2743200"/>
            <a:ext cx="1447800" cy="914400"/>
          </a:xfrm>
          <a:prstGeom prst="rect">
            <a:avLst/>
          </a:prstGeom>
          <a:solidFill>
            <a:schemeClr val="lt1"/>
          </a:solidFill>
          <a:ln w="55000" cap="flat" cmpd="thickThin">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Procurement System</a:t>
            </a:r>
            <a:endParaRPr/>
          </a:p>
        </p:txBody>
      </p:sp>
      <p:sp>
        <p:nvSpPr>
          <p:cNvPr id="1166" name="Google Shape;1166;p149"/>
          <p:cNvSpPr/>
          <p:nvPr/>
        </p:nvSpPr>
        <p:spPr>
          <a:xfrm>
            <a:off x="7696200" y="27432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Supplier </a:t>
            </a:r>
            <a:endParaRPr/>
          </a:p>
        </p:txBody>
      </p:sp>
      <p:cxnSp>
        <p:nvCxnSpPr>
          <p:cNvPr id="1167" name="Google Shape;1167;p149"/>
          <p:cNvCxnSpPr/>
          <p:nvPr/>
        </p:nvCxnSpPr>
        <p:spPr>
          <a:xfrm>
            <a:off x="1447800" y="3276600"/>
            <a:ext cx="685800" cy="0"/>
          </a:xfrm>
          <a:prstGeom prst="straightConnector1">
            <a:avLst/>
          </a:prstGeom>
          <a:noFill/>
          <a:ln w="9525" cap="flat" cmpd="sng">
            <a:solidFill>
              <a:schemeClr val="accent1"/>
            </a:solidFill>
            <a:prstDash val="solid"/>
            <a:round/>
            <a:headEnd type="none" w="sm" len="sm"/>
            <a:tailEnd type="stealth" w="med" len="med"/>
          </a:ln>
        </p:spPr>
      </p:cxnSp>
      <p:cxnSp>
        <p:nvCxnSpPr>
          <p:cNvPr id="1168" name="Google Shape;1168;p149"/>
          <p:cNvCxnSpPr/>
          <p:nvPr/>
        </p:nvCxnSpPr>
        <p:spPr>
          <a:xfrm>
            <a:off x="3429000" y="3276600"/>
            <a:ext cx="152400" cy="0"/>
          </a:xfrm>
          <a:prstGeom prst="straightConnector1">
            <a:avLst/>
          </a:prstGeom>
          <a:noFill/>
          <a:ln w="9525" cap="flat" cmpd="sng">
            <a:solidFill>
              <a:schemeClr val="accent1"/>
            </a:solidFill>
            <a:prstDash val="solid"/>
            <a:round/>
            <a:headEnd type="none" w="sm" len="sm"/>
            <a:tailEnd type="stealth" w="med" len="med"/>
          </a:ln>
        </p:spPr>
      </p:cxnSp>
      <p:cxnSp>
        <p:nvCxnSpPr>
          <p:cNvPr id="1169" name="Google Shape;1169;p149"/>
          <p:cNvCxnSpPr/>
          <p:nvPr/>
        </p:nvCxnSpPr>
        <p:spPr>
          <a:xfrm>
            <a:off x="5181600" y="3276600"/>
            <a:ext cx="152400" cy="0"/>
          </a:xfrm>
          <a:prstGeom prst="straightConnector1">
            <a:avLst/>
          </a:prstGeom>
          <a:noFill/>
          <a:ln w="9525" cap="flat" cmpd="sng">
            <a:solidFill>
              <a:schemeClr val="accent1"/>
            </a:solidFill>
            <a:prstDash val="solid"/>
            <a:round/>
            <a:headEnd type="none" w="sm" len="sm"/>
            <a:tailEnd type="stealth" w="med" len="med"/>
          </a:ln>
        </p:spPr>
      </p:cxnSp>
      <p:cxnSp>
        <p:nvCxnSpPr>
          <p:cNvPr id="1170" name="Google Shape;1170;p149"/>
          <p:cNvCxnSpPr/>
          <p:nvPr/>
        </p:nvCxnSpPr>
        <p:spPr>
          <a:xfrm>
            <a:off x="6858000" y="3276600"/>
            <a:ext cx="762000" cy="0"/>
          </a:xfrm>
          <a:prstGeom prst="straightConnector1">
            <a:avLst/>
          </a:prstGeom>
          <a:noFill/>
          <a:ln w="9525" cap="flat" cmpd="sng">
            <a:solidFill>
              <a:schemeClr val="accent1"/>
            </a:solidFill>
            <a:prstDash val="solid"/>
            <a:round/>
            <a:headEnd type="none" w="sm" len="sm"/>
            <a:tailEnd type="stealth" w="med" len="med"/>
          </a:ln>
        </p:spPr>
      </p:cxnSp>
      <p:sp>
        <p:nvSpPr>
          <p:cNvPr id="1171" name="Google Shape;1171;p149"/>
          <p:cNvSpPr/>
          <p:nvPr/>
        </p:nvSpPr>
        <p:spPr>
          <a:xfrm>
            <a:off x="2133600" y="4114800"/>
            <a:ext cx="1371600" cy="1752600"/>
          </a:xfrm>
          <a:prstGeom prst="flowChartMagneticDisk">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Customer Sales Accounts Receivable</a:t>
            </a:r>
            <a:endParaRPr sz="1400">
              <a:solidFill>
                <a:schemeClr val="dk1"/>
              </a:solidFill>
              <a:latin typeface="Lucida Sans"/>
              <a:ea typeface="Lucida Sans"/>
              <a:cs typeface="Lucida Sans"/>
              <a:sym typeface="Lucida Sans"/>
            </a:endParaRPr>
          </a:p>
        </p:txBody>
      </p:sp>
      <p:sp>
        <p:nvSpPr>
          <p:cNvPr id="1172" name="Google Shape;1172;p149"/>
          <p:cNvSpPr/>
          <p:nvPr/>
        </p:nvSpPr>
        <p:spPr>
          <a:xfrm>
            <a:off x="3886200" y="4114800"/>
            <a:ext cx="1371600" cy="1752600"/>
          </a:xfrm>
          <a:prstGeom prst="flowChartMagneticDisk">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Production Scheduling Shipping</a:t>
            </a:r>
            <a:endParaRPr sz="1400">
              <a:solidFill>
                <a:schemeClr val="dk1"/>
              </a:solidFill>
              <a:latin typeface="Lucida Sans"/>
              <a:ea typeface="Lucida Sans"/>
              <a:cs typeface="Lucida Sans"/>
              <a:sym typeface="Lucida Sans"/>
            </a:endParaRPr>
          </a:p>
        </p:txBody>
      </p:sp>
      <p:sp>
        <p:nvSpPr>
          <p:cNvPr id="1173" name="Google Shape;1173;p149"/>
          <p:cNvSpPr/>
          <p:nvPr/>
        </p:nvSpPr>
        <p:spPr>
          <a:xfrm>
            <a:off x="5715000" y="4114800"/>
            <a:ext cx="1371600" cy="1752600"/>
          </a:xfrm>
          <a:prstGeom prst="flowChartMagneticDisk">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Vendor Accounts Payable Inventory</a:t>
            </a:r>
            <a:endParaRPr sz="1400">
              <a:solidFill>
                <a:schemeClr val="dk1"/>
              </a:solidFill>
              <a:latin typeface="Lucida Sans"/>
              <a:ea typeface="Lucida Sans"/>
              <a:cs typeface="Lucida Sans"/>
              <a:sym typeface="Lucida Sans"/>
            </a:endParaRPr>
          </a:p>
        </p:txBody>
      </p:sp>
      <p:sp>
        <p:nvSpPr>
          <p:cNvPr id="1174" name="Google Shape;1174;p149"/>
          <p:cNvSpPr txBox="1"/>
          <p:nvPr/>
        </p:nvSpPr>
        <p:spPr>
          <a:xfrm>
            <a:off x="2120719" y="5931694"/>
            <a:ext cx="1217000"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Customer </a:t>
            </a:r>
            <a:endParaRPr/>
          </a:p>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Database</a:t>
            </a:r>
            <a:endParaRPr sz="1600">
              <a:solidFill>
                <a:schemeClr val="dk1"/>
              </a:solidFill>
              <a:latin typeface="Lucida Sans"/>
              <a:ea typeface="Lucida Sans"/>
              <a:cs typeface="Lucida Sans"/>
              <a:sym typeface="Lucida Sans"/>
            </a:endParaRPr>
          </a:p>
        </p:txBody>
      </p:sp>
      <p:sp>
        <p:nvSpPr>
          <p:cNvPr id="1175" name="Google Shape;1175;p149"/>
          <p:cNvSpPr txBox="1"/>
          <p:nvPr/>
        </p:nvSpPr>
        <p:spPr>
          <a:xfrm>
            <a:off x="3810000" y="5968425"/>
            <a:ext cx="1755609"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Manufacturing  </a:t>
            </a:r>
            <a:endParaRPr/>
          </a:p>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Database</a:t>
            </a:r>
            <a:endParaRPr sz="1600">
              <a:solidFill>
                <a:schemeClr val="dk1"/>
              </a:solidFill>
              <a:latin typeface="Lucida Sans"/>
              <a:ea typeface="Lucida Sans"/>
              <a:cs typeface="Lucida Sans"/>
              <a:sym typeface="Lucida Sans"/>
            </a:endParaRPr>
          </a:p>
        </p:txBody>
      </p:sp>
      <p:sp>
        <p:nvSpPr>
          <p:cNvPr id="1176" name="Google Shape;1176;p149"/>
          <p:cNvSpPr txBox="1"/>
          <p:nvPr/>
        </p:nvSpPr>
        <p:spPr>
          <a:xfrm>
            <a:off x="5791200" y="5968425"/>
            <a:ext cx="1513556"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Procurement </a:t>
            </a:r>
            <a:endParaRPr/>
          </a:p>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Database</a:t>
            </a:r>
            <a:endParaRPr sz="1600">
              <a:solidFill>
                <a:schemeClr val="dk1"/>
              </a:solidFill>
              <a:latin typeface="Lucida Sans"/>
              <a:ea typeface="Lucida Sans"/>
              <a:cs typeface="Lucida Sans"/>
              <a:sym typeface="Lucida Sans"/>
            </a:endParaRPr>
          </a:p>
        </p:txBody>
      </p:sp>
      <p:cxnSp>
        <p:nvCxnSpPr>
          <p:cNvPr id="1177" name="Google Shape;1177;p149"/>
          <p:cNvCxnSpPr>
            <a:stCxn id="1163" idx="2"/>
            <a:endCxn id="1171" idx="1"/>
          </p:cNvCxnSpPr>
          <p:nvPr/>
        </p:nvCxnSpPr>
        <p:spPr>
          <a:xfrm>
            <a:off x="2819400" y="3657600"/>
            <a:ext cx="0" cy="457200"/>
          </a:xfrm>
          <a:prstGeom prst="straightConnector1">
            <a:avLst/>
          </a:prstGeom>
          <a:noFill/>
          <a:ln w="9525" cap="flat" cmpd="sng">
            <a:solidFill>
              <a:schemeClr val="accent1"/>
            </a:solidFill>
            <a:prstDash val="solid"/>
            <a:round/>
            <a:headEnd type="stealth" w="med" len="med"/>
            <a:tailEnd type="stealth" w="med" len="med"/>
          </a:ln>
        </p:spPr>
      </p:cxnSp>
      <p:cxnSp>
        <p:nvCxnSpPr>
          <p:cNvPr id="1178" name="Google Shape;1178;p149"/>
          <p:cNvCxnSpPr/>
          <p:nvPr/>
        </p:nvCxnSpPr>
        <p:spPr>
          <a:xfrm>
            <a:off x="4572000" y="3657600"/>
            <a:ext cx="0" cy="457200"/>
          </a:xfrm>
          <a:prstGeom prst="straightConnector1">
            <a:avLst/>
          </a:prstGeom>
          <a:noFill/>
          <a:ln w="9525" cap="flat" cmpd="sng">
            <a:solidFill>
              <a:schemeClr val="accent1"/>
            </a:solidFill>
            <a:prstDash val="solid"/>
            <a:round/>
            <a:headEnd type="stealth" w="med" len="med"/>
            <a:tailEnd type="stealth" w="med" len="med"/>
          </a:ln>
        </p:spPr>
      </p:cxnSp>
      <p:cxnSp>
        <p:nvCxnSpPr>
          <p:cNvPr id="1179" name="Google Shape;1179;p149"/>
          <p:cNvCxnSpPr/>
          <p:nvPr/>
        </p:nvCxnSpPr>
        <p:spPr>
          <a:xfrm>
            <a:off x="6324600" y="3657600"/>
            <a:ext cx="0" cy="457200"/>
          </a:xfrm>
          <a:prstGeom prst="straightConnector1">
            <a:avLst/>
          </a:prstGeom>
          <a:noFill/>
          <a:ln w="9525" cap="flat" cmpd="sng">
            <a:solidFill>
              <a:schemeClr val="accent1"/>
            </a:solidFill>
            <a:prstDash val="solid"/>
            <a:round/>
            <a:headEnd type="stealth" w="med" len="med"/>
            <a:tailEnd type="stealth" w="med" len="med"/>
          </a:ln>
        </p:spPr>
      </p:cxnSp>
      <p:sp>
        <p:nvSpPr>
          <p:cNvPr id="1180" name="Google Shape;1180;p149"/>
          <p:cNvSpPr txBox="1"/>
          <p:nvPr/>
        </p:nvSpPr>
        <p:spPr>
          <a:xfrm>
            <a:off x="6781800" y="2971800"/>
            <a:ext cx="97815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Lucida Sans"/>
                <a:ea typeface="Lucida Sans"/>
                <a:cs typeface="Lucida Sans"/>
                <a:sym typeface="Lucida Sans"/>
              </a:rPr>
              <a:t>Purchases </a:t>
            </a:r>
            <a:endParaRPr sz="1200">
              <a:solidFill>
                <a:schemeClr val="dk1"/>
              </a:solidFill>
              <a:latin typeface="Lucida Sans"/>
              <a:ea typeface="Lucida Sans"/>
              <a:cs typeface="Lucida Sans"/>
              <a:sym typeface="Lucida Sans"/>
            </a:endParaRPr>
          </a:p>
        </p:txBody>
      </p:sp>
      <p:sp>
        <p:nvSpPr>
          <p:cNvPr id="1181" name="Google Shape;1181;p149"/>
          <p:cNvSpPr txBox="1"/>
          <p:nvPr/>
        </p:nvSpPr>
        <p:spPr>
          <a:xfrm>
            <a:off x="1455323" y="2892623"/>
            <a:ext cx="830677"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latin typeface="Lucida Sans"/>
                <a:ea typeface="Lucida Sans"/>
                <a:cs typeface="Lucida Sans"/>
                <a:sym typeface="Lucida Sans"/>
              </a:rPr>
              <a:t>Orders </a:t>
            </a:r>
            <a:endParaRPr sz="1400">
              <a:solidFill>
                <a:schemeClr val="dk1"/>
              </a:solidFill>
              <a:latin typeface="Lucida Sans"/>
              <a:ea typeface="Lucida Sans"/>
              <a:cs typeface="Lucida Sans"/>
              <a:sym typeface="Lucida Sans"/>
            </a:endParaRPr>
          </a:p>
        </p:txBody>
      </p:sp>
      <p:sp>
        <p:nvSpPr>
          <p:cNvPr id="1182" name="Google Shape;1182;p149"/>
          <p:cNvSpPr txBox="1"/>
          <p:nvPr/>
        </p:nvSpPr>
        <p:spPr>
          <a:xfrm>
            <a:off x="2057400" y="1916668"/>
            <a:ext cx="125066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Products </a:t>
            </a:r>
            <a:endParaRPr sz="1800">
              <a:solidFill>
                <a:schemeClr val="dk1"/>
              </a:solidFill>
              <a:latin typeface="Lucida Sans"/>
              <a:ea typeface="Lucida Sans"/>
              <a:cs typeface="Lucida Sans"/>
              <a:sym typeface="Lucida Sans"/>
            </a:endParaRPr>
          </a:p>
        </p:txBody>
      </p:sp>
      <p:sp>
        <p:nvSpPr>
          <p:cNvPr id="1183" name="Google Shape;1183;p149"/>
          <p:cNvSpPr txBox="1"/>
          <p:nvPr/>
        </p:nvSpPr>
        <p:spPr>
          <a:xfrm>
            <a:off x="5867400" y="1828800"/>
            <a:ext cx="129073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Materials </a:t>
            </a:r>
            <a:endParaRPr sz="1800">
              <a:solidFill>
                <a:schemeClr val="dk1"/>
              </a:solidFill>
              <a:latin typeface="Lucida Sans"/>
              <a:ea typeface="Lucida Sans"/>
              <a:cs typeface="Lucida Sans"/>
              <a:sym typeface="Lucida Sans"/>
            </a:endParaRPr>
          </a:p>
        </p:txBody>
      </p:sp>
      <p:cxnSp>
        <p:nvCxnSpPr>
          <p:cNvPr id="1184" name="Google Shape;1184;p149"/>
          <p:cNvCxnSpPr/>
          <p:nvPr/>
        </p:nvCxnSpPr>
        <p:spPr>
          <a:xfrm>
            <a:off x="1066800" y="2286000"/>
            <a:ext cx="3048000" cy="0"/>
          </a:xfrm>
          <a:prstGeom prst="straightConnector1">
            <a:avLst/>
          </a:prstGeom>
          <a:noFill/>
          <a:ln w="9525" cap="flat" cmpd="sng">
            <a:solidFill>
              <a:schemeClr val="accent1"/>
            </a:solidFill>
            <a:prstDash val="solid"/>
            <a:round/>
            <a:headEnd type="none" w="sm" len="sm"/>
            <a:tailEnd type="none" w="sm" len="sm"/>
          </a:ln>
        </p:spPr>
      </p:cxnSp>
      <p:cxnSp>
        <p:nvCxnSpPr>
          <p:cNvPr id="1185" name="Google Shape;1185;p149"/>
          <p:cNvCxnSpPr/>
          <p:nvPr/>
        </p:nvCxnSpPr>
        <p:spPr>
          <a:xfrm>
            <a:off x="4953000" y="2286000"/>
            <a:ext cx="3352800" cy="0"/>
          </a:xfrm>
          <a:prstGeom prst="straightConnector1">
            <a:avLst/>
          </a:prstGeom>
          <a:noFill/>
          <a:ln w="9525" cap="flat" cmpd="sng">
            <a:solidFill>
              <a:schemeClr val="accent1"/>
            </a:solidFill>
            <a:prstDash val="solid"/>
            <a:round/>
            <a:headEnd type="none" w="sm" len="sm"/>
            <a:tailEnd type="none" w="sm" len="sm"/>
          </a:ln>
        </p:spPr>
      </p:cxnSp>
      <p:cxnSp>
        <p:nvCxnSpPr>
          <p:cNvPr id="1186" name="Google Shape;1186;p149"/>
          <p:cNvCxnSpPr/>
          <p:nvPr/>
        </p:nvCxnSpPr>
        <p:spPr>
          <a:xfrm>
            <a:off x="4114800" y="2286000"/>
            <a:ext cx="0" cy="457200"/>
          </a:xfrm>
          <a:prstGeom prst="straightConnector1">
            <a:avLst/>
          </a:prstGeom>
          <a:noFill/>
          <a:ln w="9525" cap="flat" cmpd="sng">
            <a:solidFill>
              <a:schemeClr val="accent1"/>
            </a:solidFill>
            <a:prstDash val="solid"/>
            <a:round/>
            <a:headEnd type="none" w="sm" len="sm"/>
            <a:tailEnd type="none" w="sm" len="sm"/>
          </a:ln>
        </p:spPr>
      </p:cxnSp>
      <p:cxnSp>
        <p:nvCxnSpPr>
          <p:cNvPr id="1187" name="Google Shape;1187;p149"/>
          <p:cNvCxnSpPr/>
          <p:nvPr/>
        </p:nvCxnSpPr>
        <p:spPr>
          <a:xfrm>
            <a:off x="8305800" y="2286000"/>
            <a:ext cx="0" cy="457200"/>
          </a:xfrm>
          <a:prstGeom prst="straightConnector1">
            <a:avLst/>
          </a:prstGeom>
          <a:noFill/>
          <a:ln w="9525" cap="flat" cmpd="sng">
            <a:solidFill>
              <a:schemeClr val="accent1"/>
            </a:solidFill>
            <a:prstDash val="solid"/>
            <a:round/>
            <a:headEnd type="none" w="sm" len="sm"/>
            <a:tailEnd type="none" w="sm" len="sm"/>
          </a:ln>
        </p:spPr>
      </p:cxnSp>
      <p:cxnSp>
        <p:nvCxnSpPr>
          <p:cNvPr id="1188" name="Google Shape;1188;p149"/>
          <p:cNvCxnSpPr/>
          <p:nvPr/>
        </p:nvCxnSpPr>
        <p:spPr>
          <a:xfrm>
            <a:off x="1066800" y="2286000"/>
            <a:ext cx="0" cy="381000"/>
          </a:xfrm>
          <a:prstGeom prst="straightConnector1">
            <a:avLst/>
          </a:prstGeom>
          <a:noFill/>
          <a:ln w="9525" cap="flat" cmpd="sng">
            <a:solidFill>
              <a:schemeClr val="accent1"/>
            </a:solidFill>
            <a:prstDash val="solid"/>
            <a:round/>
            <a:headEnd type="none" w="sm" len="sm"/>
            <a:tailEnd type="stealth" w="med" len="med"/>
          </a:ln>
        </p:spPr>
      </p:cxnSp>
      <p:cxnSp>
        <p:nvCxnSpPr>
          <p:cNvPr id="1189" name="Google Shape;1189;p149"/>
          <p:cNvCxnSpPr/>
          <p:nvPr/>
        </p:nvCxnSpPr>
        <p:spPr>
          <a:xfrm>
            <a:off x="4953000" y="2286000"/>
            <a:ext cx="0" cy="381000"/>
          </a:xfrm>
          <a:prstGeom prst="straightConnector1">
            <a:avLst/>
          </a:prstGeom>
          <a:noFill/>
          <a:ln w="9525" cap="flat" cmpd="sng">
            <a:solidFill>
              <a:schemeClr val="accent1"/>
            </a:solidFill>
            <a:prstDash val="solid"/>
            <a:round/>
            <a:headEnd type="none" w="sm" len="sm"/>
            <a:tailEnd type="stealth" w="med" len="med"/>
          </a:ln>
        </p:spPr>
      </p:cxn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15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Delays</a:t>
            </a:r>
            <a:endParaRPr/>
          </a:p>
          <a:p>
            <a:pPr marL="365760" lvl="0" indent="-256032" algn="just" rtl="0">
              <a:spcBef>
                <a:spcPts val="400"/>
              </a:spcBef>
              <a:spcAft>
                <a:spcPts val="0"/>
              </a:spcAft>
              <a:buSzPts val="1836"/>
              <a:buChar char="🞂"/>
            </a:pPr>
            <a:r>
              <a:rPr lang="en-US"/>
              <a:t>Loss of information</a:t>
            </a:r>
            <a:endParaRPr/>
          </a:p>
          <a:p>
            <a:pPr marL="365760" lvl="0" indent="-256032" algn="just" rtl="0">
              <a:spcBef>
                <a:spcPts val="400"/>
              </a:spcBef>
              <a:spcAft>
                <a:spcPts val="0"/>
              </a:spcAft>
              <a:buSzPts val="1836"/>
              <a:buChar char="🞂"/>
            </a:pPr>
            <a:r>
              <a:rPr lang="en-US"/>
              <a:t>Redundancy</a:t>
            </a:r>
            <a:endParaRPr/>
          </a:p>
          <a:p>
            <a:pPr marL="365760" lvl="0" indent="-256032" algn="just" rtl="0">
              <a:spcBef>
                <a:spcPts val="400"/>
              </a:spcBef>
              <a:spcAft>
                <a:spcPts val="0"/>
              </a:spcAft>
              <a:buSzPts val="1836"/>
              <a:buChar char="🞂"/>
            </a:pPr>
            <a:r>
              <a:rPr lang="en-US"/>
              <a:t>Data entry errors</a:t>
            </a:r>
            <a:endParaRPr/>
          </a:p>
          <a:p>
            <a:pPr marL="365760" lvl="0" indent="-256032" algn="just" rtl="0">
              <a:spcBef>
                <a:spcPts val="400"/>
              </a:spcBef>
              <a:spcAft>
                <a:spcPts val="0"/>
              </a:spcAft>
              <a:buSzPts val="1836"/>
              <a:buChar char="🞂"/>
            </a:pPr>
            <a:r>
              <a:rPr lang="en-US"/>
              <a:t>Status of order unknown </a:t>
            </a:r>
            <a:endParaRPr/>
          </a:p>
          <a:p>
            <a:pPr marL="365760" lvl="0" indent="-256032" algn="just" rtl="0">
              <a:spcBef>
                <a:spcPts val="400"/>
              </a:spcBef>
              <a:spcAft>
                <a:spcPts val="0"/>
              </a:spcAft>
              <a:buSzPts val="1836"/>
              <a:buChar char="🞂"/>
            </a:pPr>
            <a:r>
              <a:rPr lang="en-US"/>
              <a:t>Design permits polarisation by function</a:t>
            </a:r>
            <a:endParaRPr/>
          </a:p>
          <a:p>
            <a:pPr marL="365760" lvl="0" indent="-256032" algn="just" rtl="0">
              <a:spcBef>
                <a:spcPts val="400"/>
              </a:spcBef>
              <a:spcAft>
                <a:spcPts val="0"/>
              </a:spcAft>
              <a:buSzPts val="1836"/>
              <a:buChar char="🞂"/>
            </a:pPr>
            <a:r>
              <a:rPr lang="en-US"/>
              <a:t>Possible incompatibility of platforms</a:t>
            </a:r>
            <a:endParaRPr/>
          </a:p>
        </p:txBody>
      </p:sp>
      <p:sp>
        <p:nvSpPr>
          <p:cNvPr id="1195" name="Google Shape;1195;p1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Some Shortcomings Of The TIS</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1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ERP System</a:t>
            </a:r>
            <a:endParaRPr/>
          </a:p>
        </p:txBody>
      </p:sp>
      <p:sp>
        <p:nvSpPr>
          <p:cNvPr id="1201" name="Google Shape;1201;p151"/>
          <p:cNvSpPr/>
          <p:nvPr/>
        </p:nvSpPr>
        <p:spPr>
          <a:xfrm>
            <a:off x="1828800" y="3048000"/>
            <a:ext cx="5486400" cy="22098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1600" b="1">
                <a:solidFill>
                  <a:schemeClr val="dk1"/>
                </a:solidFill>
                <a:latin typeface="Lucida Sans"/>
                <a:ea typeface="Lucida Sans"/>
                <a:cs typeface="Lucida Sans"/>
                <a:sym typeface="Lucida Sans"/>
              </a:rPr>
              <a:t>Core Functions [Online Transaction Processing </a:t>
            </a:r>
            <a:r>
              <a:rPr lang="en-US" sz="1400" b="1">
                <a:solidFill>
                  <a:schemeClr val="dk1"/>
                </a:solidFill>
                <a:latin typeface="Lucida Sans"/>
                <a:ea typeface="Lucida Sans"/>
                <a:cs typeface="Lucida Sans"/>
                <a:sym typeface="Lucida Sans"/>
              </a:rPr>
              <a:t>(OLTP)</a:t>
            </a:r>
            <a:r>
              <a:rPr lang="en-US" sz="1600" b="1">
                <a:solidFill>
                  <a:schemeClr val="dk1"/>
                </a:solidFill>
                <a:latin typeface="Lucida Sans"/>
                <a:ea typeface="Lucida Sans"/>
                <a:cs typeface="Lucida Sans"/>
                <a:sym typeface="Lucida Sans"/>
              </a:rPr>
              <a:t>]</a:t>
            </a:r>
            <a:endParaRPr/>
          </a:p>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202" name="Google Shape;1202;p151"/>
          <p:cNvSpPr/>
          <p:nvPr/>
        </p:nvSpPr>
        <p:spPr>
          <a:xfrm>
            <a:off x="3581400" y="5791200"/>
            <a:ext cx="2667000" cy="1066800"/>
          </a:xfrm>
          <a:prstGeom prst="flowChartMagneticDisk">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Operational Database</a:t>
            </a:r>
            <a:endParaRPr/>
          </a:p>
          <a:p>
            <a:pPr marL="0" marR="0" lvl="0" indent="0" algn="ctr" rtl="0">
              <a:spcBef>
                <a:spcPts val="0"/>
              </a:spcBef>
              <a:spcAft>
                <a:spcPts val="0"/>
              </a:spcAft>
              <a:buNone/>
            </a:pPr>
            <a:r>
              <a:rPr lang="en-US" sz="1200">
                <a:solidFill>
                  <a:schemeClr val="dk1"/>
                </a:solidFill>
                <a:latin typeface="Lucida Sans"/>
                <a:ea typeface="Lucida Sans"/>
                <a:cs typeface="Lucida Sans"/>
                <a:sym typeface="Lucida Sans"/>
              </a:rPr>
              <a:t>Customers, Production, vendor, inventory and the like</a:t>
            </a:r>
            <a:endParaRPr sz="1200">
              <a:solidFill>
                <a:schemeClr val="dk1"/>
              </a:solidFill>
              <a:latin typeface="Lucida Sans"/>
              <a:ea typeface="Lucida Sans"/>
              <a:cs typeface="Lucida Sans"/>
              <a:sym typeface="Lucida Sans"/>
            </a:endParaRPr>
          </a:p>
        </p:txBody>
      </p:sp>
      <p:sp>
        <p:nvSpPr>
          <p:cNvPr id="1203" name="Google Shape;1203;p151"/>
          <p:cNvSpPr/>
          <p:nvPr/>
        </p:nvSpPr>
        <p:spPr>
          <a:xfrm>
            <a:off x="1828800" y="1524000"/>
            <a:ext cx="2209800" cy="1066800"/>
          </a:xfrm>
          <a:prstGeom prst="flowChartMagneticDisk">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 warehouse</a:t>
            </a:r>
            <a:endParaRPr sz="1800">
              <a:solidFill>
                <a:schemeClr val="dk1"/>
              </a:solidFill>
              <a:latin typeface="Lucida Sans"/>
              <a:ea typeface="Lucida Sans"/>
              <a:cs typeface="Lucida Sans"/>
              <a:sym typeface="Lucida Sans"/>
            </a:endParaRPr>
          </a:p>
        </p:txBody>
      </p:sp>
      <p:sp>
        <p:nvSpPr>
          <p:cNvPr id="1204" name="Google Shape;1204;p151"/>
          <p:cNvSpPr/>
          <p:nvPr/>
        </p:nvSpPr>
        <p:spPr>
          <a:xfrm>
            <a:off x="76200" y="35814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Customers </a:t>
            </a:r>
            <a:endParaRPr sz="1600">
              <a:solidFill>
                <a:schemeClr val="dk1"/>
              </a:solidFill>
              <a:latin typeface="Lucida Sans"/>
              <a:ea typeface="Lucida Sans"/>
              <a:cs typeface="Lucida Sans"/>
              <a:sym typeface="Lucida Sans"/>
            </a:endParaRPr>
          </a:p>
        </p:txBody>
      </p:sp>
      <p:sp>
        <p:nvSpPr>
          <p:cNvPr id="1205" name="Google Shape;1205;p151"/>
          <p:cNvSpPr/>
          <p:nvPr/>
        </p:nvSpPr>
        <p:spPr>
          <a:xfrm>
            <a:off x="7696200" y="35814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Suppliers</a:t>
            </a:r>
            <a:endParaRPr/>
          </a:p>
        </p:txBody>
      </p:sp>
      <p:sp>
        <p:nvSpPr>
          <p:cNvPr id="1206" name="Google Shape;1206;p151"/>
          <p:cNvSpPr/>
          <p:nvPr/>
        </p:nvSpPr>
        <p:spPr>
          <a:xfrm>
            <a:off x="5715000" y="1676400"/>
            <a:ext cx="13716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Legacy Systems</a:t>
            </a:r>
            <a:endParaRPr/>
          </a:p>
        </p:txBody>
      </p:sp>
      <p:cxnSp>
        <p:nvCxnSpPr>
          <p:cNvPr id="1207" name="Google Shape;1207;p151"/>
          <p:cNvCxnSpPr/>
          <p:nvPr/>
        </p:nvCxnSpPr>
        <p:spPr>
          <a:xfrm>
            <a:off x="4800600" y="5257800"/>
            <a:ext cx="0" cy="457200"/>
          </a:xfrm>
          <a:prstGeom prst="straightConnector1">
            <a:avLst/>
          </a:prstGeom>
          <a:noFill/>
          <a:ln w="9525" cap="flat" cmpd="sng">
            <a:solidFill>
              <a:schemeClr val="dk1"/>
            </a:solidFill>
            <a:prstDash val="solid"/>
            <a:round/>
            <a:headEnd type="stealth" w="med" len="med"/>
            <a:tailEnd type="stealth" w="med" len="med"/>
          </a:ln>
        </p:spPr>
      </p:cxnSp>
      <p:cxnSp>
        <p:nvCxnSpPr>
          <p:cNvPr id="1208" name="Google Shape;1208;p151"/>
          <p:cNvCxnSpPr/>
          <p:nvPr/>
        </p:nvCxnSpPr>
        <p:spPr>
          <a:xfrm>
            <a:off x="2819400" y="2590800"/>
            <a:ext cx="0" cy="457200"/>
          </a:xfrm>
          <a:prstGeom prst="straightConnector1">
            <a:avLst/>
          </a:prstGeom>
          <a:noFill/>
          <a:ln w="9525" cap="flat" cmpd="sng">
            <a:solidFill>
              <a:schemeClr val="dk1"/>
            </a:solidFill>
            <a:prstDash val="solid"/>
            <a:round/>
            <a:headEnd type="stealth" w="med" len="med"/>
            <a:tailEnd type="stealth" w="med" len="med"/>
          </a:ln>
        </p:spPr>
      </p:cxnSp>
      <p:cxnSp>
        <p:nvCxnSpPr>
          <p:cNvPr id="1209" name="Google Shape;1209;p151"/>
          <p:cNvCxnSpPr/>
          <p:nvPr/>
        </p:nvCxnSpPr>
        <p:spPr>
          <a:xfrm>
            <a:off x="6400800" y="2590800"/>
            <a:ext cx="0" cy="457200"/>
          </a:xfrm>
          <a:prstGeom prst="straightConnector1">
            <a:avLst/>
          </a:prstGeom>
          <a:noFill/>
          <a:ln w="9525" cap="flat" cmpd="sng">
            <a:solidFill>
              <a:schemeClr val="dk1"/>
            </a:solidFill>
            <a:prstDash val="solid"/>
            <a:round/>
            <a:headEnd type="stealth" w="med" len="med"/>
            <a:tailEnd type="stealth" w="med" len="med"/>
          </a:ln>
        </p:spPr>
      </p:cxnSp>
      <p:cxnSp>
        <p:nvCxnSpPr>
          <p:cNvPr id="1210" name="Google Shape;1210;p151"/>
          <p:cNvCxnSpPr>
            <a:stCxn id="1204" idx="3"/>
          </p:cNvCxnSpPr>
          <p:nvPr/>
        </p:nvCxnSpPr>
        <p:spPr>
          <a:xfrm>
            <a:off x="1447800" y="4038600"/>
            <a:ext cx="304800" cy="0"/>
          </a:xfrm>
          <a:prstGeom prst="straightConnector1">
            <a:avLst/>
          </a:prstGeom>
          <a:noFill/>
          <a:ln w="9525" cap="flat" cmpd="sng">
            <a:solidFill>
              <a:schemeClr val="dk1"/>
            </a:solidFill>
            <a:prstDash val="solid"/>
            <a:round/>
            <a:headEnd type="stealth" w="med" len="med"/>
            <a:tailEnd type="stealth" w="med" len="med"/>
          </a:ln>
        </p:spPr>
      </p:cxnSp>
      <p:cxnSp>
        <p:nvCxnSpPr>
          <p:cNvPr id="1211" name="Google Shape;1211;p151"/>
          <p:cNvCxnSpPr/>
          <p:nvPr/>
        </p:nvCxnSpPr>
        <p:spPr>
          <a:xfrm>
            <a:off x="7391400" y="3962400"/>
            <a:ext cx="304800" cy="0"/>
          </a:xfrm>
          <a:prstGeom prst="straightConnector1">
            <a:avLst/>
          </a:prstGeom>
          <a:noFill/>
          <a:ln w="9525" cap="flat" cmpd="sng">
            <a:solidFill>
              <a:schemeClr val="dk1"/>
            </a:solidFill>
            <a:prstDash val="solid"/>
            <a:round/>
            <a:headEnd type="stealth" w="med" len="med"/>
            <a:tailEnd type="stealth" w="med" len="med"/>
          </a:ln>
        </p:spPr>
      </p:cxnSp>
      <p:sp>
        <p:nvSpPr>
          <p:cNvPr id="1212" name="Google Shape;1212;p151"/>
          <p:cNvSpPr/>
          <p:nvPr/>
        </p:nvSpPr>
        <p:spPr>
          <a:xfrm>
            <a:off x="1828800" y="4495800"/>
            <a:ext cx="1600200" cy="7620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Sales &amp; Distribution</a:t>
            </a:r>
            <a:endParaRPr/>
          </a:p>
        </p:txBody>
      </p:sp>
      <p:sp>
        <p:nvSpPr>
          <p:cNvPr id="1213" name="Google Shape;1213;p151"/>
          <p:cNvSpPr/>
          <p:nvPr/>
        </p:nvSpPr>
        <p:spPr>
          <a:xfrm>
            <a:off x="3429000" y="4495800"/>
            <a:ext cx="1219200" cy="7620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Business Planning</a:t>
            </a:r>
            <a:endParaRPr/>
          </a:p>
        </p:txBody>
      </p:sp>
      <p:sp>
        <p:nvSpPr>
          <p:cNvPr id="1214" name="Google Shape;1214;p151"/>
          <p:cNvSpPr/>
          <p:nvPr/>
        </p:nvSpPr>
        <p:spPr>
          <a:xfrm>
            <a:off x="4648200" y="4495800"/>
            <a:ext cx="1371600" cy="7620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Shop Floor Control</a:t>
            </a:r>
            <a:endParaRPr/>
          </a:p>
        </p:txBody>
      </p:sp>
      <p:sp>
        <p:nvSpPr>
          <p:cNvPr id="1215" name="Google Shape;1215;p151"/>
          <p:cNvSpPr/>
          <p:nvPr/>
        </p:nvSpPr>
        <p:spPr>
          <a:xfrm>
            <a:off x="1828800" y="3048000"/>
            <a:ext cx="28194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Online Analytical Processing (OLAP)</a:t>
            </a:r>
            <a:endParaRPr sz="1600">
              <a:solidFill>
                <a:schemeClr val="dk1"/>
              </a:solidFill>
              <a:latin typeface="Lucida Sans"/>
              <a:ea typeface="Lucida Sans"/>
              <a:cs typeface="Lucida Sans"/>
              <a:sym typeface="Lucida Sans"/>
            </a:endParaRPr>
          </a:p>
        </p:txBody>
      </p:sp>
      <p:sp>
        <p:nvSpPr>
          <p:cNvPr id="1216" name="Google Shape;1216;p151"/>
          <p:cNvSpPr/>
          <p:nvPr/>
        </p:nvSpPr>
        <p:spPr>
          <a:xfrm>
            <a:off x="6019800" y="4495800"/>
            <a:ext cx="1295400" cy="7620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Logistics </a:t>
            </a:r>
            <a:endParaRPr/>
          </a:p>
        </p:txBody>
      </p:sp>
      <p:sp>
        <p:nvSpPr>
          <p:cNvPr id="1217" name="Google Shape;1217;p151"/>
          <p:cNvSpPr/>
          <p:nvPr/>
        </p:nvSpPr>
        <p:spPr>
          <a:xfrm>
            <a:off x="4648200" y="3048000"/>
            <a:ext cx="2667000" cy="914400"/>
          </a:xfrm>
          <a:prstGeom prst="rect">
            <a:avLst/>
          </a:prstGeom>
          <a:solidFill>
            <a:schemeClr val="lt1"/>
          </a:solidFill>
          <a:ln w="55000" cap="flat" cmpd="thickThin">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Bolt-On Applications (Industry Specific Functions</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p15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Supports a smooth flow of information</a:t>
            </a:r>
            <a:endParaRPr/>
          </a:p>
          <a:p>
            <a:pPr marL="365760" lvl="0" indent="-256032" algn="just" rtl="0">
              <a:spcBef>
                <a:spcPts val="400"/>
              </a:spcBef>
              <a:spcAft>
                <a:spcPts val="0"/>
              </a:spcAft>
              <a:buSzPts val="1836"/>
              <a:buChar char="🞂"/>
            </a:pPr>
            <a:r>
              <a:rPr lang="en-US"/>
              <a:t>Seamless integration </a:t>
            </a:r>
            <a:endParaRPr/>
          </a:p>
          <a:p>
            <a:pPr marL="365760" lvl="0" indent="-256032" algn="just" rtl="0">
              <a:spcBef>
                <a:spcPts val="400"/>
              </a:spcBef>
              <a:spcAft>
                <a:spcPts val="0"/>
              </a:spcAft>
              <a:buSzPts val="1836"/>
              <a:buChar char="🞂"/>
            </a:pPr>
            <a:r>
              <a:rPr lang="en-US"/>
              <a:t>Standardisation of business processes</a:t>
            </a:r>
            <a:endParaRPr/>
          </a:p>
          <a:p>
            <a:pPr marL="365760" lvl="0" indent="-256032" algn="just" rtl="0">
              <a:spcBef>
                <a:spcPts val="400"/>
              </a:spcBef>
              <a:spcAft>
                <a:spcPts val="0"/>
              </a:spcAft>
              <a:buSzPts val="1836"/>
              <a:buChar char="🞂"/>
            </a:pPr>
            <a:r>
              <a:rPr lang="en-US"/>
              <a:t>Extensive data sharing</a:t>
            </a:r>
            <a:endParaRPr/>
          </a:p>
          <a:p>
            <a:pPr marL="365760" lvl="0" indent="-256032" algn="just" rtl="0">
              <a:spcBef>
                <a:spcPts val="400"/>
              </a:spcBef>
              <a:spcAft>
                <a:spcPts val="0"/>
              </a:spcAft>
              <a:buSzPts val="1836"/>
              <a:buChar char="🞂"/>
            </a:pPr>
            <a:r>
              <a:rPr lang="en-US"/>
              <a:t>Data view specific to user needs</a:t>
            </a:r>
            <a:endParaRPr/>
          </a:p>
          <a:p>
            <a:pPr marL="365760" lvl="0" indent="-256032" algn="just" rtl="0">
              <a:spcBef>
                <a:spcPts val="400"/>
              </a:spcBef>
              <a:spcAft>
                <a:spcPts val="0"/>
              </a:spcAft>
              <a:buSzPts val="1836"/>
              <a:buChar char="🞂"/>
            </a:pPr>
            <a:r>
              <a:rPr lang="en-US"/>
              <a:t>Provides real-time information</a:t>
            </a:r>
            <a:endParaRPr/>
          </a:p>
        </p:txBody>
      </p:sp>
      <p:sp>
        <p:nvSpPr>
          <p:cNvPr id="1223" name="Google Shape;1223;p1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ERP Positives </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p15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activities around the core functions performed by an  ERP include sales &amp; distribution, business planning, shop floor control and logistics.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activities relate to demand forecasting, production planning, route selection and production detailed scheduling, dispatching and job castings.</a:t>
            </a:r>
            <a:endParaRPr/>
          </a:p>
        </p:txBody>
      </p:sp>
      <p:sp>
        <p:nvSpPr>
          <p:cNvPr id="1229" name="Google Shape;1229;p1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200"/>
              <a:buFont typeface="Lucida Sans"/>
              <a:buNone/>
            </a:pPr>
            <a:r>
              <a:rPr lang="en-US" sz="3200"/>
              <a:t>Online Transaction Processing (OLTP)</a:t>
            </a:r>
            <a:endParaRPr sz="320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15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This facility enables the ERP system to be more than just a complex transaction processing tool.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OLAP enables the ERP to provide:</a:t>
            </a:r>
            <a:endParaRPr/>
          </a:p>
          <a:p>
            <a:pPr marL="850392" lvl="1" indent="-457200" algn="just" rtl="0">
              <a:spcBef>
                <a:spcPts val="324"/>
              </a:spcBef>
              <a:spcAft>
                <a:spcPts val="0"/>
              </a:spcAft>
              <a:buSzPts val="2300"/>
              <a:buFont typeface="Lucida Sans"/>
              <a:buAutoNum type="arabicPeriod"/>
            </a:pPr>
            <a:r>
              <a:rPr lang="en-US"/>
              <a:t>Decision support</a:t>
            </a:r>
            <a:endParaRPr/>
          </a:p>
          <a:p>
            <a:pPr marL="850392" lvl="1" indent="-457200" algn="just" rtl="0">
              <a:spcBef>
                <a:spcPts val="324"/>
              </a:spcBef>
              <a:spcAft>
                <a:spcPts val="0"/>
              </a:spcAft>
              <a:buSzPts val="2300"/>
              <a:buFont typeface="Lucida Sans"/>
              <a:buAutoNum type="arabicPeriod"/>
            </a:pPr>
            <a:r>
              <a:rPr lang="en-US"/>
              <a:t>Modelling</a:t>
            </a:r>
            <a:endParaRPr/>
          </a:p>
          <a:p>
            <a:pPr marL="850392" lvl="1" indent="-457200" algn="just" rtl="0">
              <a:spcBef>
                <a:spcPts val="324"/>
              </a:spcBef>
              <a:spcAft>
                <a:spcPts val="0"/>
              </a:spcAft>
              <a:buSzPts val="2300"/>
              <a:buFont typeface="Lucida Sans"/>
              <a:buAutoNum type="arabicPeriod"/>
            </a:pPr>
            <a:r>
              <a:rPr lang="en-US"/>
              <a:t>Information retrieval</a:t>
            </a:r>
            <a:endParaRPr/>
          </a:p>
          <a:p>
            <a:pPr marL="850392" lvl="1" indent="-457200" algn="just" rtl="0">
              <a:spcBef>
                <a:spcPts val="324"/>
              </a:spcBef>
              <a:spcAft>
                <a:spcPts val="0"/>
              </a:spcAft>
              <a:buSzPts val="2300"/>
              <a:buFont typeface="Lucida Sans"/>
              <a:buAutoNum type="arabicPeriod"/>
            </a:pPr>
            <a:r>
              <a:rPr lang="en-US"/>
              <a:t>Ad-hoc reporting/analysis</a:t>
            </a:r>
            <a:endParaRPr/>
          </a:p>
          <a:p>
            <a:pPr marL="850392" lvl="1" indent="-457200" algn="just" rtl="0">
              <a:spcBef>
                <a:spcPts val="324"/>
              </a:spcBef>
              <a:spcAft>
                <a:spcPts val="0"/>
              </a:spcAft>
              <a:buSzPts val="2300"/>
              <a:buFont typeface="Lucida Sans"/>
              <a:buAutoNum type="arabicPeriod"/>
            </a:pPr>
            <a:r>
              <a:rPr lang="en-US"/>
              <a:t>What-if-analysis</a:t>
            </a:r>
            <a:endParaRPr/>
          </a:p>
          <a:p>
            <a:pPr marL="365760" lvl="0" indent="-139446" algn="just" rtl="0">
              <a:spcBef>
                <a:spcPts val="400"/>
              </a:spcBef>
              <a:spcAft>
                <a:spcPts val="0"/>
              </a:spcAft>
              <a:buSzPts val="1836"/>
              <a:buNone/>
            </a:pPr>
            <a:endParaRPr/>
          </a:p>
        </p:txBody>
      </p:sp>
      <p:sp>
        <p:nvSpPr>
          <p:cNvPr id="1235" name="Google Shape;1235;p1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Lucida Sans"/>
              <a:buNone/>
            </a:pPr>
            <a:r>
              <a:rPr lang="en-US" sz="3600"/>
              <a:t>Online Analytical Processing (OLAP)</a:t>
            </a:r>
            <a:endParaRPr sz="360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15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 database constructed for quick searching, retrieval, ad hoc queries and ease of use.</a:t>
            </a:r>
            <a:endParaRPr/>
          </a:p>
          <a:p>
            <a:pPr marL="365760" lvl="0" indent="-256032" algn="just" rtl="0">
              <a:spcBef>
                <a:spcPts val="400"/>
              </a:spcBef>
              <a:spcAft>
                <a:spcPts val="0"/>
              </a:spcAft>
              <a:buSzPts val="1836"/>
              <a:buChar char="🞂"/>
            </a:pPr>
            <a:r>
              <a:rPr lang="en-US"/>
              <a:t>Data is extracted from the operational database.</a:t>
            </a:r>
            <a:endParaRPr/>
          </a:p>
          <a:p>
            <a:pPr marL="365760" lvl="0" indent="-256032" algn="just" rtl="0">
              <a:spcBef>
                <a:spcPts val="400"/>
              </a:spcBef>
              <a:spcAft>
                <a:spcPts val="0"/>
              </a:spcAft>
              <a:buSzPts val="1836"/>
              <a:buChar char="🞂"/>
            </a:pPr>
            <a:r>
              <a:rPr lang="en-US"/>
              <a:t>The data warehouse is not a must for ERP systems, the data warehouse may exist without an ERP.</a:t>
            </a:r>
            <a:endParaRPr/>
          </a:p>
        </p:txBody>
      </p:sp>
      <p:sp>
        <p:nvSpPr>
          <p:cNvPr id="1241" name="Google Shape;1241;p1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Data Warehouse</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6" name="Google Shape;1246;p15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Software provided by 3</a:t>
            </a:r>
            <a:r>
              <a:rPr lang="en-US" baseline="30000"/>
              <a:t>rd</a:t>
            </a:r>
            <a:r>
              <a:rPr lang="en-US"/>
              <a:t> parties to provide specialised functionality to enable use of ERP software.</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Use ERPs developer recommended bolt-on software.</a:t>
            </a:r>
            <a:endParaRPr/>
          </a:p>
        </p:txBody>
      </p:sp>
      <p:sp>
        <p:nvSpPr>
          <p:cNvPr id="1247" name="Google Shape;1247;p1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Bolt-on Software</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15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SAP – 553</a:t>
            </a:r>
            <a:endParaRPr/>
          </a:p>
          <a:p>
            <a:pPr marL="365760" lvl="0" indent="-256032" algn="l" rtl="0">
              <a:spcBef>
                <a:spcPts val="400"/>
              </a:spcBef>
              <a:spcAft>
                <a:spcPts val="0"/>
              </a:spcAft>
              <a:buSzPts val="1836"/>
              <a:buChar char="🞂"/>
            </a:pPr>
            <a:r>
              <a:rPr lang="en-US"/>
              <a:t>Oracle – 555</a:t>
            </a:r>
            <a:endParaRPr/>
          </a:p>
          <a:p>
            <a:pPr marL="365760" lvl="0" indent="-256032" algn="l" rtl="0">
              <a:spcBef>
                <a:spcPts val="400"/>
              </a:spcBef>
              <a:spcAft>
                <a:spcPts val="0"/>
              </a:spcAft>
              <a:buSzPts val="1836"/>
              <a:buChar char="🞂"/>
            </a:pPr>
            <a:r>
              <a:rPr lang="en-US"/>
              <a:t>PeopleSoft -556</a:t>
            </a:r>
            <a:endParaRPr/>
          </a:p>
          <a:p>
            <a:pPr marL="365760" lvl="0" indent="-256032" algn="l" rtl="0">
              <a:spcBef>
                <a:spcPts val="400"/>
              </a:spcBef>
              <a:spcAft>
                <a:spcPts val="0"/>
              </a:spcAft>
              <a:buSzPts val="1836"/>
              <a:buChar char="🞂"/>
            </a:pPr>
            <a:r>
              <a:rPr lang="en-US"/>
              <a:t>Microsoft – 556</a:t>
            </a:r>
            <a:endParaRPr/>
          </a:p>
          <a:p>
            <a:pPr marL="365760" lvl="0" indent="-256032" algn="l" rtl="0">
              <a:spcBef>
                <a:spcPts val="400"/>
              </a:spcBef>
              <a:spcAft>
                <a:spcPts val="0"/>
              </a:spcAft>
              <a:buSzPts val="1836"/>
              <a:buChar char="🞂"/>
            </a:pPr>
            <a:r>
              <a:rPr lang="en-US"/>
              <a:t>Sage Software – 557</a:t>
            </a:r>
            <a:endParaRPr/>
          </a:p>
          <a:p>
            <a:pPr marL="365760" lvl="0" indent="-256032" algn="l" rtl="0">
              <a:spcBef>
                <a:spcPts val="400"/>
              </a:spcBef>
              <a:spcAft>
                <a:spcPts val="0"/>
              </a:spcAft>
              <a:buSzPts val="1836"/>
              <a:buChar char="🞂"/>
            </a:pPr>
            <a:r>
              <a:rPr lang="en-US"/>
              <a:t>softBrands - 557</a:t>
            </a:r>
            <a:endParaRPr/>
          </a:p>
          <a:p>
            <a:pPr marL="365760" lvl="0" indent="-139446" algn="l" rtl="0">
              <a:spcBef>
                <a:spcPts val="400"/>
              </a:spcBef>
              <a:spcAft>
                <a:spcPts val="0"/>
              </a:spcAft>
              <a:buSzPts val="1836"/>
              <a:buNone/>
            </a:pPr>
            <a:endParaRPr/>
          </a:p>
        </p:txBody>
      </p:sp>
      <p:sp>
        <p:nvSpPr>
          <p:cNvPr id="1253" name="Google Shape;1253;p1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Examples of ERP Systems</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15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b="1"/>
              <a:t>The ERP is not a silver bullet to solve all of the organisation’s problems.</a:t>
            </a:r>
            <a:endParaRPr/>
          </a:p>
          <a:p>
            <a:pPr marL="365760" lvl="0" indent="-139446" algn="just" rtl="0">
              <a:spcBef>
                <a:spcPts val="400"/>
              </a:spcBef>
              <a:spcAft>
                <a:spcPts val="0"/>
              </a:spcAft>
              <a:buSzPts val="1836"/>
              <a:buNone/>
            </a:pPr>
            <a:endParaRPr b="1"/>
          </a:p>
          <a:p>
            <a:pPr marL="624078" lvl="0" indent="-514350" algn="just" rtl="0">
              <a:spcBef>
                <a:spcPts val="400"/>
              </a:spcBef>
              <a:spcAft>
                <a:spcPts val="0"/>
              </a:spcAft>
              <a:buSzPts val="1836"/>
              <a:buFont typeface="Lucida Sans"/>
              <a:buAutoNum type="arabicPeriod"/>
            </a:pPr>
            <a:r>
              <a:rPr lang="en-US"/>
              <a:t>Big-bang versus Phased-in implementation</a:t>
            </a:r>
            <a:endParaRPr/>
          </a:p>
          <a:p>
            <a:pPr marL="880110" lvl="1" indent="-514350" algn="just" rtl="0">
              <a:spcBef>
                <a:spcPts val="324"/>
              </a:spcBef>
              <a:spcAft>
                <a:spcPts val="0"/>
              </a:spcAft>
              <a:buSzPts val="2300"/>
              <a:buChar char="◦"/>
            </a:pPr>
            <a:r>
              <a:rPr lang="en-US"/>
              <a:t>Ambitious but risky approach</a:t>
            </a:r>
            <a:endParaRPr/>
          </a:p>
          <a:p>
            <a:pPr marL="880110" lvl="1" indent="-514350" algn="just" rtl="0">
              <a:spcBef>
                <a:spcPts val="324"/>
              </a:spcBef>
              <a:spcAft>
                <a:spcPts val="0"/>
              </a:spcAft>
              <a:buSzPts val="2300"/>
              <a:buChar char="◦"/>
            </a:pPr>
            <a:r>
              <a:rPr lang="en-US"/>
              <a:t>Direct switch to new ERP from existing system</a:t>
            </a:r>
            <a:endParaRPr/>
          </a:p>
          <a:p>
            <a:pPr marL="880110" lvl="1" indent="-514350" algn="just" rtl="0">
              <a:spcBef>
                <a:spcPts val="324"/>
              </a:spcBef>
              <a:spcAft>
                <a:spcPts val="0"/>
              </a:spcAft>
              <a:buSzPts val="2300"/>
              <a:buChar char="◦"/>
            </a:pPr>
            <a:r>
              <a:rPr lang="en-US"/>
              <a:t>Normally associated with failure</a:t>
            </a:r>
            <a:endParaRPr/>
          </a:p>
          <a:p>
            <a:pPr marL="880110" lvl="1" indent="-514350" algn="just" rtl="0">
              <a:spcBef>
                <a:spcPts val="324"/>
              </a:spcBef>
              <a:spcAft>
                <a:spcPts val="0"/>
              </a:spcAft>
              <a:buSzPts val="2300"/>
              <a:buChar char="◦"/>
            </a:pPr>
            <a:r>
              <a:rPr lang="en-US"/>
              <a:t>Issues such as familiarity, functionality and the like may lead to opposition.</a:t>
            </a:r>
            <a:endParaRPr/>
          </a:p>
          <a:p>
            <a:pPr marL="880110" lvl="1" indent="-514350" algn="just" rtl="0">
              <a:spcBef>
                <a:spcPts val="324"/>
              </a:spcBef>
              <a:spcAft>
                <a:spcPts val="0"/>
              </a:spcAft>
              <a:buSzPts val="2300"/>
              <a:buChar char="◦"/>
            </a:pPr>
            <a:r>
              <a:rPr lang="en-US"/>
              <a:t>Phased-in works better with diversified organisations where units do not share much.</a:t>
            </a:r>
            <a:endParaRPr/>
          </a:p>
        </p:txBody>
      </p:sp>
      <p:sp>
        <p:nvSpPr>
          <p:cNvPr id="1259" name="Google Shape;1259;p1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ERP Associated Risks </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15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880110" lvl="1" indent="-368300" algn="just" rtl="0">
              <a:spcBef>
                <a:spcPts val="0"/>
              </a:spcBef>
              <a:spcAft>
                <a:spcPts val="0"/>
              </a:spcAft>
              <a:buSzPts val="2300"/>
              <a:buNone/>
            </a:pPr>
            <a:endParaRPr/>
          </a:p>
          <a:p>
            <a:pPr marL="624078" lvl="0" indent="-514350" algn="just" rtl="0">
              <a:spcBef>
                <a:spcPts val="400"/>
              </a:spcBef>
              <a:spcAft>
                <a:spcPts val="0"/>
              </a:spcAft>
              <a:buSzPts val="1836"/>
              <a:buFont typeface="Lucida Sans"/>
              <a:buAutoNum type="arabicPeriod" startAt="2"/>
            </a:pPr>
            <a:r>
              <a:rPr lang="en-US"/>
              <a:t>Opposition to changes in the business culture</a:t>
            </a:r>
            <a:endParaRPr/>
          </a:p>
          <a:p>
            <a:pPr marL="880110" lvl="1" indent="-514350" algn="just" rtl="0">
              <a:spcBef>
                <a:spcPts val="324"/>
              </a:spcBef>
              <a:spcAft>
                <a:spcPts val="0"/>
              </a:spcAft>
              <a:buSzPts val="2300"/>
              <a:buChar char="◦"/>
            </a:pPr>
            <a:r>
              <a:rPr lang="en-US"/>
              <a:t>Involve functional areas in determining the culture and in the definition of the new system’s requirements.</a:t>
            </a:r>
            <a:endParaRPr/>
          </a:p>
          <a:p>
            <a:pPr marL="880110" lvl="1" indent="-514350" algn="just" rtl="0">
              <a:spcBef>
                <a:spcPts val="324"/>
              </a:spcBef>
              <a:spcAft>
                <a:spcPts val="0"/>
              </a:spcAft>
              <a:buSzPts val="2300"/>
              <a:buChar char="◦"/>
            </a:pPr>
            <a:r>
              <a:rPr lang="en-US"/>
              <a:t>How willing and able is the organisation to undertake change culturally?</a:t>
            </a:r>
            <a:endParaRPr/>
          </a:p>
          <a:p>
            <a:pPr marL="880110" lvl="1" indent="-514350" algn="just" rtl="0">
              <a:spcBef>
                <a:spcPts val="324"/>
              </a:spcBef>
              <a:spcAft>
                <a:spcPts val="0"/>
              </a:spcAft>
              <a:buSzPts val="2300"/>
              <a:buChar char="◦"/>
            </a:pPr>
            <a:r>
              <a:rPr lang="en-US"/>
              <a:t>What is the technological culture?</a:t>
            </a:r>
            <a:endParaRPr/>
          </a:p>
          <a:p>
            <a:pPr marL="880110" lvl="1" indent="-514350" algn="just" rtl="0">
              <a:spcBef>
                <a:spcPts val="324"/>
              </a:spcBef>
              <a:spcAft>
                <a:spcPts val="0"/>
              </a:spcAft>
              <a:buSzPts val="2300"/>
              <a:buChar char="◦"/>
            </a:pPr>
            <a:r>
              <a:rPr lang="en-US"/>
              <a:t>Does the organisational staff hold the requisite skills to operate/use the system.</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sp>
        <p:nvSpPr>
          <p:cNvPr id="1269" name="Google Shape;1269;p16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624078" lvl="0" indent="-397764" algn="just" rtl="0">
              <a:spcBef>
                <a:spcPts val="0"/>
              </a:spcBef>
              <a:spcAft>
                <a:spcPts val="0"/>
              </a:spcAft>
              <a:buSzPts val="1836"/>
              <a:buFont typeface="Lucida Sans"/>
              <a:buNone/>
            </a:pPr>
            <a:endParaRPr/>
          </a:p>
          <a:p>
            <a:pPr marL="624078" lvl="0" indent="-514350" algn="just" rtl="0">
              <a:spcBef>
                <a:spcPts val="400"/>
              </a:spcBef>
              <a:spcAft>
                <a:spcPts val="0"/>
              </a:spcAft>
              <a:buSzPts val="1836"/>
              <a:buFont typeface="Lucida Sans"/>
              <a:buAutoNum type="arabicPeriod" startAt="3"/>
            </a:pPr>
            <a:r>
              <a:rPr lang="en-US"/>
              <a:t>Choosing the wrong ERP</a:t>
            </a:r>
            <a:endParaRPr/>
          </a:p>
          <a:p>
            <a:pPr marL="880110" lvl="1" indent="-514350" algn="just" rtl="0">
              <a:spcBef>
                <a:spcPts val="324"/>
              </a:spcBef>
              <a:spcAft>
                <a:spcPts val="0"/>
              </a:spcAft>
              <a:buSzPts val="2300"/>
              <a:buChar char="◦"/>
            </a:pPr>
            <a:r>
              <a:rPr lang="en-US"/>
              <a:t>It is possible that ERP may fail to meet one or more important business processes.</a:t>
            </a:r>
            <a:endParaRPr/>
          </a:p>
          <a:p>
            <a:pPr marL="880110" lvl="1" indent="-514350" algn="just" rtl="0">
              <a:spcBef>
                <a:spcPts val="324"/>
              </a:spcBef>
              <a:spcAft>
                <a:spcPts val="0"/>
              </a:spcAft>
              <a:buSzPts val="2300"/>
              <a:buChar char="◦"/>
            </a:pPr>
            <a:r>
              <a:rPr lang="en-US"/>
              <a:t>Goodness of fit considerations are vital.</a:t>
            </a:r>
            <a:endParaRPr/>
          </a:p>
          <a:p>
            <a:pPr marL="880110" lvl="1" indent="-514350" algn="just" rtl="0">
              <a:spcBef>
                <a:spcPts val="324"/>
              </a:spcBef>
              <a:spcAft>
                <a:spcPts val="0"/>
              </a:spcAft>
              <a:buSzPts val="2300"/>
              <a:buChar char="◦"/>
            </a:pPr>
            <a:r>
              <a:rPr lang="en-US"/>
              <a:t>System scalability</a:t>
            </a:r>
            <a:endParaRPr/>
          </a:p>
          <a:p>
            <a:pPr marL="1117854" lvl="2" indent="-514349" algn="just" rtl="0">
              <a:spcBef>
                <a:spcPts val="350"/>
              </a:spcBef>
              <a:spcAft>
                <a:spcPts val="0"/>
              </a:spcAft>
              <a:buSzPts val="2100"/>
              <a:buChar char="●"/>
            </a:pPr>
            <a:r>
              <a:rPr lang="en-US"/>
              <a:t>In the event that the organisation grows, will the ERP be able to grow with the organisation?</a:t>
            </a:r>
            <a:endParaRPr/>
          </a:p>
          <a:p>
            <a:pPr marL="1117854" lvl="2" indent="-514349" algn="just" rtl="0">
              <a:spcBef>
                <a:spcPts val="350"/>
              </a:spcBef>
              <a:spcAft>
                <a:spcPts val="0"/>
              </a:spcAft>
              <a:buSzPts val="2100"/>
              <a:buChar char="●"/>
            </a:pPr>
            <a:r>
              <a:rPr lang="en-US"/>
              <a:t>Issues include – size, speed, workload &amp; transaction cost.</a:t>
            </a:r>
            <a:endParaRPr/>
          </a:p>
          <a:p>
            <a:pPr marL="365760" lvl="0" indent="-139446" algn="l" rtl="0">
              <a:spcBef>
                <a:spcPts val="400"/>
              </a:spcBef>
              <a:spcAft>
                <a:spcPts val="0"/>
              </a:spcAft>
              <a:buSzPts val="1836"/>
              <a:buNone/>
            </a:pPr>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Google Shape;1274;p16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4"/>
            </a:pPr>
            <a:r>
              <a:rPr lang="en-US"/>
              <a:t>Choosing the wrong consultant</a:t>
            </a:r>
            <a:endParaRPr/>
          </a:p>
          <a:p>
            <a:pPr marL="880110" lvl="1" indent="-514350" algn="just" rtl="0">
              <a:spcBef>
                <a:spcPts val="324"/>
              </a:spcBef>
              <a:spcAft>
                <a:spcPts val="0"/>
              </a:spcAft>
              <a:buSzPts val="2300"/>
              <a:buChar char="◦"/>
            </a:pPr>
            <a:r>
              <a:rPr lang="en-US"/>
              <a:t>The process of rolling out an ERP does not happen often. The skills and experience required are usually not found internally and thus have to be outsourced. Be careful who you engage!</a:t>
            </a:r>
            <a:endParaRPr/>
          </a:p>
          <a:p>
            <a:pPr marL="1117854" lvl="2" indent="-514349" algn="just" rtl="0">
              <a:spcBef>
                <a:spcPts val="350"/>
              </a:spcBef>
              <a:spcAft>
                <a:spcPts val="0"/>
              </a:spcAft>
              <a:buSzPts val="2100"/>
              <a:buChar char="●"/>
            </a:pPr>
            <a:r>
              <a:rPr lang="en-US"/>
              <a:t>Conduct reference checks,</a:t>
            </a:r>
            <a:endParaRPr/>
          </a:p>
          <a:p>
            <a:pPr marL="1117854" lvl="2" indent="-514349" algn="just" rtl="0">
              <a:spcBef>
                <a:spcPts val="350"/>
              </a:spcBef>
              <a:spcAft>
                <a:spcPts val="0"/>
              </a:spcAft>
              <a:buSzPts val="2100"/>
              <a:buChar char="●"/>
            </a:pPr>
            <a:r>
              <a:rPr lang="en-US"/>
              <a:t>Establish in writing the project contract,</a:t>
            </a:r>
            <a:endParaRPr/>
          </a:p>
          <a:p>
            <a:pPr marL="1117854" lvl="2" indent="-514349" algn="just" rtl="0">
              <a:spcBef>
                <a:spcPts val="350"/>
              </a:spcBef>
              <a:spcAft>
                <a:spcPts val="0"/>
              </a:spcAft>
              <a:buSzPts val="2100"/>
              <a:buChar char="●"/>
            </a:pPr>
            <a:r>
              <a:rPr lang="en-US"/>
              <a:t>Establish who will be involved in writing,</a:t>
            </a:r>
            <a:endParaRPr/>
          </a:p>
          <a:p>
            <a:pPr marL="1117854" lvl="2" indent="-514349" algn="just" rtl="0">
              <a:spcBef>
                <a:spcPts val="350"/>
              </a:spcBef>
              <a:spcAft>
                <a:spcPts val="0"/>
              </a:spcAft>
              <a:buSzPts val="2100"/>
              <a:buChar char="●"/>
            </a:pPr>
            <a:r>
              <a:rPr lang="en-US"/>
              <a:t>Negotiate pay-for-performance scheme as an alignment tools for consultant and organisation,</a:t>
            </a:r>
            <a:endParaRPr/>
          </a:p>
          <a:p>
            <a:pPr marL="1117854" lvl="2" indent="-514349" algn="just" rtl="0">
              <a:spcBef>
                <a:spcPts val="350"/>
              </a:spcBef>
              <a:spcAft>
                <a:spcPts val="0"/>
              </a:spcAft>
              <a:buSzPts val="2100"/>
              <a:buChar char="●"/>
            </a:pPr>
            <a:r>
              <a:rPr lang="en-US"/>
              <a:t>Set termination date for consultant to remove unending dependency and associated fees.</a:t>
            </a:r>
            <a:endParaRPr/>
          </a:p>
          <a:p>
            <a:pPr marL="365760" lvl="0" indent="-139446" algn="l" rtl="0">
              <a:spcBef>
                <a:spcPts val="400"/>
              </a:spcBef>
              <a:spcAft>
                <a:spcPts val="0"/>
              </a:spcAft>
              <a:buSzPts val="1836"/>
              <a:buNone/>
            </a:pPr>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16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5"/>
            </a:pPr>
            <a:r>
              <a:rPr lang="en-US"/>
              <a:t>High cost and Cost overruns</a:t>
            </a:r>
            <a:endParaRPr/>
          </a:p>
          <a:p>
            <a:pPr marL="880110" lvl="1" indent="-514350" algn="just" rtl="0">
              <a:spcBef>
                <a:spcPts val="324"/>
              </a:spcBef>
              <a:spcAft>
                <a:spcPts val="0"/>
              </a:spcAft>
              <a:buSzPts val="2300"/>
              <a:buChar char="◦"/>
            </a:pPr>
            <a:r>
              <a:rPr lang="en-US"/>
              <a:t>Total costs of ownership of ERPs vary greatly.</a:t>
            </a:r>
            <a:endParaRPr/>
          </a:p>
          <a:p>
            <a:pPr marL="880110" lvl="1" indent="-514350" algn="just" rtl="0">
              <a:spcBef>
                <a:spcPts val="324"/>
              </a:spcBef>
              <a:spcAft>
                <a:spcPts val="0"/>
              </a:spcAft>
              <a:buSzPts val="2300"/>
              <a:buChar char="◦"/>
            </a:pPr>
            <a:r>
              <a:rPr lang="en-US"/>
              <a:t>From 100 000s to 100’s of millions of dollars</a:t>
            </a:r>
            <a:endParaRPr/>
          </a:p>
          <a:p>
            <a:pPr marL="880110" lvl="1" indent="-514350" algn="just" rtl="0">
              <a:spcBef>
                <a:spcPts val="324"/>
              </a:spcBef>
              <a:spcAft>
                <a:spcPts val="0"/>
              </a:spcAft>
              <a:buSzPts val="2300"/>
              <a:buChar char="◦"/>
            </a:pPr>
            <a:r>
              <a:rPr lang="en-US"/>
              <a:t>Costs include: hardware, software, consulting services, internal personnel costs, installation, upgrades and maintenance for the first 2 years.</a:t>
            </a:r>
            <a:endParaRPr/>
          </a:p>
          <a:p>
            <a:pPr marL="880110" lvl="1" indent="-514350" algn="just" rtl="0">
              <a:spcBef>
                <a:spcPts val="324"/>
              </a:spcBef>
              <a:spcAft>
                <a:spcPts val="0"/>
              </a:spcAft>
              <a:buSzPts val="2300"/>
              <a:buChar char="◦"/>
            </a:pPr>
            <a:r>
              <a:rPr lang="en-US"/>
              <a:t>Put in place performance measures.</a:t>
            </a:r>
            <a:endParaRPr/>
          </a:p>
          <a:p>
            <a:pPr marL="880110" lvl="1" indent="-514350" algn="just" rtl="0">
              <a:spcBef>
                <a:spcPts val="324"/>
              </a:spcBef>
              <a:spcAft>
                <a:spcPts val="0"/>
              </a:spcAft>
              <a:buSzPts val="2300"/>
              <a:buChar char="◦"/>
            </a:pPr>
            <a:r>
              <a:rPr lang="en-US"/>
              <a:t>Areas to monitor include:</a:t>
            </a:r>
            <a:endParaRPr/>
          </a:p>
          <a:p>
            <a:pPr marL="1117854" lvl="2" indent="-514349" algn="just" rtl="0">
              <a:spcBef>
                <a:spcPts val="350"/>
              </a:spcBef>
              <a:spcAft>
                <a:spcPts val="0"/>
              </a:spcAft>
              <a:buSzPts val="2100"/>
              <a:buChar char="●"/>
            </a:pPr>
            <a:r>
              <a:rPr lang="en-US"/>
              <a:t>Training</a:t>
            </a:r>
            <a:endParaRPr/>
          </a:p>
          <a:p>
            <a:pPr marL="1117854" lvl="2" indent="-514349" algn="just" rtl="0">
              <a:spcBef>
                <a:spcPts val="350"/>
              </a:spcBef>
              <a:spcAft>
                <a:spcPts val="0"/>
              </a:spcAft>
              <a:buSzPts val="2100"/>
              <a:buChar char="●"/>
            </a:pPr>
            <a:r>
              <a:rPr lang="en-US"/>
              <a:t>System testing and Integration</a:t>
            </a:r>
            <a:endParaRPr/>
          </a:p>
          <a:p>
            <a:pPr marL="1117854" lvl="2" indent="-514349" algn="just" rtl="0">
              <a:spcBef>
                <a:spcPts val="350"/>
              </a:spcBef>
              <a:spcAft>
                <a:spcPts val="0"/>
              </a:spcAft>
              <a:buSzPts val="2100"/>
              <a:buChar char="●"/>
            </a:pPr>
            <a:r>
              <a:rPr lang="en-US"/>
              <a:t>Database Conversion</a:t>
            </a:r>
            <a:endParaRPr/>
          </a:p>
          <a:p>
            <a:pPr marL="880110" lvl="1" indent="-368300" algn="just" rtl="0">
              <a:spcBef>
                <a:spcPts val="324"/>
              </a:spcBef>
              <a:spcAft>
                <a:spcPts val="0"/>
              </a:spcAft>
              <a:buSzPts val="2300"/>
              <a:buNone/>
            </a:pPr>
            <a:endParaRPr/>
          </a:p>
          <a:p>
            <a:pPr marL="365760" lvl="0" indent="-139446" algn="l" rtl="0">
              <a:spcBef>
                <a:spcPts val="400"/>
              </a:spcBef>
              <a:spcAft>
                <a:spcPts val="0"/>
              </a:spcAft>
              <a:buSzPts val="1836"/>
              <a:buNone/>
            </a:pPr>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p16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6. Disruptions to operations</a:t>
            </a:r>
            <a:endParaRPr/>
          </a:p>
          <a:p>
            <a:pPr marL="621792" lvl="1" indent="-228600" algn="just" rtl="0">
              <a:spcBef>
                <a:spcPts val="324"/>
              </a:spcBef>
              <a:spcAft>
                <a:spcPts val="0"/>
              </a:spcAft>
              <a:buSzPts val="2300"/>
              <a:buChar char="◦"/>
            </a:pPr>
            <a:r>
              <a:rPr lang="en-US"/>
              <a:t>Performance usually drops significantly soon after ERP’s are implemented.</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Business process reengineering is usually the cause of the reduced performance.</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Things work differently when an ERP is implemented.</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None/>
            </a:pPr>
            <a:endParaRPr/>
          </a:p>
          <a:p>
            <a:pPr marL="365760" lvl="0" indent="-139446" algn="just" rtl="0">
              <a:spcBef>
                <a:spcPts val="400"/>
              </a:spcBef>
              <a:spcAft>
                <a:spcPts val="0"/>
              </a:spcAft>
              <a:buSzPts val="1836"/>
              <a:buNone/>
            </a:pPr>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16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Software project failures lead to large sums of wasted money and effort, accusations and even to legal implications.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Some of the highest-profile problem projects to surface in 2011 are as follows:</a:t>
            </a:r>
            <a:endParaRPr/>
          </a:p>
          <a:p>
            <a:pPr marL="365760" lvl="0" indent="-139446" algn="just" rtl="0">
              <a:spcBef>
                <a:spcPts val="400"/>
              </a:spcBef>
              <a:spcAft>
                <a:spcPts val="0"/>
              </a:spcAft>
              <a:buSzPts val="1836"/>
              <a:buNone/>
            </a:pPr>
            <a:endParaRPr/>
          </a:p>
        </p:txBody>
      </p:sp>
      <p:sp>
        <p:nvSpPr>
          <p:cNvPr id="1290" name="Google Shape;1290;p1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800"/>
              <a:buFont typeface="Lucida Sans"/>
              <a:buNone/>
            </a:pPr>
            <a:r>
              <a:rPr lang="en-US" sz="2800"/>
              <a:t>10 Biggest ERP Software Failures of 2011</a:t>
            </a:r>
            <a:endParaRPr sz="28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165"/>
          <p:cNvSpPr txBox="1">
            <a:spLocks noGrp="1"/>
          </p:cNvSpPr>
          <p:nvPr>
            <p:ph type="body" idx="1"/>
          </p:nvPr>
        </p:nvSpPr>
        <p:spPr>
          <a:xfrm>
            <a:off x="457200" y="228600"/>
            <a:ext cx="8229600" cy="6400800"/>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904"/>
              <a:buFont typeface="Lucida Sans"/>
              <a:buAutoNum type="arabicPeriod"/>
            </a:pPr>
            <a:r>
              <a:rPr lang="en-US" sz="2800" b="1"/>
              <a:t>UK government scraps the £12 billion National program for IT in the NHS.</a:t>
            </a:r>
            <a:endParaRPr/>
          </a:p>
          <a:p>
            <a:pPr marL="624078" lvl="0" indent="-514350" algn="just" rtl="0">
              <a:spcBef>
                <a:spcPts val="400"/>
              </a:spcBef>
              <a:spcAft>
                <a:spcPts val="0"/>
              </a:spcAft>
              <a:buSzPts val="1836"/>
              <a:buNone/>
            </a:pPr>
            <a:endParaRPr b="1"/>
          </a:p>
          <a:p>
            <a:pPr marL="365760" lvl="0" indent="-256032" algn="just" rtl="0">
              <a:spcBef>
                <a:spcPts val="400"/>
              </a:spcBef>
              <a:spcAft>
                <a:spcPts val="0"/>
              </a:spcAft>
              <a:buSzPts val="1836"/>
              <a:buChar char="🞂"/>
            </a:pPr>
            <a:r>
              <a:rPr lang="en-US"/>
              <a:t>In September 2011, the largest public IT project of all time which sought to supply electronic health records for all the country’s citizens was halted.</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Work had began on the project in 2002, and after spending £12 billion  it was considered  a futile attempt to deliver the sort of modern system that was required. </a:t>
            </a:r>
            <a:endParaRPr/>
          </a:p>
          <a:p>
            <a:pPr marL="365760" lvl="0" indent="-139446" algn="just" rtl="0">
              <a:spcBef>
                <a:spcPts val="400"/>
              </a:spcBef>
              <a:spcAft>
                <a:spcPts val="0"/>
              </a:spcAft>
              <a:buSzPts val="1836"/>
              <a:buNone/>
            </a:pPr>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166"/>
          <p:cNvSpPr txBox="1">
            <a:spLocks noGrp="1"/>
          </p:cNvSpPr>
          <p:nvPr>
            <p:ph type="body" idx="1"/>
          </p:nvPr>
        </p:nvSpPr>
        <p:spPr>
          <a:xfrm>
            <a:off x="457200" y="228600"/>
            <a:ext cx="8229600" cy="5778691"/>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2"/>
            </a:pPr>
            <a:r>
              <a:rPr lang="en-US" b="1"/>
              <a:t>New York City's CityTime Payroll Project.</a:t>
            </a:r>
            <a:endParaRPr/>
          </a:p>
          <a:p>
            <a:pPr marL="624078" lvl="0" indent="-397764" algn="just" rtl="0">
              <a:spcBef>
                <a:spcPts val="400"/>
              </a:spcBef>
              <a:spcAft>
                <a:spcPts val="0"/>
              </a:spcAft>
              <a:buSzPts val="1836"/>
              <a:buNone/>
            </a:pPr>
            <a:endParaRPr/>
          </a:p>
          <a:p>
            <a:pPr marL="624078" lvl="0" indent="-514350" algn="just" rtl="0">
              <a:spcBef>
                <a:spcPts val="400"/>
              </a:spcBef>
              <a:spcAft>
                <a:spcPts val="0"/>
              </a:spcAft>
              <a:buSzPts val="1836"/>
              <a:buChar char="🞂"/>
            </a:pPr>
            <a:r>
              <a:rPr lang="en-US"/>
              <a:t>Currently, there have been cost overruns and a criminal probe into an alleged “kickback scheme” involving former employees of systems integrator SAIC and a subcontractor.</a:t>
            </a:r>
            <a:endParaRPr/>
          </a:p>
          <a:p>
            <a:pPr marL="624078" lvl="0" indent="-397764" algn="just" rtl="0">
              <a:spcBef>
                <a:spcPts val="400"/>
              </a:spcBef>
              <a:spcAft>
                <a:spcPts val="0"/>
              </a:spcAft>
              <a:buSzPts val="1836"/>
              <a:buNone/>
            </a:pPr>
            <a:endParaRPr/>
          </a:p>
          <a:p>
            <a:pPr marL="624078" lvl="0" indent="-514350" algn="just" rtl="0">
              <a:spcBef>
                <a:spcPts val="400"/>
              </a:spcBef>
              <a:spcAft>
                <a:spcPts val="0"/>
              </a:spcAft>
              <a:buSzPts val="1836"/>
              <a:buChar char="🞂"/>
            </a:pPr>
            <a:r>
              <a:rPr lang="en-US"/>
              <a:t>CityTime originally had a $63 million budget, but costs skyrocketed astonishingly, with </a:t>
            </a:r>
            <a:r>
              <a:rPr lang="en-US" u="sng">
                <a:solidFill>
                  <a:schemeClr val="hlink"/>
                </a:solidFill>
                <a:hlinkClick r:id="rId3"/>
              </a:rPr>
              <a:t>total estimates</a:t>
            </a:r>
            <a:r>
              <a:rPr lang="en-US"/>
              <a:t> reportedly reaching $760 million.</a:t>
            </a:r>
            <a:endParaRPr/>
          </a:p>
          <a:p>
            <a:pPr marL="624078" lvl="0" indent="-397764" algn="just" rtl="0">
              <a:spcBef>
                <a:spcPts val="400"/>
              </a:spcBef>
              <a:spcAft>
                <a:spcPts val="0"/>
              </a:spcAft>
              <a:buSzPts val="1836"/>
              <a:buNone/>
            </a:pPr>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167"/>
          <p:cNvSpPr txBox="1">
            <a:spLocks noGrp="1"/>
          </p:cNvSpPr>
          <p:nvPr>
            <p:ph type="body" idx="1"/>
          </p:nvPr>
        </p:nvSpPr>
        <p:spPr>
          <a:xfrm>
            <a:off x="457200" y="228600"/>
            <a:ext cx="8229600" cy="5778691"/>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3"/>
            </a:pPr>
            <a:r>
              <a:rPr lang="en-US" b="1"/>
              <a:t>SAP project woes impact Ingram Micro's profits.</a:t>
            </a:r>
            <a:endParaRPr/>
          </a:p>
          <a:p>
            <a:pPr marL="624078" lvl="0" indent="-514350" algn="just" rtl="0">
              <a:spcBef>
                <a:spcPts val="400"/>
              </a:spcBef>
              <a:spcAft>
                <a:spcPts val="0"/>
              </a:spcAft>
              <a:buSzPts val="1836"/>
              <a:buNone/>
            </a:pPr>
            <a:endParaRPr b="1"/>
          </a:p>
          <a:p>
            <a:pPr marL="624078" lvl="0" indent="-514350" algn="just" rtl="0">
              <a:spcBef>
                <a:spcPts val="400"/>
              </a:spcBef>
              <a:spcAft>
                <a:spcPts val="0"/>
              </a:spcAft>
              <a:buSzPts val="1836"/>
              <a:buChar char="🞂"/>
            </a:pPr>
            <a:r>
              <a:rPr lang="en-US"/>
              <a:t>Technology distributor Ingram Micro announced that problems with an SAP project in Australia had made a significant dent in its first-quarter profits.</a:t>
            </a:r>
            <a:endParaRPr/>
          </a:p>
          <a:p>
            <a:pPr marL="624078" lvl="0" indent="-397764" algn="just" rtl="0">
              <a:spcBef>
                <a:spcPts val="400"/>
              </a:spcBef>
              <a:spcAft>
                <a:spcPts val="0"/>
              </a:spcAft>
              <a:buSzPts val="1836"/>
              <a:buNone/>
            </a:pPr>
            <a:endParaRPr/>
          </a:p>
          <a:p>
            <a:pPr marL="624078" lvl="0" indent="-514350" algn="just" rtl="0">
              <a:spcBef>
                <a:spcPts val="400"/>
              </a:spcBef>
              <a:spcAft>
                <a:spcPts val="0"/>
              </a:spcAft>
              <a:buSzPts val="1836"/>
              <a:buChar char="🞂"/>
            </a:pPr>
            <a:r>
              <a:rPr lang="en-US"/>
              <a:t>The issues are primarily attributable to difficulties transitioning to a new enterprise system in Australia</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168"/>
          <p:cNvSpPr txBox="1">
            <a:spLocks noGrp="1"/>
          </p:cNvSpPr>
          <p:nvPr>
            <p:ph type="body" idx="1"/>
          </p:nvPr>
        </p:nvSpPr>
        <p:spPr>
          <a:xfrm>
            <a:off x="457200" y="152400"/>
            <a:ext cx="8229600" cy="5854891"/>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4"/>
            </a:pPr>
            <a:r>
              <a:rPr lang="en-US" b="1"/>
              <a:t>Montclair State University sues Oracle over a PeopleSoft project, but Oracle returns fire.</a:t>
            </a:r>
            <a:endParaRPr/>
          </a:p>
          <a:p>
            <a:pPr marL="624078" lvl="0" indent="-397764" algn="just" rtl="0">
              <a:spcBef>
                <a:spcPts val="400"/>
              </a:spcBef>
              <a:spcAft>
                <a:spcPts val="0"/>
              </a:spcAft>
              <a:buSzPts val="1836"/>
              <a:buFont typeface="Lucida Sans"/>
              <a:buNone/>
            </a:pPr>
            <a:endParaRPr b="1"/>
          </a:p>
          <a:p>
            <a:pPr marL="365760" lvl="0" indent="-256032" algn="just" rtl="0">
              <a:spcBef>
                <a:spcPts val="400"/>
              </a:spcBef>
              <a:spcAft>
                <a:spcPts val="0"/>
              </a:spcAft>
              <a:buSzPts val="1836"/>
              <a:buChar char="🞂"/>
            </a:pPr>
            <a:r>
              <a:rPr lang="en-US"/>
              <a:t>Montclair State University in New Jersey filed a lawsuit against Oracle, claiming the vendor had completely botched a PeopleSoft project that was supposed to replace the school's aging legacy systems.</a:t>
            </a:r>
            <a:endParaRPr/>
          </a:p>
          <a:p>
            <a:pPr marL="365760" lvl="0" indent="-256032" algn="just" rtl="0">
              <a:spcBef>
                <a:spcPts val="400"/>
              </a:spcBef>
              <a:spcAft>
                <a:spcPts val="0"/>
              </a:spcAft>
              <a:buSzPts val="1836"/>
              <a:buChar char="🞂"/>
            </a:pPr>
            <a:r>
              <a:rPr lang="en-US"/>
              <a:t>Because of Oracle's alleged misdeeds, it might cost up to $20 million to finish the project, Montclair has claimed.</a:t>
            </a:r>
            <a:endParaRPr/>
          </a:p>
          <a:p>
            <a:pPr marL="365760" lvl="0" indent="-256032" algn="just" rtl="0">
              <a:spcBef>
                <a:spcPts val="400"/>
              </a:spcBef>
              <a:spcAft>
                <a:spcPts val="0"/>
              </a:spcAft>
              <a:buSzPts val="1836"/>
              <a:buChar char="🞂"/>
            </a:pPr>
            <a:r>
              <a:rPr lang="en-US"/>
              <a:t>But Oracle quickly fired back, claiming that the problems were the </a:t>
            </a:r>
            <a:r>
              <a:rPr lang="en-US" u="sng">
                <a:solidFill>
                  <a:schemeClr val="hlink"/>
                </a:solidFill>
                <a:hlinkClick r:id="rId3"/>
              </a:rPr>
              <a:t>school's fault.</a:t>
            </a:r>
            <a:endParaRPr/>
          </a:p>
          <a:p>
            <a:pPr marL="365760" lvl="0" indent="-139446" algn="just" rtl="0">
              <a:spcBef>
                <a:spcPts val="400"/>
              </a:spcBef>
              <a:spcAft>
                <a:spcPts val="0"/>
              </a:spcAft>
              <a:buSzPts val="1836"/>
              <a:buNone/>
            </a:pPr>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sp>
        <p:nvSpPr>
          <p:cNvPr id="1315" name="Google Shape;1315;p169"/>
          <p:cNvSpPr txBox="1">
            <a:spLocks noGrp="1"/>
          </p:cNvSpPr>
          <p:nvPr>
            <p:ph type="body" idx="1"/>
          </p:nvPr>
        </p:nvSpPr>
        <p:spPr>
          <a:xfrm>
            <a:off x="457200" y="152400"/>
            <a:ext cx="8229600" cy="6553200"/>
          </a:xfrm>
          <a:prstGeom prst="rect">
            <a:avLst/>
          </a:prstGeom>
          <a:noFill/>
          <a:ln>
            <a:noFill/>
          </a:ln>
        </p:spPr>
        <p:txBody>
          <a:bodyPr spcFirstLastPara="1" wrap="square" lIns="91425" tIns="45700" rIns="91425" bIns="45700" anchor="t" anchorCtr="0">
            <a:noAutofit/>
          </a:bodyPr>
          <a:lstStyle/>
          <a:p>
            <a:pPr marL="624078" lvl="0" indent="-514350" algn="just" rtl="0">
              <a:lnSpc>
                <a:spcPct val="90000"/>
              </a:lnSpc>
              <a:spcBef>
                <a:spcPts val="0"/>
              </a:spcBef>
              <a:spcAft>
                <a:spcPts val="0"/>
              </a:spcAft>
              <a:buSzPts val="1836"/>
              <a:buFont typeface="Lucida Sans"/>
              <a:buAutoNum type="arabicPeriod" startAt="5"/>
            </a:pPr>
            <a:r>
              <a:rPr lang="en-US" b="1"/>
              <a:t>Epicor sued by customer over ERP project that turned into a 'big mess‘.</a:t>
            </a:r>
            <a:endParaRPr/>
          </a:p>
          <a:p>
            <a:pPr marL="365760" lvl="0" indent="-256032" algn="just" rtl="0">
              <a:lnSpc>
                <a:spcPct val="90000"/>
              </a:lnSpc>
              <a:spcBef>
                <a:spcPts val="400"/>
              </a:spcBef>
              <a:spcAft>
                <a:spcPts val="0"/>
              </a:spcAft>
              <a:buSzPts val="1836"/>
              <a:buChar char="🞂"/>
            </a:pPr>
            <a:r>
              <a:rPr lang="en-US"/>
              <a:t>The customer had decided to replace its Quickbooks system which it had outgrown and had settled on Epicor’s ERP solution over Sage.</a:t>
            </a:r>
            <a:endParaRPr/>
          </a:p>
          <a:p>
            <a:pPr marL="365760" lvl="0" indent="-256032" algn="just" rtl="0">
              <a:lnSpc>
                <a:spcPct val="90000"/>
              </a:lnSpc>
              <a:spcBef>
                <a:spcPts val="400"/>
              </a:spcBef>
              <a:spcAft>
                <a:spcPts val="0"/>
              </a:spcAft>
              <a:buSzPts val="1836"/>
              <a:buChar char="🞂"/>
            </a:pPr>
            <a:r>
              <a:rPr lang="en-US"/>
              <a:t>The Epicor system appeared to be more tightly integrated.</a:t>
            </a:r>
            <a:endParaRPr/>
          </a:p>
          <a:p>
            <a:pPr marL="365760" lvl="0" indent="-256032" algn="just" rtl="0">
              <a:lnSpc>
                <a:spcPct val="90000"/>
              </a:lnSpc>
              <a:spcBef>
                <a:spcPts val="400"/>
              </a:spcBef>
              <a:spcAft>
                <a:spcPts val="0"/>
              </a:spcAft>
              <a:buSzPts val="1836"/>
              <a:buChar char="🞂"/>
            </a:pPr>
            <a:r>
              <a:rPr lang="en-US"/>
              <a:t>The first sign of trouble was Epicor claiming they could have the system up and running in 7 weeks. They were given 7 months. </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a:t>Epicor however, failed to deliver a working system and claimed they did their part, and that the client was the one with a problem whilst they (Epicor) were in the clear.</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170"/>
          <p:cNvSpPr txBox="1">
            <a:spLocks noGrp="1"/>
          </p:cNvSpPr>
          <p:nvPr>
            <p:ph type="body" idx="1"/>
          </p:nvPr>
        </p:nvSpPr>
        <p:spPr>
          <a:xfrm>
            <a:off x="457200" y="304800"/>
            <a:ext cx="7696200" cy="6553200"/>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6"/>
            </a:pPr>
            <a:r>
              <a:rPr lang="en-US" b="1"/>
              <a:t>Epicor customer sues after allegedly wild cost overruns.</a:t>
            </a:r>
            <a:endParaRPr/>
          </a:p>
          <a:p>
            <a:pPr marL="624078" lvl="0" indent="-514350" algn="just" rtl="0">
              <a:spcBef>
                <a:spcPts val="400"/>
              </a:spcBef>
              <a:spcAft>
                <a:spcPts val="0"/>
              </a:spcAft>
              <a:buSzPts val="1836"/>
              <a:buNone/>
            </a:pPr>
            <a:endParaRPr b="1"/>
          </a:p>
          <a:p>
            <a:pPr marL="365760" lvl="0" indent="-256032" algn="just" rtl="0">
              <a:spcBef>
                <a:spcPts val="400"/>
              </a:spcBef>
              <a:spcAft>
                <a:spcPts val="0"/>
              </a:spcAft>
              <a:buSzPts val="1836"/>
              <a:buChar char="🞂"/>
            </a:pPr>
            <a:r>
              <a:rPr lang="en-US"/>
              <a:t> ERP projects tend to end up costing more than originally expected.</a:t>
            </a:r>
            <a:endParaRPr/>
          </a:p>
          <a:p>
            <a:pPr marL="365760" lvl="0" indent="-256032" algn="just" rtl="0">
              <a:spcBef>
                <a:spcPts val="400"/>
              </a:spcBef>
              <a:spcAft>
                <a:spcPts val="0"/>
              </a:spcAft>
              <a:buSzPts val="1836"/>
              <a:buChar char="🞂"/>
            </a:pPr>
            <a:r>
              <a:rPr lang="en-US"/>
              <a:t>Though, it is quite common, the customer in this case was shocked to discover that the costs had increased fivefold. </a:t>
            </a:r>
            <a:endParaRPr/>
          </a:p>
          <a:p>
            <a:pPr marL="365760" lvl="0" indent="-256032" algn="just" rtl="0">
              <a:spcBef>
                <a:spcPts val="400"/>
              </a:spcBef>
              <a:spcAft>
                <a:spcPts val="0"/>
              </a:spcAft>
              <a:buSzPts val="1836"/>
              <a:buChar char="🞂"/>
            </a:pPr>
            <a:r>
              <a:rPr lang="en-US"/>
              <a:t>The project began in 2006 with a fully functional system expected to be installed by March 2007. A working system was never delivered. Total costs reached $1m as compared to the original estimate of  ..................................................$190 000.</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171"/>
          <p:cNvSpPr txBox="1">
            <a:spLocks noGrp="1"/>
          </p:cNvSpPr>
          <p:nvPr>
            <p:ph type="body" idx="1"/>
          </p:nvPr>
        </p:nvSpPr>
        <p:spPr>
          <a:xfrm>
            <a:off x="457200" y="304800"/>
            <a:ext cx="8229600" cy="6096000"/>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7"/>
            </a:pPr>
            <a:r>
              <a:rPr lang="en-US" b="1"/>
              <a:t>Marin County accuses SAP, Deloitte Consulting of a racketeering scheme.</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They claimed that the two had engaged in a pattern of racketeering activity aimed at swindling the county out of more than $20 million in connection with a failed ERP project. </a:t>
            </a:r>
            <a:endParaRPr/>
          </a:p>
          <a:p>
            <a:pPr marL="365760" lvl="0" indent="-256032" algn="just" rtl="0">
              <a:spcBef>
                <a:spcPts val="400"/>
              </a:spcBef>
              <a:spcAft>
                <a:spcPts val="0"/>
              </a:spcAft>
              <a:buSzPts val="1836"/>
              <a:buChar char="🞂"/>
            </a:pPr>
            <a:r>
              <a:rPr lang="en-US"/>
              <a:t>The main accusation stemmed from the fact that Deloitte consulting had engaged inexperienced personnel to role out an SAP for the organisation which it had failed to be complete.</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172"/>
          <p:cNvSpPr txBox="1">
            <a:spLocks noGrp="1"/>
          </p:cNvSpPr>
          <p:nvPr>
            <p:ph type="body" idx="1"/>
          </p:nvPr>
        </p:nvSpPr>
        <p:spPr>
          <a:xfrm>
            <a:off x="457200" y="304800"/>
            <a:ext cx="8229600" cy="6553200"/>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8"/>
            </a:pPr>
            <a:r>
              <a:rPr lang="en-US" b="1"/>
              <a:t>Auditors: ERP software woes could cost Idaho millions.</a:t>
            </a:r>
            <a:endParaRPr/>
          </a:p>
          <a:p>
            <a:pPr marL="365760" lvl="0" indent="-256032" algn="just" rtl="0">
              <a:spcBef>
                <a:spcPts val="400"/>
              </a:spcBef>
              <a:spcAft>
                <a:spcPts val="0"/>
              </a:spcAft>
              <a:buSzPts val="1836"/>
              <a:buChar char="🞂"/>
            </a:pPr>
            <a:r>
              <a:rPr lang="en-US"/>
              <a:t>An ERP system by Unisys for processing Medicaid claims could end up leading to the loss of millions of dollars to Idaho.</a:t>
            </a:r>
            <a:endParaRPr/>
          </a:p>
          <a:p>
            <a:pPr marL="365760" lvl="0" indent="-256032" algn="just" rtl="0">
              <a:spcBef>
                <a:spcPts val="400"/>
              </a:spcBef>
              <a:spcAft>
                <a:spcPts val="0"/>
              </a:spcAft>
              <a:buSzPts val="1836"/>
              <a:buChar char="🞂"/>
            </a:pPr>
            <a:r>
              <a:rPr lang="en-US"/>
              <a:t>The system is for health care organisations with patients who use medical aid. However, auditors anticipate that defects and other issues could lead to many payment delays and faulty processing of claims. One challenge noted was that the system went live before certain testing milestones had been reached. Over $100m had been paid. There was a risk noted of some $2m not being recoverable.</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173"/>
          <p:cNvSpPr txBox="1">
            <a:spLocks noGrp="1"/>
          </p:cNvSpPr>
          <p:nvPr>
            <p:ph type="body" idx="1"/>
          </p:nvPr>
        </p:nvSpPr>
        <p:spPr>
          <a:xfrm>
            <a:off x="457200" y="304800"/>
            <a:ext cx="8229600" cy="5702491"/>
          </a:xfrm>
          <a:prstGeom prst="rect">
            <a:avLst/>
          </a:prstGeom>
          <a:noFill/>
          <a:ln>
            <a:noFill/>
          </a:ln>
        </p:spPr>
        <p:txBody>
          <a:bodyPr spcFirstLastPara="1" wrap="square" lIns="91425" tIns="45700" rIns="91425" bIns="45700" anchor="t" anchorCtr="0">
            <a:noAutofit/>
          </a:bodyPr>
          <a:lstStyle/>
          <a:p>
            <a:pPr marL="624078" lvl="0" indent="-514350" algn="just" rtl="0">
              <a:lnSpc>
                <a:spcPct val="90000"/>
              </a:lnSpc>
              <a:spcBef>
                <a:spcPts val="0"/>
              </a:spcBef>
              <a:spcAft>
                <a:spcPts val="0"/>
              </a:spcAft>
              <a:buSzPts val="1836"/>
              <a:buFont typeface="Lucida Sans"/>
              <a:buAutoNum type="arabicPeriod" startAt="9"/>
            </a:pPr>
            <a:r>
              <a:rPr lang="en-US" b="1"/>
              <a:t>Lawson, CareSource Management head to court</a:t>
            </a:r>
            <a:endParaRPr/>
          </a:p>
          <a:p>
            <a:pPr marL="624078" lvl="0" indent="-514350" algn="just" rtl="0">
              <a:lnSpc>
                <a:spcPct val="90000"/>
              </a:lnSpc>
              <a:spcBef>
                <a:spcPts val="400"/>
              </a:spcBef>
              <a:spcAft>
                <a:spcPts val="0"/>
              </a:spcAft>
              <a:buSzPts val="1836"/>
              <a:buChar char="🞂"/>
            </a:pPr>
            <a:r>
              <a:rPr lang="en-US"/>
              <a:t>CareSource Management Group </a:t>
            </a:r>
            <a:r>
              <a:rPr lang="en-US" u="sng">
                <a:solidFill>
                  <a:schemeClr val="hlink"/>
                </a:solidFill>
                <a:hlinkClick r:id="rId3"/>
              </a:rPr>
              <a:t>sued Lawson Software</a:t>
            </a:r>
            <a:r>
              <a:rPr lang="en-US"/>
              <a:t> claiming that an ERP system from the company had not been able to get beyond the testing phase and was not the fully integrated suite Lawson had promised.</a:t>
            </a:r>
            <a:endParaRPr/>
          </a:p>
          <a:p>
            <a:pPr marL="624078" lvl="0" indent="-514350" algn="just" rtl="0">
              <a:lnSpc>
                <a:spcPct val="90000"/>
              </a:lnSpc>
              <a:spcBef>
                <a:spcPts val="400"/>
              </a:spcBef>
              <a:spcAft>
                <a:spcPts val="0"/>
              </a:spcAft>
              <a:buSzPts val="1836"/>
              <a:buChar char="🞂"/>
            </a:pPr>
            <a:r>
              <a:rPr lang="en-US"/>
              <a:t>CareSource was in fact one of the first companies to install one of the organisation’s new application modules interfacing it with the financial module.</a:t>
            </a:r>
            <a:endParaRPr/>
          </a:p>
          <a:p>
            <a:pPr marL="624078" lvl="0" indent="-514350" algn="just" rtl="0">
              <a:lnSpc>
                <a:spcPct val="90000"/>
              </a:lnSpc>
              <a:spcBef>
                <a:spcPts val="400"/>
              </a:spcBef>
              <a:spcAft>
                <a:spcPts val="0"/>
              </a:spcAft>
              <a:buSzPts val="1836"/>
              <a:buChar char="🞂"/>
            </a:pPr>
            <a:r>
              <a:rPr lang="en-US"/>
              <a:t>There conflict is over the bills charged of over $1.5m and amounts due of $335 000.</a:t>
            </a:r>
            <a:endParaRPr/>
          </a:p>
          <a:p>
            <a:pPr marL="624078" lvl="0" indent="-397764" algn="just" rtl="0">
              <a:lnSpc>
                <a:spcPct val="90000"/>
              </a:lnSpc>
              <a:spcBef>
                <a:spcPts val="400"/>
              </a:spcBef>
              <a:spcAft>
                <a:spcPts val="0"/>
              </a:spcAft>
              <a:buSzPts val="1836"/>
              <a:buNone/>
            </a:pPr>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174"/>
          <p:cNvSpPr txBox="1">
            <a:spLocks noGrp="1"/>
          </p:cNvSpPr>
          <p:nvPr>
            <p:ph type="body" idx="1"/>
          </p:nvPr>
        </p:nvSpPr>
        <p:spPr>
          <a:xfrm>
            <a:off x="457200" y="304800"/>
            <a:ext cx="8229600" cy="6553200"/>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startAt="10"/>
            </a:pPr>
            <a:r>
              <a:rPr lang="en-US" b="1"/>
              <a:t>SAP-IBM payroll system  messes up nurses' pay.</a:t>
            </a:r>
            <a:endParaRPr/>
          </a:p>
          <a:p>
            <a:pPr marL="624078" lvl="0" indent="-397764" algn="just" rtl="0">
              <a:spcBef>
                <a:spcPts val="400"/>
              </a:spcBef>
              <a:spcAft>
                <a:spcPts val="0"/>
              </a:spcAft>
              <a:buSzPts val="1836"/>
              <a:buFont typeface="Lucida Sans"/>
              <a:buNone/>
            </a:pPr>
            <a:endParaRPr/>
          </a:p>
          <a:p>
            <a:pPr marL="365760" lvl="0" indent="-256032" algn="just" rtl="0">
              <a:spcBef>
                <a:spcPts val="400"/>
              </a:spcBef>
              <a:spcAft>
                <a:spcPts val="0"/>
              </a:spcAft>
              <a:buSzPts val="1836"/>
              <a:buChar char="🞂"/>
            </a:pPr>
            <a:r>
              <a:rPr lang="en-US"/>
              <a:t>Nurses in Nova Scotia reportedly suffered through at least six months of faulty pay checks due to problems with an SAP system project led by IBM.</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common thread noted was that junior consultants and weak testing had been the cause of the faulty processing as most of the variables employed in the SAP payroll system are similar and require a skilled and experienced individual to configure these correctly.</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175"/>
          <p:cNvSpPr txBox="1">
            <a:spLocks noGrp="1"/>
          </p:cNvSpPr>
          <p:nvPr>
            <p:ph type="body" idx="1"/>
          </p:nvPr>
        </p:nvSpPr>
        <p:spPr>
          <a:xfrm>
            <a:off x="457200" y="1481328"/>
            <a:ext cx="8229600" cy="5071872"/>
          </a:xfrm>
          <a:prstGeom prst="rect">
            <a:avLst/>
          </a:prstGeom>
          <a:noFill/>
          <a:ln>
            <a:noFill/>
          </a:ln>
        </p:spPr>
        <p:txBody>
          <a:bodyPr spcFirstLastPara="1" wrap="square" lIns="91425" tIns="45700" rIns="91425" bIns="45700" anchor="t" anchorCtr="0">
            <a:noAutofit/>
          </a:bodyPr>
          <a:lstStyle/>
          <a:p>
            <a:pPr marL="365760" lvl="0" indent="-148211" algn="just" rtl="0">
              <a:lnSpc>
                <a:spcPct val="80000"/>
              </a:lnSpc>
              <a:spcBef>
                <a:spcPts val="0"/>
              </a:spcBef>
              <a:spcAft>
                <a:spcPts val="0"/>
              </a:spcAft>
              <a:buSzPts val="1698"/>
              <a:buNone/>
            </a:pPr>
            <a:endParaRPr sz="2497"/>
          </a:p>
          <a:p>
            <a:pPr marL="624078" lvl="0" indent="-514350" algn="just" rtl="0">
              <a:lnSpc>
                <a:spcPct val="80000"/>
              </a:lnSpc>
              <a:spcBef>
                <a:spcPts val="400"/>
              </a:spcBef>
              <a:spcAft>
                <a:spcPts val="0"/>
              </a:spcAft>
              <a:buSzPts val="2139"/>
              <a:buNone/>
            </a:pPr>
            <a:r>
              <a:rPr lang="en-US" sz="3145"/>
              <a:t>1. Lower returns than expected. </a:t>
            </a:r>
            <a:endParaRPr/>
          </a:p>
          <a:p>
            <a:pPr marL="624078" lvl="0" indent="-514350" algn="just" rtl="0">
              <a:lnSpc>
                <a:spcPct val="80000"/>
              </a:lnSpc>
              <a:spcBef>
                <a:spcPts val="400"/>
              </a:spcBef>
              <a:spcAft>
                <a:spcPts val="0"/>
              </a:spcAft>
              <a:buSzPts val="2139"/>
              <a:buNone/>
            </a:pPr>
            <a:r>
              <a:rPr lang="en-US" sz="3145"/>
              <a:t>2.Inability of the ERP system to meet predetermined functional requirements. </a:t>
            </a:r>
            <a:endParaRPr/>
          </a:p>
          <a:p>
            <a:pPr marL="365760" lvl="0" indent="-256032" algn="just" rtl="0">
              <a:lnSpc>
                <a:spcPct val="80000"/>
              </a:lnSpc>
              <a:spcBef>
                <a:spcPts val="400"/>
              </a:spcBef>
              <a:spcAft>
                <a:spcPts val="0"/>
              </a:spcAft>
              <a:buSzPts val="2139"/>
              <a:buNone/>
            </a:pPr>
            <a:r>
              <a:rPr lang="en-US" sz="3145"/>
              <a:t>3. Crossing budget limitations. </a:t>
            </a:r>
            <a:endParaRPr/>
          </a:p>
          <a:p>
            <a:pPr marL="365760" lvl="0" indent="-256032" algn="just" rtl="0">
              <a:lnSpc>
                <a:spcPct val="80000"/>
              </a:lnSpc>
              <a:spcBef>
                <a:spcPts val="400"/>
              </a:spcBef>
              <a:spcAft>
                <a:spcPts val="0"/>
              </a:spcAft>
              <a:buSzPts val="2139"/>
              <a:buNone/>
            </a:pPr>
            <a:r>
              <a:rPr lang="en-US" sz="3145"/>
              <a:t>4. Higher maintenance &amp; training costs. </a:t>
            </a:r>
            <a:endParaRPr/>
          </a:p>
          <a:p>
            <a:pPr marL="365760" lvl="0" indent="-256032" algn="just" rtl="0">
              <a:lnSpc>
                <a:spcPct val="80000"/>
              </a:lnSpc>
              <a:spcBef>
                <a:spcPts val="400"/>
              </a:spcBef>
              <a:spcAft>
                <a:spcPts val="0"/>
              </a:spcAft>
              <a:buSzPts val="2139"/>
              <a:buNone/>
            </a:pPr>
            <a:r>
              <a:rPr lang="en-US" sz="3145"/>
              <a:t>5. Missing development &amp; deployment dates. </a:t>
            </a:r>
            <a:endParaRPr/>
          </a:p>
          <a:p>
            <a:pPr marL="365760" lvl="0" indent="-256032" algn="just" rtl="0">
              <a:lnSpc>
                <a:spcPct val="80000"/>
              </a:lnSpc>
              <a:spcBef>
                <a:spcPts val="400"/>
              </a:spcBef>
              <a:spcAft>
                <a:spcPts val="0"/>
              </a:spcAft>
              <a:buSzPts val="2139"/>
              <a:buNone/>
            </a:pPr>
            <a:r>
              <a:rPr lang="en-US" sz="3145"/>
              <a:t>6. Incorrect working of the system. </a:t>
            </a:r>
            <a:endParaRPr/>
          </a:p>
          <a:p>
            <a:pPr marL="365760" lvl="0" indent="-256032" algn="just" rtl="0">
              <a:lnSpc>
                <a:spcPct val="80000"/>
              </a:lnSpc>
              <a:spcBef>
                <a:spcPts val="400"/>
              </a:spcBef>
              <a:spcAft>
                <a:spcPts val="0"/>
              </a:spcAft>
              <a:buSzPts val="2139"/>
              <a:buNone/>
            </a:pPr>
            <a:r>
              <a:rPr lang="en-US" sz="3145"/>
              <a:t>7. Not living up to estimated expectations. </a:t>
            </a:r>
            <a:endParaRPr/>
          </a:p>
          <a:p>
            <a:pPr marL="365760" lvl="0" indent="-256032" algn="just" rtl="0">
              <a:lnSpc>
                <a:spcPct val="80000"/>
              </a:lnSpc>
              <a:spcBef>
                <a:spcPts val="400"/>
              </a:spcBef>
              <a:spcAft>
                <a:spcPts val="0"/>
              </a:spcAft>
              <a:buSzPts val="2139"/>
              <a:buNone/>
            </a:pPr>
            <a:endParaRPr sz="3145"/>
          </a:p>
        </p:txBody>
      </p:sp>
      <p:sp>
        <p:nvSpPr>
          <p:cNvPr id="1346" name="Google Shape;1346;p1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Areas Of ERP Failures</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17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endParaRPr/>
          </a:p>
          <a:p>
            <a:pPr marL="365760" lvl="0" indent="-256032" algn="just" rtl="0">
              <a:spcBef>
                <a:spcPts val="400"/>
              </a:spcBef>
              <a:spcAft>
                <a:spcPts val="0"/>
              </a:spcAft>
              <a:buSzPts val="1836"/>
              <a:buNone/>
            </a:pPr>
            <a:r>
              <a:rPr lang="en-US"/>
              <a:t>1. Productivity gains are not accounted for in financial analysis: </a:t>
            </a:r>
            <a:endParaRPr/>
          </a:p>
          <a:p>
            <a:pPr marL="365760" lvl="0" indent="-256032" algn="just" rtl="0">
              <a:spcBef>
                <a:spcPts val="400"/>
              </a:spcBef>
              <a:spcAft>
                <a:spcPts val="0"/>
              </a:spcAft>
              <a:buSzPts val="1836"/>
              <a:buNone/>
            </a:pPr>
            <a:r>
              <a:rPr lang="en-US"/>
              <a:t>There are many difficulties in gauging &amp; representing productivity gains. </a:t>
            </a:r>
            <a:endParaRPr/>
          </a:p>
          <a:p>
            <a:pPr marL="365760" lvl="0" indent="-256032" algn="just" rtl="0">
              <a:spcBef>
                <a:spcPts val="400"/>
              </a:spcBef>
              <a:spcAft>
                <a:spcPts val="0"/>
              </a:spcAft>
              <a:buSzPts val="1836"/>
              <a:buNone/>
            </a:pPr>
            <a:endParaRPr/>
          </a:p>
          <a:p>
            <a:pPr marL="365760" lvl="0" indent="-256032" algn="just" rtl="0">
              <a:spcBef>
                <a:spcPts val="400"/>
              </a:spcBef>
              <a:spcAft>
                <a:spcPts val="0"/>
              </a:spcAft>
              <a:buSzPts val="1836"/>
              <a:buNone/>
            </a:pPr>
            <a:r>
              <a:rPr lang="en-US"/>
              <a:t>2. Time Lag: </a:t>
            </a:r>
            <a:endParaRPr/>
          </a:p>
          <a:p>
            <a:pPr marL="365760" lvl="0" indent="-256032" algn="just" rtl="0">
              <a:spcBef>
                <a:spcPts val="400"/>
              </a:spcBef>
              <a:spcAft>
                <a:spcPts val="0"/>
              </a:spcAft>
              <a:buSzPts val="1836"/>
              <a:buNone/>
            </a:pPr>
            <a:r>
              <a:rPr lang="en-US"/>
              <a:t>The effects of an ERP may take some time to be felt. This may be due to high costs, or other economic factors.</a:t>
            </a:r>
            <a:endParaRPr/>
          </a:p>
          <a:p>
            <a:pPr marL="365760" lvl="0" indent="-256032" algn="just" rtl="0">
              <a:spcBef>
                <a:spcPts val="400"/>
              </a:spcBef>
              <a:spcAft>
                <a:spcPts val="0"/>
              </a:spcAft>
              <a:buSzPts val="1836"/>
              <a:buNone/>
            </a:pPr>
            <a:endParaRPr/>
          </a:p>
        </p:txBody>
      </p:sp>
      <p:sp>
        <p:nvSpPr>
          <p:cNvPr id="1352" name="Google Shape;1352;p1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What Appears to be ERP Failure</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177"/>
          <p:cNvSpPr txBox="1">
            <a:spLocks noGrp="1"/>
          </p:cNvSpPr>
          <p:nvPr>
            <p:ph type="body" idx="1"/>
          </p:nvPr>
        </p:nvSpPr>
        <p:spPr>
          <a:xfrm>
            <a:off x="457200" y="533400"/>
            <a:ext cx="8229600" cy="6096000"/>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None/>
            </a:pPr>
            <a:r>
              <a:rPr lang="en-US" sz="2497"/>
              <a:t>3. Productivity gains are offset by high costs: </a:t>
            </a:r>
            <a:endParaRPr/>
          </a:p>
          <a:p>
            <a:pPr marL="365760" lvl="0" indent="-256032" algn="just" rtl="0">
              <a:lnSpc>
                <a:spcPct val="90000"/>
              </a:lnSpc>
              <a:spcBef>
                <a:spcPts val="400"/>
              </a:spcBef>
              <a:spcAft>
                <a:spcPts val="0"/>
              </a:spcAft>
              <a:buSzPts val="1698"/>
              <a:buNone/>
            </a:pPr>
            <a:r>
              <a:rPr lang="en-US" sz="2497"/>
              <a:t>ERP projects are very expensive. They may lead to initial losses which overwhelm gains in productivity .</a:t>
            </a:r>
            <a:endParaRPr/>
          </a:p>
          <a:p>
            <a:pPr marL="365760" lvl="0" indent="-256032" algn="just" rtl="0">
              <a:lnSpc>
                <a:spcPct val="90000"/>
              </a:lnSpc>
              <a:spcBef>
                <a:spcPts val="400"/>
              </a:spcBef>
              <a:spcAft>
                <a:spcPts val="0"/>
              </a:spcAft>
              <a:buSzPts val="1698"/>
              <a:buNone/>
            </a:pPr>
            <a:endParaRPr sz="2497"/>
          </a:p>
          <a:p>
            <a:pPr marL="365760" lvl="0" indent="-256032" algn="just" rtl="0">
              <a:lnSpc>
                <a:spcPct val="90000"/>
              </a:lnSpc>
              <a:spcBef>
                <a:spcPts val="400"/>
              </a:spcBef>
              <a:spcAft>
                <a:spcPts val="0"/>
              </a:spcAft>
              <a:buSzPts val="1698"/>
              <a:buNone/>
            </a:pPr>
            <a:r>
              <a:rPr lang="en-US" sz="2497"/>
              <a:t>4. Incorrect Usage: </a:t>
            </a:r>
            <a:endParaRPr/>
          </a:p>
          <a:p>
            <a:pPr marL="365760" lvl="0" indent="-256032" algn="just" rtl="0">
              <a:lnSpc>
                <a:spcPct val="90000"/>
              </a:lnSpc>
              <a:spcBef>
                <a:spcPts val="400"/>
              </a:spcBef>
              <a:spcAft>
                <a:spcPts val="0"/>
              </a:spcAft>
              <a:buSzPts val="1698"/>
              <a:buNone/>
            </a:pPr>
            <a:r>
              <a:rPr lang="en-US" sz="2497"/>
              <a:t>The ERP system may have been developed perfectly, but its true effectiveness can only be realized if users understand the organizations’ goals, processes and have technical know-how to operate the ERP. </a:t>
            </a:r>
            <a:endParaRPr/>
          </a:p>
          <a:p>
            <a:pPr marL="365760" lvl="0" indent="-256032" algn="just" rtl="0">
              <a:lnSpc>
                <a:spcPct val="90000"/>
              </a:lnSpc>
              <a:spcBef>
                <a:spcPts val="400"/>
              </a:spcBef>
              <a:spcAft>
                <a:spcPts val="0"/>
              </a:spcAft>
              <a:buSzPts val="1698"/>
              <a:buNone/>
            </a:pPr>
            <a:endParaRPr sz="2497"/>
          </a:p>
          <a:p>
            <a:pPr marL="365760" lvl="0" indent="-256032" algn="just" rtl="0">
              <a:lnSpc>
                <a:spcPct val="90000"/>
              </a:lnSpc>
              <a:spcBef>
                <a:spcPts val="400"/>
              </a:spcBef>
              <a:spcAft>
                <a:spcPts val="0"/>
              </a:spcAft>
              <a:buSzPts val="1698"/>
              <a:buNone/>
            </a:pPr>
            <a:r>
              <a:rPr lang="en-US" sz="2497"/>
              <a:t>5. Losses due to external factors: </a:t>
            </a:r>
            <a:endParaRPr/>
          </a:p>
          <a:p>
            <a:pPr marL="365760" lvl="0" indent="-256032" algn="just" rtl="0">
              <a:lnSpc>
                <a:spcPct val="90000"/>
              </a:lnSpc>
              <a:spcBef>
                <a:spcPts val="400"/>
              </a:spcBef>
              <a:spcAft>
                <a:spcPts val="0"/>
              </a:spcAft>
              <a:buSzPts val="1698"/>
              <a:buNone/>
            </a:pPr>
            <a:r>
              <a:rPr lang="en-US" sz="2497"/>
              <a:t>Losses might result from external market conditions. These might be misinterpreted as improper functioning of ERP. </a:t>
            </a:r>
            <a:endParaRPr/>
          </a:p>
          <a:p>
            <a:pPr marL="365760" lvl="0" indent="-256032" algn="just" rtl="0">
              <a:lnSpc>
                <a:spcPct val="90000"/>
              </a:lnSpc>
              <a:spcBef>
                <a:spcPts val="400"/>
              </a:spcBef>
              <a:spcAft>
                <a:spcPts val="0"/>
              </a:spcAft>
              <a:buSzPts val="1698"/>
              <a:buNone/>
            </a:pPr>
            <a:endParaRPr sz="2497"/>
          </a:p>
          <a:p>
            <a:pPr marL="365760" lvl="0" indent="-256032" algn="just" rtl="0">
              <a:lnSpc>
                <a:spcPct val="90000"/>
              </a:lnSpc>
              <a:spcBef>
                <a:spcPts val="400"/>
              </a:spcBef>
              <a:spcAft>
                <a:spcPts val="0"/>
              </a:spcAft>
              <a:buSzPts val="1698"/>
              <a:buNone/>
            </a:pPr>
            <a:endParaRPr sz="2497"/>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361"/>
        <p:cNvGrpSpPr/>
        <p:nvPr/>
      </p:nvGrpSpPr>
      <p:grpSpPr>
        <a:xfrm>
          <a:off x="0" y="0"/>
          <a:ext cx="0" cy="0"/>
          <a:chOff x="0" y="0"/>
          <a:chExt cx="0" cy="0"/>
        </a:xfrm>
      </p:grpSpPr>
      <p:sp>
        <p:nvSpPr>
          <p:cNvPr id="1362" name="Google Shape;1362;p178"/>
          <p:cNvSpPr txBox="1">
            <a:spLocks noGrp="1"/>
          </p:cNvSpPr>
          <p:nvPr>
            <p:ph type="body" idx="1"/>
          </p:nvPr>
        </p:nvSpPr>
        <p:spPr>
          <a:xfrm>
            <a:off x="457200" y="1481328"/>
            <a:ext cx="8229600" cy="4995672"/>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None/>
            </a:pPr>
            <a:r>
              <a:rPr lang="en-US"/>
              <a:t>1. </a:t>
            </a:r>
            <a:r>
              <a:rPr lang="en-US" b="1"/>
              <a:t>Lack of Clarity on functional Requirements: </a:t>
            </a:r>
            <a:endParaRPr/>
          </a:p>
          <a:p>
            <a:pPr marL="365760" lvl="0" indent="-256032" algn="just" rtl="0">
              <a:spcBef>
                <a:spcPts val="400"/>
              </a:spcBef>
              <a:spcAft>
                <a:spcPts val="0"/>
              </a:spcAft>
              <a:buSzPts val="1836"/>
              <a:buChar char="🞂"/>
            </a:pPr>
            <a:r>
              <a:rPr lang="en-US"/>
              <a:t>Desired functionalities are often not communicated well. </a:t>
            </a:r>
            <a:endParaRPr/>
          </a:p>
          <a:p>
            <a:pPr marL="365760" lvl="0" indent="-256032" algn="just" rtl="0">
              <a:spcBef>
                <a:spcPts val="400"/>
              </a:spcBef>
              <a:spcAft>
                <a:spcPts val="0"/>
              </a:spcAft>
              <a:buSzPts val="1836"/>
              <a:buChar char="🞂"/>
            </a:pPr>
            <a:r>
              <a:rPr lang="en-US"/>
              <a:t>Sometimes the buyers of the ERP themselves are unsure of what they are looking for. </a:t>
            </a:r>
            <a:endParaRPr/>
          </a:p>
          <a:p>
            <a:pPr marL="365760" lvl="0" indent="-256032" algn="just" rtl="0">
              <a:spcBef>
                <a:spcPts val="400"/>
              </a:spcBef>
              <a:spcAft>
                <a:spcPts val="0"/>
              </a:spcAft>
              <a:buSzPts val="1836"/>
              <a:buChar char="🞂"/>
            </a:pPr>
            <a:r>
              <a:rPr lang="en-US"/>
              <a:t>Requirement gathering tools and techniques such as prototyping, use-cases, JAD, meetings and interviews should be used.</a:t>
            </a:r>
            <a:endParaRPr/>
          </a:p>
          <a:p>
            <a:pPr marL="365760" lvl="0" indent="-256032" algn="just" rtl="0">
              <a:spcBef>
                <a:spcPts val="400"/>
              </a:spcBef>
              <a:spcAft>
                <a:spcPts val="0"/>
              </a:spcAft>
              <a:buSzPts val="1836"/>
              <a:buChar char="🞂"/>
            </a:pPr>
            <a:r>
              <a:rPr lang="en-US"/>
              <a:t>Without a clear idea of objectives, the software created/installed will likely be misaligned with the businesses goals. </a:t>
            </a:r>
            <a:endParaRPr/>
          </a:p>
        </p:txBody>
      </p:sp>
      <p:sp>
        <p:nvSpPr>
          <p:cNvPr id="1363" name="Google Shape;1363;p1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Causes Of ERP’s Failure</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17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Waste Management, a garbage disposal giant, is embroiled in a $100 million legal battle with SAP since 2008 to date (2012). </a:t>
            </a:r>
            <a:endParaRPr/>
          </a:p>
          <a:p>
            <a:pPr marL="365760" lvl="0" indent="-256032" algn="just" rtl="0">
              <a:spcBef>
                <a:spcPts val="400"/>
              </a:spcBef>
              <a:spcAft>
                <a:spcPts val="0"/>
              </a:spcAft>
              <a:buSzPts val="1836"/>
              <a:buChar char="🞂"/>
            </a:pPr>
            <a:r>
              <a:rPr lang="en-US"/>
              <a:t>Waste Management sued SAP for indulging in misleading sales schemes that resulted in failure. SAP shot back, saying that Waste Management had violated the contractual agreement on many occasions including </a:t>
            </a:r>
            <a:r>
              <a:rPr lang="en-US" u="sng"/>
              <a:t>failure to provide well defined requirements</a:t>
            </a:r>
            <a:r>
              <a:rPr lang="en-US"/>
              <a:t>. </a:t>
            </a:r>
            <a:endParaRPr/>
          </a:p>
        </p:txBody>
      </p:sp>
      <p:sp>
        <p:nvSpPr>
          <p:cNvPr id="1369" name="Google Shape;1369;p1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An example</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373"/>
        <p:cNvGrpSpPr/>
        <p:nvPr/>
      </p:nvGrpSpPr>
      <p:grpSpPr>
        <a:xfrm>
          <a:off x="0" y="0"/>
          <a:ext cx="0" cy="0"/>
          <a:chOff x="0" y="0"/>
          <a:chExt cx="0" cy="0"/>
        </a:xfrm>
      </p:grpSpPr>
      <p:sp>
        <p:nvSpPr>
          <p:cNvPr id="1374" name="Google Shape;1374;p18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Top management, although often being the ones deciding to implement an ERP, are seldom aware of the scale and technicalities of the project. </a:t>
            </a:r>
            <a:endParaRPr/>
          </a:p>
          <a:p>
            <a:pPr marL="365760" lvl="0" indent="-256032" algn="just" rtl="0">
              <a:spcBef>
                <a:spcPts val="400"/>
              </a:spcBef>
              <a:spcAft>
                <a:spcPts val="0"/>
              </a:spcAft>
              <a:buSzPts val="1836"/>
              <a:buChar char="🞂"/>
            </a:pPr>
            <a:r>
              <a:rPr lang="en-US"/>
              <a:t>The lack of knowledge results in lack of commitment. This results in a dearth of resources as well as time for ERP implementations. </a:t>
            </a:r>
            <a:endParaRPr/>
          </a:p>
          <a:p>
            <a:pPr marL="365760" lvl="0" indent="-256032" algn="just" rtl="0">
              <a:spcBef>
                <a:spcPts val="400"/>
              </a:spcBef>
              <a:spcAft>
                <a:spcPts val="0"/>
              </a:spcAft>
              <a:buSzPts val="1836"/>
              <a:buChar char="🞂"/>
            </a:pPr>
            <a:r>
              <a:rPr lang="en-US"/>
              <a:t>Without sufficient resources the ERP project is doomed for failure. </a:t>
            </a:r>
            <a:endParaRPr/>
          </a:p>
        </p:txBody>
      </p:sp>
      <p:sp>
        <p:nvSpPr>
          <p:cNvPr id="1375" name="Google Shape;1375;p1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800"/>
              <a:buFont typeface="Lucida Sans"/>
              <a:buNone/>
            </a:pPr>
            <a:r>
              <a:rPr lang="en-US" sz="2800"/>
              <a:t>2. Lack of commitment from management: </a:t>
            </a:r>
            <a:endParaRPr sz="280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379"/>
        <p:cNvGrpSpPr/>
        <p:nvPr/>
      </p:nvGrpSpPr>
      <p:grpSpPr>
        <a:xfrm>
          <a:off x="0" y="0"/>
          <a:ext cx="0" cy="0"/>
          <a:chOff x="0" y="0"/>
          <a:chExt cx="0" cy="0"/>
        </a:xfrm>
      </p:grpSpPr>
      <p:sp>
        <p:nvSpPr>
          <p:cNvPr id="1380" name="Google Shape;1380;p18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most successful ERP projects are led by a member of the management team who has actively participated in the both the software selection and implementation efforts.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At times lower levels of management are seconded to projects but these persons normally lack the power to make crucial decisions hence the high failure rates associated with the rollout of ERPs.</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18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All users of the ERP system should be well trained. </a:t>
            </a:r>
            <a:endParaRPr/>
          </a:p>
          <a:p>
            <a:pPr marL="365760" lvl="0" indent="-256032" algn="just" rtl="0">
              <a:spcBef>
                <a:spcPts val="400"/>
              </a:spcBef>
              <a:spcAft>
                <a:spcPts val="0"/>
              </a:spcAft>
              <a:buSzPts val="1836"/>
              <a:buChar char="🞂"/>
            </a:pPr>
            <a:r>
              <a:rPr lang="en-US"/>
              <a:t>Users should be aware of all aspects of the system. Interactions with the supplier implementation team should be encouraged. </a:t>
            </a:r>
            <a:endParaRPr/>
          </a:p>
          <a:p>
            <a:pPr marL="365760" lvl="0" indent="-139446" algn="just" rtl="0">
              <a:spcBef>
                <a:spcPts val="400"/>
              </a:spcBef>
              <a:spcAft>
                <a:spcPts val="0"/>
              </a:spcAft>
              <a:buSzPts val="1836"/>
              <a:buNone/>
            </a:pPr>
            <a:endParaRPr/>
          </a:p>
        </p:txBody>
      </p:sp>
      <p:sp>
        <p:nvSpPr>
          <p:cNvPr id="1386" name="Google Shape;1386;p1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3. Inadequate Training </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1" name="Google Shape;1391;p183"/>
          <p:cNvSpPr txBox="1">
            <a:spLocks noGrp="1"/>
          </p:cNvSpPr>
          <p:nvPr>
            <p:ph type="body" idx="1"/>
          </p:nvPr>
        </p:nvSpPr>
        <p:spPr>
          <a:xfrm>
            <a:off x="457200" y="533400"/>
            <a:ext cx="8229600" cy="60960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698"/>
              <a:buChar char="🞂"/>
            </a:pPr>
            <a:r>
              <a:rPr lang="en-US" sz="2497"/>
              <a:t>Mishandling the ERP implementation causes net incomes to drop at times by as much as 45 percent. In one instance the company involved in one user related failure openly admitted that there was nothing wrong with the ERP software.</a:t>
            </a:r>
            <a:endParaRPr/>
          </a:p>
          <a:p>
            <a:pPr marL="365760" lvl="0" indent="-148211" algn="just" rtl="0">
              <a:spcBef>
                <a:spcPts val="400"/>
              </a:spcBef>
              <a:spcAft>
                <a:spcPts val="0"/>
              </a:spcAft>
              <a:buSzPts val="1698"/>
              <a:buNone/>
            </a:pPr>
            <a:endParaRPr sz="2497"/>
          </a:p>
          <a:p>
            <a:pPr marL="365760" lvl="0" indent="-256032" algn="just" rtl="0">
              <a:spcBef>
                <a:spcPts val="400"/>
              </a:spcBef>
              <a:spcAft>
                <a:spcPts val="0"/>
              </a:spcAft>
              <a:buSzPts val="1698"/>
              <a:buChar char="🞂"/>
            </a:pPr>
            <a:r>
              <a:rPr lang="en-US" sz="2497"/>
              <a:t>They stated that they hadn’t spent enough time training their employees and preparing them for changes related to the ERP. Employees have to be trained; they should be made familiar with the interfaces and functioning of the system. Employees are used to performing isolated tasks, while working on an ERP each task can have significant effects on the entire business process. </a:t>
            </a:r>
            <a:endParaRPr sz="2497"/>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395"/>
        <p:cNvGrpSpPr/>
        <p:nvPr/>
      </p:nvGrpSpPr>
      <p:grpSpPr>
        <a:xfrm>
          <a:off x="0" y="0"/>
          <a:ext cx="0" cy="0"/>
          <a:chOff x="0" y="0"/>
          <a:chExt cx="0" cy="0"/>
        </a:xfrm>
      </p:grpSpPr>
      <p:sp>
        <p:nvSpPr>
          <p:cNvPr id="1396" name="Google Shape;1396;p18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ERPs are sold in packages, i.e. the ERP can be broken into smaller components and each component purchased separately, these components are typically called modules. </a:t>
            </a:r>
            <a:endParaRPr/>
          </a:p>
          <a:p>
            <a:pPr marL="365760" lvl="0" indent="-256032" algn="just" rtl="0">
              <a:lnSpc>
                <a:spcPct val="90000"/>
              </a:lnSpc>
              <a:spcBef>
                <a:spcPts val="400"/>
              </a:spcBef>
              <a:spcAft>
                <a:spcPts val="0"/>
              </a:spcAft>
              <a:buSzPts val="1698"/>
              <a:buChar char="🞂"/>
            </a:pPr>
            <a:r>
              <a:rPr lang="en-US" sz="2497"/>
              <a:t>This allows customization for each implementation. Choosing the correct package is essential. </a:t>
            </a:r>
            <a:endParaRPr/>
          </a:p>
          <a:p>
            <a:pPr marL="365760" lvl="0" indent="-256032" algn="just" rtl="0">
              <a:lnSpc>
                <a:spcPct val="90000"/>
              </a:lnSpc>
              <a:spcBef>
                <a:spcPts val="400"/>
              </a:spcBef>
              <a:spcAft>
                <a:spcPts val="0"/>
              </a:spcAft>
              <a:buSzPts val="1698"/>
              <a:buChar char="🞂"/>
            </a:pPr>
            <a:r>
              <a:rPr lang="en-US" sz="2497"/>
              <a:t>Reasons for improper package selection include lack of knowledge as well as lack of clarity about functional requirements. Sometimes packages are wrongly chosen because the characteristics of the package are not well understood. </a:t>
            </a:r>
            <a:endParaRPr sz="2497"/>
          </a:p>
        </p:txBody>
      </p:sp>
      <p:sp>
        <p:nvSpPr>
          <p:cNvPr id="1397" name="Google Shape;1397;p1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4. Improper package selection </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2" name="Google Shape;1402;p18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time and effort required for complete implementation is often miscalculated. If the expected date of completion is crossed, added costs are incurred.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It is better to exceed the timeline rather than shorten the time required for completion of the project and end up with a system that is erroneous.</a:t>
            </a:r>
            <a:endParaRPr/>
          </a:p>
        </p:txBody>
      </p:sp>
      <p:sp>
        <p:nvSpPr>
          <p:cNvPr id="1403" name="Google Shape;1403;p1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
            </a:r>
            <a:br>
              <a:rPr lang="en-US" sz="3690"/>
            </a:br>
            <a:r>
              <a:rPr lang="en-US" sz="3690"/>
              <a:t>5. Miscalculations &amp; Expectations </a:t>
            </a:r>
            <a:br>
              <a:rPr lang="en-US" sz="3690"/>
            </a:br>
            <a:endParaRPr sz="369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18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Misfits with underlying processes can severely affect ERP performance. </a:t>
            </a:r>
            <a:endParaRPr/>
          </a:p>
          <a:p>
            <a:pPr marL="365760" lvl="0" indent="-256032" algn="just" rtl="0">
              <a:spcBef>
                <a:spcPts val="400"/>
              </a:spcBef>
              <a:spcAft>
                <a:spcPts val="0"/>
              </a:spcAft>
              <a:buSzPts val="1836"/>
              <a:buChar char="🞂"/>
            </a:pPr>
            <a:r>
              <a:rPr lang="en-US"/>
              <a:t>These can be described as gaps between software functions and organizational requirements. </a:t>
            </a:r>
            <a:endParaRPr/>
          </a:p>
          <a:p>
            <a:pPr marL="365760" lvl="0" indent="-256032" algn="just" rtl="0">
              <a:spcBef>
                <a:spcPts val="400"/>
              </a:spcBef>
              <a:spcAft>
                <a:spcPts val="0"/>
              </a:spcAft>
              <a:buSzPts val="1836"/>
              <a:buChar char="🞂"/>
            </a:pPr>
            <a:r>
              <a:rPr lang="en-US"/>
              <a:t>Incompatibility results from poor understanding of underlying processes; both of the ERP as well as of the business. </a:t>
            </a:r>
            <a:endParaRPr/>
          </a:p>
        </p:txBody>
      </p:sp>
      <p:sp>
        <p:nvSpPr>
          <p:cNvPr id="1409" name="Google Shape;1409;p1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800"/>
              <a:buFont typeface="Lucida Sans"/>
              <a:buNone/>
            </a:pPr>
            <a:r>
              <a:rPr lang="en-US" sz="2800"/>
              <a:t/>
            </a:r>
            <a:br>
              <a:rPr lang="en-US" sz="2800"/>
            </a:br>
            <a:r>
              <a:rPr lang="en-US" sz="2800"/>
              <a:t>6. Incompatibility with business processes </a:t>
            </a:r>
            <a:br>
              <a:rPr lang="en-US" sz="2800"/>
            </a:br>
            <a:endParaRPr sz="280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p187"/>
          <p:cNvSpPr txBox="1">
            <a:spLocks noGrp="1"/>
          </p:cNvSpPr>
          <p:nvPr>
            <p:ph type="body" idx="1"/>
          </p:nvPr>
        </p:nvSpPr>
        <p:spPr>
          <a:xfrm>
            <a:off x="457200" y="1307909"/>
            <a:ext cx="8229600" cy="5626291"/>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factors common to all the reasons stated is lack of knowledge or awareness. This aspect often leads to failure. Management being unaware of ERP implications and hence, lack of commitment, unjustly cut resources/schedules/training efforts. </a:t>
            </a:r>
            <a:endParaRPr/>
          </a:p>
          <a:p>
            <a:pPr marL="365760" lvl="0" indent="-256032" algn="just" rtl="0">
              <a:spcBef>
                <a:spcPts val="400"/>
              </a:spcBef>
              <a:spcAft>
                <a:spcPts val="0"/>
              </a:spcAft>
              <a:buSzPts val="1836"/>
              <a:buChar char="🞂"/>
            </a:pPr>
            <a:r>
              <a:rPr lang="en-US"/>
              <a:t>Unawareness of what packages are suitable and unreasonable expectations result. This reference to knowledge can lead to many incorrect decisions; companies often resort to unnecessary cost cutting to save costs. Schedules are often shortened to reduce expenses. </a:t>
            </a:r>
            <a:endParaRPr/>
          </a:p>
        </p:txBody>
      </p:sp>
      <p:sp>
        <p:nvSpPr>
          <p:cNvPr id="1415" name="Google Shape;1415;p1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Generally ..</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419"/>
        <p:cNvGrpSpPr/>
        <p:nvPr/>
      </p:nvGrpSpPr>
      <p:grpSpPr>
        <a:xfrm>
          <a:off x="0" y="0"/>
          <a:ext cx="0" cy="0"/>
          <a:chOff x="0" y="0"/>
          <a:chExt cx="0" cy="0"/>
        </a:xfrm>
      </p:grpSpPr>
      <p:sp>
        <p:nvSpPr>
          <p:cNvPr id="1420" name="Google Shape;1420;p18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ERP implementation usually necessitates significant changes to business processes as well as employee attitudes.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An ERP can change not just technical aspects but also the objective of an organization.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Failure to change is very often the primary cause of ERP failure. </a:t>
            </a:r>
            <a:endParaRPr/>
          </a:p>
        </p:txBody>
      </p:sp>
      <p:sp>
        <p:nvSpPr>
          <p:cNvPr id="1421" name="Google Shape;1421;p1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Reluctance to Change as a Cause of ERP Failure </a:t>
            </a:r>
            <a:endParaRPr sz="369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6" name="Google Shape;1426;p18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Change management has a crucial role to play and should be incorporated in the early stages of ERP planning.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Change management seeks to lower the risks associated with ERP projects. </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p190"/>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698"/>
              <a:buChar char="🞂"/>
            </a:pPr>
            <a:r>
              <a:rPr lang="en-US" sz="2497"/>
              <a:t>Attitudinal changes are crucial for an ERP implementation. Resistance to change is a natural human tendency; additionally employees often view ERP implementations negatively. </a:t>
            </a:r>
            <a:endParaRPr/>
          </a:p>
          <a:p>
            <a:pPr marL="365760" lvl="0" indent="-256032" algn="just" rtl="0">
              <a:spcBef>
                <a:spcPts val="400"/>
              </a:spcBef>
              <a:spcAft>
                <a:spcPts val="0"/>
              </a:spcAft>
              <a:buSzPts val="1698"/>
              <a:buChar char="🞂"/>
            </a:pPr>
            <a:r>
              <a:rPr lang="en-US" sz="2497"/>
              <a:t>An ERP automates many processes this invariably causes loss of jobs. Top management has an important role to play. They must strongly and unequivocally support the ERP project. </a:t>
            </a:r>
            <a:endParaRPr/>
          </a:p>
          <a:p>
            <a:pPr marL="365760" lvl="0" indent="-256032" algn="just" rtl="0">
              <a:spcBef>
                <a:spcPts val="400"/>
              </a:spcBef>
              <a:spcAft>
                <a:spcPts val="0"/>
              </a:spcAft>
              <a:buSzPts val="1698"/>
              <a:buChar char="🞂"/>
            </a:pPr>
            <a:r>
              <a:rPr lang="en-US" sz="2497"/>
              <a:t>A perfunctory attitude from top management often spreads throughout the organization and affects the general attitude of the organization. </a:t>
            </a:r>
            <a:endParaRPr/>
          </a:p>
          <a:p>
            <a:pPr marL="365760" lvl="0" indent="-256032" algn="just" rtl="0">
              <a:spcBef>
                <a:spcPts val="400"/>
              </a:spcBef>
              <a:spcAft>
                <a:spcPts val="0"/>
              </a:spcAft>
              <a:buSzPts val="1698"/>
              <a:buChar char="🞂"/>
            </a:pPr>
            <a:r>
              <a:rPr lang="en-US" sz="2497"/>
              <a:t>The project should be strongly supported and the benefits of the project stressed upon. </a:t>
            </a:r>
            <a:endParaRPr sz="2497"/>
          </a:p>
        </p:txBody>
      </p:sp>
      <p:sp>
        <p:nvSpPr>
          <p:cNvPr id="1432" name="Google Shape;1432;p19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
            </a:r>
            <a:br>
              <a:rPr lang="en-US" sz="3690"/>
            </a:br>
            <a:r>
              <a:rPr lang="en-US" sz="3690"/>
              <a:t>Changes in employee attitude</a:t>
            </a:r>
            <a:endParaRPr sz="369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sp>
        <p:nvSpPr>
          <p:cNvPr id="1437" name="Google Shape;1437;p191"/>
          <p:cNvSpPr txBox="1">
            <a:spLocks noGrp="1"/>
          </p:cNvSpPr>
          <p:nvPr>
            <p:ph type="body" idx="1"/>
          </p:nvPr>
        </p:nvSpPr>
        <p:spPr>
          <a:xfrm>
            <a:off x="457200" y="381000"/>
            <a:ext cx="8229600" cy="6324600"/>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Employees should be closely involved in the project, their inputs and suggestions should be duly noted. </a:t>
            </a:r>
            <a:endParaRPr/>
          </a:p>
          <a:p>
            <a:pPr marL="365760" lvl="0" indent="-256032" algn="just" rtl="0">
              <a:lnSpc>
                <a:spcPct val="90000"/>
              </a:lnSpc>
              <a:spcBef>
                <a:spcPts val="400"/>
              </a:spcBef>
              <a:spcAft>
                <a:spcPts val="0"/>
              </a:spcAft>
              <a:buSzPts val="1836"/>
              <a:buChar char="🞂"/>
            </a:pPr>
            <a:r>
              <a:rPr lang="en-US"/>
              <a:t>There are also changes to an employee’s working environment. Old jobs may be given new definitions. </a:t>
            </a:r>
            <a:endParaRPr/>
          </a:p>
          <a:p>
            <a:pPr marL="365760" lvl="0" indent="-256032" algn="just" rtl="0">
              <a:lnSpc>
                <a:spcPct val="90000"/>
              </a:lnSpc>
              <a:spcBef>
                <a:spcPts val="400"/>
              </a:spcBef>
              <a:spcAft>
                <a:spcPts val="0"/>
              </a:spcAft>
              <a:buSzPts val="1836"/>
              <a:buChar char="🞂"/>
            </a:pPr>
            <a:r>
              <a:rPr lang="en-US"/>
              <a:t>An employee’s task are no longer isolated they are part of a process. His or her actions can affect the entire process and each process can affect other processes. The employee now has a much greater responsibility; his approach must be process oriented instead of task oriented. </a:t>
            </a:r>
            <a:endParaRPr/>
          </a:p>
          <a:p>
            <a:pPr marL="365760" lvl="0" indent="-256032" algn="just" rtl="0">
              <a:lnSpc>
                <a:spcPct val="90000"/>
              </a:lnSpc>
              <a:spcBef>
                <a:spcPts val="400"/>
              </a:spcBef>
              <a:spcAft>
                <a:spcPts val="0"/>
              </a:spcAft>
              <a:buSzPts val="1836"/>
              <a:buChar char="🞂"/>
            </a:pPr>
            <a:r>
              <a:rPr lang="en-US"/>
              <a:t>Groups are formed around processes; employees must learn to work in groups. </a:t>
            </a:r>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192"/>
          <p:cNvSpPr txBox="1">
            <a:spLocks noGrp="1"/>
          </p:cNvSpPr>
          <p:nvPr>
            <p:ph type="body" idx="1"/>
          </p:nvPr>
        </p:nvSpPr>
        <p:spPr>
          <a:xfrm>
            <a:off x="457200" y="304800"/>
            <a:ext cx="8229600" cy="5702491"/>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ERP system changes the way information flows in an organization. Managers must get used to receiving analysis/charts/data from the system. </a:t>
            </a:r>
            <a:endParaRPr/>
          </a:p>
          <a:p>
            <a:pPr marL="365760" lvl="0" indent="-256032" algn="just" rtl="0">
              <a:spcBef>
                <a:spcPts val="400"/>
              </a:spcBef>
              <a:spcAft>
                <a:spcPts val="0"/>
              </a:spcAft>
              <a:buSzPts val="1836"/>
              <a:buChar char="🞂"/>
            </a:pPr>
            <a:r>
              <a:rPr lang="en-US"/>
              <a:t>Many managers are often sceptical of data generated by a machine. An ERP implementation cannot be successful without proper support from employees. </a:t>
            </a:r>
            <a:endParaRPr/>
          </a:p>
          <a:p>
            <a:pPr marL="365760" lvl="0" indent="-256032" algn="just" rtl="0">
              <a:spcBef>
                <a:spcPts val="400"/>
              </a:spcBef>
              <a:spcAft>
                <a:spcPts val="0"/>
              </a:spcAft>
              <a:buSzPts val="1836"/>
              <a:buChar char="🞂"/>
            </a:pPr>
            <a:r>
              <a:rPr lang="en-US"/>
              <a:t>They must be taught not just how to use the system but the implication of their actions.</a:t>
            </a:r>
            <a:endParaRPr/>
          </a:p>
          <a:p>
            <a:pPr marL="365760" lvl="0" indent="-256032" algn="just" rtl="0">
              <a:spcBef>
                <a:spcPts val="400"/>
              </a:spcBef>
              <a:spcAft>
                <a:spcPts val="0"/>
              </a:spcAft>
              <a:buSzPts val="1836"/>
              <a:buChar char="🞂"/>
            </a:pPr>
            <a:r>
              <a:rPr lang="en-US"/>
              <a:t>They must be made to realize how the ERP system will help the organization achieve its goals. </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sp>
        <p:nvSpPr>
          <p:cNvPr id="1447" name="Google Shape;1447;p193"/>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lnSpc>
                <a:spcPct val="80000"/>
              </a:lnSpc>
              <a:spcBef>
                <a:spcPts val="0"/>
              </a:spcBef>
              <a:spcAft>
                <a:spcPts val="0"/>
              </a:spcAft>
              <a:buSzPts val="1698"/>
              <a:buChar char="🞂"/>
            </a:pPr>
            <a:r>
              <a:rPr lang="en-US" sz="2497"/>
              <a:t>A process is a set of activities that lead to the creation of some value. It is composed of tasks and activities, each having its own inputs and outputs. Processes can often be broken down into smaller processes having goals, needs and feedback. </a:t>
            </a:r>
            <a:endParaRPr/>
          </a:p>
          <a:p>
            <a:pPr marL="365760" lvl="0" indent="-256032" algn="just" rtl="0">
              <a:lnSpc>
                <a:spcPct val="80000"/>
              </a:lnSpc>
              <a:spcBef>
                <a:spcPts val="400"/>
              </a:spcBef>
              <a:spcAft>
                <a:spcPts val="0"/>
              </a:spcAft>
              <a:buSzPts val="1698"/>
              <a:buChar char="🞂"/>
            </a:pPr>
            <a:r>
              <a:rPr lang="en-US" sz="2497"/>
              <a:t>Initially processes were isolated and served as stand-alone units. This resulted in poor quality and high costs. Today, however, processes often cut across various departments or functional areas. Reengineering of processes has been continual. The importance of continuously improving processes has been recognized by organizations, governments, and military. </a:t>
            </a:r>
            <a:endParaRPr/>
          </a:p>
          <a:p>
            <a:pPr marL="365760" lvl="0" indent="-256032" algn="just" rtl="0">
              <a:lnSpc>
                <a:spcPct val="80000"/>
              </a:lnSpc>
              <a:spcBef>
                <a:spcPts val="400"/>
              </a:spcBef>
              <a:spcAft>
                <a:spcPts val="0"/>
              </a:spcAft>
              <a:buSzPts val="1698"/>
              <a:buChar char="🞂"/>
            </a:pPr>
            <a:r>
              <a:rPr lang="en-US" sz="2497"/>
              <a:t>It is clear that ERPs integrate various processes </a:t>
            </a:r>
            <a:r>
              <a:rPr lang="en-US" sz="2497">
                <a:solidFill>
                  <a:schemeClr val="lt1"/>
                </a:solidFill>
              </a:rPr>
              <a:t>......................</a:t>
            </a:r>
            <a:r>
              <a:rPr lang="en-US" sz="2497"/>
              <a:t>using IT. </a:t>
            </a:r>
            <a:endParaRPr sz="2497"/>
          </a:p>
        </p:txBody>
      </p:sp>
      <p:sp>
        <p:nvSpPr>
          <p:cNvPr id="1448" name="Google Shape;1448;p19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
            </a:r>
            <a:br>
              <a:rPr lang="en-US" sz="3690"/>
            </a:br>
            <a:r>
              <a:rPr lang="en-US" sz="3690"/>
              <a:t>Changes to Business processes </a:t>
            </a:r>
            <a:endParaRPr sz="369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452"/>
        <p:cNvGrpSpPr/>
        <p:nvPr/>
      </p:nvGrpSpPr>
      <p:grpSpPr>
        <a:xfrm>
          <a:off x="0" y="0"/>
          <a:ext cx="0" cy="0"/>
          <a:chOff x="0" y="0"/>
          <a:chExt cx="0" cy="0"/>
        </a:xfrm>
      </p:grpSpPr>
      <p:sp>
        <p:nvSpPr>
          <p:cNvPr id="1453" name="Google Shape;1453;p194"/>
          <p:cNvSpPr txBox="1">
            <a:spLocks noGrp="1"/>
          </p:cNvSpPr>
          <p:nvPr>
            <p:ph type="body" idx="1"/>
          </p:nvPr>
        </p:nvSpPr>
        <p:spPr>
          <a:xfrm>
            <a:off x="457200" y="381000"/>
            <a:ext cx="8229600" cy="64770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An ERP is built to automate business processes. It must be understood that if the processes themselves are not optimal, the ERP system cannot be. </a:t>
            </a:r>
            <a:endParaRPr/>
          </a:p>
          <a:p>
            <a:pPr marL="365760" lvl="0" indent="-256032" algn="just" rtl="0">
              <a:spcBef>
                <a:spcPts val="400"/>
              </a:spcBef>
              <a:spcAft>
                <a:spcPts val="0"/>
              </a:spcAft>
              <a:buSzPts val="1836"/>
              <a:buChar char="🞂"/>
            </a:pPr>
            <a:r>
              <a:rPr lang="en-US"/>
              <a:t>Surveys have shown that most of the key people in successful ERP implementations believe that process change or management is not just crucial but necessary. </a:t>
            </a:r>
            <a:endParaRPr/>
          </a:p>
          <a:p>
            <a:pPr marL="365760" lvl="0" indent="-256032" algn="just" rtl="0">
              <a:spcBef>
                <a:spcPts val="400"/>
              </a:spcBef>
              <a:spcAft>
                <a:spcPts val="0"/>
              </a:spcAft>
              <a:buSzPts val="1836"/>
              <a:buChar char="🞂"/>
            </a:pPr>
            <a:r>
              <a:rPr lang="en-US"/>
              <a:t>Process management and ERP complement each other. Processes can often make or break an ERP. </a:t>
            </a:r>
            <a:endParaRPr/>
          </a:p>
          <a:p>
            <a:pPr marL="365760" lvl="0" indent="-256032" algn="just" rtl="0">
              <a:spcBef>
                <a:spcPts val="400"/>
              </a:spcBef>
              <a:spcAft>
                <a:spcPts val="0"/>
              </a:spcAft>
              <a:buSzPts val="1836"/>
              <a:buChar char="🞂"/>
            </a:pPr>
            <a:r>
              <a:rPr lang="en-US"/>
              <a:t>Due attention should be paid to processes and their relation with ERPs before and after implementation should be analyzed. </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457"/>
        <p:cNvGrpSpPr/>
        <p:nvPr/>
      </p:nvGrpSpPr>
      <p:grpSpPr>
        <a:xfrm>
          <a:off x="0" y="0"/>
          <a:ext cx="0" cy="0"/>
          <a:chOff x="0" y="0"/>
          <a:chExt cx="0" cy="0"/>
        </a:xfrm>
      </p:grpSpPr>
      <p:sp>
        <p:nvSpPr>
          <p:cNvPr id="1458" name="Google Shape;1458;p195"/>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1: Initiate planning and gather requirements.</a:t>
            </a:r>
            <a:endParaRPr/>
          </a:p>
          <a:p>
            <a:pPr marL="365760" lvl="0" indent="-256032" algn="just" rtl="0">
              <a:spcBef>
                <a:spcPts val="400"/>
              </a:spcBef>
              <a:spcAft>
                <a:spcPts val="0"/>
              </a:spcAft>
              <a:buSzPts val="1836"/>
              <a:buNone/>
            </a:pPr>
            <a:r>
              <a:rPr lang="en-US"/>
              <a:t>2: Define test goals and select appropriate tests.</a:t>
            </a:r>
            <a:endParaRPr/>
          </a:p>
          <a:p>
            <a:pPr marL="365760" lvl="0" indent="-256032" algn="just" rtl="0">
              <a:spcBef>
                <a:spcPts val="400"/>
              </a:spcBef>
              <a:spcAft>
                <a:spcPts val="0"/>
              </a:spcAft>
              <a:buSzPts val="1836"/>
              <a:buNone/>
            </a:pPr>
            <a:r>
              <a:rPr lang="en-US"/>
              <a:t>3: Define objectives to meet testing goals.</a:t>
            </a:r>
            <a:endParaRPr/>
          </a:p>
          <a:p>
            <a:pPr marL="365760" lvl="0" indent="-256032" algn="just" rtl="0">
              <a:spcBef>
                <a:spcPts val="400"/>
              </a:spcBef>
              <a:spcAft>
                <a:spcPts val="0"/>
              </a:spcAft>
              <a:buSzPts val="1836"/>
              <a:buNone/>
            </a:pPr>
            <a:r>
              <a:rPr lang="en-US"/>
              <a:t>4: Identify functionality test cases.</a:t>
            </a:r>
            <a:endParaRPr/>
          </a:p>
          <a:p>
            <a:pPr marL="365760" lvl="0" indent="-256032" algn="just" rtl="0">
              <a:spcBef>
                <a:spcPts val="400"/>
              </a:spcBef>
              <a:spcAft>
                <a:spcPts val="0"/>
              </a:spcAft>
              <a:buSzPts val="1836"/>
              <a:buNone/>
            </a:pPr>
            <a:r>
              <a:rPr lang="en-US"/>
              <a:t>5: Document key business processes.</a:t>
            </a:r>
            <a:endParaRPr/>
          </a:p>
          <a:p>
            <a:pPr marL="365760" lvl="0" indent="-256032" algn="just" rtl="0">
              <a:spcBef>
                <a:spcPts val="400"/>
              </a:spcBef>
              <a:spcAft>
                <a:spcPts val="0"/>
              </a:spcAft>
              <a:buSzPts val="1836"/>
              <a:buNone/>
            </a:pPr>
            <a:r>
              <a:rPr lang="en-US"/>
              <a:t>6: Develop modular test components.</a:t>
            </a:r>
            <a:endParaRPr/>
          </a:p>
          <a:p>
            <a:pPr marL="365760" lvl="0" indent="-256032" algn="just" rtl="0">
              <a:spcBef>
                <a:spcPts val="400"/>
              </a:spcBef>
              <a:spcAft>
                <a:spcPts val="0"/>
              </a:spcAft>
              <a:buSzPts val="1836"/>
              <a:buNone/>
            </a:pPr>
            <a:r>
              <a:rPr lang="en-US"/>
              <a:t>7: Set up a test lab.</a:t>
            </a:r>
            <a:endParaRPr/>
          </a:p>
          <a:p>
            <a:pPr marL="365760" lvl="0" indent="-256032" algn="just" rtl="0">
              <a:spcBef>
                <a:spcPts val="400"/>
              </a:spcBef>
              <a:spcAft>
                <a:spcPts val="0"/>
              </a:spcAft>
              <a:buSzPts val="1836"/>
              <a:buNone/>
            </a:pPr>
            <a:r>
              <a:rPr lang="en-US"/>
              <a:t>8: Understand and leverage the “smoke test.”</a:t>
            </a:r>
            <a:endParaRPr/>
          </a:p>
          <a:p>
            <a:pPr marL="365760" lvl="0" indent="-256032" algn="just" rtl="0">
              <a:spcBef>
                <a:spcPts val="400"/>
              </a:spcBef>
              <a:spcAft>
                <a:spcPts val="0"/>
              </a:spcAft>
              <a:buSzPts val="1836"/>
              <a:buNone/>
            </a:pPr>
            <a:r>
              <a:rPr lang="en-US"/>
              <a:t>9: Execute regression tests.</a:t>
            </a:r>
            <a:endParaRPr/>
          </a:p>
          <a:p>
            <a:pPr marL="365760" lvl="0" indent="-256032" algn="just" rtl="0">
              <a:spcBef>
                <a:spcPts val="400"/>
              </a:spcBef>
              <a:spcAft>
                <a:spcPts val="0"/>
              </a:spcAft>
              <a:buSzPts val="1836"/>
              <a:buNone/>
            </a:pPr>
            <a:r>
              <a:rPr lang="en-US"/>
              <a:t>10: Analyze defects and create test reports.</a:t>
            </a:r>
            <a:endParaRPr/>
          </a:p>
        </p:txBody>
      </p:sp>
      <p:sp>
        <p:nvSpPr>
          <p:cNvPr id="1459" name="Google Shape;1459;p1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200"/>
              <a:buFont typeface="Lucida Sans"/>
              <a:buNone/>
            </a:pPr>
            <a:r>
              <a:rPr lang="en-US" sz="3200"/>
              <a:t>HP - ERP System Functionality Testing</a:t>
            </a:r>
            <a:endParaRPr sz="320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196"/>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Planning is one of the most critical stages of functional testing in any environment. This step is even more important with ERP applications because of the complexity of the environment and the intricate business requirements that drive these implementations. </a:t>
            </a:r>
            <a:endParaRPr/>
          </a:p>
          <a:p>
            <a:pPr marL="365760" lvl="0" indent="-256032" algn="just" rtl="0">
              <a:spcBef>
                <a:spcPts val="400"/>
              </a:spcBef>
              <a:spcAft>
                <a:spcPts val="0"/>
              </a:spcAft>
              <a:buSzPts val="1836"/>
              <a:buChar char="🞂"/>
            </a:pPr>
            <a:r>
              <a:rPr lang="en-US"/>
              <a:t>Poor planning can lead to confusing results and inadequate test coverage. Well-devised planning allows for measurement and enhanced testing efforts for greater return on investment (ROI).</a:t>
            </a:r>
            <a:endParaRPr/>
          </a:p>
        </p:txBody>
      </p:sp>
      <p:sp>
        <p:nvSpPr>
          <p:cNvPr id="1465" name="Google Shape;1465;p1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2800"/>
              <a:buFont typeface="Lucida Sans"/>
              <a:buNone/>
            </a:pPr>
            <a:r>
              <a:rPr lang="en-US" sz="2800"/>
              <a:t>1: Initiate planning and gather requirements.</a:t>
            </a:r>
            <a:endParaRPr sz="280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sp>
        <p:nvSpPr>
          <p:cNvPr id="1470" name="Google Shape;1470;p197"/>
          <p:cNvSpPr txBox="1">
            <a:spLocks noGrp="1"/>
          </p:cNvSpPr>
          <p:nvPr>
            <p:ph type="body" idx="1"/>
          </p:nvPr>
        </p:nvSpPr>
        <p:spPr>
          <a:xfrm>
            <a:off x="457200" y="304800"/>
            <a:ext cx="8229600" cy="63246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698"/>
              <a:buChar char="🞂"/>
            </a:pPr>
            <a:r>
              <a:rPr lang="en-US" sz="2497"/>
              <a:t>Many companies purchase pre-packaged ERP solutions to allow for quick integration of all areas of business administration. </a:t>
            </a:r>
            <a:endParaRPr/>
          </a:p>
          <a:p>
            <a:pPr marL="365760" lvl="0" indent="-256032" algn="just" rtl="0">
              <a:spcBef>
                <a:spcPts val="400"/>
              </a:spcBef>
              <a:spcAft>
                <a:spcPts val="0"/>
              </a:spcAft>
              <a:buSzPts val="1698"/>
              <a:buChar char="🞂"/>
            </a:pPr>
            <a:r>
              <a:rPr lang="en-US" sz="2497"/>
              <a:t>However, an organisation should not deploy an ERP package without first customizing it to the business. It is important to first know the business’s requirements since these are typically used to develop customized ERP applications, to test the system and its customizations, and to obtain final sign-off. </a:t>
            </a:r>
            <a:endParaRPr/>
          </a:p>
          <a:p>
            <a:pPr marL="365760" lvl="0" indent="-256032" algn="just" rtl="0">
              <a:spcBef>
                <a:spcPts val="400"/>
              </a:spcBef>
              <a:spcAft>
                <a:spcPts val="0"/>
              </a:spcAft>
              <a:buSzPts val="1698"/>
              <a:buChar char="🞂"/>
            </a:pPr>
            <a:r>
              <a:rPr lang="en-US" sz="2497"/>
              <a:t>By carefully defining these requirements in the beginning, better planning and management can be done to test how needs are met. The requirements can then be linked to the tests and actual test results (identified defects) to provide complete functional testing coverage.</a:t>
            </a:r>
            <a:endParaRPr sz="2497"/>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474"/>
        <p:cNvGrpSpPr/>
        <p:nvPr/>
      </p:nvGrpSpPr>
      <p:grpSpPr>
        <a:xfrm>
          <a:off x="0" y="0"/>
          <a:ext cx="0" cy="0"/>
          <a:chOff x="0" y="0"/>
          <a:chExt cx="0" cy="0"/>
        </a:xfrm>
      </p:grpSpPr>
      <p:sp>
        <p:nvSpPr>
          <p:cNvPr id="1475" name="Google Shape;1475;p19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By creating primary testing goals, it is possible to determine the particular type of testing that is required. </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It is then possible to also generate test objectives, project plans and team structure from these goals.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Areas to focus on include:</a:t>
            </a:r>
            <a:endParaRPr/>
          </a:p>
          <a:p>
            <a:pPr marL="365760" lvl="0" indent="-139446" algn="just" rtl="0">
              <a:spcBef>
                <a:spcPts val="400"/>
              </a:spcBef>
              <a:spcAft>
                <a:spcPts val="0"/>
              </a:spcAft>
              <a:buSzPts val="1836"/>
              <a:buNone/>
            </a:pPr>
            <a:endParaRPr/>
          </a:p>
        </p:txBody>
      </p:sp>
      <p:sp>
        <p:nvSpPr>
          <p:cNvPr id="1476" name="Google Shape;1476;p1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2: Define Test Goals And Select</a:t>
            </a:r>
            <a:br>
              <a:rPr lang="en-US" sz="3690"/>
            </a:br>
            <a:r>
              <a:rPr lang="en-US" sz="3690"/>
              <a:t>Appropriate Tests</a:t>
            </a:r>
            <a:endParaRPr sz="369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sp>
        <p:nvSpPr>
          <p:cNvPr id="1481" name="Google Shape;1481;p199"/>
          <p:cNvSpPr txBox="1">
            <a:spLocks noGrp="1"/>
          </p:cNvSpPr>
          <p:nvPr>
            <p:ph type="body" idx="1"/>
          </p:nvPr>
        </p:nvSpPr>
        <p:spPr>
          <a:xfrm>
            <a:off x="457200" y="1295400"/>
            <a:ext cx="8229600" cy="4711891"/>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b="1"/>
              <a:t>Data mapping: </a:t>
            </a:r>
            <a:r>
              <a:rPr lang="en-US"/>
              <a:t>Since many ERP implementations are tightly integrated with backend legacy systems, it is essential that you test the data mapping between the ERP application and the legacy system. Corrupt or invalid data may be located inside the legacy systems, which could cause display issues in the application.</a:t>
            </a:r>
            <a:endParaRPr/>
          </a:p>
          <a:p>
            <a:pPr marL="365760" lvl="0" indent="-139446" algn="just" rtl="0">
              <a:spcBef>
                <a:spcPts val="400"/>
              </a:spcBef>
              <a:spcAft>
                <a:spcPts val="0"/>
              </a:spcAft>
              <a:buSzPts val="1836"/>
              <a:buNone/>
            </a:pPr>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485"/>
        <p:cNvGrpSpPr/>
        <p:nvPr/>
      </p:nvGrpSpPr>
      <p:grpSpPr>
        <a:xfrm>
          <a:off x="0" y="0"/>
          <a:ext cx="0" cy="0"/>
          <a:chOff x="0" y="0"/>
          <a:chExt cx="0" cy="0"/>
        </a:xfrm>
      </p:grpSpPr>
      <p:sp>
        <p:nvSpPr>
          <p:cNvPr id="1486" name="Google Shape;1486;p20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b="1"/>
              <a:t>Business process tests: </a:t>
            </a:r>
            <a:r>
              <a:rPr lang="en-US"/>
              <a:t>Testing can validate that your business processes are functioning correctly from build to build. Because workflow is essential to enforcing business rules, these tests should cover all navigations and direct functions throughout the entire integrated system. You must fully test the application’s business rules and triggers so that all rules are executed properly.</a:t>
            </a:r>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490"/>
        <p:cNvGrpSpPr/>
        <p:nvPr/>
      </p:nvGrpSpPr>
      <p:grpSpPr>
        <a:xfrm>
          <a:off x="0" y="0"/>
          <a:ext cx="0" cy="0"/>
          <a:chOff x="0" y="0"/>
          <a:chExt cx="0" cy="0"/>
        </a:xfrm>
      </p:grpSpPr>
      <p:sp>
        <p:nvSpPr>
          <p:cNvPr id="1491" name="Google Shape;1491;p20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b="1"/>
              <a:t>Access control systems: </a:t>
            </a:r>
            <a:r>
              <a:rPr lang="en-US"/>
              <a:t>ERP access control systems determine what views you can use and what data you can see in those views. Using supply chain and partner portals will increase security concerns. Testing the security from your perspective helps enforce the validation rules. Data-driven tests will allow IT to use the same script with different log-in credentials to validate security rules.</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20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b="1"/>
              <a:t>Regression testing: </a:t>
            </a:r>
            <a:r>
              <a:rPr lang="en-US"/>
              <a:t>A code drop refers to any new release of the ERP application, patches and/or hot fixes. Each time that a “code drop” is deployed, you should regression test the functionality of each object inside the applet, including the existence, functionality, values, and the like. </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500"/>
        <p:cNvGrpSpPr/>
        <p:nvPr/>
      </p:nvGrpSpPr>
      <p:grpSpPr>
        <a:xfrm>
          <a:off x="0" y="0"/>
          <a:ext cx="0" cy="0"/>
          <a:chOff x="0" y="0"/>
          <a:chExt cx="0" cy="0"/>
        </a:xfrm>
      </p:grpSpPr>
      <p:sp>
        <p:nvSpPr>
          <p:cNvPr id="1501" name="Google Shape;1501;p203"/>
          <p:cNvSpPr txBox="1">
            <a:spLocks noGrp="1"/>
          </p:cNvSpPr>
          <p:nvPr>
            <p:ph type="body" idx="1"/>
          </p:nvPr>
        </p:nvSpPr>
        <p:spPr>
          <a:xfrm>
            <a:off x="457200" y="1481328"/>
            <a:ext cx="8229600" cy="5071872"/>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After the development of the goals, a set of objectives that will achieve these goals needs to be arrived at.</a:t>
            </a:r>
            <a:endParaRPr/>
          </a:p>
          <a:p>
            <a:pPr marL="365760" lvl="0" indent="-256032" algn="just" rtl="0">
              <a:lnSpc>
                <a:spcPct val="90000"/>
              </a:lnSpc>
              <a:spcBef>
                <a:spcPts val="400"/>
              </a:spcBef>
              <a:spcAft>
                <a:spcPts val="0"/>
              </a:spcAft>
              <a:buSzPts val="1698"/>
              <a:buChar char="🞂"/>
            </a:pPr>
            <a:r>
              <a:rPr lang="en-US" sz="2497"/>
              <a:t>Analyze the application functionality and identify critical business processes. For example, a critical business process within an ERP application is the creation of a “service request.” </a:t>
            </a:r>
            <a:endParaRPr/>
          </a:p>
          <a:p>
            <a:pPr marL="365760" lvl="0" indent="-256032" algn="just" rtl="0">
              <a:lnSpc>
                <a:spcPct val="90000"/>
              </a:lnSpc>
              <a:spcBef>
                <a:spcPts val="400"/>
              </a:spcBef>
              <a:spcAft>
                <a:spcPts val="0"/>
              </a:spcAft>
              <a:buSzPts val="1698"/>
              <a:buChar char="🞂"/>
            </a:pPr>
            <a:r>
              <a:rPr lang="en-US" sz="2497"/>
              <a:t>Establish a “smoke test” to quickly perform this testing within the development build cycle. The smoke test should test the critical business functionality or delve deeply into the functionality of the application. For example, can you create an activity that is to be attached to a “trouble ticket?”</a:t>
            </a:r>
            <a:endParaRPr sz="2497"/>
          </a:p>
        </p:txBody>
      </p:sp>
      <p:sp>
        <p:nvSpPr>
          <p:cNvPr id="1502" name="Google Shape;1502;p2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3: Define Objectives To Meet</a:t>
            </a:r>
            <a:br>
              <a:rPr lang="en-US" sz="3690"/>
            </a:br>
            <a:r>
              <a:rPr lang="en-US" sz="3690"/>
              <a:t>Testing Goals</a:t>
            </a:r>
            <a:endParaRPr sz="369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sp>
        <p:nvSpPr>
          <p:cNvPr id="1507" name="Google Shape;1507;p204"/>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When identifying test cases, remember the application must achieve critical business functionality. </a:t>
            </a:r>
            <a:endParaRPr/>
          </a:p>
          <a:p>
            <a:pPr marL="365760" lvl="0" indent="-256032" algn="just" rtl="0">
              <a:lnSpc>
                <a:spcPct val="90000"/>
              </a:lnSpc>
              <a:spcBef>
                <a:spcPts val="400"/>
              </a:spcBef>
              <a:spcAft>
                <a:spcPts val="0"/>
              </a:spcAft>
              <a:buSzPts val="1698"/>
              <a:buChar char="🞂"/>
            </a:pPr>
            <a:r>
              <a:rPr lang="en-US" sz="2497"/>
              <a:t>Most corporations do not go live with basic or standard implementations because of the unique business requirements of each enterprise. Therefore, you will need to exhaustively test the areas that are being customized in order to facilitate functionality in production. </a:t>
            </a:r>
            <a:endParaRPr/>
          </a:p>
          <a:p>
            <a:pPr marL="365760" lvl="0" indent="-256032" algn="just" rtl="0">
              <a:lnSpc>
                <a:spcPct val="90000"/>
              </a:lnSpc>
              <a:spcBef>
                <a:spcPts val="400"/>
              </a:spcBef>
              <a:spcAft>
                <a:spcPts val="0"/>
              </a:spcAft>
              <a:buSzPts val="1698"/>
              <a:buChar char="🞂"/>
            </a:pPr>
            <a:r>
              <a:rPr lang="en-US" sz="2497"/>
              <a:t>One of the main benefits of ERP applications is their ability to integrate with existing legacy systems to satisfy your business needs. However, these integrations must be heavily tested because they are not part of the standard (or non-customized) implementation.</a:t>
            </a:r>
            <a:endParaRPr sz="2497"/>
          </a:p>
        </p:txBody>
      </p:sp>
      <p:sp>
        <p:nvSpPr>
          <p:cNvPr id="1508" name="Google Shape;1508;p20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4: Identify Functionality</a:t>
            </a:r>
            <a:br>
              <a:rPr lang="en-US" sz="3690"/>
            </a:br>
            <a:r>
              <a:rPr lang="en-US" sz="3690"/>
              <a:t>Test Cases</a:t>
            </a:r>
            <a:endParaRPr sz="369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512"/>
        <p:cNvGrpSpPr/>
        <p:nvPr/>
      </p:nvGrpSpPr>
      <p:grpSpPr>
        <a:xfrm>
          <a:off x="0" y="0"/>
          <a:ext cx="0" cy="0"/>
          <a:chOff x="0" y="0"/>
          <a:chExt cx="0" cy="0"/>
        </a:xfrm>
      </p:grpSpPr>
      <p:sp>
        <p:nvSpPr>
          <p:cNvPr id="1513" name="Google Shape;1513;p205"/>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Initial tests should have some of the following common characteristics:</a:t>
            </a:r>
            <a:endParaRPr/>
          </a:p>
          <a:p>
            <a:pPr marL="365760" lvl="0" indent="-256032" algn="just" rtl="0">
              <a:spcBef>
                <a:spcPts val="400"/>
              </a:spcBef>
              <a:spcAft>
                <a:spcPts val="0"/>
              </a:spcAft>
              <a:buSzPts val="1836"/>
              <a:buChar char="🞂"/>
            </a:pPr>
            <a:r>
              <a:rPr lang="en-US"/>
              <a:t>They should test mission-critical business functionality.</a:t>
            </a:r>
            <a:endParaRPr/>
          </a:p>
          <a:p>
            <a:pPr marL="365760" lvl="0" indent="-256032" algn="just" rtl="0">
              <a:spcBef>
                <a:spcPts val="400"/>
              </a:spcBef>
              <a:spcAft>
                <a:spcPts val="0"/>
              </a:spcAft>
              <a:buSzPts val="1836"/>
              <a:buChar char="🞂"/>
            </a:pPr>
            <a:r>
              <a:rPr lang="en-US"/>
              <a:t>They should test key business processes of the application.</a:t>
            </a:r>
            <a:endParaRPr/>
          </a:p>
          <a:p>
            <a:pPr marL="365760" lvl="0" indent="-256032" algn="just" rtl="0">
              <a:spcBef>
                <a:spcPts val="400"/>
              </a:spcBef>
              <a:spcAft>
                <a:spcPts val="0"/>
              </a:spcAft>
              <a:buSzPts val="1836"/>
              <a:buChar char="🞂"/>
            </a:pPr>
            <a:r>
              <a:rPr lang="en-US"/>
              <a:t>They should identify the test areas of the ERP application that have been customized.</a:t>
            </a:r>
            <a:endParaRPr/>
          </a:p>
          <a:p>
            <a:pPr marL="365760" lvl="0" indent="-256032" algn="just" rtl="0">
              <a:spcBef>
                <a:spcPts val="400"/>
              </a:spcBef>
              <a:spcAft>
                <a:spcPts val="0"/>
              </a:spcAft>
              <a:buSzPts val="1836"/>
              <a:buChar char="🞂"/>
            </a:pPr>
            <a:r>
              <a:rPr lang="en-US"/>
              <a:t>The functionality should be stable and not under major development.</a:t>
            </a:r>
            <a:endParaRPr/>
          </a:p>
          <a:p>
            <a:pPr marL="365760" lvl="0" indent="-256032" algn="just" rtl="0">
              <a:spcBef>
                <a:spcPts val="400"/>
              </a:spcBef>
              <a:spcAft>
                <a:spcPts val="0"/>
              </a:spcAft>
              <a:buSzPts val="1836"/>
              <a:buChar char="🞂"/>
            </a:pPr>
            <a:r>
              <a:rPr lang="en-US"/>
              <a:t>The tests should be candidates for a “smoke test.”</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517"/>
        <p:cNvGrpSpPr/>
        <p:nvPr/>
      </p:nvGrpSpPr>
      <p:grpSpPr>
        <a:xfrm>
          <a:off x="0" y="0"/>
          <a:ext cx="0" cy="0"/>
          <a:chOff x="0" y="0"/>
          <a:chExt cx="0" cy="0"/>
        </a:xfrm>
      </p:grpSpPr>
      <p:sp>
        <p:nvSpPr>
          <p:cNvPr id="1518" name="Google Shape;1518;p206"/>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When you document business processes that will become test scripts, first gather all of the information relevant to the test case. </a:t>
            </a:r>
            <a:endParaRPr/>
          </a:p>
          <a:p>
            <a:pPr marL="365760" lvl="0" indent="-256032" algn="just" rtl="0">
              <a:lnSpc>
                <a:spcPct val="90000"/>
              </a:lnSpc>
              <a:spcBef>
                <a:spcPts val="400"/>
              </a:spcBef>
              <a:spcAft>
                <a:spcPts val="0"/>
              </a:spcAft>
              <a:buSzPts val="1698"/>
              <a:buChar char="🞂"/>
            </a:pPr>
            <a:r>
              <a:rPr lang="en-US" sz="2497"/>
              <a:t>Each test case needs to have a stated purpose that relates back to the area of the business that is being tested. The test objective should satisfy a requirement or set of requirements. </a:t>
            </a:r>
            <a:endParaRPr/>
          </a:p>
          <a:p>
            <a:pPr marL="365760" lvl="0" indent="-256032" algn="just" rtl="0">
              <a:lnSpc>
                <a:spcPct val="90000"/>
              </a:lnSpc>
              <a:spcBef>
                <a:spcPts val="400"/>
              </a:spcBef>
              <a:spcAft>
                <a:spcPts val="0"/>
              </a:spcAft>
              <a:buSzPts val="1698"/>
              <a:buChar char="🞂"/>
            </a:pPr>
            <a:r>
              <a:rPr lang="en-US" sz="2497"/>
              <a:t>You should also document the logical steps needed to navigate through the system to fulfill the test’s purpose. Since the test cases are being used to measure the success or failure of your business processes, the documentation should contain a description of what needs to be verified for a test to be successful.</a:t>
            </a:r>
            <a:endParaRPr sz="2497"/>
          </a:p>
        </p:txBody>
      </p:sp>
      <p:sp>
        <p:nvSpPr>
          <p:cNvPr id="1519" name="Google Shape;1519;p20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5: Document Key Business Processes.</a:t>
            </a:r>
            <a:endParaRPr sz="369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523"/>
        <p:cNvGrpSpPr/>
        <p:nvPr/>
      </p:nvGrpSpPr>
      <p:grpSpPr>
        <a:xfrm>
          <a:off x="0" y="0"/>
          <a:ext cx="0" cy="0"/>
          <a:chOff x="0" y="0"/>
          <a:chExt cx="0" cy="0"/>
        </a:xfrm>
      </p:grpSpPr>
      <p:sp>
        <p:nvSpPr>
          <p:cNvPr id="1524" name="Google Shape;1524;p20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Creating modular test scripts allows you to unit test your modules and the customizations made to the ERP application modules before the entire system is completed. </a:t>
            </a:r>
            <a:endParaRPr/>
          </a:p>
          <a:p>
            <a:pPr marL="365760" lvl="0" indent="-256032" algn="just" rtl="0">
              <a:spcBef>
                <a:spcPts val="400"/>
              </a:spcBef>
              <a:spcAft>
                <a:spcPts val="0"/>
              </a:spcAft>
              <a:buSzPts val="1836"/>
              <a:buChar char="🞂"/>
            </a:pPr>
            <a:r>
              <a:rPr lang="en-US"/>
              <a:t>Then, they can be combined into test sets to accomplish specific testing goals. Testing software, which enables you to manage all test cases in terms of business components and end-to-end process validations.</a:t>
            </a:r>
            <a:endParaRPr/>
          </a:p>
        </p:txBody>
      </p:sp>
      <p:sp>
        <p:nvSpPr>
          <p:cNvPr id="1525" name="Google Shape;1525;p20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6: Develop Modular Test Components</a:t>
            </a:r>
            <a:endParaRPr sz="369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20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We recommend you set up a separate quality assurance (QA) test lab as part of your overall strategy for testing and refining the ERP application. </a:t>
            </a:r>
            <a:endParaRPr/>
          </a:p>
          <a:p>
            <a:pPr marL="365760" lvl="0" indent="-256032" algn="just" rtl="0">
              <a:spcBef>
                <a:spcPts val="400"/>
              </a:spcBef>
              <a:spcAft>
                <a:spcPts val="0"/>
              </a:spcAft>
              <a:buSzPts val="1836"/>
              <a:buChar char="🞂"/>
            </a:pPr>
            <a:r>
              <a:rPr lang="en-US"/>
              <a:t>By having all machines configured to the desired specifications, you may reduce any issues caused by poorly configured machines. </a:t>
            </a:r>
            <a:endParaRPr/>
          </a:p>
          <a:p>
            <a:pPr marL="365760" lvl="0" indent="-256032" algn="just" rtl="0">
              <a:spcBef>
                <a:spcPts val="400"/>
              </a:spcBef>
              <a:spcAft>
                <a:spcPts val="0"/>
              </a:spcAft>
              <a:buSzPts val="1836"/>
              <a:buChar char="🞂"/>
            </a:pPr>
            <a:r>
              <a:rPr lang="en-US"/>
              <a:t>This also allows you to  use the lab to perform the unit test prior to promoting the new code to the next release.</a:t>
            </a:r>
            <a:endParaRPr/>
          </a:p>
        </p:txBody>
      </p:sp>
      <p:sp>
        <p:nvSpPr>
          <p:cNvPr id="1531" name="Google Shape;1531;p20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7: Set Up A Test Lab</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20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With most ERP applications, businesses waste a lot of testing effort on incomplete builds. This is common when a development organization performs a build and passes it to the test team, and then testing progresses for a few days. As a result, the software build frequently has significant and fundamental problems and doesn’t warrant in-depth testing. Unfortunately, the test team has already wasted a few days discovering this instability, while the development staff proceeded to add more new features to the unstable baseline.</a:t>
            </a:r>
            <a:endParaRPr sz="2497"/>
          </a:p>
        </p:txBody>
      </p:sp>
      <p:sp>
        <p:nvSpPr>
          <p:cNvPr id="1537" name="Google Shape;1537;p20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8: Understand And Leverage</a:t>
            </a:r>
            <a:br>
              <a:rPr lang="en-US" sz="3690"/>
            </a:br>
            <a:r>
              <a:rPr lang="en-US" sz="3690"/>
              <a:t>The “Smoke Test.”</a:t>
            </a:r>
            <a:endParaRPr sz="369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21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698"/>
              <a:buChar char="🞂"/>
            </a:pPr>
            <a:r>
              <a:rPr lang="en-US" sz="2497"/>
              <a:t>One way you can avoid this situation is by building a “smoke test” that consists of your critical business functionality. This is often a combination of manual and automated tests created in a short period of time that will run quickly (usually in less than one hour). Running the smoke test will give your development team immediate feedback on the build’s quality and can help your team focus on more serious problems. The smoke test’s scripts can be taken from the unit tests that your developers have already created.</a:t>
            </a:r>
            <a:endParaRPr sz="2497"/>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546"/>
        <p:cNvGrpSpPr/>
        <p:nvPr/>
      </p:nvGrpSpPr>
      <p:grpSpPr>
        <a:xfrm>
          <a:off x="0" y="0"/>
          <a:ext cx="0" cy="0"/>
          <a:chOff x="0" y="0"/>
          <a:chExt cx="0" cy="0"/>
        </a:xfrm>
      </p:grpSpPr>
      <p:sp>
        <p:nvSpPr>
          <p:cNvPr id="1547" name="Google Shape;1547;p21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698"/>
              <a:buChar char="🞂"/>
            </a:pPr>
            <a:r>
              <a:rPr lang="en-US" sz="2497"/>
              <a:t>You should run regression test sets comprised of the critical business processes every time a new build of the ERP application is released. </a:t>
            </a:r>
            <a:endParaRPr/>
          </a:p>
          <a:p>
            <a:pPr marL="365760" lvl="0" indent="-256032" algn="just" rtl="0">
              <a:spcBef>
                <a:spcPts val="400"/>
              </a:spcBef>
              <a:spcAft>
                <a:spcPts val="0"/>
              </a:spcAft>
              <a:buSzPts val="1698"/>
              <a:buChar char="🞂"/>
            </a:pPr>
            <a:r>
              <a:rPr lang="en-US" sz="2497"/>
              <a:t>A regression test set delves deeper into application functionality than a smoke test, which focuses solely on the core business functionality. </a:t>
            </a:r>
            <a:endParaRPr/>
          </a:p>
          <a:p>
            <a:pPr marL="365760" lvl="0" indent="-256032" algn="just" rtl="0">
              <a:spcBef>
                <a:spcPts val="400"/>
              </a:spcBef>
              <a:spcAft>
                <a:spcPts val="0"/>
              </a:spcAft>
              <a:buSzPts val="1698"/>
              <a:buChar char="🞂"/>
            </a:pPr>
            <a:r>
              <a:rPr lang="en-US" sz="2497"/>
              <a:t>Because the updates are provided by the vendor, customizing the applications can have an adverse effect on functionality and performance. As a result, these applications must be tested with every build.</a:t>
            </a:r>
            <a:endParaRPr sz="2497"/>
          </a:p>
        </p:txBody>
      </p:sp>
      <p:sp>
        <p:nvSpPr>
          <p:cNvPr id="1548" name="Google Shape;1548;p2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9: Execute Regression Tests</a:t>
            </a:r>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212"/>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lnSpc>
                <a:spcPct val="80000"/>
              </a:lnSpc>
              <a:spcBef>
                <a:spcPts val="0"/>
              </a:spcBef>
              <a:spcAft>
                <a:spcPts val="0"/>
              </a:spcAft>
              <a:buSzPts val="1698"/>
              <a:buChar char="🞂"/>
            </a:pPr>
            <a:r>
              <a:rPr lang="en-US" sz="2497"/>
              <a:t>You will be able to detect the readiness of the ERP application by the number of defects found within the system. As the test sets are executed, you must track and analyze failures that occur within the tests. A robust functional testing solution should provide the ability to track and report on all of the defects located within the business process. </a:t>
            </a:r>
            <a:endParaRPr/>
          </a:p>
          <a:p>
            <a:pPr marL="365760" lvl="0" indent="-256032" algn="just" rtl="0">
              <a:lnSpc>
                <a:spcPct val="80000"/>
              </a:lnSpc>
              <a:spcBef>
                <a:spcPts val="400"/>
              </a:spcBef>
              <a:spcAft>
                <a:spcPts val="0"/>
              </a:spcAft>
              <a:buSzPts val="1698"/>
              <a:buChar char="🞂"/>
            </a:pPr>
            <a:r>
              <a:rPr lang="en-US" sz="2497"/>
              <a:t>Your team can use this information to measure and manage how defects are prioritized, fixed, retested and closed. You must also thoroughly document all testing processes and outcomes with comprehensive reports. This will enable your test teams to accurately analyze test results, and .........to reuse test cases and scripts in the future.</a:t>
            </a:r>
            <a:endParaRPr sz="2497"/>
          </a:p>
        </p:txBody>
      </p:sp>
      <p:sp>
        <p:nvSpPr>
          <p:cNvPr id="1554" name="Google Shape;1554;p2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10: Analyze Defects And Create</a:t>
            </a:r>
            <a:br>
              <a:rPr lang="en-US" sz="3690"/>
            </a:br>
            <a:r>
              <a:rPr lang="en-US" sz="3690"/>
              <a:t>Test Reports</a:t>
            </a:r>
            <a:endParaRPr sz="369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558"/>
        <p:cNvGrpSpPr/>
        <p:nvPr/>
      </p:nvGrpSpPr>
      <p:grpSpPr>
        <a:xfrm>
          <a:off x="0" y="0"/>
          <a:ext cx="0" cy="0"/>
          <a:chOff x="0" y="0"/>
          <a:chExt cx="0" cy="0"/>
        </a:xfrm>
      </p:grpSpPr>
      <p:sp>
        <p:nvSpPr>
          <p:cNvPr id="1559" name="Google Shape;1559;p213"/>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lt2"/>
              </a:buClr>
              <a:buSzPts val="4800"/>
              <a:buFont typeface="Lucida Sans"/>
              <a:buNone/>
            </a:pPr>
            <a:r>
              <a:rPr lang="en-US"/>
              <a:t>BUSINESS PROCESS REENGINEERING</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4" name="Google Shape;1564;p2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Learning Objectives</a:t>
            </a:r>
            <a:endParaRPr/>
          </a:p>
        </p:txBody>
      </p:sp>
      <p:sp>
        <p:nvSpPr>
          <p:cNvPr id="1565" name="Google Shape;1565;p21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Explain the role of Business Process Reengineering (BPR) within the organization</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Understand the origins and key characteristics of BPR</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Identify and be able to use core BPR Symbols</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2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Learning Objectives</a:t>
            </a:r>
            <a:endParaRPr/>
          </a:p>
        </p:txBody>
      </p:sp>
      <p:sp>
        <p:nvSpPr>
          <p:cNvPr id="1571" name="Google Shape;1571;p21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Understand and be able to implement a BPR Strategy</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Understand the main challenges in implementing a BPR Strategy</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575"/>
        <p:cNvGrpSpPr/>
        <p:nvPr/>
      </p:nvGrpSpPr>
      <p:grpSpPr>
        <a:xfrm>
          <a:off x="0" y="0"/>
          <a:ext cx="0" cy="0"/>
          <a:chOff x="0" y="0"/>
          <a:chExt cx="0" cy="0"/>
        </a:xfrm>
      </p:grpSpPr>
      <p:sp>
        <p:nvSpPr>
          <p:cNvPr id="1576" name="Google Shape;1576;p216"/>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800"/>
              <a:buFont typeface="Lucida Sans"/>
              <a:buNone/>
            </a:pPr>
            <a:r>
              <a:rPr lang="en-US"/>
              <a:t>BPR &amp; The Organization</a:t>
            </a:r>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2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What is BPR?</a:t>
            </a:r>
            <a:endParaRPr/>
          </a:p>
        </p:txBody>
      </p:sp>
      <p:sp>
        <p:nvSpPr>
          <p:cNvPr id="1582" name="Google Shape;1582;p217"/>
          <p:cNvSpPr txBox="1">
            <a:spLocks noGrp="1"/>
          </p:cNvSpPr>
          <p:nvPr>
            <p:ph type="body" idx="1"/>
          </p:nvPr>
        </p:nvSpPr>
        <p:spPr>
          <a:xfrm>
            <a:off x="533400" y="1981200"/>
            <a:ext cx="8305800" cy="41148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Reengineering is the fundamental rethinking and redesign of business processes to achieve dramatic improvements in critical, contemporary measures of performance, such as cost, quality, service and speed.</a:t>
            </a:r>
            <a:endParaRPr/>
          </a:p>
          <a:p>
            <a:pPr marL="365760" lvl="0" indent="-256032" algn="just" rtl="0">
              <a:spcBef>
                <a:spcPts val="400"/>
              </a:spcBef>
              <a:spcAft>
                <a:spcPts val="0"/>
              </a:spcAft>
              <a:buSzPts val="1836"/>
              <a:buFont typeface="Lucida Sans"/>
              <a:buNone/>
            </a:pPr>
            <a:r>
              <a:rPr lang="en-US"/>
              <a:t>				(Hammer &amp; Champy, 1993)</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2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BPR is Not?</a:t>
            </a:r>
            <a:endParaRPr/>
          </a:p>
        </p:txBody>
      </p:sp>
      <p:sp>
        <p:nvSpPr>
          <p:cNvPr id="1588" name="Google Shape;1588;p21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Automation</a:t>
            </a:r>
            <a:endParaRPr/>
          </a:p>
          <a:p>
            <a:pPr marL="365760" lvl="0" indent="-256032" algn="l" rtl="0">
              <a:spcBef>
                <a:spcPts val="400"/>
              </a:spcBef>
              <a:spcAft>
                <a:spcPts val="0"/>
              </a:spcAft>
              <a:buSzPts val="1836"/>
              <a:buChar char="🞂"/>
            </a:pPr>
            <a:r>
              <a:rPr lang="en-US"/>
              <a:t>Downsizing</a:t>
            </a:r>
            <a:endParaRPr/>
          </a:p>
          <a:p>
            <a:pPr marL="365760" lvl="0" indent="-256032" algn="l" rtl="0">
              <a:spcBef>
                <a:spcPts val="400"/>
              </a:spcBef>
              <a:spcAft>
                <a:spcPts val="0"/>
              </a:spcAft>
              <a:buSzPts val="1836"/>
              <a:buChar char="🞂"/>
            </a:pPr>
            <a:r>
              <a:rPr lang="en-US"/>
              <a:t>Outsourcing</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sp>
        <p:nvSpPr>
          <p:cNvPr id="1593" name="Google Shape;1593;p2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BPR Versus Process Simplification</a:t>
            </a:r>
            <a:endParaRPr/>
          </a:p>
        </p:txBody>
      </p:sp>
      <p:sp>
        <p:nvSpPr>
          <p:cNvPr id="1594" name="Google Shape;1594;p219"/>
          <p:cNvSpPr/>
          <p:nvPr/>
        </p:nvSpPr>
        <p:spPr>
          <a:xfrm>
            <a:off x="4876800" y="2209800"/>
            <a:ext cx="3810000" cy="3505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Lucida Sans"/>
                <a:ea typeface="Lucida Sans"/>
                <a:cs typeface="Lucida Sans"/>
                <a:sym typeface="Lucida Sans"/>
              </a:rPr>
              <a:t>Process Reengineering</a:t>
            </a:r>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Radical Transformation</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Vision-Led</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Change Attitudes &amp; Behaviors</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Director-Led</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Limited Number of Initiatives</a:t>
            </a:r>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p:txBody>
      </p:sp>
      <p:sp>
        <p:nvSpPr>
          <p:cNvPr id="1595" name="Google Shape;1595;p219"/>
          <p:cNvSpPr/>
          <p:nvPr/>
        </p:nvSpPr>
        <p:spPr>
          <a:xfrm>
            <a:off x="381000" y="2209800"/>
            <a:ext cx="4038600" cy="3505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Lucida Sans"/>
                <a:ea typeface="Lucida Sans"/>
                <a:cs typeface="Lucida Sans"/>
                <a:sym typeface="Lucida Sans"/>
              </a:rPr>
              <a:t>Process Simplification</a:t>
            </a:r>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Incremental Change</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Process-Led</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Assume Attitudes &amp; Behaviors</a:t>
            </a: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Management-Led</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Various Simultaneous Projects</a:t>
            </a:r>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p:txBody>
      </p:sp>
      <p:sp>
        <p:nvSpPr>
          <p:cNvPr id="1596" name="Google Shape;1596;p219"/>
          <p:cNvSpPr txBox="1"/>
          <p:nvPr/>
        </p:nvSpPr>
        <p:spPr>
          <a:xfrm>
            <a:off x="6096000" y="5791200"/>
            <a:ext cx="2509838"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latin typeface="Lucida Sans"/>
                <a:ea typeface="Lucida Sans"/>
                <a:cs typeface="Lucida Sans"/>
                <a:sym typeface="Lucida Sans"/>
              </a:rPr>
              <a:t>(Source Coulson-Thomas, 1992)</a:t>
            </a:r>
            <a:endParaRPr/>
          </a:p>
        </p:txBody>
      </p:sp>
      <p:cxnSp>
        <p:nvCxnSpPr>
          <p:cNvPr id="1597" name="Google Shape;1597;p219"/>
          <p:cNvCxnSpPr/>
          <p:nvPr/>
        </p:nvCxnSpPr>
        <p:spPr>
          <a:xfrm>
            <a:off x="838200" y="2819400"/>
            <a:ext cx="3581400" cy="0"/>
          </a:xfrm>
          <a:prstGeom prst="straightConnector1">
            <a:avLst/>
          </a:prstGeom>
          <a:noFill/>
          <a:ln w="9525" cap="flat" cmpd="sng">
            <a:solidFill>
              <a:srgbClr val="FFF305"/>
            </a:solidFill>
            <a:prstDash val="dot"/>
            <a:round/>
            <a:headEnd type="none" w="med" len="med"/>
            <a:tailEnd type="none" w="med" len="med"/>
          </a:ln>
        </p:spPr>
      </p:cxnSp>
      <p:cxnSp>
        <p:nvCxnSpPr>
          <p:cNvPr id="1598" name="Google Shape;1598;p219"/>
          <p:cNvCxnSpPr/>
          <p:nvPr/>
        </p:nvCxnSpPr>
        <p:spPr>
          <a:xfrm>
            <a:off x="4876800" y="2819400"/>
            <a:ext cx="3581400" cy="0"/>
          </a:xfrm>
          <a:prstGeom prst="straightConnector1">
            <a:avLst/>
          </a:prstGeom>
          <a:noFill/>
          <a:ln w="9525" cap="flat" cmpd="sng">
            <a:solidFill>
              <a:srgbClr val="FFF305"/>
            </a:solidFill>
            <a:prstDash val="dot"/>
            <a:round/>
            <a:headEnd type="none" w="med" len="med"/>
            <a:tailEnd type="none" w="med" len="med"/>
          </a:ln>
        </p:spPr>
      </p:cxn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sp>
        <p:nvSpPr>
          <p:cNvPr id="1603" name="Google Shape;1603;p2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BPR Versus Continuous Improvement</a:t>
            </a:r>
            <a:endParaRPr/>
          </a:p>
        </p:txBody>
      </p:sp>
      <p:sp>
        <p:nvSpPr>
          <p:cNvPr id="1604" name="Google Shape;1604;p220"/>
          <p:cNvSpPr/>
          <p:nvPr/>
        </p:nvSpPr>
        <p:spPr>
          <a:xfrm>
            <a:off x="4876800" y="2209800"/>
            <a:ext cx="3581400" cy="3505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Lucida Sans"/>
                <a:ea typeface="Lucida Sans"/>
                <a:cs typeface="Lucida Sans"/>
                <a:sym typeface="Lucida Sans"/>
              </a:rPr>
              <a:t>Process Reengineering</a:t>
            </a:r>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Radical Transformation</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People &amp; Technology Focus</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High Investment</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Rebuild</a:t>
            </a:r>
            <a:endParaRPr/>
          </a:p>
          <a:p>
            <a:pPr marL="0" marR="0" lvl="0" indent="0" algn="ctr" rtl="0">
              <a:spcBef>
                <a:spcPts val="0"/>
              </a:spcBef>
              <a:spcAft>
                <a:spcPts val="0"/>
              </a:spcAft>
              <a:buNone/>
            </a:pPr>
            <a:r>
              <a:rPr lang="en-US" sz="2000">
                <a:solidFill>
                  <a:schemeClr val="lt1"/>
                </a:solidFill>
                <a:latin typeface="Lucida Sans"/>
                <a:ea typeface="Lucida Sans"/>
                <a:cs typeface="Lucida Sans"/>
                <a:sym typeface="Lucida Sans"/>
              </a:rPr>
              <a:t>Champion Driven</a:t>
            </a:r>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lt1"/>
              </a:solidFill>
              <a:latin typeface="Lucida Sans"/>
              <a:ea typeface="Lucida Sans"/>
              <a:cs typeface="Lucida Sans"/>
              <a:sym typeface="Lucida Sans"/>
            </a:endParaRPr>
          </a:p>
        </p:txBody>
      </p:sp>
      <p:sp>
        <p:nvSpPr>
          <p:cNvPr id="1605" name="Google Shape;1605;p220"/>
          <p:cNvSpPr/>
          <p:nvPr/>
        </p:nvSpPr>
        <p:spPr>
          <a:xfrm>
            <a:off x="838200" y="2209800"/>
            <a:ext cx="3581400" cy="3505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Lucida Sans"/>
                <a:ea typeface="Lucida Sans"/>
                <a:cs typeface="Lucida Sans"/>
                <a:sym typeface="Lucida Sans"/>
              </a:rPr>
              <a:t>Continuous Improvement</a:t>
            </a:r>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Incremental Change</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People Focus</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Low Investment</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Improve Existing</a:t>
            </a:r>
            <a:endParaRPr/>
          </a:p>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Work Unit Driven</a:t>
            </a:r>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a:p>
            <a:pPr marL="0" marR="0" lvl="0" indent="0" algn="ctr" rtl="0">
              <a:spcBef>
                <a:spcPts val="0"/>
              </a:spcBef>
              <a:spcAft>
                <a:spcPts val="0"/>
              </a:spcAft>
              <a:buNone/>
            </a:pPr>
            <a:endParaRPr sz="2000">
              <a:solidFill>
                <a:schemeClr val="dk1"/>
              </a:solidFill>
              <a:latin typeface="Lucida Sans"/>
              <a:ea typeface="Lucida Sans"/>
              <a:cs typeface="Lucida Sans"/>
              <a:sym typeface="Lucida Sans"/>
            </a:endParaRPr>
          </a:p>
        </p:txBody>
      </p:sp>
      <p:cxnSp>
        <p:nvCxnSpPr>
          <p:cNvPr id="1606" name="Google Shape;1606;p220"/>
          <p:cNvCxnSpPr/>
          <p:nvPr/>
        </p:nvCxnSpPr>
        <p:spPr>
          <a:xfrm>
            <a:off x="838200" y="2819400"/>
            <a:ext cx="3581400" cy="0"/>
          </a:xfrm>
          <a:prstGeom prst="straightConnector1">
            <a:avLst/>
          </a:prstGeom>
          <a:noFill/>
          <a:ln w="9525" cap="flat" cmpd="sng">
            <a:solidFill>
              <a:srgbClr val="FFF305"/>
            </a:solidFill>
            <a:prstDash val="dot"/>
            <a:round/>
            <a:headEnd type="none" w="med" len="med"/>
            <a:tailEnd type="none" w="med" len="med"/>
          </a:ln>
        </p:spPr>
      </p:cxnSp>
      <p:cxnSp>
        <p:nvCxnSpPr>
          <p:cNvPr id="1607" name="Google Shape;1607;p220"/>
          <p:cNvCxnSpPr/>
          <p:nvPr/>
        </p:nvCxnSpPr>
        <p:spPr>
          <a:xfrm>
            <a:off x="4876800" y="2819400"/>
            <a:ext cx="3581400" cy="0"/>
          </a:xfrm>
          <a:prstGeom prst="straightConnector1">
            <a:avLst/>
          </a:prstGeom>
          <a:noFill/>
          <a:ln w="9525" cap="flat" cmpd="sng">
            <a:solidFill>
              <a:srgbClr val="FFF305"/>
            </a:solidFill>
            <a:prstDash val="dot"/>
            <a:round/>
            <a:headEnd type="none" w="med" len="med"/>
            <a:tailEnd type="none" w="med" len="med"/>
          </a:ln>
        </p:spPr>
      </p:cxn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611"/>
        <p:cNvGrpSpPr/>
        <p:nvPr/>
      </p:nvGrpSpPr>
      <p:grpSpPr>
        <a:xfrm>
          <a:off x="0" y="0"/>
          <a:ext cx="0" cy="0"/>
          <a:chOff x="0" y="0"/>
          <a:chExt cx="0" cy="0"/>
        </a:xfrm>
      </p:grpSpPr>
      <p:sp>
        <p:nvSpPr>
          <p:cNvPr id="1612" name="Google Shape;1612;p2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What is a Process?</a:t>
            </a:r>
            <a:endParaRPr/>
          </a:p>
        </p:txBody>
      </p:sp>
      <p:sp>
        <p:nvSpPr>
          <p:cNvPr id="1613" name="Google Shape;1613;p22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 specific ordering of work activities across time and space, with a beginning, an end, and clearly identified inputs and outputs: a structure for action.</a:t>
            </a:r>
            <a:endParaRPr/>
          </a:p>
          <a:p>
            <a:pPr marL="365760" lvl="0" indent="-256032" algn="just" rtl="0">
              <a:spcBef>
                <a:spcPts val="400"/>
              </a:spcBef>
              <a:spcAft>
                <a:spcPts val="0"/>
              </a:spcAft>
              <a:buSzPts val="1836"/>
              <a:buFont typeface="Lucida Sans"/>
              <a:buNone/>
            </a:pPr>
            <a:r>
              <a:rPr lang="en-US"/>
              <a:t>						(Davenport, 1993)</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p2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What is a Business Process?</a:t>
            </a:r>
            <a:endParaRPr/>
          </a:p>
        </p:txBody>
      </p:sp>
      <p:sp>
        <p:nvSpPr>
          <p:cNvPr id="1619" name="Google Shape;1619;p22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 group of logically related tasks that use the firm's resources  to provide customer-oriented results in support of the organization's objectives</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623"/>
        <p:cNvGrpSpPr/>
        <p:nvPr/>
      </p:nvGrpSpPr>
      <p:grpSpPr>
        <a:xfrm>
          <a:off x="0" y="0"/>
          <a:ext cx="0" cy="0"/>
          <a:chOff x="0" y="0"/>
          <a:chExt cx="0" cy="0"/>
        </a:xfrm>
      </p:grpSpPr>
      <p:sp>
        <p:nvSpPr>
          <p:cNvPr id="1624" name="Google Shape;1624;p2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Why Reengineer?</a:t>
            </a:r>
            <a:endParaRPr/>
          </a:p>
        </p:txBody>
      </p:sp>
      <p:sp>
        <p:nvSpPr>
          <p:cNvPr id="1625" name="Google Shape;1625;p223"/>
          <p:cNvSpPr txBox="1">
            <a:spLocks noGrp="1"/>
          </p:cNvSpPr>
          <p:nvPr>
            <p:ph type="body" idx="1"/>
          </p:nvPr>
        </p:nvSpPr>
        <p:spPr>
          <a:xfrm>
            <a:off x="457200" y="1481328"/>
            <a:ext cx="8229600" cy="4843272"/>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Customers</a:t>
            </a:r>
            <a:endParaRPr/>
          </a:p>
          <a:p>
            <a:pPr marL="621792" lvl="1" indent="-228600" algn="just" rtl="0">
              <a:lnSpc>
                <a:spcPct val="90000"/>
              </a:lnSpc>
              <a:spcBef>
                <a:spcPts val="324"/>
              </a:spcBef>
              <a:spcAft>
                <a:spcPts val="0"/>
              </a:spcAft>
              <a:buSzPts val="2300"/>
              <a:buChar char="◦"/>
            </a:pPr>
            <a:r>
              <a:rPr lang="en-US"/>
              <a:t>Demanding</a:t>
            </a:r>
            <a:endParaRPr/>
          </a:p>
          <a:p>
            <a:pPr marL="621792" lvl="1" indent="-228600" algn="just" rtl="0">
              <a:lnSpc>
                <a:spcPct val="90000"/>
              </a:lnSpc>
              <a:spcBef>
                <a:spcPts val="324"/>
              </a:spcBef>
              <a:spcAft>
                <a:spcPts val="0"/>
              </a:spcAft>
              <a:buSzPts val="2300"/>
              <a:buChar char="◦"/>
            </a:pPr>
            <a:r>
              <a:rPr lang="en-US"/>
              <a:t>Sophistication</a:t>
            </a:r>
            <a:endParaRPr/>
          </a:p>
          <a:p>
            <a:pPr marL="621792" lvl="1" indent="-228600" algn="just" rtl="0">
              <a:lnSpc>
                <a:spcPct val="90000"/>
              </a:lnSpc>
              <a:spcBef>
                <a:spcPts val="324"/>
              </a:spcBef>
              <a:spcAft>
                <a:spcPts val="0"/>
              </a:spcAft>
              <a:buSzPts val="2300"/>
              <a:buChar char="◦"/>
            </a:pPr>
            <a:r>
              <a:rPr lang="en-US"/>
              <a:t>Changing Needs</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a:t>Competition</a:t>
            </a:r>
            <a:endParaRPr/>
          </a:p>
          <a:p>
            <a:pPr marL="621792" lvl="1" indent="-228600" algn="just" rtl="0">
              <a:lnSpc>
                <a:spcPct val="90000"/>
              </a:lnSpc>
              <a:spcBef>
                <a:spcPts val="324"/>
              </a:spcBef>
              <a:spcAft>
                <a:spcPts val="0"/>
              </a:spcAft>
              <a:buSzPts val="2300"/>
              <a:buChar char="◦"/>
            </a:pPr>
            <a:r>
              <a:rPr lang="en-US"/>
              <a:t>Local</a:t>
            </a:r>
            <a:endParaRPr/>
          </a:p>
          <a:p>
            <a:pPr marL="621792" lvl="1" indent="-228600" algn="just" rtl="0">
              <a:lnSpc>
                <a:spcPct val="90000"/>
              </a:lnSpc>
              <a:spcBef>
                <a:spcPts val="324"/>
              </a:spcBef>
              <a:spcAft>
                <a:spcPts val="0"/>
              </a:spcAft>
              <a:buSzPts val="2300"/>
              <a:buChar char="◦"/>
            </a:pPr>
            <a:r>
              <a:rPr lang="en-US"/>
              <a:t>Global</a:t>
            </a:r>
            <a:endParaRPr/>
          </a:p>
          <a:p>
            <a:pPr marL="621792" lvl="1" indent="-82550" algn="just" rtl="0">
              <a:lnSpc>
                <a:spcPct val="90000"/>
              </a:lnSpc>
              <a:spcBef>
                <a:spcPts val="324"/>
              </a:spcBef>
              <a:spcAft>
                <a:spcPts val="0"/>
              </a:spcAft>
              <a:buSzPts val="2300"/>
              <a:buNone/>
            </a:pPr>
            <a:endParaRPr/>
          </a:p>
          <a:p>
            <a:pPr marL="365760" lvl="0" indent="-256032" algn="l" rtl="0">
              <a:lnSpc>
                <a:spcPct val="90000"/>
              </a:lnSpc>
              <a:spcBef>
                <a:spcPts val="400"/>
              </a:spcBef>
              <a:spcAft>
                <a:spcPts val="0"/>
              </a:spcAft>
              <a:buSzPts val="1836"/>
              <a:buChar char="🞂"/>
            </a:pPr>
            <a:r>
              <a:rPr lang="en-US"/>
              <a:t>Change</a:t>
            </a:r>
            <a:endParaRPr/>
          </a:p>
          <a:p>
            <a:pPr marL="621792" lvl="1" indent="-228600" algn="l" rtl="0">
              <a:lnSpc>
                <a:spcPct val="90000"/>
              </a:lnSpc>
              <a:spcBef>
                <a:spcPts val="324"/>
              </a:spcBef>
              <a:spcAft>
                <a:spcPts val="0"/>
              </a:spcAft>
              <a:buSzPts val="2300"/>
              <a:buChar char="◦"/>
            </a:pPr>
            <a:r>
              <a:rPr lang="en-US"/>
              <a:t>Technology</a:t>
            </a:r>
            <a:endParaRPr/>
          </a:p>
          <a:p>
            <a:pPr marL="621792" lvl="1" indent="-228600" algn="l" rtl="0">
              <a:lnSpc>
                <a:spcPct val="90000"/>
              </a:lnSpc>
              <a:spcBef>
                <a:spcPts val="324"/>
              </a:spcBef>
              <a:spcAft>
                <a:spcPts val="0"/>
              </a:spcAft>
              <a:buSzPts val="2300"/>
              <a:buChar char="◦"/>
            </a:pPr>
            <a:r>
              <a:rPr lang="en-US"/>
              <a:t>Customer Preferences</a:t>
            </a:r>
            <a:endParaRPr/>
          </a:p>
          <a:p>
            <a:pPr marL="621792" lvl="1" indent="-82550" algn="just" rtl="0">
              <a:lnSpc>
                <a:spcPct val="90000"/>
              </a:lnSpc>
              <a:spcBef>
                <a:spcPts val="324"/>
              </a:spcBef>
              <a:spcAft>
                <a:spcPts val="0"/>
              </a:spcAft>
              <a:buSzPts val="2300"/>
              <a:buNone/>
            </a:pPr>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Google Shape;1630;p224"/>
          <p:cNvSpPr txBox="1">
            <a:spLocks noGrp="1"/>
          </p:cNvSpPr>
          <p:nvPr>
            <p:ph type="title"/>
          </p:nvPr>
        </p:nvSpPr>
        <p:spPr>
          <a:xfrm>
            <a:off x="381000" y="304800"/>
            <a:ext cx="8382000"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Why Organizations Don’t Reengineer?</a:t>
            </a:r>
            <a:endParaRPr/>
          </a:p>
        </p:txBody>
      </p:sp>
      <p:sp>
        <p:nvSpPr>
          <p:cNvPr id="1631" name="Google Shape;1631;p22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Complacency</a:t>
            </a:r>
            <a:endParaRPr/>
          </a:p>
          <a:p>
            <a:pPr marL="365760" lvl="0" indent="-256032" algn="l" rtl="0">
              <a:spcBef>
                <a:spcPts val="400"/>
              </a:spcBef>
              <a:spcAft>
                <a:spcPts val="0"/>
              </a:spcAft>
              <a:buSzPts val="1836"/>
              <a:buFont typeface="Lucida Sans"/>
              <a:buNone/>
            </a:pPr>
            <a:endParaRPr/>
          </a:p>
          <a:p>
            <a:pPr marL="365760" lvl="0" indent="-256032" algn="l" rtl="0">
              <a:spcBef>
                <a:spcPts val="400"/>
              </a:spcBef>
              <a:spcAft>
                <a:spcPts val="0"/>
              </a:spcAft>
              <a:buSzPts val="1836"/>
              <a:buChar char="🞂"/>
            </a:pPr>
            <a:r>
              <a:rPr lang="en-US"/>
              <a:t>Political Resistance</a:t>
            </a:r>
            <a:endParaRPr/>
          </a:p>
          <a:p>
            <a:pPr marL="365760" lvl="0" indent="-256032" algn="l" rtl="0">
              <a:spcBef>
                <a:spcPts val="400"/>
              </a:spcBef>
              <a:spcAft>
                <a:spcPts val="0"/>
              </a:spcAft>
              <a:buSzPts val="1836"/>
              <a:buFont typeface="Lucida Sans"/>
              <a:buNone/>
            </a:pPr>
            <a:endParaRPr/>
          </a:p>
          <a:p>
            <a:pPr marL="365760" lvl="0" indent="-256032" algn="l" rtl="0">
              <a:spcBef>
                <a:spcPts val="400"/>
              </a:spcBef>
              <a:spcAft>
                <a:spcPts val="0"/>
              </a:spcAft>
              <a:buSzPts val="1836"/>
              <a:buChar char="🞂"/>
            </a:pPr>
            <a:r>
              <a:rPr lang="en-US"/>
              <a:t>New Developments</a:t>
            </a:r>
            <a:endParaRPr/>
          </a:p>
          <a:p>
            <a:pPr marL="365760" lvl="0" indent="-256032" algn="l" rtl="0">
              <a:spcBef>
                <a:spcPts val="400"/>
              </a:spcBef>
              <a:spcAft>
                <a:spcPts val="0"/>
              </a:spcAft>
              <a:buSzPts val="1836"/>
              <a:buFont typeface="Lucida Sans"/>
              <a:buNone/>
            </a:pPr>
            <a:endParaRPr/>
          </a:p>
          <a:p>
            <a:pPr marL="365760" lvl="0" indent="-256032" algn="l" rtl="0">
              <a:spcBef>
                <a:spcPts val="400"/>
              </a:spcBef>
              <a:spcAft>
                <a:spcPts val="0"/>
              </a:spcAft>
              <a:buSzPts val="1836"/>
              <a:buChar char="🞂"/>
            </a:pPr>
            <a:r>
              <a:rPr lang="en-US"/>
              <a:t>Fear of the unknown and fear of failure</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1635"/>
        <p:cNvGrpSpPr/>
        <p:nvPr/>
      </p:nvGrpSpPr>
      <p:grpSpPr>
        <a:xfrm>
          <a:off x="0" y="0"/>
          <a:ext cx="0" cy="0"/>
          <a:chOff x="0" y="0"/>
          <a:chExt cx="0" cy="0"/>
        </a:xfrm>
      </p:grpSpPr>
      <p:sp>
        <p:nvSpPr>
          <p:cNvPr id="1636" name="Google Shape;1636;p2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Performance</a:t>
            </a:r>
            <a:endParaRPr/>
          </a:p>
        </p:txBody>
      </p:sp>
      <p:sp>
        <p:nvSpPr>
          <p:cNvPr id="1637" name="Google Shape;1637;p22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BPR seeks improvements of</a:t>
            </a:r>
            <a:endParaRPr/>
          </a:p>
          <a:p>
            <a:pPr marL="365760" lvl="0" indent="-256032" algn="l" rtl="0">
              <a:spcBef>
                <a:spcPts val="400"/>
              </a:spcBef>
              <a:spcAft>
                <a:spcPts val="0"/>
              </a:spcAft>
              <a:buSzPts val="1836"/>
              <a:buFont typeface="Lucida Sans"/>
              <a:buNone/>
            </a:pPr>
            <a:endParaRPr/>
          </a:p>
          <a:p>
            <a:pPr marL="621792" lvl="1" indent="-228600" algn="l" rtl="0">
              <a:spcBef>
                <a:spcPts val="324"/>
              </a:spcBef>
              <a:spcAft>
                <a:spcPts val="0"/>
              </a:spcAft>
              <a:buSzPts val="2300"/>
              <a:buChar char="◦"/>
            </a:pPr>
            <a:r>
              <a:rPr lang="en-US"/>
              <a:t>Cost</a:t>
            </a:r>
            <a:endParaRPr/>
          </a:p>
          <a:p>
            <a:pPr marL="621792" lvl="1" indent="-228600" algn="l" rtl="0">
              <a:spcBef>
                <a:spcPts val="324"/>
              </a:spcBef>
              <a:spcAft>
                <a:spcPts val="0"/>
              </a:spcAft>
              <a:buSzPts val="2300"/>
              <a:buChar char="◦"/>
            </a:pPr>
            <a:r>
              <a:rPr lang="en-US"/>
              <a:t>Quality</a:t>
            </a:r>
            <a:endParaRPr/>
          </a:p>
          <a:p>
            <a:pPr marL="621792" lvl="1" indent="-228600" algn="l" rtl="0">
              <a:spcBef>
                <a:spcPts val="324"/>
              </a:spcBef>
              <a:spcAft>
                <a:spcPts val="0"/>
              </a:spcAft>
              <a:buSzPts val="2300"/>
              <a:buChar char="◦"/>
            </a:pPr>
            <a:r>
              <a:rPr lang="en-US"/>
              <a:t>Service</a:t>
            </a:r>
            <a:endParaRPr/>
          </a:p>
          <a:p>
            <a:pPr marL="621792" lvl="1" indent="-228600" algn="l" rtl="0">
              <a:spcBef>
                <a:spcPts val="324"/>
              </a:spcBef>
              <a:spcAft>
                <a:spcPts val="0"/>
              </a:spcAft>
              <a:buSzPts val="2300"/>
              <a:buChar char="◦"/>
            </a:pPr>
            <a:r>
              <a:rPr lang="en-US"/>
              <a:t>Speed</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1641"/>
        <p:cNvGrpSpPr/>
        <p:nvPr/>
      </p:nvGrpSpPr>
      <p:grpSpPr>
        <a:xfrm>
          <a:off x="0" y="0"/>
          <a:ext cx="0" cy="0"/>
          <a:chOff x="0" y="0"/>
          <a:chExt cx="0" cy="0"/>
        </a:xfrm>
      </p:grpSpPr>
      <p:sp>
        <p:nvSpPr>
          <p:cNvPr id="1642" name="Google Shape;1642;p2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Origins</a:t>
            </a:r>
            <a:endParaRPr/>
          </a:p>
        </p:txBody>
      </p:sp>
      <p:sp>
        <p:nvSpPr>
          <p:cNvPr id="1643" name="Google Shape;1643;p22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Scientific Management. FW Taylor (1856-1915). </a:t>
            </a:r>
            <a:endParaRPr/>
          </a:p>
          <a:p>
            <a:pPr marL="365760" lvl="0" indent="-256032" algn="l" rtl="0">
              <a:spcBef>
                <a:spcPts val="400"/>
              </a:spcBef>
              <a:spcAft>
                <a:spcPts val="0"/>
              </a:spcAft>
              <a:buSzPts val="1836"/>
              <a:buChar char="🞂"/>
            </a:pPr>
            <a:r>
              <a:rPr lang="en-US"/>
              <a:t>Frederick Herzberg - Job Enrichment </a:t>
            </a:r>
            <a:endParaRPr/>
          </a:p>
          <a:p>
            <a:pPr marL="365760" lvl="0" indent="-256032" algn="l" rtl="0">
              <a:spcBef>
                <a:spcPts val="400"/>
              </a:spcBef>
              <a:spcAft>
                <a:spcPts val="0"/>
              </a:spcAft>
              <a:buSzPts val="1836"/>
              <a:buChar char="🞂"/>
            </a:pPr>
            <a:r>
              <a:rPr lang="en-US"/>
              <a:t>Deming et al - Total Quality Management and Kaizen </a:t>
            </a:r>
            <a:endParaRPr/>
          </a:p>
          <a:p>
            <a:pPr marL="365760" lvl="0" indent="-256032" algn="l" rtl="0">
              <a:spcBef>
                <a:spcPts val="400"/>
              </a:spcBef>
              <a:spcAft>
                <a:spcPts val="0"/>
              </a:spcAft>
              <a:buSzPts val="1836"/>
              <a:buChar char="🞂"/>
            </a:pPr>
            <a:r>
              <a:rPr lang="en-US"/>
              <a:t>In Search of Excellence (Peters and Waterman) </a:t>
            </a:r>
            <a:endParaRPr/>
          </a:p>
          <a:p>
            <a:pPr marL="365760" lvl="0" indent="-256032" algn="l" rtl="0">
              <a:spcBef>
                <a:spcPts val="400"/>
              </a:spcBef>
              <a:spcAft>
                <a:spcPts val="0"/>
              </a:spcAft>
              <a:buSzPts val="1836"/>
              <a:buChar char="🞂"/>
            </a:pPr>
            <a:r>
              <a:rPr lang="en-US"/>
              <a:t>Value-Added Analysis (Porter).</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1647"/>
        <p:cNvGrpSpPr/>
        <p:nvPr/>
      </p:nvGrpSpPr>
      <p:grpSpPr>
        <a:xfrm>
          <a:off x="0" y="0"/>
          <a:ext cx="0" cy="0"/>
          <a:chOff x="0" y="0"/>
          <a:chExt cx="0" cy="0"/>
        </a:xfrm>
      </p:grpSpPr>
      <p:sp>
        <p:nvSpPr>
          <p:cNvPr id="1648" name="Google Shape;1648;p2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Key Characteristics</a:t>
            </a:r>
            <a:endParaRPr/>
          </a:p>
        </p:txBody>
      </p:sp>
      <p:sp>
        <p:nvSpPr>
          <p:cNvPr id="1649" name="Google Shape;1649;p22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Systems Philosophy </a:t>
            </a:r>
            <a:endParaRPr/>
          </a:p>
          <a:p>
            <a:pPr marL="365760" lvl="0" indent="-256032" algn="l" rtl="0">
              <a:spcBef>
                <a:spcPts val="400"/>
              </a:spcBef>
              <a:spcAft>
                <a:spcPts val="0"/>
              </a:spcAft>
              <a:buSzPts val="1836"/>
              <a:buChar char="🞂"/>
            </a:pPr>
            <a:r>
              <a:rPr lang="en-US"/>
              <a:t>Global Perspective on Business Processes </a:t>
            </a:r>
            <a:endParaRPr/>
          </a:p>
          <a:p>
            <a:pPr marL="365760" lvl="0" indent="-256032" algn="l" rtl="0">
              <a:spcBef>
                <a:spcPts val="400"/>
              </a:spcBef>
              <a:spcAft>
                <a:spcPts val="0"/>
              </a:spcAft>
              <a:buSzPts val="1836"/>
              <a:buChar char="🞂"/>
            </a:pPr>
            <a:r>
              <a:rPr lang="en-US"/>
              <a:t>Radical Improvement</a:t>
            </a:r>
            <a:endParaRPr/>
          </a:p>
          <a:p>
            <a:pPr marL="365760" lvl="0" indent="-256032" algn="l" rtl="0">
              <a:spcBef>
                <a:spcPts val="400"/>
              </a:spcBef>
              <a:spcAft>
                <a:spcPts val="0"/>
              </a:spcAft>
              <a:buSzPts val="1836"/>
              <a:buChar char="🞂"/>
            </a:pPr>
            <a:r>
              <a:rPr lang="en-US"/>
              <a:t>Integrated Change</a:t>
            </a:r>
            <a:endParaRPr/>
          </a:p>
          <a:p>
            <a:pPr marL="365760" lvl="0" indent="-256032" algn="l" rtl="0">
              <a:spcBef>
                <a:spcPts val="400"/>
              </a:spcBef>
              <a:spcAft>
                <a:spcPts val="0"/>
              </a:spcAft>
              <a:buSzPts val="1836"/>
              <a:buChar char="🞂"/>
            </a:pPr>
            <a:r>
              <a:rPr lang="en-US"/>
              <a:t>People Centred</a:t>
            </a:r>
            <a:endParaRPr/>
          </a:p>
          <a:p>
            <a:pPr marL="365760" lvl="0" indent="-256032" algn="l" rtl="0">
              <a:spcBef>
                <a:spcPts val="400"/>
              </a:spcBef>
              <a:spcAft>
                <a:spcPts val="0"/>
              </a:spcAft>
              <a:buSzPts val="1836"/>
              <a:buChar char="🞂"/>
            </a:pPr>
            <a:r>
              <a:rPr lang="en-US"/>
              <a:t>Focus on End-Customers</a:t>
            </a:r>
            <a:endParaRPr/>
          </a:p>
          <a:p>
            <a:pPr marL="365760" lvl="0" indent="-256032" algn="l" rtl="0">
              <a:spcBef>
                <a:spcPts val="400"/>
              </a:spcBef>
              <a:spcAft>
                <a:spcPts val="0"/>
              </a:spcAft>
              <a:buSzPts val="1836"/>
              <a:buChar char="🞂"/>
            </a:pPr>
            <a:r>
              <a:rPr lang="en-US"/>
              <a:t>Process-Based</a:t>
            </a:r>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1653"/>
        <p:cNvGrpSpPr/>
        <p:nvPr/>
      </p:nvGrpSpPr>
      <p:grpSpPr>
        <a:xfrm>
          <a:off x="0" y="0"/>
          <a:ext cx="0" cy="0"/>
          <a:chOff x="0" y="0"/>
          <a:chExt cx="0" cy="0"/>
        </a:xfrm>
      </p:grpSpPr>
      <p:sp>
        <p:nvSpPr>
          <p:cNvPr id="1654" name="Google Shape;1654;p228"/>
          <p:cNvSpPr/>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sp>
        <p:nvSpPr>
          <p:cNvPr id="1655" name="Google Shape;1655;p228"/>
          <p:cNvSpPr/>
          <p:nvPr/>
        </p:nvSpPr>
        <p:spPr>
          <a:xfrm>
            <a:off x="3276600" y="2819400"/>
            <a:ext cx="2514600" cy="1143000"/>
          </a:xfrm>
          <a:prstGeom prst="rect">
            <a:avLst/>
          </a:prstGeom>
          <a:solidFill>
            <a:schemeClr val="folHlink"/>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Lucida Sans"/>
                <a:ea typeface="Lucida Sans"/>
                <a:cs typeface="Lucida Sans"/>
                <a:sym typeface="Lucida Sans"/>
              </a:rPr>
              <a:t>Transformation</a:t>
            </a:r>
            <a:endParaRPr/>
          </a:p>
        </p:txBody>
      </p:sp>
      <p:sp>
        <p:nvSpPr>
          <p:cNvPr id="1656" name="Google Shape;1656;p228"/>
          <p:cNvSpPr/>
          <p:nvPr/>
        </p:nvSpPr>
        <p:spPr>
          <a:xfrm>
            <a:off x="381000" y="2819400"/>
            <a:ext cx="2514600" cy="11430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Lucida Sans"/>
                <a:ea typeface="Lucida Sans"/>
                <a:cs typeface="Lucida Sans"/>
                <a:sym typeface="Lucida Sans"/>
              </a:rPr>
              <a:t>Inputs</a:t>
            </a:r>
            <a:endParaRPr/>
          </a:p>
        </p:txBody>
      </p:sp>
      <p:sp>
        <p:nvSpPr>
          <p:cNvPr id="1657" name="Google Shape;1657;p228"/>
          <p:cNvSpPr/>
          <p:nvPr/>
        </p:nvSpPr>
        <p:spPr>
          <a:xfrm>
            <a:off x="6248400" y="2819400"/>
            <a:ext cx="2514600" cy="11430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Lucida Sans"/>
                <a:ea typeface="Lucida Sans"/>
                <a:cs typeface="Lucida Sans"/>
                <a:sym typeface="Lucida Sans"/>
              </a:rPr>
              <a:t>Outputs</a:t>
            </a:r>
            <a:endParaRPr/>
          </a:p>
        </p:txBody>
      </p:sp>
      <p:cxnSp>
        <p:nvCxnSpPr>
          <p:cNvPr id="1658" name="Google Shape;1658;p228"/>
          <p:cNvCxnSpPr/>
          <p:nvPr/>
        </p:nvCxnSpPr>
        <p:spPr>
          <a:xfrm>
            <a:off x="2971800" y="3429000"/>
            <a:ext cx="304800" cy="0"/>
          </a:xfrm>
          <a:prstGeom prst="straightConnector1">
            <a:avLst/>
          </a:prstGeom>
          <a:noFill/>
          <a:ln w="57150" cap="flat" cmpd="sng">
            <a:solidFill>
              <a:schemeClr val="dk1"/>
            </a:solidFill>
            <a:prstDash val="solid"/>
            <a:round/>
            <a:headEnd type="none" w="med" len="med"/>
            <a:tailEnd type="triangle" w="med" len="med"/>
          </a:ln>
        </p:spPr>
      </p:cxnSp>
      <p:cxnSp>
        <p:nvCxnSpPr>
          <p:cNvPr id="1659" name="Google Shape;1659;p228"/>
          <p:cNvCxnSpPr/>
          <p:nvPr/>
        </p:nvCxnSpPr>
        <p:spPr>
          <a:xfrm>
            <a:off x="5867400" y="3429000"/>
            <a:ext cx="381000" cy="0"/>
          </a:xfrm>
          <a:prstGeom prst="straightConnector1">
            <a:avLst/>
          </a:prstGeom>
          <a:noFill/>
          <a:ln w="57150" cap="flat" cmpd="sng">
            <a:solidFill>
              <a:schemeClr val="dk1"/>
            </a:solidFill>
            <a:prstDash val="solid"/>
            <a:round/>
            <a:headEnd type="none" w="med" len="med"/>
            <a:tailEnd type="triangle" w="med" len="med"/>
          </a:ln>
        </p:spPr>
      </p:cxnSp>
      <p:sp>
        <p:nvSpPr>
          <p:cNvPr id="1660" name="Google Shape;1660;p228"/>
          <p:cNvSpPr txBox="1"/>
          <p:nvPr/>
        </p:nvSpPr>
        <p:spPr>
          <a:xfrm>
            <a:off x="3641725" y="1736725"/>
            <a:ext cx="135255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Lucida Sans"/>
                <a:ea typeface="Lucida Sans"/>
                <a:cs typeface="Lucida Sans"/>
                <a:sym typeface="Lucida Sans"/>
              </a:rPr>
              <a:t>Feedback</a:t>
            </a:r>
            <a:endParaRPr/>
          </a:p>
        </p:txBody>
      </p:sp>
      <p:sp>
        <p:nvSpPr>
          <p:cNvPr id="1661" name="Google Shape;1661;p228"/>
          <p:cNvSpPr txBox="1"/>
          <p:nvPr/>
        </p:nvSpPr>
        <p:spPr>
          <a:xfrm>
            <a:off x="3581400" y="5334000"/>
            <a:ext cx="1774825"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Lucida Sans"/>
                <a:ea typeface="Lucida Sans"/>
                <a:cs typeface="Lucida Sans"/>
                <a:sym typeface="Lucida Sans"/>
              </a:rPr>
              <a:t>Environment</a:t>
            </a:r>
            <a:endParaRPr/>
          </a:p>
        </p:txBody>
      </p:sp>
      <p:cxnSp>
        <p:nvCxnSpPr>
          <p:cNvPr id="1662" name="Google Shape;1662;p228"/>
          <p:cNvCxnSpPr/>
          <p:nvPr/>
        </p:nvCxnSpPr>
        <p:spPr>
          <a:xfrm>
            <a:off x="1676400" y="1981200"/>
            <a:ext cx="0" cy="533400"/>
          </a:xfrm>
          <a:prstGeom prst="straightConnector1">
            <a:avLst/>
          </a:prstGeom>
          <a:noFill/>
          <a:ln w="57150" cap="flat" cmpd="sng">
            <a:solidFill>
              <a:schemeClr val="dk1"/>
            </a:solidFill>
            <a:prstDash val="solid"/>
            <a:round/>
            <a:headEnd type="none" w="med" len="med"/>
            <a:tailEnd type="triangle" w="med" len="med"/>
          </a:ln>
        </p:spPr>
      </p:cxnSp>
      <p:cxnSp>
        <p:nvCxnSpPr>
          <p:cNvPr id="1663" name="Google Shape;1663;p228"/>
          <p:cNvCxnSpPr/>
          <p:nvPr/>
        </p:nvCxnSpPr>
        <p:spPr>
          <a:xfrm>
            <a:off x="1676400" y="1981200"/>
            <a:ext cx="1981200" cy="0"/>
          </a:xfrm>
          <a:prstGeom prst="straightConnector1">
            <a:avLst/>
          </a:prstGeom>
          <a:noFill/>
          <a:ln w="57150" cap="flat" cmpd="sng">
            <a:solidFill>
              <a:schemeClr val="dk1"/>
            </a:solidFill>
            <a:prstDash val="solid"/>
            <a:round/>
            <a:headEnd type="none" w="med" len="med"/>
            <a:tailEnd type="none" w="med" len="med"/>
          </a:ln>
        </p:spPr>
      </p:cxnSp>
      <p:cxnSp>
        <p:nvCxnSpPr>
          <p:cNvPr id="1664" name="Google Shape;1664;p228"/>
          <p:cNvCxnSpPr/>
          <p:nvPr/>
        </p:nvCxnSpPr>
        <p:spPr>
          <a:xfrm>
            <a:off x="5181600" y="1981200"/>
            <a:ext cx="2590800" cy="0"/>
          </a:xfrm>
          <a:prstGeom prst="straightConnector1">
            <a:avLst/>
          </a:prstGeom>
          <a:noFill/>
          <a:ln w="57150" cap="flat" cmpd="sng">
            <a:solidFill>
              <a:schemeClr val="dk1"/>
            </a:solidFill>
            <a:prstDash val="solid"/>
            <a:round/>
            <a:headEnd type="none" w="med" len="med"/>
            <a:tailEnd type="none" w="med" len="med"/>
          </a:ln>
        </p:spPr>
      </p:cxnSp>
      <p:cxnSp>
        <p:nvCxnSpPr>
          <p:cNvPr id="1665" name="Google Shape;1665;p228"/>
          <p:cNvCxnSpPr/>
          <p:nvPr/>
        </p:nvCxnSpPr>
        <p:spPr>
          <a:xfrm>
            <a:off x="7772400" y="1981200"/>
            <a:ext cx="0" cy="609600"/>
          </a:xfrm>
          <a:prstGeom prst="straightConnector1">
            <a:avLst/>
          </a:prstGeom>
          <a:noFill/>
          <a:ln w="57150" cap="flat" cmpd="sng">
            <a:solidFill>
              <a:schemeClr val="dk1"/>
            </a:solidFill>
            <a:prstDash val="solid"/>
            <a:round/>
            <a:headEnd type="none" w="med" len="med"/>
            <a:tailEnd type="none" w="med" len="med"/>
          </a:ln>
        </p:spPr>
      </p:cxnSp>
      <p:cxnSp>
        <p:nvCxnSpPr>
          <p:cNvPr id="1666" name="Google Shape;1666;p228"/>
          <p:cNvCxnSpPr/>
          <p:nvPr/>
        </p:nvCxnSpPr>
        <p:spPr>
          <a:xfrm rot="10800000">
            <a:off x="5638800" y="5562600"/>
            <a:ext cx="2133600" cy="0"/>
          </a:xfrm>
          <a:prstGeom prst="straightConnector1">
            <a:avLst/>
          </a:prstGeom>
          <a:noFill/>
          <a:ln w="57150" cap="flat" cmpd="sng">
            <a:solidFill>
              <a:schemeClr val="dk1"/>
            </a:solidFill>
            <a:prstDash val="solid"/>
            <a:round/>
            <a:headEnd type="none" w="med" len="med"/>
            <a:tailEnd type="triangle" w="med" len="med"/>
          </a:ln>
        </p:spPr>
      </p:cxnSp>
      <p:cxnSp>
        <p:nvCxnSpPr>
          <p:cNvPr id="1667" name="Google Shape;1667;p228"/>
          <p:cNvCxnSpPr/>
          <p:nvPr/>
        </p:nvCxnSpPr>
        <p:spPr>
          <a:xfrm rot="10800000">
            <a:off x="7772400" y="4267200"/>
            <a:ext cx="0" cy="1295400"/>
          </a:xfrm>
          <a:prstGeom prst="straightConnector1">
            <a:avLst/>
          </a:prstGeom>
          <a:noFill/>
          <a:ln w="57150" cap="flat" cmpd="sng">
            <a:solidFill>
              <a:schemeClr val="dk1"/>
            </a:solidFill>
            <a:prstDash val="solid"/>
            <a:round/>
            <a:headEnd type="none" w="med" len="med"/>
            <a:tailEnd type="none" w="med" len="med"/>
          </a:ln>
        </p:spPr>
      </p:cxnSp>
      <p:cxnSp>
        <p:nvCxnSpPr>
          <p:cNvPr id="1668" name="Google Shape;1668;p228"/>
          <p:cNvCxnSpPr/>
          <p:nvPr/>
        </p:nvCxnSpPr>
        <p:spPr>
          <a:xfrm rot="10800000">
            <a:off x="1676400" y="4419600"/>
            <a:ext cx="0" cy="1143000"/>
          </a:xfrm>
          <a:prstGeom prst="straightConnector1">
            <a:avLst/>
          </a:prstGeom>
          <a:noFill/>
          <a:ln w="57150" cap="flat" cmpd="sng">
            <a:solidFill>
              <a:schemeClr val="dk1"/>
            </a:solidFill>
            <a:prstDash val="solid"/>
            <a:round/>
            <a:headEnd type="none" w="med" len="med"/>
            <a:tailEnd type="triangle" w="med" len="med"/>
          </a:ln>
        </p:spPr>
      </p:cxnSp>
      <p:cxnSp>
        <p:nvCxnSpPr>
          <p:cNvPr id="1669" name="Google Shape;1669;p228"/>
          <p:cNvCxnSpPr/>
          <p:nvPr/>
        </p:nvCxnSpPr>
        <p:spPr>
          <a:xfrm>
            <a:off x="1676400" y="5562600"/>
            <a:ext cx="1752600" cy="0"/>
          </a:xfrm>
          <a:prstGeom prst="straightConnector1">
            <a:avLst/>
          </a:prstGeom>
          <a:noFill/>
          <a:ln w="57150" cap="flat" cmpd="sng">
            <a:solidFill>
              <a:schemeClr val="dk1"/>
            </a:solidFill>
            <a:prstDash val="solid"/>
            <a:round/>
            <a:headEnd type="none" w="med" len="med"/>
            <a:tailEnd type="none" w="med" len="med"/>
          </a:ln>
        </p:spPr>
      </p:cxnSp>
      <p:sp>
        <p:nvSpPr>
          <p:cNvPr id="1670" name="Google Shape;1670;p228"/>
          <p:cNvSpPr txBox="1">
            <a:spLocks noGrp="1"/>
          </p:cNvSpPr>
          <p:nvPr>
            <p:ph type="title" idx="4294967295"/>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Systems Perspective</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1674"/>
        <p:cNvGrpSpPr/>
        <p:nvPr/>
      </p:nvGrpSpPr>
      <p:grpSpPr>
        <a:xfrm>
          <a:off x="0" y="0"/>
          <a:ext cx="0" cy="0"/>
          <a:chOff x="0" y="0"/>
          <a:chExt cx="0" cy="0"/>
        </a:xfrm>
      </p:grpSpPr>
      <p:sp>
        <p:nvSpPr>
          <p:cNvPr id="1675" name="Google Shape;1675;p2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Process Based</a:t>
            </a:r>
            <a:endParaRPr/>
          </a:p>
        </p:txBody>
      </p:sp>
      <p:sp>
        <p:nvSpPr>
          <p:cNvPr id="1676" name="Google Shape;1676;p22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Added Value</a:t>
            </a:r>
            <a:endParaRPr/>
          </a:p>
          <a:p>
            <a:pPr marL="621792" lvl="1" indent="-228600" algn="l" rtl="0">
              <a:spcBef>
                <a:spcPts val="324"/>
              </a:spcBef>
              <a:spcAft>
                <a:spcPts val="0"/>
              </a:spcAft>
              <a:buSzPts val="2300"/>
              <a:buChar char="◦"/>
            </a:pPr>
            <a:r>
              <a:rPr lang="en-US"/>
              <a:t>BPR Initiatives must add-value over and above the existing process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Customer-Led </a:t>
            </a:r>
            <a:endParaRPr/>
          </a:p>
          <a:p>
            <a:pPr marL="621792" lvl="1" indent="-228600" algn="l" rtl="0">
              <a:spcBef>
                <a:spcPts val="324"/>
              </a:spcBef>
              <a:spcAft>
                <a:spcPts val="0"/>
              </a:spcAft>
              <a:buSzPts val="2300"/>
              <a:buChar char="◦"/>
            </a:pPr>
            <a:r>
              <a:rPr lang="en-US"/>
              <a:t>BPR Initiatives must meet the needs of the customer</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sp>
        <p:nvSpPr>
          <p:cNvPr id="1681" name="Google Shape;1681;p2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Radical Improvement</a:t>
            </a:r>
            <a:endParaRPr/>
          </a:p>
        </p:txBody>
      </p:sp>
      <p:sp>
        <p:nvSpPr>
          <p:cNvPr id="1682" name="Google Shape;1682;p23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Sustainable</a:t>
            </a:r>
            <a:endParaRPr/>
          </a:p>
          <a:p>
            <a:pPr marL="621792" lvl="1" indent="-228600" algn="l" rtl="0">
              <a:spcBef>
                <a:spcPts val="324"/>
              </a:spcBef>
              <a:spcAft>
                <a:spcPts val="0"/>
              </a:spcAft>
              <a:buSzPts val="2300"/>
              <a:buChar char="◦"/>
            </a:pPr>
            <a:r>
              <a:rPr lang="en-US"/>
              <a:t>Process improvements need to become firmly rooted within the organization</a:t>
            </a:r>
            <a:endParaRPr/>
          </a:p>
          <a:p>
            <a:pPr marL="621792" lvl="1" indent="-228600" algn="l" rtl="0">
              <a:spcBef>
                <a:spcPts val="324"/>
              </a:spcBef>
              <a:spcAft>
                <a:spcPts val="0"/>
              </a:spcAft>
              <a:buSzPts val="2300"/>
              <a:buFont typeface="Lucida Sans"/>
              <a:buNone/>
            </a:pPr>
            <a:endParaRPr/>
          </a:p>
          <a:p>
            <a:pPr marL="365760" lvl="0" indent="-256032" algn="l" rtl="0">
              <a:spcBef>
                <a:spcPts val="400"/>
              </a:spcBef>
              <a:spcAft>
                <a:spcPts val="0"/>
              </a:spcAft>
              <a:buSzPts val="1836"/>
              <a:buChar char="🞂"/>
            </a:pPr>
            <a:r>
              <a:rPr lang="en-US"/>
              <a:t>Stepped Approach</a:t>
            </a:r>
            <a:endParaRPr/>
          </a:p>
          <a:p>
            <a:pPr marL="621792" lvl="1" indent="-228600" algn="l" rtl="0">
              <a:spcBef>
                <a:spcPts val="324"/>
              </a:spcBef>
              <a:spcAft>
                <a:spcPts val="0"/>
              </a:spcAft>
              <a:buSzPts val="2300"/>
              <a:buChar char="◦"/>
            </a:pPr>
            <a:r>
              <a:rPr lang="en-US"/>
              <a:t>Process improvements will not happen over night they need to be gradually introduced</a:t>
            </a:r>
            <a:endParaRPr/>
          </a:p>
          <a:p>
            <a:pPr marL="621792" lvl="1" indent="-228600" algn="l" rtl="0">
              <a:spcBef>
                <a:spcPts val="324"/>
              </a:spcBef>
              <a:spcAft>
                <a:spcPts val="0"/>
              </a:spcAft>
              <a:buSzPts val="2300"/>
              <a:buChar char="◦"/>
            </a:pPr>
            <a:r>
              <a:rPr lang="en-US"/>
              <a:t>Also assists the acceptance by staff of the change</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2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Integrated Change</a:t>
            </a:r>
            <a:endParaRPr/>
          </a:p>
        </p:txBody>
      </p:sp>
      <p:sp>
        <p:nvSpPr>
          <p:cNvPr id="1688" name="Google Shape;1688;p23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Viable Solutions</a:t>
            </a:r>
            <a:endParaRPr/>
          </a:p>
          <a:p>
            <a:pPr marL="621792" lvl="1" indent="-228600" algn="l" rtl="0">
              <a:spcBef>
                <a:spcPts val="324"/>
              </a:spcBef>
              <a:spcAft>
                <a:spcPts val="0"/>
              </a:spcAft>
              <a:buSzPts val="2300"/>
              <a:buChar char="◦"/>
            </a:pPr>
            <a:r>
              <a:rPr lang="en-US"/>
              <a:t>Process improvements must be viable and practical</a:t>
            </a:r>
            <a:endParaRPr/>
          </a:p>
          <a:p>
            <a:pPr marL="621792" lvl="1" indent="-228600" algn="l" rtl="0">
              <a:spcBef>
                <a:spcPts val="324"/>
              </a:spcBef>
              <a:spcAft>
                <a:spcPts val="0"/>
              </a:spcAft>
              <a:buSzPts val="2300"/>
              <a:buFont typeface="Lucida Sans"/>
              <a:buNone/>
            </a:pPr>
            <a:endParaRPr/>
          </a:p>
          <a:p>
            <a:pPr marL="365760" lvl="0" indent="-256032" algn="l" rtl="0">
              <a:spcBef>
                <a:spcPts val="400"/>
              </a:spcBef>
              <a:spcAft>
                <a:spcPts val="0"/>
              </a:spcAft>
              <a:buSzPts val="1836"/>
              <a:buChar char="🞂"/>
            </a:pPr>
            <a:r>
              <a:rPr lang="en-US"/>
              <a:t>Balanced Improvements</a:t>
            </a:r>
            <a:endParaRPr/>
          </a:p>
          <a:p>
            <a:pPr marL="621792" lvl="1" indent="-228600" algn="l" rtl="0">
              <a:spcBef>
                <a:spcPts val="324"/>
              </a:spcBef>
              <a:spcAft>
                <a:spcPts val="0"/>
              </a:spcAft>
              <a:buSzPts val="2300"/>
              <a:buChar char="◦"/>
            </a:pPr>
            <a:r>
              <a:rPr lang="en-US"/>
              <a:t>Process improvements must be realistic</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3" name="Google Shape;1693;p2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People-Centred</a:t>
            </a:r>
            <a:endParaRPr/>
          </a:p>
        </p:txBody>
      </p:sp>
      <p:sp>
        <p:nvSpPr>
          <p:cNvPr id="1694" name="Google Shape;1694;p23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Business Understanding</a:t>
            </a:r>
            <a:endParaRPr/>
          </a:p>
          <a:p>
            <a:pPr marL="365760" lvl="0" indent="-256032" algn="l" rtl="0">
              <a:spcBef>
                <a:spcPts val="400"/>
              </a:spcBef>
              <a:spcAft>
                <a:spcPts val="0"/>
              </a:spcAft>
              <a:buSzPts val="1836"/>
              <a:buChar char="🞂"/>
            </a:pPr>
            <a:r>
              <a:rPr lang="en-US"/>
              <a:t>Empowerment &amp; Participation</a:t>
            </a:r>
            <a:endParaRPr/>
          </a:p>
          <a:p>
            <a:pPr marL="365760" lvl="0" indent="-256032" algn="l" rtl="0">
              <a:spcBef>
                <a:spcPts val="400"/>
              </a:spcBef>
              <a:spcAft>
                <a:spcPts val="0"/>
              </a:spcAft>
              <a:buSzPts val="1836"/>
              <a:buChar char="🞂"/>
            </a:pPr>
            <a:r>
              <a:rPr lang="en-US"/>
              <a:t>Organizational Culture</a:t>
            </a:r>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1698"/>
        <p:cNvGrpSpPr/>
        <p:nvPr/>
      </p:nvGrpSpPr>
      <p:grpSpPr>
        <a:xfrm>
          <a:off x="0" y="0"/>
          <a:ext cx="0" cy="0"/>
          <a:chOff x="0" y="0"/>
          <a:chExt cx="0" cy="0"/>
        </a:xfrm>
      </p:grpSpPr>
      <p:sp>
        <p:nvSpPr>
          <p:cNvPr id="1699" name="Google Shape;1699;p2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Focus on End-Customers</a:t>
            </a:r>
            <a:endParaRPr/>
          </a:p>
        </p:txBody>
      </p:sp>
      <p:sp>
        <p:nvSpPr>
          <p:cNvPr id="1700" name="Google Shape;1700;p23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Process improvements must relate to the needs of the organization and be relevant to the end-customers to which they are designed to serve</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1704"/>
        <p:cNvGrpSpPr/>
        <p:nvPr/>
      </p:nvGrpSpPr>
      <p:grpSpPr>
        <a:xfrm>
          <a:off x="0" y="0"/>
          <a:ext cx="0" cy="0"/>
          <a:chOff x="0" y="0"/>
          <a:chExt cx="0" cy="0"/>
        </a:xfrm>
      </p:grpSpPr>
      <p:sp>
        <p:nvSpPr>
          <p:cNvPr id="1705" name="Google Shape;1705;p234"/>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800"/>
              <a:buFont typeface="Lucida Sans"/>
              <a:buNone/>
            </a:pPr>
            <a:r>
              <a:rPr lang="en-US"/>
              <a:t>BPR Symbols</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2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90"/>
              <a:buFont typeface="Lucida Sans"/>
              <a:buNone/>
            </a:pPr>
            <a:r>
              <a:rPr lang="en-US" sz="3690"/>
              <a:t>Business Process Flowchart Symbols</a:t>
            </a:r>
            <a:endParaRPr/>
          </a:p>
        </p:txBody>
      </p:sp>
      <p:sp>
        <p:nvSpPr>
          <p:cNvPr id="1711" name="Google Shape;1711;p235"/>
          <p:cNvSpPr/>
          <p:nvPr/>
        </p:nvSpPr>
        <p:spPr>
          <a:xfrm>
            <a:off x="838200" y="1676400"/>
            <a:ext cx="914400" cy="609600"/>
          </a:xfrm>
          <a:prstGeom prst="flowChartProcess">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12" name="Google Shape;1712;p235"/>
          <p:cNvSpPr/>
          <p:nvPr/>
        </p:nvSpPr>
        <p:spPr>
          <a:xfrm>
            <a:off x="838200" y="2743200"/>
            <a:ext cx="914400" cy="609600"/>
          </a:xfrm>
          <a:prstGeom prst="flowChartDocumen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13" name="Google Shape;1713;p235"/>
          <p:cNvSpPr/>
          <p:nvPr/>
        </p:nvSpPr>
        <p:spPr>
          <a:xfrm>
            <a:off x="838200" y="3810000"/>
            <a:ext cx="914400" cy="609600"/>
          </a:xfrm>
          <a:prstGeom prst="flowChartDecision">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14" name="Google Shape;1714;p235"/>
          <p:cNvSpPr txBox="1"/>
          <p:nvPr/>
        </p:nvSpPr>
        <p:spPr>
          <a:xfrm>
            <a:off x="2254250" y="1768475"/>
            <a:ext cx="2505075" cy="37496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An Activity</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 Document</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 Decision</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Data (input as outputs)</a:t>
            </a:r>
            <a:endParaRPr/>
          </a:p>
        </p:txBody>
      </p:sp>
      <p:sp>
        <p:nvSpPr>
          <p:cNvPr id="1715" name="Google Shape;1715;p235"/>
          <p:cNvSpPr/>
          <p:nvPr/>
        </p:nvSpPr>
        <p:spPr>
          <a:xfrm>
            <a:off x="838200" y="4876800"/>
            <a:ext cx="914400" cy="609600"/>
          </a:xfrm>
          <a:prstGeom prst="flowChartInputOutpu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sp>
        <p:nvSpPr>
          <p:cNvPr id="1720" name="Google Shape;1720;p2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90"/>
              <a:buFont typeface="Lucida Sans"/>
              <a:buNone/>
            </a:pPr>
            <a:r>
              <a:rPr lang="en-US" sz="3690"/>
              <a:t>Business Process Flowchart Symbols</a:t>
            </a:r>
            <a:endParaRPr/>
          </a:p>
        </p:txBody>
      </p:sp>
      <p:sp>
        <p:nvSpPr>
          <p:cNvPr id="1721" name="Google Shape;1721;p236"/>
          <p:cNvSpPr txBox="1"/>
          <p:nvPr/>
        </p:nvSpPr>
        <p:spPr>
          <a:xfrm>
            <a:off x="2254250" y="1768475"/>
            <a:ext cx="2624138" cy="31400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 Predefined Process</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The Start of a Process</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The End of a Process</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Representing a Relation</a:t>
            </a:r>
            <a:endParaRPr/>
          </a:p>
        </p:txBody>
      </p:sp>
      <p:sp>
        <p:nvSpPr>
          <p:cNvPr id="1722" name="Google Shape;1722;p236"/>
          <p:cNvSpPr/>
          <p:nvPr/>
        </p:nvSpPr>
        <p:spPr>
          <a:xfrm>
            <a:off x="762000" y="1676400"/>
            <a:ext cx="914400" cy="609600"/>
          </a:xfrm>
          <a:prstGeom prst="flowChartPredefinedProcess">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23" name="Google Shape;1723;p236"/>
          <p:cNvSpPr/>
          <p:nvPr/>
        </p:nvSpPr>
        <p:spPr>
          <a:xfrm>
            <a:off x="762000" y="2667000"/>
            <a:ext cx="914400" cy="304800"/>
          </a:xfrm>
          <a:prstGeom prst="flowChartTermina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Start</a:t>
            </a:r>
            <a:endParaRPr/>
          </a:p>
        </p:txBody>
      </p:sp>
      <p:sp>
        <p:nvSpPr>
          <p:cNvPr id="1724" name="Google Shape;1724;p236"/>
          <p:cNvSpPr/>
          <p:nvPr/>
        </p:nvSpPr>
        <p:spPr>
          <a:xfrm>
            <a:off x="762000" y="3657600"/>
            <a:ext cx="914400" cy="304800"/>
          </a:xfrm>
          <a:prstGeom prst="flowChartTermina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End</a:t>
            </a:r>
            <a:endParaRPr/>
          </a:p>
        </p:txBody>
      </p:sp>
      <p:cxnSp>
        <p:nvCxnSpPr>
          <p:cNvPr id="1725" name="Google Shape;1725;p236"/>
          <p:cNvCxnSpPr/>
          <p:nvPr/>
        </p:nvCxnSpPr>
        <p:spPr>
          <a:xfrm>
            <a:off x="762000" y="4724400"/>
            <a:ext cx="838200" cy="0"/>
          </a:xfrm>
          <a:prstGeom prst="straightConnector1">
            <a:avLst/>
          </a:prstGeom>
          <a:noFill/>
          <a:ln w="9525" cap="flat" cmpd="sng">
            <a:solidFill>
              <a:schemeClr val="lt1"/>
            </a:solidFill>
            <a:prstDash val="solid"/>
            <a:round/>
            <a:headEnd type="none" w="med" len="med"/>
            <a:tailEnd type="triangle" w="med" len="med"/>
          </a:ln>
        </p:spPr>
      </p:cxnSp>
      <p:sp>
        <p:nvSpPr>
          <p:cNvPr id="1726" name="Google Shape;1726;p236"/>
          <p:cNvSpPr/>
          <p:nvPr/>
        </p:nvSpPr>
        <p:spPr>
          <a:xfrm>
            <a:off x="762000" y="2286000"/>
            <a:ext cx="914400" cy="152400"/>
          </a:xfrm>
          <a:prstGeom prst="rec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1730"/>
        <p:cNvGrpSpPr/>
        <p:nvPr/>
      </p:nvGrpSpPr>
      <p:grpSpPr>
        <a:xfrm>
          <a:off x="0" y="0"/>
          <a:ext cx="0" cy="0"/>
          <a:chOff x="0" y="0"/>
          <a:chExt cx="0" cy="0"/>
        </a:xfrm>
      </p:grpSpPr>
      <p:sp>
        <p:nvSpPr>
          <p:cNvPr id="1731" name="Google Shape;1731;p2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90"/>
              <a:buFont typeface="Lucida Sans"/>
              <a:buNone/>
            </a:pPr>
            <a:r>
              <a:rPr lang="en-US" sz="3690"/>
              <a:t>Business Process Flowchart Symbols</a:t>
            </a:r>
            <a:endParaRPr/>
          </a:p>
        </p:txBody>
      </p:sp>
      <p:sp>
        <p:nvSpPr>
          <p:cNvPr id="1732" name="Google Shape;1732;p237"/>
          <p:cNvSpPr txBox="1"/>
          <p:nvPr/>
        </p:nvSpPr>
        <p:spPr>
          <a:xfrm>
            <a:off x="2254250" y="1790700"/>
            <a:ext cx="5116513" cy="36623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Continuation of the process at the same page </a:t>
            </a:r>
            <a:endParaRPr/>
          </a:p>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at an equal symbol with the same number. Used</a:t>
            </a:r>
            <a:endParaRPr/>
          </a:p>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when a relation arrow crosses another relation arrow</a:t>
            </a:r>
            <a:endParaRPr/>
          </a:p>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Off-Page Connector - Process will continue on the </a:t>
            </a:r>
            <a:endParaRPr/>
          </a:p>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next page</a:t>
            </a:r>
            <a:endParaRPr/>
          </a:p>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Integration Relation - A relation to another module is </a:t>
            </a:r>
            <a:endParaRPr/>
          </a:p>
          <a:p>
            <a:pPr marL="0" marR="0" lvl="0" indent="0" algn="l" rtl="0">
              <a:spcBef>
                <a:spcPts val="0"/>
              </a:spcBef>
              <a:spcAft>
                <a:spcPts val="0"/>
              </a:spcAft>
              <a:buNone/>
            </a:pPr>
            <a:r>
              <a:rPr lang="en-US" sz="1800">
                <a:solidFill>
                  <a:schemeClr val="lt1"/>
                </a:solidFill>
                <a:latin typeface="Lucida Sans"/>
                <a:ea typeface="Lucida Sans"/>
                <a:cs typeface="Lucida Sans"/>
                <a:sym typeface="Lucida Sans"/>
              </a:rPr>
              <a:t>identified and described</a:t>
            </a:r>
            <a:endParaRPr/>
          </a:p>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33" name="Google Shape;1733;p237"/>
          <p:cNvSpPr/>
          <p:nvPr/>
        </p:nvSpPr>
        <p:spPr>
          <a:xfrm>
            <a:off x="1066800" y="1905000"/>
            <a:ext cx="457200" cy="457200"/>
          </a:xfrm>
          <a:prstGeom prst="flowChartConnector">
            <a:avLst/>
          </a:prstGeom>
          <a:solidFill>
            <a:schemeClr val="accen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34" name="Google Shape;1734;p237"/>
          <p:cNvSpPr/>
          <p:nvPr/>
        </p:nvSpPr>
        <p:spPr>
          <a:xfrm>
            <a:off x="990600" y="3276600"/>
            <a:ext cx="533400" cy="381000"/>
          </a:xfrm>
          <a:prstGeom prst="flowChartOffpageConnec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35" name="Google Shape;1735;p237"/>
          <p:cNvSpPr/>
          <p:nvPr/>
        </p:nvSpPr>
        <p:spPr>
          <a:xfrm>
            <a:off x="990600" y="4648200"/>
            <a:ext cx="609600" cy="457200"/>
          </a:xfrm>
          <a:prstGeom prst="flowChartAlternateProcess">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1739"/>
        <p:cNvGrpSpPr/>
        <p:nvPr/>
      </p:nvGrpSpPr>
      <p:grpSpPr>
        <a:xfrm>
          <a:off x="0" y="0"/>
          <a:ext cx="0" cy="0"/>
          <a:chOff x="0" y="0"/>
          <a:chExt cx="0" cy="0"/>
        </a:xfrm>
      </p:grpSpPr>
      <p:sp>
        <p:nvSpPr>
          <p:cNvPr id="1740" name="Google Shape;1740;p2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100"/>
              <a:buFont typeface="Lucida Sans"/>
              <a:buNone/>
            </a:pPr>
            <a:r>
              <a:rPr lang="en-US"/>
              <a:t>Data Flowchart Symbols</a:t>
            </a:r>
            <a:endParaRPr/>
          </a:p>
        </p:txBody>
      </p:sp>
      <p:sp>
        <p:nvSpPr>
          <p:cNvPr id="1741" name="Google Shape;1741;p238"/>
          <p:cNvSpPr/>
          <p:nvPr/>
        </p:nvSpPr>
        <p:spPr>
          <a:xfrm>
            <a:off x="838200" y="1676400"/>
            <a:ext cx="914400" cy="609600"/>
          </a:xfrm>
          <a:prstGeom prst="flowChartProcess">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42" name="Google Shape;1742;p238"/>
          <p:cNvSpPr/>
          <p:nvPr/>
        </p:nvSpPr>
        <p:spPr>
          <a:xfrm>
            <a:off x="838200" y="2743200"/>
            <a:ext cx="914400" cy="609600"/>
          </a:xfrm>
          <a:prstGeom prst="flowChartDocumen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43" name="Google Shape;1743;p238"/>
          <p:cNvSpPr/>
          <p:nvPr/>
        </p:nvSpPr>
        <p:spPr>
          <a:xfrm>
            <a:off x="838200" y="3810000"/>
            <a:ext cx="914400" cy="609600"/>
          </a:xfrm>
          <a:prstGeom prst="flowChartDecision">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44" name="Google Shape;1744;p238"/>
          <p:cNvSpPr txBox="1"/>
          <p:nvPr/>
        </p:nvSpPr>
        <p:spPr>
          <a:xfrm>
            <a:off x="2254250" y="1768475"/>
            <a:ext cx="3422650" cy="37496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An Activity</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 Document</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 Decision</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Flat Data File (input as outputs)</a:t>
            </a:r>
            <a:endParaRPr/>
          </a:p>
        </p:txBody>
      </p:sp>
      <p:sp>
        <p:nvSpPr>
          <p:cNvPr id="1745" name="Google Shape;1745;p238"/>
          <p:cNvSpPr/>
          <p:nvPr/>
        </p:nvSpPr>
        <p:spPr>
          <a:xfrm>
            <a:off x="838200" y="4876800"/>
            <a:ext cx="914400" cy="609600"/>
          </a:xfrm>
          <a:prstGeom prst="flowChartInputOutpu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sp>
        <p:nvSpPr>
          <p:cNvPr id="1750" name="Google Shape;1750;p2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100"/>
              <a:buFont typeface="Lucida Sans"/>
              <a:buNone/>
            </a:pPr>
            <a:r>
              <a:rPr lang="en-US"/>
              <a:t>Data Flowchart Symbols</a:t>
            </a:r>
            <a:endParaRPr/>
          </a:p>
        </p:txBody>
      </p:sp>
      <p:sp>
        <p:nvSpPr>
          <p:cNvPr id="1751" name="Google Shape;1751;p239"/>
          <p:cNvSpPr txBox="1"/>
          <p:nvPr/>
        </p:nvSpPr>
        <p:spPr>
          <a:xfrm>
            <a:off x="2286000" y="1752600"/>
            <a:ext cx="2624138" cy="40544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Manual Data Item</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A Database File</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Representing a Relation</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Continuation</a:t>
            </a:r>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Off-Page Connector</a:t>
            </a:r>
            <a:endParaRPr/>
          </a:p>
        </p:txBody>
      </p:sp>
      <p:cxnSp>
        <p:nvCxnSpPr>
          <p:cNvPr id="1752" name="Google Shape;1752;p239"/>
          <p:cNvCxnSpPr/>
          <p:nvPr/>
        </p:nvCxnSpPr>
        <p:spPr>
          <a:xfrm>
            <a:off x="762000" y="3810000"/>
            <a:ext cx="838200" cy="0"/>
          </a:xfrm>
          <a:prstGeom prst="straightConnector1">
            <a:avLst/>
          </a:prstGeom>
          <a:noFill/>
          <a:ln w="9525" cap="flat" cmpd="sng">
            <a:solidFill>
              <a:schemeClr val="lt1"/>
            </a:solidFill>
            <a:prstDash val="solid"/>
            <a:round/>
            <a:headEnd type="none" w="med" len="med"/>
            <a:tailEnd type="triangle" w="med" len="med"/>
          </a:ln>
        </p:spPr>
      </p:cxnSp>
      <p:sp>
        <p:nvSpPr>
          <p:cNvPr id="1753" name="Google Shape;1753;p239"/>
          <p:cNvSpPr/>
          <p:nvPr/>
        </p:nvSpPr>
        <p:spPr>
          <a:xfrm>
            <a:off x="762000" y="1676400"/>
            <a:ext cx="762000" cy="533400"/>
          </a:xfrm>
          <a:prstGeom prst="flowChartManualInpu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54" name="Google Shape;1754;p239"/>
          <p:cNvSpPr/>
          <p:nvPr/>
        </p:nvSpPr>
        <p:spPr>
          <a:xfrm>
            <a:off x="685800" y="2590800"/>
            <a:ext cx="914400" cy="609600"/>
          </a:xfrm>
          <a:prstGeom prst="flowChartOnlineStorage">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55" name="Google Shape;1755;p239"/>
          <p:cNvSpPr/>
          <p:nvPr/>
        </p:nvSpPr>
        <p:spPr>
          <a:xfrm>
            <a:off x="914400" y="4495800"/>
            <a:ext cx="381000" cy="381000"/>
          </a:xfrm>
          <a:prstGeom prst="flowChartConnector">
            <a:avLst/>
          </a:prstGeom>
          <a:solidFill>
            <a:schemeClr val="accen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56" name="Google Shape;1756;p239"/>
          <p:cNvSpPr/>
          <p:nvPr/>
        </p:nvSpPr>
        <p:spPr>
          <a:xfrm>
            <a:off x="838200" y="5181600"/>
            <a:ext cx="609600" cy="609600"/>
          </a:xfrm>
          <a:prstGeom prst="flowChartOffpageConnec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240"/>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800"/>
              <a:buFont typeface="Lucida Sans"/>
              <a:buNone/>
            </a:pPr>
            <a:r>
              <a:rPr lang="en-US"/>
              <a:t>Rules For Data Symbols</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sp>
        <p:nvSpPr>
          <p:cNvPr id="1766" name="Google Shape;1766;p2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100"/>
              <a:buFont typeface="Lucida Sans"/>
              <a:buNone/>
            </a:pPr>
            <a:r>
              <a:rPr lang="en-US"/>
              <a:t>Rules For Data Symbols</a:t>
            </a:r>
            <a:endParaRPr/>
          </a:p>
        </p:txBody>
      </p:sp>
      <p:sp>
        <p:nvSpPr>
          <p:cNvPr id="1767" name="Google Shape;1767;p241"/>
          <p:cNvSpPr/>
          <p:nvPr/>
        </p:nvSpPr>
        <p:spPr>
          <a:xfrm>
            <a:off x="762000" y="1524000"/>
            <a:ext cx="914400" cy="304800"/>
          </a:xfrm>
          <a:prstGeom prst="flowChartTermina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Start</a:t>
            </a:r>
            <a:endParaRPr/>
          </a:p>
        </p:txBody>
      </p:sp>
      <p:sp>
        <p:nvSpPr>
          <p:cNvPr id="1768" name="Google Shape;1768;p241"/>
          <p:cNvSpPr/>
          <p:nvPr/>
        </p:nvSpPr>
        <p:spPr>
          <a:xfrm>
            <a:off x="762000" y="5867400"/>
            <a:ext cx="914400" cy="304800"/>
          </a:xfrm>
          <a:prstGeom prst="flowChartTermina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End</a:t>
            </a:r>
            <a:endParaRPr/>
          </a:p>
        </p:txBody>
      </p:sp>
      <p:sp>
        <p:nvSpPr>
          <p:cNvPr id="1769" name="Google Shape;1769;p241"/>
          <p:cNvSpPr/>
          <p:nvPr/>
        </p:nvSpPr>
        <p:spPr>
          <a:xfrm>
            <a:off x="762000" y="2286000"/>
            <a:ext cx="990600" cy="838200"/>
          </a:xfrm>
          <a:prstGeom prst="rec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Generate</a:t>
            </a:r>
            <a:endParaRPr/>
          </a:p>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 Purchase </a:t>
            </a:r>
            <a:endParaRPr/>
          </a:p>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Order</a:t>
            </a:r>
            <a:endParaRPr/>
          </a:p>
        </p:txBody>
      </p:sp>
      <p:sp>
        <p:nvSpPr>
          <p:cNvPr id="1770" name="Google Shape;1770;p241"/>
          <p:cNvSpPr/>
          <p:nvPr/>
        </p:nvSpPr>
        <p:spPr>
          <a:xfrm>
            <a:off x="1828800" y="3276600"/>
            <a:ext cx="184150" cy="5191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771" name="Google Shape;1771;p241"/>
          <p:cNvCxnSpPr/>
          <p:nvPr/>
        </p:nvCxnSpPr>
        <p:spPr>
          <a:xfrm>
            <a:off x="1219200" y="3962400"/>
            <a:ext cx="0" cy="228600"/>
          </a:xfrm>
          <a:prstGeom prst="straightConnector1">
            <a:avLst/>
          </a:prstGeom>
          <a:noFill/>
          <a:ln w="9525" cap="flat" cmpd="sng">
            <a:solidFill>
              <a:schemeClr val="lt1"/>
            </a:solidFill>
            <a:prstDash val="solid"/>
            <a:round/>
            <a:headEnd type="none" w="med" len="med"/>
            <a:tailEnd type="triangle" w="med" len="med"/>
          </a:ln>
        </p:spPr>
      </p:cxnSp>
      <p:sp>
        <p:nvSpPr>
          <p:cNvPr id="1772" name="Google Shape;1772;p241"/>
          <p:cNvSpPr/>
          <p:nvPr/>
        </p:nvSpPr>
        <p:spPr>
          <a:xfrm>
            <a:off x="762000" y="3352800"/>
            <a:ext cx="914400" cy="609600"/>
          </a:xfrm>
          <a:prstGeom prst="flowChartDecision">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OK?</a:t>
            </a:r>
            <a:endParaRPr/>
          </a:p>
        </p:txBody>
      </p:sp>
      <p:cxnSp>
        <p:nvCxnSpPr>
          <p:cNvPr id="1773" name="Google Shape;1773;p241"/>
          <p:cNvCxnSpPr/>
          <p:nvPr/>
        </p:nvCxnSpPr>
        <p:spPr>
          <a:xfrm>
            <a:off x="1676400" y="3657600"/>
            <a:ext cx="228600" cy="0"/>
          </a:xfrm>
          <a:prstGeom prst="straightConnector1">
            <a:avLst/>
          </a:prstGeom>
          <a:noFill/>
          <a:ln w="9525" cap="flat" cmpd="sng">
            <a:solidFill>
              <a:schemeClr val="lt1"/>
            </a:solidFill>
            <a:prstDash val="solid"/>
            <a:round/>
            <a:headEnd type="none" w="med" len="med"/>
            <a:tailEnd type="triangle" w="med" len="med"/>
          </a:ln>
        </p:spPr>
      </p:cxnSp>
      <p:sp>
        <p:nvSpPr>
          <p:cNvPr id="1774" name="Google Shape;1774;p241"/>
          <p:cNvSpPr txBox="1"/>
          <p:nvPr/>
        </p:nvSpPr>
        <p:spPr>
          <a:xfrm>
            <a:off x="1889125" y="3489325"/>
            <a:ext cx="579438"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Yes</a:t>
            </a:r>
            <a:endParaRPr/>
          </a:p>
        </p:txBody>
      </p:sp>
      <p:sp>
        <p:nvSpPr>
          <p:cNvPr id="1775" name="Google Shape;1775;p241"/>
          <p:cNvSpPr txBox="1"/>
          <p:nvPr/>
        </p:nvSpPr>
        <p:spPr>
          <a:xfrm>
            <a:off x="974725" y="4221163"/>
            <a:ext cx="49530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No</a:t>
            </a:r>
            <a:endParaRPr/>
          </a:p>
        </p:txBody>
      </p:sp>
      <p:cxnSp>
        <p:nvCxnSpPr>
          <p:cNvPr id="1776" name="Google Shape;1776;p241"/>
          <p:cNvCxnSpPr/>
          <p:nvPr/>
        </p:nvCxnSpPr>
        <p:spPr>
          <a:xfrm>
            <a:off x="762000" y="5029200"/>
            <a:ext cx="838200" cy="0"/>
          </a:xfrm>
          <a:prstGeom prst="straightConnector1">
            <a:avLst/>
          </a:prstGeom>
          <a:noFill/>
          <a:ln w="9525" cap="flat" cmpd="sng">
            <a:solidFill>
              <a:schemeClr val="lt1"/>
            </a:solidFill>
            <a:prstDash val="solid"/>
            <a:round/>
            <a:headEnd type="none" w="med" len="med"/>
            <a:tailEnd type="triangle" w="med" len="med"/>
          </a:ln>
        </p:spPr>
      </p:cxnSp>
      <p:sp>
        <p:nvSpPr>
          <p:cNvPr id="1777" name="Google Shape;1777;p241"/>
          <p:cNvSpPr txBox="1"/>
          <p:nvPr/>
        </p:nvSpPr>
        <p:spPr>
          <a:xfrm>
            <a:off x="2819400" y="1447800"/>
            <a:ext cx="184150" cy="5191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778" name="Google Shape;1778;p241"/>
          <p:cNvSpPr txBox="1"/>
          <p:nvPr/>
        </p:nvSpPr>
        <p:spPr>
          <a:xfrm>
            <a:off x="2667000" y="1600200"/>
            <a:ext cx="6096000" cy="48164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Symbol used to identify the start of a business process</a:t>
            </a:r>
            <a:endParaRPr/>
          </a:p>
          <a:p>
            <a:pPr marL="0" marR="0" lvl="0" indent="0" algn="l" rtl="0">
              <a:spcBef>
                <a:spcPts val="100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a:solidFill>
                  <a:schemeClr val="lt1"/>
                </a:solidFill>
                <a:latin typeface="Lucida Sans"/>
                <a:ea typeface="Lucida Sans"/>
                <a:cs typeface="Lucida Sans"/>
                <a:sym typeface="Lucida Sans"/>
              </a:rPr>
              <a:t>Activities must be described as a verb</a:t>
            </a:r>
            <a:endParaRPr/>
          </a:p>
          <a:p>
            <a:pPr marL="0" marR="0" lvl="0" indent="0" algn="l" rtl="0">
              <a:spcBef>
                <a:spcPts val="100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a:solidFill>
                  <a:schemeClr val="lt1"/>
                </a:solidFill>
                <a:latin typeface="Lucida Sans"/>
                <a:ea typeface="Lucida Sans"/>
                <a:cs typeface="Lucida Sans"/>
                <a:sym typeface="Lucida Sans"/>
              </a:rPr>
              <a:t>Decisions have </a:t>
            </a:r>
            <a:r>
              <a:rPr lang="en-US" sz="2000" i="1">
                <a:solidFill>
                  <a:schemeClr val="lt1"/>
                </a:solidFill>
                <a:latin typeface="Lucida Sans"/>
                <a:ea typeface="Lucida Sans"/>
                <a:cs typeface="Lucida Sans"/>
                <a:sym typeface="Lucida Sans"/>
              </a:rPr>
              <a:t>only </a:t>
            </a:r>
            <a:r>
              <a:rPr lang="en-US" sz="2000">
                <a:solidFill>
                  <a:schemeClr val="lt1"/>
                </a:solidFill>
                <a:latin typeface="Lucida Sans"/>
                <a:ea typeface="Lucida Sans"/>
                <a:cs typeface="Lucida Sans"/>
                <a:sym typeface="Lucida Sans"/>
              </a:rPr>
              <a:t>two possibilities (Yes &amp; No)</a:t>
            </a:r>
            <a:endParaRPr/>
          </a:p>
          <a:p>
            <a:pPr marL="0" marR="0" lvl="0" indent="0" algn="l" rtl="0">
              <a:spcBef>
                <a:spcPts val="100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100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a:solidFill>
                  <a:schemeClr val="lt1"/>
                </a:solidFill>
                <a:latin typeface="Lucida Sans"/>
                <a:ea typeface="Lucida Sans"/>
                <a:cs typeface="Lucida Sans"/>
                <a:sym typeface="Lucida Sans"/>
              </a:rPr>
              <a:t>Crossing lines are not allowed</a:t>
            </a:r>
            <a:endParaRPr/>
          </a:p>
          <a:p>
            <a:pPr marL="0" marR="0" lvl="0" indent="0" algn="l" rtl="0">
              <a:spcBef>
                <a:spcPts val="1000"/>
              </a:spcBef>
              <a:spcAft>
                <a:spcPts val="0"/>
              </a:spcAft>
              <a:buNone/>
            </a:pPr>
            <a:endParaRPr sz="200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a:solidFill>
                  <a:schemeClr val="lt1"/>
                </a:solidFill>
                <a:latin typeface="Lucida Sans"/>
                <a:ea typeface="Lucida Sans"/>
                <a:cs typeface="Lucida Sans"/>
                <a:sym typeface="Lucida Sans"/>
              </a:rPr>
              <a:t>If one side of the decision has no further processes defined this symbol has to be used</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1782"/>
        <p:cNvGrpSpPr/>
        <p:nvPr/>
      </p:nvGrpSpPr>
      <p:grpSpPr>
        <a:xfrm>
          <a:off x="0" y="0"/>
          <a:ext cx="0" cy="0"/>
          <a:chOff x="0" y="0"/>
          <a:chExt cx="0" cy="0"/>
        </a:xfrm>
      </p:grpSpPr>
      <p:sp>
        <p:nvSpPr>
          <p:cNvPr id="1783" name="Google Shape;1783;p2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100"/>
              <a:buFont typeface="Lucida Sans"/>
              <a:buNone/>
            </a:pPr>
            <a:r>
              <a:rPr lang="en-US"/>
              <a:t>Rules For Data Symbols</a:t>
            </a:r>
            <a:endParaRPr/>
          </a:p>
        </p:txBody>
      </p:sp>
      <p:sp>
        <p:nvSpPr>
          <p:cNvPr id="1784" name="Google Shape;1784;p242"/>
          <p:cNvSpPr/>
          <p:nvPr/>
        </p:nvSpPr>
        <p:spPr>
          <a:xfrm>
            <a:off x="838200" y="2647666"/>
            <a:ext cx="1066800" cy="857534"/>
          </a:xfrm>
          <a:prstGeom prst="flowChartDocumen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Lucida Sans"/>
                <a:ea typeface="Lucida Sans"/>
                <a:cs typeface="Lucida Sans"/>
                <a:sym typeface="Lucida Sans"/>
              </a:rPr>
              <a:t>Purchase</a:t>
            </a:r>
            <a:endParaRPr dirty="0"/>
          </a:p>
          <a:p>
            <a:pPr marL="0" marR="0" lvl="0" indent="0" algn="ctr" rtl="0">
              <a:spcBef>
                <a:spcPts val="0"/>
              </a:spcBef>
              <a:spcAft>
                <a:spcPts val="0"/>
              </a:spcAft>
              <a:buNone/>
            </a:pPr>
            <a:r>
              <a:rPr lang="en-US" sz="1600" dirty="0">
                <a:solidFill>
                  <a:schemeClr val="dk1"/>
                </a:solidFill>
                <a:latin typeface="Lucida Sans"/>
                <a:ea typeface="Lucida Sans"/>
                <a:cs typeface="Lucida Sans"/>
                <a:sym typeface="Lucida Sans"/>
              </a:rPr>
              <a:t>Order</a:t>
            </a:r>
            <a:endParaRPr dirty="0"/>
          </a:p>
        </p:txBody>
      </p:sp>
      <p:sp>
        <p:nvSpPr>
          <p:cNvPr id="1785" name="Google Shape;1785;p242"/>
          <p:cNvSpPr/>
          <p:nvPr/>
        </p:nvSpPr>
        <p:spPr>
          <a:xfrm>
            <a:off x="838200" y="4967785"/>
            <a:ext cx="1066800" cy="1052015"/>
          </a:xfrm>
          <a:prstGeom prst="flowChartInputOutpu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Posting </a:t>
            </a:r>
            <a:endParaRPr/>
          </a:p>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of Bonus</a:t>
            </a:r>
            <a:endParaRPr/>
          </a:p>
        </p:txBody>
      </p:sp>
      <p:sp>
        <p:nvSpPr>
          <p:cNvPr id="1786" name="Google Shape;1786;p242"/>
          <p:cNvSpPr/>
          <p:nvPr/>
        </p:nvSpPr>
        <p:spPr>
          <a:xfrm>
            <a:off x="1066800" y="1676400"/>
            <a:ext cx="457200" cy="457200"/>
          </a:xfrm>
          <a:prstGeom prst="flowChartConnector">
            <a:avLst/>
          </a:prstGeom>
          <a:solidFill>
            <a:schemeClr val="accen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Lucida Sans"/>
                <a:ea typeface="Lucida Sans"/>
                <a:cs typeface="Lucida Sans"/>
                <a:sym typeface="Lucida Sans"/>
              </a:rPr>
              <a:t>I</a:t>
            </a:r>
            <a:endParaRPr/>
          </a:p>
        </p:txBody>
      </p:sp>
      <p:sp>
        <p:nvSpPr>
          <p:cNvPr id="1787" name="Google Shape;1787;p242"/>
          <p:cNvSpPr/>
          <p:nvPr/>
        </p:nvSpPr>
        <p:spPr>
          <a:xfrm>
            <a:off x="990600" y="3962400"/>
            <a:ext cx="533400" cy="685800"/>
          </a:xfrm>
          <a:prstGeom prst="flowChartOffpageConnector">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a:t>
            </a:r>
            <a:endParaRPr/>
          </a:p>
        </p:txBody>
      </p:sp>
      <p:sp>
        <p:nvSpPr>
          <p:cNvPr id="1788" name="Google Shape;1788;p242"/>
          <p:cNvSpPr txBox="1"/>
          <p:nvPr/>
        </p:nvSpPr>
        <p:spPr>
          <a:xfrm>
            <a:off x="2667000" y="1600200"/>
            <a:ext cx="6096000" cy="43592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lt1"/>
                </a:solidFill>
                <a:latin typeface="Lucida Sans"/>
                <a:ea typeface="Lucida Sans"/>
                <a:cs typeface="Lucida Sans"/>
                <a:sym typeface="Lucida Sans"/>
              </a:rPr>
              <a:t>Continuation symbol within the same number must be present twice on the same page</a:t>
            </a:r>
            <a:endParaRPr dirty="0"/>
          </a:p>
          <a:p>
            <a:pPr marL="0" marR="0" lvl="0" indent="0" algn="l" rtl="0">
              <a:spcBef>
                <a:spcPts val="1000"/>
              </a:spcBef>
              <a:spcAft>
                <a:spcPts val="0"/>
              </a:spcAft>
              <a:buNone/>
            </a:pPr>
            <a:endParaRPr sz="2000" dirty="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dirty="0">
                <a:solidFill>
                  <a:schemeClr val="lt1"/>
                </a:solidFill>
                <a:latin typeface="Lucida Sans"/>
                <a:ea typeface="Lucida Sans"/>
                <a:cs typeface="Lucida Sans"/>
                <a:sym typeface="Lucida Sans"/>
              </a:rPr>
              <a:t>Name the document</a:t>
            </a:r>
            <a:endParaRPr dirty="0"/>
          </a:p>
          <a:p>
            <a:pPr marL="0" marR="0" lvl="0" indent="0" algn="l" rtl="0">
              <a:spcBef>
                <a:spcPts val="1000"/>
              </a:spcBef>
              <a:spcAft>
                <a:spcPts val="0"/>
              </a:spcAft>
              <a:buNone/>
            </a:pPr>
            <a:endParaRPr sz="2000" dirty="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dirty="0">
                <a:solidFill>
                  <a:schemeClr val="lt1"/>
                </a:solidFill>
                <a:latin typeface="Lucida Sans"/>
                <a:ea typeface="Lucida Sans"/>
                <a:cs typeface="Lucida Sans"/>
                <a:sym typeface="Lucida Sans"/>
              </a:rPr>
              <a:t>Off- Page Connector is used to continue a process at the next page or to let the process to flow over at the previous to the next page. If more than one is needed use A, B, C, D …</a:t>
            </a:r>
            <a:endParaRPr dirty="0"/>
          </a:p>
          <a:p>
            <a:pPr marL="0" marR="0" lvl="0" indent="0" algn="l" rtl="0">
              <a:spcBef>
                <a:spcPts val="1000"/>
              </a:spcBef>
              <a:spcAft>
                <a:spcPts val="0"/>
              </a:spcAft>
              <a:buNone/>
            </a:pPr>
            <a:endParaRPr sz="2000" dirty="0">
              <a:solidFill>
                <a:schemeClr val="lt1"/>
              </a:solidFill>
              <a:latin typeface="Lucida Sans"/>
              <a:ea typeface="Lucida Sans"/>
              <a:cs typeface="Lucida Sans"/>
              <a:sym typeface="Lucida Sans"/>
            </a:endParaRPr>
          </a:p>
          <a:p>
            <a:pPr marL="0" marR="0" lvl="0" indent="0" algn="l" rtl="0">
              <a:spcBef>
                <a:spcPts val="1000"/>
              </a:spcBef>
              <a:spcAft>
                <a:spcPts val="0"/>
              </a:spcAft>
              <a:buNone/>
            </a:pPr>
            <a:r>
              <a:rPr lang="en-US" sz="2000" dirty="0">
                <a:solidFill>
                  <a:schemeClr val="lt1"/>
                </a:solidFill>
                <a:latin typeface="Lucida Sans"/>
                <a:ea typeface="Lucida Sans"/>
                <a:cs typeface="Lucida Sans"/>
                <a:sym typeface="Lucida Sans"/>
              </a:rPr>
              <a:t>Name the data</a:t>
            </a:r>
            <a:endParaRPr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1792"/>
        <p:cNvGrpSpPr/>
        <p:nvPr/>
      </p:nvGrpSpPr>
      <p:grpSpPr>
        <a:xfrm>
          <a:off x="0" y="0"/>
          <a:ext cx="0" cy="0"/>
          <a:chOff x="0" y="0"/>
          <a:chExt cx="0" cy="0"/>
        </a:xfrm>
      </p:grpSpPr>
      <p:sp>
        <p:nvSpPr>
          <p:cNvPr id="1793" name="Google Shape;1793;p2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100"/>
              <a:buFont typeface="Lucida Sans"/>
              <a:buNone/>
            </a:pPr>
            <a:r>
              <a:rPr lang="en-US"/>
              <a:t>Rules For Data Symbols</a:t>
            </a:r>
            <a:endParaRPr/>
          </a:p>
        </p:txBody>
      </p:sp>
      <p:sp>
        <p:nvSpPr>
          <p:cNvPr id="1794" name="Google Shape;1794;p243"/>
          <p:cNvSpPr/>
          <p:nvPr/>
        </p:nvSpPr>
        <p:spPr>
          <a:xfrm>
            <a:off x="762000" y="1600200"/>
            <a:ext cx="1447800" cy="1219200"/>
          </a:xfrm>
          <a:prstGeom prst="flowChartPredefinedProcess">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Sub-Process</a:t>
            </a:r>
            <a:endParaRPr/>
          </a:p>
          <a:p>
            <a:pPr marL="0" marR="0" lvl="0" indent="0" algn="ctr" rtl="0">
              <a:spcBef>
                <a:spcPts val="0"/>
              </a:spcBef>
              <a:spcAft>
                <a:spcPts val="0"/>
              </a:spcAft>
              <a:buNone/>
            </a:pPr>
            <a:r>
              <a:rPr lang="en-US" sz="1600">
                <a:solidFill>
                  <a:schemeClr val="dk1"/>
                </a:solidFill>
                <a:latin typeface="Lucida Sans"/>
                <a:ea typeface="Lucida Sans"/>
                <a:cs typeface="Lucida Sans"/>
                <a:sym typeface="Lucida Sans"/>
              </a:rPr>
              <a:t>Delivery</a:t>
            </a:r>
            <a:endParaRPr sz="1400">
              <a:solidFill>
                <a:schemeClr val="dk1"/>
              </a:solidFill>
              <a:latin typeface="Lucida Sans"/>
              <a:ea typeface="Lucida Sans"/>
              <a:cs typeface="Lucida Sans"/>
              <a:sym typeface="Lucida Sans"/>
            </a:endParaRPr>
          </a:p>
        </p:txBody>
      </p:sp>
      <p:sp>
        <p:nvSpPr>
          <p:cNvPr id="1795" name="Google Shape;1795;p243"/>
          <p:cNvSpPr/>
          <p:nvPr/>
        </p:nvSpPr>
        <p:spPr>
          <a:xfrm>
            <a:off x="762000" y="2819400"/>
            <a:ext cx="1447800" cy="304800"/>
          </a:xfrm>
          <a:prstGeom prst="rec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000">
                <a:solidFill>
                  <a:schemeClr val="dk1"/>
                </a:solidFill>
                <a:latin typeface="Lucida Sans"/>
                <a:ea typeface="Lucida Sans"/>
                <a:cs typeface="Lucida Sans"/>
                <a:sym typeface="Lucida Sans"/>
              </a:rPr>
              <a:t>BC 4.04</a:t>
            </a:r>
            <a:endParaRPr/>
          </a:p>
        </p:txBody>
      </p:sp>
      <p:sp>
        <p:nvSpPr>
          <p:cNvPr id="1796" name="Google Shape;1796;p243"/>
          <p:cNvSpPr txBox="1"/>
          <p:nvPr/>
        </p:nvSpPr>
        <p:spPr>
          <a:xfrm>
            <a:off x="2667000" y="1600200"/>
            <a:ext cx="6096000" cy="3505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Predefined Processes always have a relation to level and stream by a number in the line below a sub-process description </a:t>
            </a:r>
            <a:endParaRPr/>
          </a:p>
          <a:p>
            <a:pPr marL="0" marR="0" lvl="0" indent="0" algn="l" rtl="0">
              <a:spcBef>
                <a:spcPts val="1000"/>
              </a:spcBef>
              <a:spcAft>
                <a:spcPts val="0"/>
              </a:spcAft>
              <a:buNone/>
            </a:pPr>
            <a:r>
              <a:rPr lang="en-US" sz="2000">
                <a:solidFill>
                  <a:schemeClr val="lt1"/>
                </a:solidFill>
                <a:latin typeface="Lucida Sans"/>
                <a:ea typeface="Lucida Sans"/>
                <a:cs typeface="Lucida Sans"/>
                <a:sym typeface="Lucida Sans"/>
              </a:rPr>
              <a:t>A predefined process must be described in a different flowchart. To make the relation clear between the predefined process and the belonging flowchart a unique alpha numeric number should be assigned to this predefined process.</a:t>
            </a:r>
            <a:endParaRPr/>
          </a:p>
          <a:p>
            <a:pPr marL="0" marR="0" lvl="0" indent="0" algn="just" rtl="0">
              <a:spcBef>
                <a:spcPts val="0"/>
              </a:spcBef>
              <a:spcAft>
                <a:spcPts val="0"/>
              </a:spcAft>
              <a:buNone/>
            </a:pPr>
            <a:endParaRPr sz="2400">
              <a:solidFill>
                <a:schemeClr val="lt1"/>
              </a:solidFill>
              <a:latin typeface="Arial"/>
              <a:ea typeface="Arial"/>
              <a:cs typeface="Arial"/>
              <a:sym typeface="Arial"/>
            </a:endParaRPr>
          </a:p>
          <a:p>
            <a:pPr marL="0" marR="0" lvl="0" indent="0" algn="l" rtl="0">
              <a:spcBef>
                <a:spcPts val="1000"/>
              </a:spcBef>
              <a:spcAft>
                <a:spcPts val="0"/>
              </a:spcAft>
              <a:buNone/>
            </a:pPr>
            <a:endParaRPr sz="2000">
              <a:solidFill>
                <a:schemeClr val="lt1"/>
              </a:solidFill>
              <a:latin typeface="Lucida Sans"/>
              <a:ea typeface="Lucida Sans"/>
              <a:cs typeface="Lucida Sans"/>
              <a:sym typeface="Lucida Sans"/>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1800"/>
        <p:cNvGrpSpPr/>
        <p:nvPr/>
      </p:nvGrpSpPr>
      <p:grpSpPr>
        <a:xfrm>
          <a:off x="0" y="0"/>
          <a:ext cx="0" cy="0"/>
          <a:chOff x="0" y="0"/>
          <a:chExt cx="0" cy="0"/>
        </a:xfrm>
      </p:grpSpPr>
      <p:sp>
        <p:nvSpPr>
          <p:cNvPr id="1801" name="Google Shape;1801;p2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Version Management</a:t>
            </a:r>
            <a:endParaRPr/>
          </a:p>
        </p:txBody>
      </p:sp>
      <p:sp>
        <p:nvSpPr>
          <p:cNvPr id="1802" name="Google Shape;1802;p24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For different versions of a business process or data flow some mandatory information must be on the flowchart. </a:t>
            </a:r>
            <a:endParaRPr/>
          </a:p>
          <a:p>
            <a:pPr marL="621792" lvl="1" indent="-228600" algn="just" rtl="0">
              <a:spcBef>
                <a:spcPts val="324"/>
              </a:spcBef>
              <a:spcAft>
                <a:spcPts val="0"/>
              </a:spcAft>
              <a:buSzPts val="2300"/>
              <a:buChar char="◦"/>
            </a:pPr>
            <a:r>
              <a:rPr lang="en-US"/>
              <a:t>Name of the business process</a:t>
            </a:r>
            <a:endParaRPr/>
          </a:p>
          <a:p>
            <a:pPr marL="621792" lvl="1" indent="-228600" algn="just" rtl="0">
              <a:spcBef>
                <a:spcPts val="324"/>
              </a:spcBef>
              <a:spcAft>
                <a:spcPts val="0"/>
              </a:spcAft>
              <a:buSzPts val="2300"/>
              <a:buChar char="◦"/>
            </a:pPr>
            <a:r>
              <a:rPr lang="en-US"/>
              <a:t>Unique number of the business process</a:t>
            </a:r>
            <a:endParaRPr/>
          </a:p>
          <a:p>
            <a:pPr marL="621792" lvl="1" indent="-228600" algn="just" rtl="0">
              <a:spcBef>
                <a:spcPts val="324"/>
              </a:spcBef>
              <a:spcAft>
                <a:spcPts val="0"/>
              </a:spcAft>
              <a:buSzPts val="2300"/>
              <a:buChar char="◦"/>
            </a:pPr>
            <a:r>
              <a:rPr lang="en-US"/>
              <a:t>Revision number</a:t>
            </a:r>
            <a:endParaRPr/>
          </a:p>
          <a:p>
            <a:pPr marL="621792" lvl="1" indent="-228600" algn="just" rtl="0">
              <a:spcBef>
                <a:spcPts val="324"/>
              </a:spcBef>
              <a:spcAft>
                <a:spcPts val="0"/>
              </a:spcAft>
              <a:buSzPts val="2300"/>
              <a:buChar char="◦"/>
            </a:pPr>
            <a:r>
              <a:rPr lang="en-US"/>
              <a:t>Date of last change</a:t>
            </a:r>
            <a:endParaRPr/>
          </a:p>
          <a:p>
            <a:pPr marL="621792" lvl="1" indent="-228600" algn="just" rtl="0">
              <a:spcBef>
                <a:spcPts val="324"/>
              </a:spcBef>
              <a:spcAft>
                <a:spcPts val="0"/>
              </a:spcAft>
              <a:buSzPts val="2300"/>
              <a:buChar char="◦"/>
            </a:pPr>
            <a:r>
              <a:rPr lang="en-US"/>
              <a:t>Author</a:t>
            </a:r>
            <a:endParaRPr/>
          </a:p>
          <a:p>
            <a:pPr marL="621792" lvl="1" indent="-228600" algn="just" rtl="0">
              <a:spcBef>
                <a:spcPts val="324"/>
              </a:spcBef>
              <a:spcAft>
                <a:spcPts val="0"/>
              </a:spcAft>
              <a:buSzPts val="2300"/>
              <a:buChar char="◦"/>
            </a:pPr>
            <a:r>
              <a:rPr lang="en-US"/>
              <a:t>Page number with total pages</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245"/>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320"/>
              <a:buFont typeface="Lucida Sans"/>
              <a:buNone/>
            </a:pPr>
            <a:r>
              <a:rPr lang="en-US" sz="4320"/>
              <a:t>Implementing a BPR Strategy</a:t>
            </a:r>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p:sp>
        <p:nvSpPr>
          <p:cNvPr id="1812" name="Google Shape;1812;p246"/>
          <p:cNvSpPr txBox="1">
            <a:spLocks noGrp="1"/>
          </p:cNvSpPr>
          <p:nvPr>
            <p:ph type="title"/>
          </p:nvPr>
        </p:nvSpPr>
        <p:spPr>
          <a:xfrm>
            <a:off x="685800" y="304800"/>
            <a:ext cx="7772400" cy="609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90"/>
              <a:buFont typeface="Lucida Sans"/>
              <a:buNone/>
            </a:pPr>
            <a:r>
              <a:rPr lang="en-US" sz="3690"/>
              <a:t>Key Steps</a:t>
            </a:r>
            <a:endParaRPr/>
          </a:p>
        </p:txBody>
      </p:sp>
      <p:sp>
        <p:nvSpPr>
          <p:cNvPr id="1813" name="Google Shape;1813;p246"/>
          <p:cNvSpPr/>
          <p:nvPr/>
        </p:nvSpPr>
        <p:spPr>
          <a:xfrm>
            <a:off x="381000" y="1981200"/>
            <a:ext cx="8153400" cy="609600"/>
          </a:xfrm>
          <a:prstGeom prst="rect">
            <a:avLst/>
          </a:prstGeom>
          <a:solidFill>
            <a:schemeClr val="folHlink"/>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Lucida Sans"/>
                <a:ea typeface="Lucida Sans"/>
                <a:cs typeface="Lucida Sans"/>
                <a:sym typeface="Lucida Sans"/>
              </a:rPr>
              <a:t>Select The Process &amp; Appoint Process Team</a:t>
            </a:r>
            <a:endParaRPr/>
          </a:p>
        </p:txBody>
      </p:sp>
      <p:sp>
        <p:nvSpPr>
          <p:cNvPr id="1814" name="Google Shape;1814;p246"/>
          <p:cNvSpPr/>
          <p:nvPr/>
        </p:nvSpPr>
        <p:spPr>
          <a:xfrm>
            <a:off x="381000" y="2743200"/>
            <a:ext cx="8153400" cy="609600"/>
          </a:xfrm>
          <a:prstGeom prst="rect">
            <a:avLst/>
          </a:prstGeom>
          <a:solidFill>
            <a:schemeClr val="hlink"/>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Lucida Sans"/>
                <a:ea typeface="Lucida Sans"/>
                <a:cs typeface="Lucida Sans"/>
                <a:sym typeface="Lucida Sans"/>
              </a:rPr>
              <a:t>Understand The Current Process</a:t>
            </a:r>
            <a:endParaRPr/>
          </a:p>
        </p:txBody>
      </p:sp>
      <p:sp>
        <p:nvSpPr>
          <p:cNvPr id="1815" name="Google Shape;1815;p246"/>
          <p:cNvSpPr/>
          <p:nvPr/>
        </p:nvSpPr>
        <p:spPr>
          <a:xfrm>
            <a:off x="381000" y="3505200"/>
            <a:ext cx="8153400" cy="609600"/>
          </a:xfrm>
          <a:prstGeom prst="rect">
            <a:avLst/>
          </a:prstGeom>
          <a:solidFill>
            <a:schemeClr val="accent2"/>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Lucida Sans"/>
                <a:ea typeface="Lucida Sans"/>
                <a:cs typeface="Lucida Sans"/>
                <a:sym typeface="Lucida Sans"/>
              </a:rPr>
              <a:t>Develop &amp; Communicate Vision Of Improved Process</a:t>
            </a:r>
            <a:endParaRPr/>
          </a:p>
        </p:txBody>
      </p:sp>
      <p:sp>
        <p:nvSpPr>
          <p:cNvPr id="1816" name="Google Shape;1816;p246"/>
          <p:cNvSpPr/>
          <p:nvPr/>
        </p:nvSpPr>
        <p:spPr>
          <a:xfrm>
            <a:off x="381000" y="4267200"/>
            <a:ext cx="8153400" cy="609600"/>
          </a:xfrm>
          <a:prstGeom prst="rect">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Lucida Sans"/>
                <a:ea typeface="Lucida Sans"/>
                <a:cs typeface="Lucida Sans"/>
                <a:sym typeface="Lucida Sans"/>
              </a:rPr>
              <a:t>Identify Action Plan</a:t>
            </a:r>
            <a:endParaRPr/>
          </a:p>
        </p:txBody>
      </p:sp>
      <p:sp>
        <p:nvSpPr>
          <p:cNvPr id="1817" name="Google Shape;1817;p246"/>
          <p:cNvSpPr/>
          <p:nvPr/>
        </p:nvSpPr>
        <p:spPr>
          <a:xfrm>
            <a:off x="381000" y="5105400"/>
            <a:ext cx="8153400" cy="609600"/>
          </a:xfrm>
          <a:prstGeom prst="rect">
            <a:avLst/>
          </a:prstGeom>
          <a:solidFill>
            <a:schemeClr val="dk2"/>
          </a:solid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solidFill>
                  <a:schemeClr val="bg1"/>
                </a:solidFill>
                <a:sym typeface="Lucida Sans"/>
              </a:rPr>
              <a:t>Execute Plan</a:t>
            </a:r>
            <a:endParaRPr>
              <a:solidFill>
                <a:schemeClr val="bg1"/>
              </a:solidFill>
            </a:endParaRPr>
          </a:p>
        </p:txBody>
      </p:sp>
      <p:cxnSp>
        <p:nvCxnSpPr>
          <p:cNvPr id="1818" name="Google Shape;1818;p246"/>
          <p:cNvCxnSpPr/>
          <p:nvPr/>
        </p:nvCxnSpPr>
        <p:spPr>
          <a:xfrm>
            <a:off x="4419600" y="2590800"/>
            <a:ext cx="0" cy="152400"/>
          </a:xfrm>
          <a:prstGeom prst="straightConnector1">
            <a:avLst/>
          </a:prstGeom>
          <a:noFill/>
          <a:ln w="9525" cap="flat" cmpd="sng">
            <a:solidFill>
              <a:schemeClr val="lt1"/>
            </a:solidFill>
            <a:prstDash val="solid"/>
            <a:round/>
            <a:headEnd type="none" w="med" len="med"/>
            <a:tailEnd type="none" w="med" len="med"/>
          </a:ln>
        </p:spPr>
      </p:cxnSp>
      <p:cxnSp>
        <p:nvCxnSpPr>
          <p:cNvPr id="1819" name="Google Shape;1819;p246"/>
          <p:cNvCxnSpPr/>
          <p:nvPr/>
        </p:nvCxnSpPr>
        <p:spPr>
          <a:xfrm>
            <a:off x="4419600" y="3352800"/>
            <a:ext cx="0" cy="152400"/>
          </a:xfrm>
          <a:prstGeom prst="straightConnector1">
            <a:avLst/>
          </a:prstGeom>
          <a:noFill/>
          <a:ln w="9525" cap="flat" cmpd="sng">
            <a:solidFill>
              <a:schemeClr val="lt1"/>
            </a:solidFill>
            <a:prstDash val="solid"/>
            <a:round/>
            <a:headEnd type="none" w="med" len="med"/>
            <a:tailEnd type="none" w="med" len="med"/>
          </a:ln>
        </p:spPr>
      </p:cxnSp>
      <p:cxnSp>
        <p:nvCxnSpPr>
          <p:cNvPr id="1820" name="Google Shape;1820;p246"/>
          <p:cNvCxnSpPr/>
          <p:nvPr/>
        </p:nvCxnSpPr>
        <p:spPr>
          <a:xfrm>
            <a:off x="4419600" y="4114800"/>
            <a:ext cx="0" cy="152400"/>
          </a:xfrm>
          <a:prstGeom prst="straightConnector1">
            <a:avLst/>
          </a:prstGeom>
          <a:noFill/>
          <a:ln w="9525" cap="flat" cmpd="sng">
            <a:solidFill>
              <a:schemeClr val="lt1"/>
            </a:solidFill>
            <a:prstDash val="solid"/>
            <a:round/>
            <a:headEnd type="none" w="med" len="med"/>
            <a:tailEnd type="none" w="med" len="med"/>
          </a:ln>
        </p:spPr>
      </p:cxnSp>
      <p:cxnSp>
        <p:nvCxnSpPr>
          <p:cNvPr id="1821" name="Google Shape;1821;p246"/>
          <p:cNvCxnSpPr/>
          <p:nvPr/>
        </p:nvCxnSpPr>
        <p:spPr>
          <a:xfrm>
            <a:off x="4419600" y="4876800"/>
            <a:ext cx="0" cy="22860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sp>
        <p:nvSpPr>
          <p:cNvPr id="1826" name="Google Shape;1826;p2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900"/>
              <a:buFont typeface="Lucida Sans"/>
              <a:buNone/>
            </a:pPr>
            <a:r>
              <a:rPr lang="en-US" sz="2900"/>
              <a:t>Select the Process &amp; Appoint Process Team</a:t>
            </a:r>
            <a:endParaRPr sz="2500"/>
          </a:p>
        </p:txBody>
      </p:sp>
      <p:sp>
        <p:nvSpPr>
          <p:cNvPr id="1827" name="Google Shape;1827;p24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Two Crucial Tasks</a:t>
            </a:r>
            <a:endParaRPr/>
          </a:p>
          <a:p>
            <a:pPr marL="365760" lvl="0" indent="-139446" algn="l" rtl="0">
              <a:spcBef>
                <a:spcPts val="400"/>
              </a:spcBef>
              <a:spcAft>
                <a:spcPts val="0"/>
              </a:spcAft>
              <a:buSzPts val="1836"/>
              <a:buNone/>
            </a:pPr>
            <a:endParaRPr/>
          </a:p>
          <a:p>
            <a:pPr marL="850392" lvl="1" indent="-457200" algn="l" rtl="0">
              <a:spcBef>
                <a:spcPts val="324"/>
              </a:spcBef>
              <a:spcAft>
                <a:spcPts val="0"/>
              </a:spcAft>
              <a:buSzPts val="2300"/>
              <a:buFont typeface="Lucida Sans"/>
              <a:buAutoNum type="arabicPeriod"/>
            </a:pPr>
            <a:r>
              <a:rPr lang="en-US"/>
              <a:t>Select The Process to be Reengineered</a:t>
            </a:r>
            <a:endParaRPr/>
          </a:p>
          <a:p>
            <a:pPr marL="850392" lvl="1" indent="-311150" algn="l" rtl="0">
              <a:spcBef>
                <a:spcPts val="324"/>
              </a:spcBef>
              <a:spcAft>
                <a:spcPts val="0"/>
              </a:spcAft>
              <a:buSzPts val="2300"/>
              <a:buFont typeface="Lucida Sans"/>
              <a:buNone/>
            </a:pPr>
            <a:endParaRPr/>
          </a:p>
          <a:p>
            <a:pPr marL="850392" lvl="1" indent="-457200" algn="l" rtl="0">
              <a:spcBef>
                <a:spcPts val="324"/>
              </a:spcBef>
              <a:spcAft>
                <a:spcPts val="0"/>
              </a:spcAft>
              <a:buSzPts val="2300"/>
              <a:buFont typeface="Lucida Sans"/>
              <a:buAutoNum type="arabicPeriod"/>
            </a:pPr>
            <a:r>
              <a:rPr lang="en-US"/>
              <a:t>Appoint the Process Team to Lead the Reengineering Initiative</a:t>
            </a:r>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1831"/>
        <p:cNvGrpSpPr/>
        <p:nvPr/>
      </p:nvGrpSpPr>
      <p:grpSpPr>
        <a:xfrm>
          <a:off x="0" y="0"/>
          <a:ext cx="0" cy="0"/>
          <a:chOff x="0" y="0"/>
          <a:chExt cx="0" cy="0"/>
        </a:xfrm>
      </p:grpSpPr>
      <p:sp>
        <p:nvSpPr>
          <p:cNvPr id="1832" name="Google Shape;1832;p2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Select the Process</a:t>
            </a:r>
            <a:endParaRPr/>
          </a:p>
        </p:txBody>
      </p:sp>
      <p:sp>
        <p:nvSpPr>
          <p:cNvPr id="1833" name="Google Shape;1833;p24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Review Business Strategy and Customer Requirements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Select Core Processes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Understand Customer Needs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Don’t Assume Anything</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1837"/>
        <p:cNvGrpSpPr/>
        <p:nvPr/>
      </p:nvGrpSpPr>
      <p:grpSpPr>
        <a:xfrm>
          <a:off x="0" y="0"/>
          <a:ext cx="0" cy="0"/>
          <a:chOff x="0" y="0"/>
          <a:chExt cx="0" cy="0"/>
        </a:xfrm>
      </p:grpSpPr>
      <p:sp>
        <p:nvSpPr>
          <p:cNvPr id="1838" name="Google Shape;1838;p2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Select the Process</a:t>
            </a:r>
            <a:endParaRPr/>
          </a:p>
        </p:txBody>
      </p:sp>
      <p:sp>
        <p:nvSpPr>
          <p:cNvPr id="1839" name="Google Shape;1839;p24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Select Correct Path for Change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Remember Assumptions can Hide Failures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Competition and Choice to Go Elsewhere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Ask - Questionnaires, Meetings, Focus Groups</a:t>
            </a:r>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1843"/>
        <p:cNvGrpSpPr/>
        <p:nvPr/>
      </p:nvGrpSpPr>
      <p:grpSpPr>
        <a:xfrm>
          <a:off x="0" y="0"/>
          <a:ext cx="0" cy="0"/>
          <a:chOff x="0" y="0"/>
          <a:chExt cx="0" cy="0"/>
        </a:xfrm>
      </p:grpSpPr>
      <p:sp>
        <p:nvSpPr>
          <p:cNvPr id="1844" name="Google Shape;1844;p2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Appoint the Process Team</a:t>
            </a:r>
            <a:endParaRPr/>
          </a:p>
        </p:txBody>
      </p:sp>
      <p:sp>
        <p:nvSpPr>
          <p:cNvPr id="1845" name="Google Shape;1845;p25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Appoint BPR Champion</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Identify Process Owners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Establish Executive Improvement Team</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Provide Training to Executive Team</a:t>
            </a:r>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1849"/>
        <p:cNvGrpSpPr/>
        <p:nvPr/>
      </p:nvGrpSpPr>
      <p:grpSpPr>
        <a:xfrm>
          <a:off x="0" y="0"/>
          <a:ext cx="0" cy="0"/>
          <a:chOff x="0" y="0"/>
          <a:chExt cx="0" cy="0"/>
        </a:xfrm>
      </p:grpSpPr>
      <p:sp>
        <p:nvSpPr>
          <p:cNvPr id="1850" name="Google Shape;1850;p2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Core Skills Required</a:t>
            </a:r>
            <a:endParaRPr/>
          </a:p>
        </p:txBody>
      </p:sp>
      <p:sp>
        <p:nvSpPr>
          <p:cNvPr id="1851" name="Google Shape;1851;p25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Capacity to view the organization as a whole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Ability to focus on end-customers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Ability to challenge fundamental assumptions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Courage to deliver and venture into unknown areas</a:t>
            </a:r>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2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Core Skills Required</a:t>
            </a:r>
            <a:endParaRPr/>
          </a:p>
        </p:txBody>
      </p:sp>
      <p:sp>
        <p:nvSpPr>
          <p:cNvPr id="1857" name="Google Shape;1857;p25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Ability to assume individual and collective responsibility</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Employ ‘Bridge Builders’</a:t>
            </a:r>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1861"/>
        <p:cNvGrpSpPr/>
        <p:nvPr/>
      </p:nvGrpSpPr>
      <p:grpSpPr>
        <a:xfrm>
          <a:off x="0" y="0"/>
          <a:ext cx="0" cy="0"/>
          <a:chOff x="0" y="0"/>
          <a:chExt cx="0" cy="0"/>
        </a:xfrm>
      </p:grpSpPr>
      <p:sp>
        <p:nvSpPr>
          <p:cNvPr id="1862" name="Google Shape;1862;p2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Use of Consultants</a:t>
            </a:r>
            <a:endParaRPr/>
          </a:p>
        </p:txBody>
      </p:sp>
      <p:sp>
        <p:nvSpPr>
          <p:cNvPr id="1863" name="Google Shape;1863;p253"/>
          <p:cNvSpPr txBox="1">
            <a:spLocks noGrp="1"/>
          </p:cNvSpPr>
          <p:nvPr>
            <p:ph type="body" idx="1"/>
          </p:nvPr>
        </p:nvSpPr>
        <p:spPr>
          <a:xfrm>
            <a:off x="457200" y="1371600"/>
            <a:ext cx="8229600" cy="5257800"/>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Used to generate internal capacity</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Appropriate when a implementation is needed quickly</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Ensure that adequate consultation is sought from staff so that the initiative is organization-led and </a:t>
            </a:r>
            <a:r>
              <a:rPr lang="en-US" u="sng"/>
              <a:t>not</a:t>
            </a:r>
            <a:r>
              <a:rPr lang="en-US"/>
              <a:t> consultant-driven</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Control should </a:t>
            </a:r>
            <a:r>
              <a:rPr lang="en-US" u="sng"/>
              <a:t>never</a:t>
            </a:r>
            <a:r>
              <a:rPr lang="en-US"/>
              <a:t> be handed over to the consultant</a:t>
            </a:r>
            <a:endParaRPr/>
          </a:p>
          <a:p>
            <a:pPr marL="365760" lvl="0" indent="-139446" algn="l" rtl="0">
              <a:spcBef>
                <a:spcPts val="400"/>
              </a:spcBef>
              <a:spcAft>
                <a:spcPts val="0"/>
              </a:spcAft>
              <a:buSzPts val="1836"/>
              <a:buNone/>
            </a:pPr>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sp>
        <p:nvSpPr>
          <p:cNvPr id="1868" name="Google Shape;1868;p2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3690"/>
              <a:buFont typeface="Lucida Sans"/>
              <a:buNone/>
            </a:pPr>
            <a:r>
              <a:rPr lang="en-US" sz="3690"/>
              <a:t>Understand the Current Process</a:t>
            </a:r>
            <a:endParaRPr/>
          </a:p>
        </p:txBody>
      </p:sp>
      <p:sp>
        <p:nvSpPr>
          <p:cNvPr id="1869" name="Google Shape;1869;p25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80000"/>
              </a:lnSpc>
              <a:spcBef>
                <a:spcPts val="0"/>
              </a:spcBef>
              <a:spcAft>
                <a:spcPts val="0"/>
              </a:spcAft>
              <a:buSzPts val="2264"/>
              <a:buChar char="🞂"/>
            </a:pPr>
            <a:r>
              <a:rPr lang="en-US" sz="3330"/>
              <a:t>Develop a Process Overview</a:t>
            </a:r>
            <a:endParaRPr/>
          </a:p>
          <a:p>
            <a:pPr marL="365760" lvl="0" indent="-256032" algn="just" rtl="0">
              <a:lnSpc>
                <a:spcPct val="80000"/>
              </a:lnSpc>
              <a:spcBef>
                <a:spcPts val="400"/>
              </a:spcBef>
              <a:spcAft>
                <a:spcPts val="0"/>
              </a:spcAft>
              <a:buSzPts val="2264"/>
              <a:buChar char="🞂"/>
            </a:pPr>
            <a:r>
              <a:rPr lang="en-US" sz="3330"/>
              <a:t>Clearly define the process </a:t>
            </a:r>
            <a:endParaRPr/>
          </a:p>
          <a:p>
            <a:pPr marL="621792" lvl="1" indent="-228600" algn="just" rtl="0">
              <a:lnSpc>
                <a:spcPct val="80000"/>
              </a:lnSpc>
              <a:spcBef>
                <a:spcPts val="324"/>
              </a:spcBef>
              <a:spcAft>
                <a:spcPts val="0"/>
              </a:spcAft>
              <a:buSzPts val="2960"/>
              <a:buChar char="◦"/>
            </a:pPr>
            <a:r>
              <a:rPr lang="en-US" sz="2960"/>
              <a:t>Mission</a:t>
            </a:r>
            <a:endParaRPr/>
          </a:p>
          <a:p>
            <a:pPr marL="621792" lvl="1" indent="-228600" algn="just" rtl="0">
              <a:lnSpc>
                <a:spcPct val="80000"/>
              </a:lnSpc>
              <a:spcBef>
                <a:spcPts val="324"/>
              </a:spcBef>
              <a:spcAft>
                <a:spcPts val="0"/>
              </a:spcAft>
              <a:buSzPts val="2960"/>
              <a:buChar char="◦"/>
            </a:pPr>
            <a:r>
              <a:rPr lang="en-US" sz="2960"/>
              <a:t>Scope</a:t>
            </a:r>
            <a:endParaRPr/>
          </a:p>
          <a:p>
            <a:pPr marL="621792" lvl="1" indent="-228600" algn="just" rtl="0">
              <a:lnSpc>
                <a:spcPct val="80000"/>
              </a:lnSpc>
              <a:spcBef>
                <a:spcPts val="324"/>
              </a:spcBef>
              <a:spcAft>
                <a:spcPts val="0"/>
              </a:spcAft>
              <a:buSzPts val="2960"/>
              <a:buChar char="◦"/>
            </a:pPr>
            <a:r>
              <a:rPr lang="en-US" sz="2960"/>
              <a:t>Boundaries</a:t>
            </a:r>
            <a:endParaRPr/>
          </a:p>
          <a:p>
            <a:pPr marL="365760" lvl="0" indent="-256032" algn="just" rtl="0">
              <a:lnSpc>
                <a:spcPct val="80000"/>
              </a:lnSpc>
              <a:spcBef>
                <a:spcPts val="400"/>
              </a:spcBef>
              <a:spcAft>
                <a:spcPts val="0"/>
              </a:spcAft>
              <a:buSzPts val="2264"/>
              <a:buChar char="🞂"/>
            </a:pPr>
            <a:r>
              <a:rPr lang="en-US" sz="3330"/>
              <a:t>Set business and customer measurements </a:t>
            </a:r>
            <a:endParaRPr/>
          </a:p>
          <a:p>
            <a:pPr marL="365760" lvl="0" indent="-256032" algn="just" rtl="0">
              <a:lnSpc>
                <a:spcPct val="80000"/>
              </a:lnSpc>
              <a:spcBef>
                <a:spcPts val="400"/>
              </a:spcBef>
              <a:spcAft>
                <a:spcPts val="0"/>
              </a:spcAft>
              <a:buSzPts val="2264"/>
              <a:buChar char="🞂"/>
            </a:pPr>
            <a:r>
              <a:rPr lang="en-US" sz="3330"/>
              <a:t>Understand customers expectations from the process (staff including process team) </a:t>
            </a:r>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2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Understand the Current Process</a:t>
            </a:r>
            <a:endParaRPr/>
          </a:p>
        </p:txBody>
      </p:sp>
      <p:sp>
        <p:nvSpPr>
          <p:cNvPr id="1875" name="Google Shape;1875;p25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1" algn="l" rtl="0">
              <a:spcBef>
                <a:spcPts val="0"/>
              </a:spcBef>
              <a:spcAft>
                <a:spcPts val="0"/>
              </a:spcAft>
              <a:buSzPts val="2448"/>
              <a:buChar char="🞂"/>
            </a:pPr>
            <a:r>
              <a:rPr lang="en-US" sz="3600"/>
              <a:t>Clearly Identify Improvement Opportunities</a:t>
            </a:r>
            <a:endParaRPr/>
          </a:p>
          <a:p>
            <a:pPr marL="621792" lvl="1" indent="-228600" algn="l" rtl="0">
              <a:spcBef>
                <a:spcPts val="324"/>
              </a:spcBef>
              <a:spcAft>
                <a:spcPts val="0"/>
              </a:spcAft>
              <a:buSzPts val="3200"/>
              <a:buChar char="◦"/>
            </a:pPr>
            <a:r>
              <a:rPr lang="en-US" sz="3200"/>
              <a:t>Quality</a:t>
            </a:r>
            <a:endParaRPr/>
          </a:p>
          <a:p>
            <a:pPr marL="621792" lvl="1" indent="-228600" algn="l" rtl="0">
              <a:spcBef>
                <a:spcPts val="324"/>
              </a:spcBef>
              <a:spcAft>
                <a:spcPts val="0"/>
              </a:spcAft>
              <a:buSzPts val="3200"/>
              <a:buChar char="◦"/>
            </a:pPr>
            <a:r>
              <a:rPr lang="en-US" sz="3200"/>
              <a:t>Rework</a:t>
            </a:r>
            <a:endParaRPr/>
          </a:p>
          <a:p>
            <a:pPr marL="365760" lvl="0" indent="-256031" algn="l" rtl="0">
              <a:spcBef>
                <a:spcPts val="400"/>
              </a:spcBef>
              <a:spcAft>
                <a:spcPts val="0"/>
              </a:spcAft>
              <a:buSzPts val="2448"/>
              <a:buChar char="🞂"/>
            </a:pPr>
            <a:r>
              <a:rPr lang="en-US" sz="3600"/>
              <a:t>Document the Process</a:t>
            </a:r>
            <a:endParaRPr/>
          </a:p>
          <a:p>
            <a:pPr marL="621792" lvl="1" indent="-228600" algn="l" rtl="0">
              <a:spcBef>
                <a:spcPts val="324"/>
              </a:spcBef>
              <a:spcAft>
                <a:spcPts val="0"/>
              </a:spcAft>
              <a:buSzPts val="3200"/>
              <a:buChar char="◦"/>
            </a:pPr>
            <a:r>
              <a:rPr lang="en-US" sz="3200"/>
              <a:t>Cost</a:t>
            </a:r>
            <a:endParaRPr/>
          </a:p>
          <a:p>
            <a:pPr marL="621792" lvl="1" indent="-228600" algn="l" rtl="0">
              <a:spcBef>
                <a:spcPts val="324"/>
              </a:spcBef>
              <a:spcAft>
                <a:spcPts val="0"/>
              </a:spcAft>
              <a:buSzPts val="3200"/>
              <a:buChar char="◦"/>
            </a:pPr>
            <a:r>
              <a:rPr lang="en-US" sz="3200"/>
              <a:t>Time </a:t>
            </a:r>
            <a:endParaRPr/>
          </a:p>
          <a:p>
            <a:pPr marL="621792" lvl="1" indent="-228600" algn="l" rtl="0">
              <a:spcBef>
                <a:spcPts val="324"/>
              </a:spcBef>
              <a:spcAft>
                <a:spcPts val="0"/>
              </a:spcAft>
              <a:buSzPts val="3200"/>
              <a:buChar char="◦"/>
            </a:pPr>
            <a:r>
              <a:rPr lang="en-US" sz="3200"/>
              <a:t>Value Data</a:t>
            </a:r>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sp>
        <p:nvSpPr>
          <p:cNvPr id="1880" name="Google Shape;1880;p2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Understand the Current Process</a:t>
            </a:r>
            <a:endParaRPr/>
          </a:p>
        </p:txBody>
      </p:sp>
      <p:sp>
        <p:nvSpPr>
          <p:cNvPr id="1881" name="Google Shape;1881;p25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1" algn="l" rtl="0">
              <a:spcBef>
                <a:spcPts val="0"/>
              </a:spcBef>
              <a:spcAft>
                <a:spcPts val="0"/>
              </a:spcAft>
              <a:buSzPts val="2448"/>
              <a:buChar char="🞂"/>
            </a:pPr>
            <a:r>
              <a:rPr lang="en-US" sz="3600"/>
              <a:t>Carefully resolve any inconsistencies</a:t>
            </a:r>
            <a:endParaRPr/>
          </a:p>
          <a:p>
            <a:pPr marL="365760" lvl="0" indent="-100583" algn="l" rtl="0">
              <a:spcBef>
                <a:spcPts val="400"/>
              </a:spcBef>
              <a:spcAft>
                <a:spcPts val="0"/>
              </a:spcAft>
              <a:buSzPts val="2448"/>
              <a:buNone/>
            </a:pPr>
            <a:endParaRPr sz="3600"/>
          </a:p>
          <a:p>
            <a:pPr marL="621792" lvl="1" indent="-228600" algn="l" rtl="0">
              <a:spcBef>
                <a:spcPts val="324"/>
              </a:spcBef>
              <a:spcAft>
                <a:spcPts val="0"/>
              </a:spcAft>
              <a:buSzPts val="3200"/>
              <a:buChar char="◦"/>
            </a:pPr>
            <a:r>
              <a:rPr lang="en-US" sz="3200"/>
              <a:t>Existing -- New Process</a:t>
            </a:r>
            <a:endParaRPr/>
          </a:p>
          <a:p>
            <a:pPr marL="621792" lvl="1" indent="-228600" algn="l" rtl="0">
              <a:spcBef>
                <a:spcPts val="324"/>
              </a:spcBef>
              <a:spcAft>
                <a:spcPts val="0"/>
              </a:spcAft>
              <a:buSzPts val="3200"/>
              <a:buChar char="◦"/>
            </a:pPr>
            <a:r>
              <a:rPr lang="en-US" sz="3200"/>
              <a:t>Ideal -- Realistic Process</a:t>
            </a:r>
            <a:endParaRPr sz="3200"/>
          </a:p>
          <a:p>
            <a:pPr marL="365760" lvl="0" indent="-139446" algn="l" rtl="0">
              <a:spcBef>
                <a:spcPts val="400"/>
              </a:spcBef>
              <a:spcAft>
                <a:spcPts val="0"/>
              </a:spcAft>
              <a:buSzPts val="1836"/>
              <a:buNone/>
            </a:pPr>
            <a:endParaRPr/>
          </a:p>
          <a:p>
            <a:pPr marL="365760" lvl="0" indent="-139446" algn="l" rtl="0">
              <a:spcBef>
                <a:spcPts val="400"/>
              </a:spcBef>
              <a:spcAft>
                <a:spcPts val="0"/>
              </a:spcAft>
              <a:buSzPts val="1836"/>
              <a:buNone/>
            </a:pPr>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6" name="Google Shape;1886;p2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500"/>
              <a:buFont typeface="Lucida Sans"/>
              <a:buNone/>
            </a:pPr>
            <a:r>
              <a:rPr lang="en-US" sz="2500"/>
              <a:t>Develop &amp; Communicate Vision of Improved Process</a:t>
            </a:r>
            <a:endParaRPr/>
          </a:p>
        </p:txBody>
      </p:sp>
      <p:sp>
        <p:nvSpPr>
          <p:cNvPr id="1887" name="Google Shape;1887;p25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Communicate with all employees so that they are aware of the vision of the future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Always provide information on the progress of the BPR initiative - good and bad.</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Demonstrate assurance that the BPR initiative is both necessary and properly managed</a:t>
            </a:r>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2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500"/>
              <a:buFont typeface="Lucida Sans"/>
              <a:buNone/>
            </a:pPr>
            <a:r>
              <a:rPr lang="en-US" sz="2500"/>
              <a:t>Develop &amp; Communicate Vision of Improved Process</a:t>
            </a:r>
            <a:endParaRPr/>
          </a:p>
        </p:txBody>
      </p:sp>
      <p:sp>
        <p:nvSpPr>
          <p:cNvPr id="1893" name="Google Shape;1893;p25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Promote individual development by indicating options that are available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Indicate actions required and those responsible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Tackle any actions that need resolution</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Direct communication to reinforce new patterns of desired behavior</a:t>
            </a:r>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Shape 1897"/>
        <p:cNvGrpSpPr/>
        <p:nvPr/>
      </p:nvGrpSpPr>
      <p:grpSpPr>
        <a:xfrm>
          <a:off x="0" y="0"/>
          <a:ext cx="0" cy="0"/>
          <a:chOff x="0" y="0"/>
          <a:chExt cx="0" cy="0"/>
        </a:xfrm>
      </p:grpSpPr>
      <p:sp>
        <p:nvSpPr>
          <p:cNvPr id="1898" name="Google Shape;1898;p2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Identify Action Plan</a:t>
            </a:r>
            <a:endParaRPr/>
          </a:p>
        </p:txBody>
      </p:sp>
      <p:sp>
        <p:nvSpPr>
          <p:cNvPr id="1899" name="Google Shape;1899;p25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Develop an Improvement Plan</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Appoint Process Owners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Simplify the Process to Reduce Process Time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Remove any Bureaucracy that may hinder implementation</a:t>
            </a:r>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Shape 1903"/>
        <p:cNvGrpSpPr/>
        <p:nvPr/>
      </p:nvGrpSpPr>
      <p:grpSpPr>
        <a:xfrm>
          <a:off x="0" y="0"/>
          <a:ext cx="0" cy="0"/>
          <a:chOff x="0" y="0"/>
          <a:chExt cx="0" cy="0"/>
        </a:xfrm>
      </p:grpSpPr>
      <p:sp>
        <p:nvSpPr>
          <p:cNvPr id="1904" name="Google Shape;1904;p2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Identify Action Plan</a:t>
            </a:r>
            <a:endParaRPr/>
          </a:p>
        </p:txBody>
      </p:sp>
      <p:sp>
        <p:nvSpPr>
          <p:cNvPr id="1905" name="Google Shape;1905;p26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Remove no-value-added activities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Standardize Process and Automate Where Possible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Up-grade Equipment</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Plan/schedule the changes</a:t>
            </a:r>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Shape 1909"/>
        <p:cNvGrpSpPr/>
        <p:nvPr/>
      </p:nvGrpSpPr>
      <p:grpSpPr>
        <a:xfrm>
          <a:off x="0" y="0"/>
          <a:ext cx="0" cy="0"/>
          <a:chOff x="0" y="0"/>
          <a:chExt cx="0" cy="0"/>
        </a:xfrm>
      </p:grpSpPr>
      <p:sp>
        <p:nvSpPr>
          <p:cNvPr id="1910" name="Google Shape;1910;p2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Identify Action Plan</a:t>
            </a:r>
            <a:endParaRPr/>
          </a:p>
        </p:txBody>
      </p:sp>
      <p:sp>
        <p:nvSpPr>
          <p:cNvPr id="1911" name="Google Shape;1911;p26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Construct in-house metrics and targets</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Introduce and firmly establish a feedback system</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Audit, Audit, Audit</a:t>
            </a:r>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1915"/>
        <p:cNvGrpSpPr/>
        <p:nvPr/>
      </p:nvGrpSpPr>
      <p:grpSpPr>
        <a:xfrm>
          <a:off x="0" y="0"/>
          <a:ext cx="0" cy="0"/>
          <a:chOff x="0" y="0"/>
          <a:chExt cx="0" cy="0"/>
        </a:xfrm>
      </p:grpSpPr>
      <p:sp>
        <p:nvSpPr>
          <p:cNvPr id="1916" name="Google Shape;1916;p2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Execute Plan</a:t>
            </a:r>
            <a:endParaRPr/>
          </a:p>
        </p:txBody>
      </p:sp>
      <p:sp>
        <p:nvSpPr>
          <p:cNvPr id="1917" name="Google Shape;1917;p26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Qualify/certify the process</a:t>
            </a:r>
            <a:endParaRPr/>
          </a:p>
          <a:p>
            <a:pPr marL="365760" lvl="0" indent="-256032" algn="l" rtl="0">
              <a:spcBef>
                <a:spcPts val="400"/>
              </a:spcBef>
              <a:spcAft>
                <a:spcPts val="0"/>
              </a:spcAft>
              <a:buSzPts val="1836"/>
              <a:buChar char="🞂"/>
            </a:pPr>
            <a:r>
              <a:rPr lang="en-US"/>
              <a:t>Perform periodic qualification reviews</a:t>
            </a:r>
            <a:endParaRPr/>
          </a:p>
          <a:p>
            <a:pPr marL="365760" lvl="0" indent="-256032" algn="l" rtl="0">
              <a:spcBef>
                <a:spcPts val="400"/>
              </a:spcBef>
              <a:spcAft>
                <a:spcPts val="0"/>
              </a:spcAft>
              <a:buSzPts val="1836"/>
              <a:buChar char="🞂"/>
            </a:pPr>
            <a:r>
              <a:rPr lang="en-US"/>
              <a:t>Define and eliminate process problems</a:t>
            </a:r>
            <a:endParaRPr/>
          </a:p>
          <a:p>
            <a:pPr marL="365760" lvl="0" indent="-256032" algn="l" rtl="0">
              <a:spcBef>
                <a:spcPts val="400"/>
              </a:spcBef>
              <a:spcAft>
                <a:spcPts val="0"/>
              </a:spcAft>
              <a:buSzPts val="1836"/>
              <a:buChar char="🞂"/>
            </a:pPr>
            <a:r>
              <a:rPr lang="en-US"/>
              <a:t>Evaluate the change impact on the business and on customers</a:t>
            </a:r>
            <a:endParaRPr/>
          </a:p>
          <a:p>
            <a:pPr marL="365760" lvl="0" indent="-256032" algn="l" rtl="0">
              <a:spcBef>
                <a:spcPts val="400"/>
              </a:spcBef>
              <a:spcAft>
                <a:spcPts val="0"/>
              </a:spcAft>
              <a:buSzPts val="1836"/>
              <a:buChar char="🞂"/>
            </a:pPr>
            <a:r>
              <a:rPr lang="en-US"/>
              <a:t>Benchmark the process</a:t>
            </a:r>
            <a:endParaRPr/>
          </a:p>
          <a:p>
            <a:pPr marL="365760" lvl="0" indent="-256032" algn="l" rtl="0">
              <a:spcBef>
                <a:spcPts val="400"/>
              </a:spcBef>
              <a:spcAft>
                <a:spcPts val="0"/>
              </a:spcAft>
              <a:buSzPts val="1836"/>
              <a:buChar char="🞂"/>
            </a:pPr>
            <a:r>
              <a:rPr lang="en-US"/>
              <a:t>Provide advanced team training</a:t>
            </a:r>
            <a:endParaRPr/>
          </a:p>
          <a:p>
            <a:pPr marL="365760" lvl="0" indent="-139446" algn="l" rtl="0">
              <a:spcBef>
                <a:spcPts val="400"/>
              </a:spcBef>
              <a:spcAft>
                <a:spcPts val="0"/>
              </a:spcAft>
              <a:buSzPts val="1836"/>
              <a:buNone/>
            </a:pPr>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Shape 1921"/>
        <p:cNvGrpSpPr/>
        <p:nvPr/>
      </p:nvGrpSpPr>
      <p:grpSpPr>
        <a:xfrm>
          <a:off x="0" y="0"/>
          <a:ext cx="0" cy="0"/>
          <a:chOff x="0" y="0"/>
          <a:chExt cx="0" cy="0"/>
        </a:xfrm>
      </p:grpSpPr>
      <p:sp>
        <p:nvSpPr>
          <p:cNvPr id="1922" name="Google Shape;1922;p263"/>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320"/>
              <a:buFont typeface="Lucida Sans"/>
              <a:buNone/>
            </a:pPr>
            <a:r>
              <a:rPr lang="en-US" sz="4320"/>
              <a:t>Information Technology &amp; BPR</a:t>
            </a:r>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Shape 1926"/>
        <p:cNvGrpSpPr/>
        <p:nvPr/>
      </p:nvGrpSpPr>
      <p:grpSpPr>
        <a:xfrm>
          <a:off x="0" y="0"/>
          <a:ext cx="0" cy="0"/>
          <a:chOff x="0" y="0"/>
          <a:chExt cx="0" cy="0"/>
        </a:xfrm>
      </p:grpSpPr>
      <p:sp>
        <p:nvSpPr>
          <p:cNvPr id="1927" name="Google Shape;1927;p2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Benefits From IT</a:t>
            </a:r>
            <a:endParaRPr/>
          </a:p>
        </p:txBody>
      </p:sp>
      <p:sp>
        <p:nvSpPr>
          <p:cNvPr id="1928" name="Google Shape;1928;p26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Assists the Implementation of Business Processes</a:t>
            </a:r>
            <a:endParaRPr/>
          </a:p>
          <a:p>
            <a:pPr marL="621792" lvl="1" indent="-228600" algn="l" rtl="0">
              <a:spcBef>
                <a:spcPts val="324"/>
              </a:spcBef>
              <a:spcAft>
                <a:spcPts val="0"/>
              </a:spcAft>
              <a:buSzPts val="2300"/>
              <a:buChar char="◦"/>
            </a:pPr>
            <a:r>
              <a:rPr lang="en-US"/>
              <a:t>Enables Product &amp; Service Innovations</a:t>
            </a:r>
            <a:endParaRPr/>
          </a:p>
          <a:p>
            <a:pPr marL="621792" lvl="1" indent="-228600" algn="l" rtl="0">
              <a:spcBef>
                <a:spcPts val="324"/>
              </a:spcBef>
              <a:spcAft>
                <a:spcPts val="0"/>
              </a:spcAft>
              <a:buSzPts val="2300"/>
              <a:buChar char="◦"/>
            </a:pPr>
            <a:r>
              <a:rPr lang="en-US"/>
              <a:t>Improve Operational Efficiency</a:t>
            </a:r>
            <a:endParaRPr/>
          </a:p>
          <a:p>
            <a:pPr marL="621792" lvl="1" indent="-228600" algn="l" rtl="0">
              <a:spcBef>
                <a:spcPts val="324"/>
              </a:spcBef>
              <a:spcAft>
                <a:spcPts val="0"/>
              </a:spcAft>
              <a:buSzPts val="2300"/>
              <a:buChar char="◦"/>
            </a:pPr>
            <a:r>
              <a:rPr lang="en-US"/>
              <a:t>Coordinate Vendors &amp; Customers in the Process Chain</a:t>
            </a:r>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Shape 1932"/>
        <p:cNvGrpSpPr/>
        <p:nvPr/>
      </p:nvGrpSpPr>
      <p:grpSpPr>
        <a:xfrm>
          <a:off x="0" y="0"/>
          <a:ext cx="0" cy="0"/>
          <a:chOff x="0" y="0"/>
          <a:chExt cx="0" cy="0"/>
        </a:xfrm>
      </p:grpSpPr>
      <p:sp>
        <p:nvSpPr>
          <p:cNvPr id="1933" name="Google Shape;1933;p2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Computer Aided BPR (CABPR)</a:t>
            </a:r>
            <a:endParaRPr/>
          </a:p>
        </p:txBody>
      </p:sp>
      <p:sp>
        <p:nvSpPr>
          <p:cNvPr id="1934" name="Google Shape;1934;p26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Focus</a:t>
            </a:r>
            <a:endParaRPr/>
          </a:p>
          <a:p>
            <a:pPr marL="621792" lvl="1" indent="-228600" algn="l" rtl="0">
              <a:spcBef>
                <a:spcPts val="324"/>
              </a:spcBef>
              <a:spcAft>
                <a:spcPts val="0"/>
              </a:spcAft>
              <a:buSzPts val="2300"/>
              <a:buChar char="◦"/>
            </a:pPr>
            <a:r>
              <a:rPr lang="en-US"/>
              <a:t>Business Processes</a:t>
            </a:r>
            <a:endParaRPr/>
          </a:p>
          <a:p>
            <a:pPr marL="621792" lvl="1" indent="-228600" algn="l" rtl="0">
              <a:spcBef>
                <a:spcPts val="324"/>
              </a:spcBef>
              <a:spcAft>
                <a:spcPts val="0"/>
              </a:spcAft>
              <a:buSzPts val="2300"/>
              <a:buChar char="◦"/>
            </a:pPr>
            <a:r>
              <a:rPr lang="en-US"/>
              <a:t>Process Redesign</a:t>
            </a:r>
            <a:endParaRPr/>
          </a:p>
          <a:p>
            <a:pPr marL="621792" lvl="1" indent="-228600" algn="l" rtl="0">
              <a:spcBef>
                <a:spcPts val="324"/>
              </a:spcBef>
              <a:spcAft>
                <a:spcPts val="0"/>
              </a:spcAft>
              <a:buSzPts val="2300"/>
              <a:buChar char="◦"/>
            </a:pPr>
            <a:r>
              <a:rPr lang="en-US"/>
              <a:t>Process Implementation</a:t>
            </a:r>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Shape 1938"/>
        <p:cNvGrpSpPr/>
        <p:nvPr/>
      </p:nvGrpSpPr>
      <p:grpSpPr>
        <a:xfrm>
          <a:off x="0" y="0"/>
          <a:ext cx="0" cy="0"/>
          <a:chOff x="0" y="0"/>
          <a:chExt cx="0" cy="0"/>
        </a:xfrm>
      </p:grpSpPr>
      <p:sp>
        <p:nvSpPr>
          <p:cNvPr id="1939" name="Google Shape;1939;p266"/>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2"/>
              </a:buClr>
              <a:buSzPts val="4800"/>
              <a:buFont typeface="Lucida Sans"/>
              <a:buNone/>
            </a:pPr>
            <a:r>
              <a:rPr lang="en-US"/>
              <a:t>BPR Challenges</a:t>
            </a:r>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Shape 1943"/>
        <p:cNvGrpSpPr/>
        <p:nvPr/>
      </p:nvGrpSpPr>
      <p:grpSpPr>
        <a:xfrm>
          <a:off x="0" y="0"/>
          <a:ext cx="0" cy="0"/>
          <a:chOff x="0" y="0"/>
          <a:chExt cx="0" cy="0"/>
        </a:xfrm>
      </p:grpSpPr>
      <p:sp>
        <p:nvSpPr>
          <p:cNvPr id="1944" name="Google Shape;1944;p2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4100"/>
              <a:buFont typeface="Lucida Sans"/>
              <a:buNone/>
            </a:pPr>
            <a:r>
              <a:rPr lang="en-US"/>
              <a:t>Common Problems</a:t>
            </a:r>
            <a:endParaRPr/>
          </a:p>
        </p:txBody>
      </p:sp>
      <p:sp>
        <p:nvSpPr>
          <p:cNvPr id="1945" name="Google Shape;1945;p26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Process Simplification is Common - True BPR is Not</a:t>
            </a:r>
            <a:endParaRPr/>
          </a:p>
          <a:p>
            <a:pPr marL="365760" lvl="0" indent="-256032" algn="just" rtl="0">
              <a:spcBef>
                <a:spcPts val="400"/>
              </a:spcBef>
              <a:spcAft>
                <a:spcPts val="0"/>
              </a:spcAft>
              <a:buSzPts val="1836"/>
              <a:buChar char="🞂"/>
            </a:pPr>
            <a:r>
              <a:rPr lang="en-US"/>
              <a:t>Desire to Change Not Strong Enough</a:t>
            </a:r>
            <a:endParaRPr/>
          </a:p>
          <a:p>
            <a:pPr marL="365760" lvl="0" indent="-256032" algn="just" rtl="0">
              <a:spcBef>
                <a:spcPts val="400"/>
              </a:spcBef>
              <a:spcAft>
                <a:spcPts val="0"/>
              </a:spcAft>
              <a:buSzPts val="1836"/>
              <a:buChar char="🞂"/>
            </a:pPr>
            <a:r>
              <a:rPr lang="en-US"/>
              <a:t>Start Point the Existing Process Not a Blank Slate</a:t>
            </a:r>
            <a:endParaRPr/>
          </a:p>
          <a:p>
            <a:pPr marL="365760" lvl="0" indent="-256032" algn="just" rtl="0">
              <a:spcBef>
                <a:spcPts val="400"/>
              </a:spcBef>
              <a:spcAft>
                <a:spcPts val="0"/>
              </a:spcAft>
              <a:buSzPts val="1836"/>
              <a:buChar char="🞂"/>
            </a:pPr>
            <a:r>
              <a:rPr lang="en-US"/>
              <a:t>Commitment to Existing Processes Too Strong</a:t>
            </a:r>
            <a:endParaRPr/>
          </a:p>
          <a:p>
            <a:pPr marL="621792" lvl="1" indent="-228600" algn="just" rtl="0">
              <a:spcBef>
                <a:spcPts val="324"/>
              </a:spcBef>
              <a:spcAft>
                <a:spcPts val="0"/>
              </a:spcAft>
              <a:buSzPts val="2300"/>
              <a:buChar char="◦"/>
            </a:pPr>
            <a:r>
              <a:rPr lang="en-US"/>
              <a:t>REMEMBER - “If it ain’t broke …”</a:t>
            </a:r>
            <a:endParaRPr/>
          </a:p>
          <a:p>
            <a:pPr marL="365760" lvl="0" indent="-256032" algn="just" rtl="0">
              <a:spcBef>
                <a:spcPts val="400"/>
              </a:spcBef>
              <a:spcAft>
                <a:spcPts val="0"/>
              </a:spcAft>
              <a:buSzPts val="1836"/>
              <a:buChar char="🞂"/>
            </a:pPr>
            <a:r>
              <a:rPr lang="en-US"/>
              <a:t>Quick Fix Approach</a:t>
            </a:r>
            <a:endParaRPr/>
          </a:p>
          <a:p>
            <a:pPr marL="621792" lvl="1" indent="-82550" algn="just" rtl="0">
              <a:spcBef>
                <a:spcPts val="324"/>
              </a:spcBef>
              <a:spcAft>
                <a:spcPts val="0"/>
              </a:spcAft>
              <a:buSzPts val="2300"/>
              <a:buNone/>
            </a:pPr>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Shape 1949"/>
        <p:cNvGrpSpPr/>
        <p:nvPr/>
      </p:nvGrpSpPr>
      <p:grpSpPr>
        <a:xfrm>
          <a:off x="0" y="0"/>
          <a:ext cx="0" cy="0"/>
          <a:chOff x="0" y="0"/>
          <a:chExt cx="0" cy="0"/>
        </a:xfrm>
      </p:grpSpPr>
      <p:sp>
        <p:nvSpPr>
          <p:cNvPr id="1950" name="Google Shape;1950;p2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4100"/>
              <a:buFont typeface="Lucida Sans"/>
              <a:buNone/>
            </a:pPr>
            <a:r>
              <a:rPr lang="en-US"/>
              <a:t>Common Problems with BPR</a:t>
            </a:r>
            <a:endParaRPr/>
          </a:p>
        </p:txBody>
      </p:sp>
      <p:sp>
        <p:nvSpPr>
          <p:cNvPr id="1951" name="Google Shape;1951;p26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Process under review too big or too small</a:t>
            </a:r>
            <a:endParaRPr/>
          </a:p>
          <a:p>
            <a:pPr marL="365760" lvl="0" indent="-256032" algn="just" rtl="0">
              <a:spcBef>
                <a:spcPts val="400"/>
              </a:spcBef>
              <a:spcAft>
                <a:spcPts val="0"/>
              </a:spcAft>
              <a:buSzPts val="1836"/>
              <a:buChar char="🞂"/>
            </a:pPr>
            <a:r>
              <a:rPr lang="en-US"/>
              <a:t>Reliance on existing process too strong</a:t>
            </a:r>
            <a:endParaRPr/>
          </a:p>
          <a:p>
            <a:pPr marL="365760" lvl="0" indent="-256032" algn="just" rtl="0">
              <a:spcBef>
                <a:spcPts val="400"/>
              </a:spcBef>
              <a:spcAft>
                <a:spcPts val="0"/>
              </a:spcAft>
              <a:buSzPts val="1836"/>
              <a:buChar char="🞂"/>
            </a:pPr>
            <a:r>
              <a:rPr lang="en-US"/>
              <a:t>The Costs of the Change Seem Too Large</a:t>
            </a:r>
            <a:endParaRPr/>
          </a:p>
          <a:p>
            <a:pPr marL="365760" lvl="0" indent="-256032" algn="just" rtl="0">
              <a:spcBef>
                <a:spcPts val="400"/>
              </a:spcBef>
              <a:spcAft>
                <a:spcPts val="0"/>
              </a:spcAft>
              <a:buSzPts val="1836"/>
              <a:buChar char="🞂"/>
            </a:pPr>
            <a:r>
              <a:rPr lang="en-US"/>
              <a:t>BPR Isolated Activity not Aligned to the Business Objectives</a:t>
            </a:r>
            <a:endParaRPr/>
          </a:p>
          <a:p>
            <a:pPr marL="365760" lvl="0" indent="-256032" algn="just" rtl="0">
              <a:spcBef>
                <a:spcPts val="400"/>
              </a:spcBef>
              <a:spcAft>
                <a:spcPts val="0"/>
              </a:spcAft>
              <a:buSzPts val="1836"/>
              <a:buChar char="🞂"/>
            </a:pPr>
            <a:r>
              <a:rPr lang="en-US"/>
              <a:t>Allocation of Resources</a:t>
            </a:r>
            <a:endParaRPr/>
          </a:p>
          <a:p>
            <a:pPr marL="365760" lvl="0" indent="-256032" algn="just" rtl="0">
              <a:spcBef>
                <a:spcPts val="400"/>
              </a:spcBef>
              <a:spcAft>
                <a:spcPts val="0"/>
              </a:spcAft>
              <a:buSzPts val="1836"/>
              <a:buChar char="🞂"/>
            </a:pPr>
            <a:r>
              <a:rPr lang="en-US"/>
              <a:t>Poor Timing and Planning</a:t>
            </a:r>
            <a:endParaRPr/>
          </a:p>
          <a:p>
            <a:pPr marL="365760" lvl="0" indent="-256032" algn="just" rtl="0">
              <a:spcBef>
                <a:spcPts val="400"/>
              </a:spcBef>
              <a:spcAft>
                <a:spcPts val="0"/>
              </a:spcAft>
              <a:buSzPts val="1836"/>
              <a:buChar char="🞂"/>
            </a:pPr>
            <a:r>
              <a:rPr lang="en-US"/>
              <a:t>Keeping the Team and Organization on Target</a:t>
            </a:r>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Shape 1955"/>
        <p:cNvGrpSpPr/>
        <p:nvPr/>
      </p:nvGrpSpPr>
      <p:grpSpPr>
        <a:xfrm>
          <a:off x="0" y="0"/>
          <a:ext cx="0" cy="0"/>
          <a:chOff x="0" y="0"/>
          <a:chExt cx="0" cy="0"/>
        </a:xfrm>
      </p:grpSpPr>
      <p:sp>
        <p:nvSpPr>
          <p:cNvPr id="1956" name="Google Shape;1956;p2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4100"/>
              <a:buFont typeface="Lucida Sans"/>
              <a:buNone/>
            </a:pPr>
            <a:r>
              <a:rPr lang="en-US"/>
              <a:t>Summary</a:t>
            </a:r>
            <a:endParaRPr/>
          </a:p>
        </p:txBody>
      </p:sp>
      <p:sp>
        <p:nvSpPr>
          <p:cNvPr id="1957" name="Google Shape;1957;p26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Reengineering is a fundamental rethinking and redesign of business processes to achieve dramatic improvements</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a:t>BPR has emerged from key management traditions such as scientific management and systems thinking</a:t>
            </a:r>
            <a:endParaRPr/>
          </a:p>
          <a:p>
            <a:pPr marL="365760" lvl="0" indent="-139446" algn="just" rtl="0">
              <a:lnSpc>
                <a:spcPct val="90000"/>
              </a:lnSpc>
              <a:spcBef>
                <a:spcPts val="400"/>
              </a:spcBef>
              <a:spcAft>
                <a:spcPts val="0"/>
              </a:spcAft>
              <a:buSzPts val="1836"/>
              <a:buNone/>
            </a:pPr>
            <a:endParaRPr/>
          </a:p>
          <a:p>
            <a:pPr marL="365760" lvl="0" indent="-256032" algn="just" rtl="0">
              <a:lnSpc>
                <a:spcPct val="90000"/>
              </a:lnSpc>
              <a:spcBef>
                <a:spcPts val="400"/>
              </a:spcBef>
              <a:spcAft>
                <a:spcPts val="0"/>
              </a:spcAft>
              <a:buSzPts val="1836"/>
              <a:buChar char="🞂"/>
            </a:pPr>
            <a:r>
              <a:rPr lang="en-US"/>
              <a:t>Rules and symbols play an integral part of all BPR initiatives</a:t>
            </a:r>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Shape 1961"/>
        <p:cNvGrpSpPr/>
        <p:nvPr/>
      </p:nvGrpSpPr>
      <p:grpSpPr>
        <a:xfrm>
          <a:off x="0" y="0"/>
          <a:ext cx="0" cy="0"/>
          <a:chOff x="0" y="0"/>
          <a:chExt cx="0" cy="0"/>
        </a:xfrm>
      </p:grpSpPr>
      <p:sp>
        <p:nvSpPr>
          <p:cNvPr id="1962" name="Google Shape;1962;p2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chemeClr val="dk2"/>
              </a:buClr>
              <a:buSzPts val="4100"/>
              <a:buFont typeface="Lucida Sans"/>
              <a:buNone/>
            </a:pPr>
            <a:r>
              <a:rPr lang="en-US"/>
              <a:t>Summary</a:t>
            </a:r>
            <a:endParaRPr/>
          </a:p>
        </p:txBody>
      </p:sp>
      <p:sp>
        <p:nvSpPr>
          <p:cNvPr id="1963" name="Google Shape;1963;p27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Don’t assume anything - remember BPR is fundamental rethinking of business processes</a:t>
            </a:r>
            <a:endParaRPr/>
          </a:p>
          <a:p>
            <a:pPr marL="365760" lvl="0" indent="-139446" algn="just" rtl="0">
              <a:lnSpc>
                <a:spcPct val="90000"/>
              </a:lnSpc>
              <a:spcBef>
                <a:spcPts val="400"/>
              </a:spcBef>
              <a:spcAft>
                <a:spcPts val="0"/>
              </a:spcAft>
              <a:buSzPts val="1836"/>
              <a:buNone/>
            </a:pPr>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Shape 1967"/>
        <p:cNvGrpSpPr/>
        <p:nvPr/>
      </p:nvGrpSpPr>
      <p:grpSpPr>
        <a:xfrm>
          <a:off x="0" y="0"/>
          <a:ext cx="0" cy="0"/>
          <a:chOff x="0" y="0"/>
          <a:chExt cx="0" cy="0"/>
        </a:xfrm>
      </p:grpSpPr>
      <p:sp>
        <p:nvSpPr>
          <p:cNvPr id="1968" name="Google Shape;1968;p271"/>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lt2"/>
              </a:buClr>
              <a:buSzPts val="4800"/>
              <a:buFont typeface="Lucida Sans"/>
              <a:buNone/>
            </a:pPr>
            <a:r>
              <a:rPr lang="en-US"/>
              <a:t>INTERNAL CONTROLS IMPLICATIONS</a:t>
            </a:r>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272"/>
          <p:cNvSpPr txBox="1">
            <a:spLocks noGrp="1"/>
          </p:cNvSpPr>
          <p:nvPr>
            <p:ph type="body" idx="1"/>
          </p:nvPr>
        </p:nvSpPr>
        <p:spPr>
          <a:xfrm>
            <a:off x="457200" y="1481328"/>
            <a:ext cx="8229600" cy="51480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1.Transaction authorisation</a:t>
            </a:r>
            <a:endParaRPr/>
          </a:p>
          <a:p>
            <a:pPr marL="621792" lvl="1" indent="-228600" algn="just" rtl="0">
              <a:spcBef>
                <a:spcPts val="324"/>
              </a:spcBef>
              <a:spcAft>
                <a:spcPts val="0"/>
              </a:spcAft>
              <a:buSzPts val="2300"/>
              <a:buChar char="◦"/>
            </a:pPr>
            <a:r>
              <a:rPr lang="en-US"/>
              <a:t>Controls are required to validate transactions before other modules accept and act upon them without disrupting them.</a:t>
            </a:r>
            <a:endParaRPr/>
          </a:p>
          <a:p>
            <a:pPr marL="621792" lvl="1" indent="-228600" algn="just" rtl="0">
              <a:spcBef>
                <a:spcPts val="324"/>
              </a:spcBef>
              <a:spcAft>
                <a:spcPts val="0"/>
              </a:spcAft>
              <a:buSzPts val="2300"/>
              <a:buChar char="◦"/>
            </a:pPr>
            <a:r>
              <a:rPr lang="en-US"/>
              <a:t>Programmed controls are critical because ERP’s are real time systems and cannot wait for human intervention.</a:t>
            </a:r>
            <a:endParaRPr/>
          </a:p>
          <a:p>
            <a:pPr marL="621792" lvl="1" indent="-228600" algn="just" rtl="0">
              <a:spcBef>
                <a:spcPts val="324"/>
              </a:spcBef>
              <a:spcAft>
                <a:spcPts val="0"/>
              </a:spcAft>
              <a:buSzPts val="2300"/>
              <a:buChar char="◦"/>
            </a:pPr>
            <a:r>
              <a:rPr lang="en-US"/>
              <a:t>Auditors need to have detailed knowledge of business processes and information flow between system components for better transaction authorisation.</a:t>
            </a:r>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sp>
        <p:nvSpPr>
          <p:cNvPr id="1979" name="Google Shape;1979;p273"/>
          <p:cNvSpPr txBox="1">
            <a:spLocks noGrp="1"/>
          </p:cNvSpPr>
          <p:nvPr>
            <p:ph type="body" idx="1"/>
          </p:nvPr>
        </p:nvSpPr>
        <p:spPr>
          <a:xfrm>
            <a:off x="457200" y="1481328"/>
            <a:ext cx="8229600" cy="46908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2. Segregation of duties</a:t>
            </a:r>
            <a:endParaRPr/>
          </a:p>
          <a:p>
            <a:pPr marL="621792" lvl="1" indent="-228600" algn="just" rtl="0">
              <a:spcBef>
                <a:spcPts val="324"/>
              </a:spcBef>
              <a:spcAft>
                <a:spcPts val="0"/>
              </a:spcAft>
              <a:buSzPts val="2300"/>
              <a:buChar char="◦"/>
            </a:pPr>
            <a:r>
              <a:rPr lang="en-US"/>
              <a:t>Operational decisions in ERP based organisations are pushed down to a point as close to the event source as possible.</a:t>
            </a:r>
            <a:endParaRPr/>
          </a:p>
          <a:p>
            <a:pPr marL="621792" lvl="1" indent="-228600" algn="just" rtl="0">
              <a:spcBef>
                <a:spcPts val="324"/>
              </a:spcBef>
              <a:spcAft>
                <a:spcPts val="0"/>
              </a:spcAft>
              <a:buSzPts val="2300"/>
              <a:buChar char="◦"/>
            </a:pPr>
            <a:r>
              <a:rPr lang="en-US"/>
              <a:t>Manual processes associated with segregation of duties are often eliminated in an ERP environment.</a:t>
            </a:r>
            <a:endParaRPr/>
          </a:p>
          <a:p>
            <a:pPr marL="621792" lvl="1" indent="-228600" algn="just" rtl="0">
              <a:spcBef>
                <a:spcPts val="324"/>
              </a:spcBef>
              <a:spcAft>
                <a:spcPts val="0"/>
              </a:spcAft>
              <a:buSzPts val="2300"/>
              <a:buChar char="◦"/>
            </a:pPr>
            <a:r>
              <a:rPr lang="en-US"/>
              <a:t>User roles may be employed as is done in SAP.</a:t>
            </a:r>
            <a:endParaRPr/>
          </a:p>
          <a:p>
            <a:pPr marL="621792" lvl="1" indent="-228600" algn="just" rtl="0">
              <a:spcBef>
                <a:spcPts val="324"/>
              </a:spcBef>
              <a:spcAft>
                <a:spcPts val="0"/>
              </a:spcAft>
              <a:buSzPts val="2300"/>
              <a:buChar char="◦"/>
            </a:pPr>
            <a:r>
              <a:rPr lang="en-US"/>
              <a:t>Each role is associated with a specific set of activities that are assigned to an authorised user of the ERP system.</a:t>
            </a:r>
            <a:endParaRPr/>
          </a:p>
          <a:p>
            <a:pPr marL="621792" lvl="1" indent="-228600" algn="just" rtl="0">
              <a:spcBef>
                <a:spcPts val="324"/>
              </a:spcBef>
              <a:spcAft>
                <a:spcPts val="0"/>
              </a:spcAft>
              <a:buSzPts val="2300"/>
              <a:buChar char="◦"/>
            </a:pPr>
            <a:r>
              <a:rPr lang="en-US"/>
              <a:t>The system administer may administer this exercise.</a:t>
            </a:r>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Shape 1983"/>
        <p:cNvGrpSpPr/>
        <p:nvPr/>
      </p:nvGrpSpPr>
      <p:grpSpPr>
        <a:xfrm>
          <a:off x="0" y="0"/>
          <a:ext cx="0" cy="0"/>
          <a:chOff x="0" y="0"/>
          <a:chExt cx="0" cy="0"/>
        </a:xfrm>
      </p:grpSpPr>
      <p:sp>
        <p:nvSpPr>
          <p:cNvPr id="1984" name="Google Shape;1984;p274"/>
          <p:cNvSpPr txBox="1">
            <a:spLocks noGrp="1"/>
          </p:cNvSpPr>
          <p:nvPr>
            <p:ph type="body" idx="1"/>
          </p:nvPr>
        </p:nvSpPr>
        <p:spPr>
          <a:xfrm>
            <a:off x="457200" y="1295400"/>
            <a:ext cx="8229600" cy="4995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3. Supervision </a:t>
            </a:r>
            <a:endParaRPr/>
          </a:p>
          <a:p>
            <a:pPr marL="621792" lvl="1" indent="-228600" algn="just" rtl="0">
              <a:spcBef>
                <a:spcPts val="324"/>
              </a:spcBef>
              <a:spcAft>
                <a:spcPts val="0"/>
              </a:spcAft>
              <a:buSzPts val="2300"/>
              <a:buChar char="◦"/>
            </a:pPr>
            <a:r>
              <a:rPr lang="en-US"/>
              <a:t>The risk often is that management may not be fully aware of their role after the implementation of an ERP as their traditional roles have somewhat changed.</a:t>
            </a:r>
            <a:endParaRPr/>
          </a:p>
          <a:p>
            <a:pPr marL="621792" lvl="1" indent="-228600" algn="just" rtl="0">
              <a:spcBef>
                <a:spcPts val="324"/>
              </a:spcBef>
              <a:spcAft>
                <a:spcPts val="0"/>
              </a:spcAft>
              <a:buSzPts val="2300"/>
              <a:buChar char="◦"/>
            </a:pPr>
            <a:r>
              <a:rPr lang="en-US"/>
              <a:t>Supervisors need to acquire an extensive technical and operational understanding of the new system.</a:t>
            </a:r>
            <a:endParaRPr/>
          </a:p>
          <a:p>
            <a:pPr marL="621792" lvl="1" indent="-228600" algn="just" rtl="0">
              <a:spcBef>
                <a:spcPts val="324"/>
              </a:spcBef>
              <a:spcAft>
                <a:spcPts val="0"/>
              </a:spcAft>
              <a:buSzPts val="2300"/>
              <a:buChar char="◦"/>
            </a:pPr>
            <a:r>
              <a:rPr lang="en-US"/>
              <a:t>Many a time, decision making is pushed down to the shop floor.</a:t>
            </a:r>
            <a:endParaRPr/>
          </a:p>
          <a:p>
            <a:pPr marL="621792" lvl="1" indent="-228600" algn="just" rtl="0">
              <a:spcBef>
                <a:spcPts val="324"/>
              </a:spcBef>
              <a:spcAft>
                <a:spcPts val="0"/>
              </a:spcAft>
              <a:buSzPts val="2300"/>
              <a:buChar char="◦"/>
            </a:pPr>
            <a:r>
              <a:rPr lang="en-US"/>
              <a:t>Supervision is still a critical internal control.</a:t>
            </a:r>
            <a:endParaRPr/>
          </a:p>
          <a:p>
            <a:pPr marL="621792" lvl="1" indent="-228600" algn="just" rtl="0">
              <a:spcBef>
                <a:spcPts val="324"/>
              </a:spcBef>
              <a:spcAft>
                <a:spcPts val="0"/>
              </a:spcAft>
              <a:buSzPts val="2300"/>
              <a:buChar char="◦"/>
            </a:pPr>
            <a:r>
              <a:rPr lang="en-US"/>
              <a:t>Supervisors have more time to manage the shop floor and through improved monitoring capability increase their span of control.</a:t>
            </a:r>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Shape 1988"/>
        <p:cNvGrpSpPr/>
        <p:nvPr/>
      </p:nvGrpSpPr>
      <p:grpSpPr>
        <a:xfrm>
          <a:off x="0" y="0"/>
          <a:ext cx="0" cy="0"/>
          <a:chOff x="0" y="0"/>
          <a:chExt cx="0" cy="0"/>
        </a:xfrm>
      </p:grpSpPr>
      <p:sp>
        <p:nvSpPr>
          <p:cNvPr id="1989" name="Google Shape;1989;p27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4. Access Controls</a:t>
            </a:r>
            <a:endParaRPr/>
          </a:p>
          <a:p>
            <a:pPr marL="621792" lvl="1" indent="-228600" algn="just" rtl="0">
              <a:spcBef>
                <a:spcPts val="324"/>
              </a:spcBef>
              <a:spcAft>
                <a:spcPts val="0"/>
              </a:spcAft>
              <a:buSzPts val="2300"/>
              <a:buChar char="◦"/>
            </a:pPr>
            <a:r>
              <a:rPr lang="en-US"/>
              <a:t>Security is critical in control issues.</a:t>
            </a:r>
            <a:endParaRPr/>
          </a:p>
          <a:p>
            <a:pPr marL="621792" lvl="1" indent="-228600" algn="just" rtl="0">
              <a:spcBef>
                <a:spcPts val="324"/>
              </a:spcBef>
              <a:spcAft>
                <a:spcPts val="0"/>
              </a:spcAft>
              <a:buSzPts val="2300"/>
              <a:buChar char="◦"/>
            </a:pPr>
            <a:r>
              <a:rPr lang="en-US"/>
              <a:t>Security in ERP is to provide confidentiality, integrity and availability of necessary information.</a:t>
            </a:r>
            <a:endParaRPr/>
          </a:p>
          <a:p>
            <a:pPr marL="621792" lvl="1" indent="-228600" algn="just" rtl="0">
              <a:spcBef>
                <a:spcPts val="324"/>
              </a:spcBef>
              <a:spcAft>
                <a:spcPts val="0"/>
              </a:spcAft>
              <a:buSzPts val="2300"/>
              <a:buChar char="◦"/>
            </a:pPr>
            <a:r>
              <a:rPr lang="en-US"/>
              <a:t>Security weaknesses may result in trade secrets being revealed.</a:t>
            </a:r>
            <a:endParaRPr/>
          </a:p>
          <a:p>
            <a:pPr marL="621792" lvl="1" indent="-228600" algn="just" rtl="0">
              <a:spcBef>
                <a:spcPts val="324"/>
              </a:spcBef>
              <a:spcAft>
                <a:spcPts val="0"/>
              </a:spcAft>
              <a:buSzPts val="2300"/>
              <a:buChar char="◦"/>
            </a:pPr>
            <a:r>
              <a:rPr lang="en-US"/>
              <a:t>Access to information is best granted based on risk assessment.</a:t>
            </a:r>
            <a:endParaRPr/>
          </a:p>
          <a:p>
            <a:pPr marL="621792" lvl="1" indent="-228600" algn="just" rtl="0">
              <a:spcBef>
                <a:spcPts val="324"/>
              </a:spcBef>
              <a:spcAft>
                <a:spcPts val="0"/>
              </a:spcAft>
              <a:buSzPts val="2300"/>
              <a:buChar char="◦"/>
            </a:pPr>
            <a:r>
              <a:rPr lang="en-US"/>
              <a:t>Sensitive information or access should be closely controlled to reduce undesirable access.</a:t>
            </a:r>
            <a:endParaRPr/>
          </a:p>
          <a:p>
            <a:pPr marL="621792" lvl="1" indent="-82550" algn="just" rtl="0">
              <a:spcBef>
                <a:spcPts val="324"/>
              </a:spcBef>
              <a:spcAft>
                <a:spcPts val="0"/>
              </a:spcAft>
              <a:buSzPts val="2300"/>
              <a:buNone/>
            </a:pPr>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Shape 1993"/>
        <p:cNvGrpSpPr/>
        <p:nvPr/>
      </p:nvGrpSpPr>
      <p:grpSpPr>
        <a:xfrm>
          <a:off x="0" y="0"/>
          <a:ext cx="0" cy="0"/>
          <a:chOff x="0" y="0"/>
          <a:chExt cx="0" cy="0"/>
        </a:xfrm>
      </p:grpSpPr>
      <p:sp>
        <p:nvSpPr>
          <p:cNvPr id="1994" name="Google Shape;1994;p276"/>
          <p:cNvSpPr txBox="1">
            <a:spLocks noGrp="1"/>
          </p:cNvSpPr>
          <p:nvPr>
            <p:ph type="body" idx="1"/>
          </p:nvPr>
        </p:nvSpPr>
        <p:spPr>
          <a:xfrm>
            <a:off x="457200" y="1481328"/>
            <a:ext cx="8229600" cy="51480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5. Accounting Records</a:t>
            </a:r>
            <a:endParaRPr/>
          </a:p>
          <a:p>
            <a:pPr marL="621792" lvl="1" indent="-228600" algn="just" rtl="0">
              <a:spcBef>
                <a:spcPts val="324"/>
              </a:spcBef>
              <a:spcAft>
                <a:spcPts val="0"/>
              </a:spcAft>
              <a:buSzPts val="2300"/>
              <a:buChar char="◦"/>
            </a:pPr>
            <a:r>
              <a:rPr lang="en-US"/>
              <a:t>ERP are able to streamline the whole financial reporting process.</a:t>
            </a:r>
            <a:endParaRPr/>
          </a:p>
          <a:p>
            <a:pPr marL="621792" lvl="1" indent="-228600" algn="just" rtl="0">
              <a:spcBef>
                <a:spcPts val="324"/>
              </a:spcBef>
              <a:spcAft>
                <a:spcPts val="0"/>
              </a:spcAft>
              <a:buSzPts val="2300"/>
              <a:buChar char="◦"/>
            </a:pPr>
            <a:r>
              <a:rPr lang="en-US"/>
              <a:t>Organisations are able to close their books daily.</a:t>
            </a:r>
            <a:endParaRPr/>
          </a:p>
          <a:p>
            <a:pPr marL="621792" lvl="1" indent="-228600" algn="just" rtl="0">
              <a:spcBef>
                <a:spcPts val="324"/>
              </a:spcBef>
              <a:spcAft>
                <a:spcPts val="0"/>
              </a:spcAft>
              <a:buSzPts val="2300"/>
              <a:buChar char="◦"/>
            </a:pPr>
            <a:r>
              <a:rPr lang="en-US"/>
              <a:t>OLTP may thus be manipulated to produce ledger entries, accounts receivables and payable summaries and financial consolidation for both internal and external users.</a:t>
            </a:r>
            <a:endParaRPr/>
          </a:p>
          <a:p>
            <a:pPr marL="621792" lvl="1" indent="-228600" algn="just" rtl="0">
              <a:spcBef>
                <a:spcPts val="324"/>
              </a:spcBef>
              <a:spcAft>
                <a:spcPts val="0"/>
              </a:spcAft>
              <a:buSzPts val="2300"/>
              <a:buChar char="◦"/>
            </a:pPr>
            <a:r>
              <a:rPr lang="en-US"/>
              <a:t>Traditional batch controls and audit trails are no longer needed in many cases.</a:t>
            </a:r>
            <a:endParaRPr/>
          </a:p>
          <a:p>
            <a:pPr marL="621792" lvl="1" indent="-228600" algn="just" rtl="0">
              <a:spcBef>
                <a:spcPts val="324"/>
              </a:spcBef>
              <a:spcAft>
                <a:spcPts val="0"/>
              </a:spcAft>
              <a:buSzPts val="2300"/>
              <a:buChar char="◦"/>
            </a:pPr>
            <a:r>
              <a:rPr lang="en-US"/>
              <a:t>Risk may be mitigated by use of default values, cross-checking and specified user views.</a:t>
            </a:r>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Shape 1998"/>
        <p:cNvGrpSpPr/>
        <p:nvPr/>
      </p:nvGrpSpPr>
      <p:grpSpPr>
        <a:xfrm>
          <a:off x="0" y="0"/>
          <a:ext cx="0" cy="0"/>
          <a:chOff x="0" y="0"/>
          <a:chExt cx="0" cy="0"/>
        </a:xfrm>
      </p:grpSpPr>
      <p:sp>
        <p:nvSpPr>
          <p:cNvPr id="1999" name="Google Shape;1999;p27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6. Auditing the Data Warehouse</a:t>
            </a:r>
            <a:endParaRPr/>
          </a:p>
          <a:p>
            <a:pPr marL="621792" lvl="1" indent="-228600" algn="just" rtl="0">
              <a:spcBef>
                <a:spcPts val="324"/>
              </a:spcBef>
              <a:spcAft>
                <a:spcPts val="0"/>
              </a:spcAft>
              <a:buSzPts val="2300"/>
              <a:buChar char="◦"/>
            </a:pPr>
            <a:r>
              <a:rPr lang="en-US"/>
              <a:t>The auditor performing information system audit is expected to design procedures to gather evidence relating to various management assertions pertaining the firm’s financial statements.</a:t>
            </a:r>
            <a:endParaRPr/>
          </a:p>
          <a:p>
            <a:pPr marL="621792" lvl="1" indent="-228600" algn="just" rtl="0">
              <a:spcBef>
                <a:spcPts val="324"/>
              </a:spcBef>
              <a:spcAft>
                <a:spcPts val="0"/>
              </a:spcAft>
              <a:buSzPts val="2300"/>
              <a:buChar char="◦"/>
            </a:pPr>
            <a:r>
              <a:rPr lang="en-US"/>
              <a:t>An analytical view of account balances to identify procedures may indicate trends that may lead to extending the number and nature of substantive tests that he or she subsequently performs.</a:t>
            </a:r>
            <a:endParaRPr/>
          </a:p>
          <a:p>
            <a:pPr marL="621792" lvl="1" indent="-228600" algn="just" rtl="0">
              <a:spcBef>
                <a:spcPts val="324"/>
              </a:spcBef>
              <a:spcAft>
                <a:spcPts val="0"/>
              </a:spcAft>
              <a:buSzPts val="2300"/>
              <a:buChar char="◦"/>
            </a:pPr>
            <a:r>
              <a:rPr lang="en-US"/>
              <a:t>The same evidence may provide assurance that transactions and accounts are reasonably stated and complete thus reduce substantive testing.</a:t>
            </a:r>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Shape 2003"/>
        <p:cNvGrpSpPr/>
        <p:nvPr/>
      </p:nvGrpSpPr>
      <p:grpSpPr>
        <a:xfrm>
          <a:off x="0" y="0"/>
          <a:ext cx="0" cy="0"/>
          <a:chOff x="0" y="0"/>
          <a:chExt cx="0" cy="0"/>
        </a:xfrm>
      </p:grpSpPr>
      <p:sp>
        <p:nvSpPr>
          <p:cNvPr id="2004" name="Google Shape;2004;p278"/>
          <p:cNvSpPr txBox="1">
            <a:spLocks noGrp="1"/>
          </p:cNvSpPr>
          <p:nvPr>
            <p:ph type="body" idx="1"/>
          </p:nvPr>
        </p:nvSpPr>
        <p:spPr>
          <a:xfrm>
            <a:off x="457200" y="1481328"/>
            <a:ext cx="8229600" cy="48432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Data available is useful for carrying out of ratio analysis and time series.</a:t>
            </a:r>
            <a:endParaRPr/>
          </a:p>
          <a:p>
            <a:pPr marL="365760" lvl="0" indent="-256032" algn="just" rtl="0">
              <a:spcBef>
                <a:spcPts val="400"/>
              </a:spcBef>
              <a:spcAft>
                <a:spcPts val="0"/>
              </a:spcAft>
              <a:buSzPts val="1836"/>
              <a:buChar char="🞂"/>
            </a:pPr>
            <a:r>
              <a:rPr lang="en-US"/>
              <a:t>Revenue cycle </a:t>
            </a:r>
            <a:endParaRPr/>
          </a:p>
          <a:p>
            <a:pPr marL="621792" lvl="1" indent="-228600" algn="just" rtl="0">
              <a:spcBef>
                <a:spcPts val="324"/>
              </a:spcBef>
              <a:spcAft>
                <a:spcPts val="0"/>
              </a:spcAft>
              <a:buSzPts val="2300"/>
              <a:buChar char="◦"/>
            </a:pPr>
            <a:r>
              <a:rPr lang="en-US"/>
              <a:t>Analytical review will provide the auditor with an overall perspective for trends in sales, cash receipts, sales returns and accounts receivable.</a:t>
            </a:r>
            <a:endParaRPr/>
          </a:p>
          <a:p>
            <a:pPr marL="621792" lvl="1" indent="-228600" algn="just" rtl="0">
              <a:spcBef>
                <a:spcPts val="324"/>
              </a:spcBef>
              <a:spcAft>
                <a:spcPts val="0"/>
              </a:spcAft>
              <a:buSzPts val="2300"/>
              <a:buChar char="◦"/>
            </a:pPr>
            <a:r>
              <a:rPr lang="en-US"/>
              <a:t>Ratio analysis may be used to compare total sales to cost of goods sold, sales to accounts receivable and allowances for doubtful accounts to accounts receivable.</a:t>
            </a:r>
            <a:endParaRPr/>
          </a:p>
          <a:p>
            <a:pPr marL="621792" lvl="1" indent="-228600" algn="just" rtl="0">
              <a:spcBef>
                <a:spcPts val="324"/>
              </a:spcBef>
              <a:spcAft>
                <a:spcPts val="0"/>
              </a:spcAft>
              <a:buSzPts val="2300"/>
              <a:buChar char="◦"/>
            </a:pPr>
            <a:r>
              <a:rPr lang="en-US"/>
              <a:t>Misrepresentations may be indicated on financial statements given significant variations.</a:t>
            </a:r>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Shape 2008"/>
        <p:cNvGrpSpPr/>
        <p:nvPr/>
      </p:nvGrpSpPr>
      <p:grpSpPr>
        <a:xfrm>
          <a:off x="0" y="0"/>
          <a:ext cx="0" cy="0"/>
          <a:chOff x="0" y="0"/>
          <a:chExt cx="0" cy="0"/>
        </a:xfrm>
      </p:grpSpPr>
      <p:sp>
        <p:nvSpPr>
          <p:cNvPr id="2009" name="Google Shape;2009;p27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3. Expenditure cycle</a:t>
            </a:r>
            <a:endParaRPr/>
          </a:p>
          <a:p>
            <a:pPr marL="621792" lvl="1" indent="-228600" algn="just" rtl="0">
              <a:spcBef>
                <a:spcPts val="324"/>
              </a:spcBef>
              <a:spcAft>
                <a:spcPts val="0"/>
              </a:spcAft>
              <a:buSzPts val="2300"/>
              <a:buChar char="◦"/>
            </a:pPr>
            <a:r>
              <a:rPr lang="en-US"/>
              <a:t>Analytical review may provide the auditor with an overall perspective for trends in accounts payable and related expenses.</a:t>
            </a:r>
            <a:endParaRPr/>
          </a:p>
          <a:p>
            <a:pPr marL="621792" lvl="1" indent="-228600" algn="just" rtl="0">
              <a:spcBef>
                <a:spcPts val="324"/>
              </a:spcBef>
              <a:spcAft>
                <a:spcPts val="0"/>
              </a:spcAft>
              <a:buSzPts val="2300"/>
              <a:buChar char="◦"/>
            </a:pPr>
            <a:r>
              <a:rPr lang="en-US"/>
              <a:t>Current expenses may be compared to historical expenses and management budgets. </a:t>
            </a:r>
            <a:endParaRPr/>
          </a:p>
          <a:p>
            <a:pPr marL="621792" lvl="1" indent="-228600" algn="just" rtl="0">
              <a:spcBef>
                <a:spcPts val="324"/>
              </a:spcBef>
              <a:spcAft>
                <a:spcPts val="0"/>
              </a:spcAft>
              <a:buSzPts val="2300"/>
              <a:buChar char="◦"/>
            </a:pPr>
            <a:r>
              <a:rPr lang="en-US"/>
              <a:t>Unusual trends or variations should then be closely examined for cause.</a:t>
            </a:r>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2014" name="Google Shape;2014;p280"/>
          <p:cNvSpPr txBox="1">
            <a:spLocks noGrp="1"/>
          </p:cNvSpPr>
          <p:nvPr>
            <p:ph type="body" idx="1"/>
          </p:nvPr>
        </p:nvSpPr>
        <p:spPr>
          <a:xfrm>
            <a:off x="457200" y="1143000"/>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The auditor may use drill-down analysis to identify unusually high levels of business activity with a particular supplier.</a:t>
            </a:r>
            <a:endParaRPr/>
          </a:p>
          <a:p>
            <a:pPr marL="365760" lvl="0" indent="-256032" algn="just" rtl="0">
              <a:lnSpc>
                <a:spcPct val="90000"/>
              </a:lnSpc>
              <a:spcBef>
                <a:spcPts val="400"/>
              </a:spcBef>
              <a:spcAft>
                <a:spcPts val="0"/>
              </a:spcAft>
              <a:buSzPts val="1836"/>
              <a:buChar char="🞂"/>
            </a:pPr>
            <a:r>
              <a:rPr lang="en-US"/>
              <a:t>Excessive purchases from one supplier could represent an abnormal business dependency that could be harmful or fraudulent.</a:t>
            </a:r>
            <a:endParaRPr/>
          </a:p>
          <a:p>
            <a:pPr marL="365760" lvl="0" indent="-256032" algn="just" rtl="0">
              <a:lnSpc>
                <a:spcPct val="90000"/>
              </a:lnSpc>
              <a:spcBef>
                <a:spcPts val="400"/>
              </a:spcBef>
              <a:spcAft>
                <a:spcPts val="0"/>
              </a:spcAft>
              <a:buSzPts val="1836"/>
              <a:buChar char="🞂"/>
            </a:pPr>
            <a:r>
              <a:rPr lang="en-US"/>
              <a:t>On the other hand large numbers of suppliers with small balances may indicate an inefficient purchasing process.</a:t>
            </a:r>
            <a:endParaRPr/>
          </a:p>
          <a:p>
            <a:pPr marL="365760" lvl="0" indent="-256032" algn="just" rtl="0">
              <a:lnSpc>
                <a:spcPct val="90000"/>
              </a:lnSpc>
              <a:spcBef>
                <a:spcPts val="400"/>
              </a:spcBef>
              <a:spcAft>
                <a:spcPts val="0"/>
              </a:spcAft>
              <a:buSzPts val="1836"/>
              <a:buChar char="🞂"/>
            </a:pPr>
            <a:r>
              <a:rPr lang="en-US"/>
              <a:t>However, the auditor should only rely on this resource as it may be a true reflection of operations and processes as it may be cleaned up.</a:t>
            </a:r>
            <a:endParaRP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Shape 2018"/>
        <p:cNvGrpSpPr/>
        <p:nvPr/>
      </p:nvGrpSpPr>
      <p:grpSpPr>
        <a:xfrm>
          <a:off x="0" y="0"/>
          <a:ext cx="0" cy="0"/>
          <a:chOff x="0" y="0"/>
          <a:chExt cx="0" cy="0"/>
        </a:xfrm>
      </p:grpSpPr>
      <p:sp>
        <p:nvSpPr>
          <p:cNvPr id="2019" name="Google Shape;2019;p281"/>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just" rtl="0">
              <a:spcBef>
                <a:spcPts val="0"/>
              </a:spcBef>
              <a:spcAft>
                <a:spcPts val="0"/>
              </a:spcAft>
              <a:buClr>
                <a:schemeClr val="lt2"/>
              </a:buClr>
              <a:buSzPts val="4800"/>
              <a:buFont typeface="Lucida Sans"/>
              <a:buNone/>
            </a:pPr>
            <a:r>
              <a:rPr lang="en-US"/>
              <a:t>PROJECT MANAGEMENT &amp; MODELLING</a:t>
            </a:r>
            <a:endParaRPr/>
          </a:p>
        </p:txBody>
      </p:sp>
      <p:sp>
        <p:nvSpPr>
          <p:cNvPr id="2020" name="Google Shape;2020;p281"/>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SzPts val="1564"/>
              <a:buNone/>
            </a:pPr>
            <a:r>
              <a:rPr lang="en-US"/>
              <a:t>SECTION D</a:t>
            </a:r>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Shape 2024"/>
        <p:cNvGrpSpPr/>
        <p:nvPr/>
      </p:nvGrpSpPr>
      <p:grpSpPr>
        <a:xfrm>
          <a:off x="0" y="0"/>
          <a:ext cx="0" cy="0"/>
          <a:chOff x="0" y="0"/>
          <a:chExt cx="0" cy="0"/>
        </a:xfrm>
      </p:grpSpPr>
      <p:sp>
        <p:nvSpPr>
          <p:cNvPr id="2025" name="Google Shape;2025;p28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139446" algn="l" rtl="0">
              <a:spcBef>
                <a:spcPts val="0"/>
              </a:spcBef>
              <a:spcAft>
                <a:spcPts val="0"/>
              </a:spcAft>
              <a:buSzPts val="1836"/>
              <a:buNone/>
            </a:pPr>
            <a:endParaRPr/>
          </a:p>
        </p:txBody>
      </p:sp>
      <p:sp>
        <p:nvSpPr>
          <p:cNvPr id="2026" name="Google Shape;2026;p2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Project Management &amp; Modelling</a:t>
            </a:r>
            <a:endParaRPr sz="369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Shape 2030"/>
        <p:cNvGrpSpPr/>
        <p:nvPr/>
      </p:nvGrpSpPr>
      <p:grpSpPr>
        <a:xfrm>
          <a:off x="0" y="0"/>
          <a:ext cx="0" cy="0"/>
          <a:chOff x="0" y="0"/>
          <a:chExt cx="0" cy="0"/>
        </a:xfrm>
      </p:grpSpPr>
      <p:sp>
        <p:nvSpPr>
          <p:cNvPr id="2031" name="Google Shape;2031;p283"/>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Autofit/>
          </a:bodyPr>
          <a:lstStyle/>
          <a:p>
            <a:pPr marL="0" lvl="0" indent="0" algn="just" rtl="0">
              <a:spcBef>
                <a:spcPts val="0"/>
              </a:spcBef>
              <a:spcAft>
                <a:spcPts val="0"/>
              </a:spcAft>
              <a:buClr>
                <a:schemeClr val="lt2"/>
              </a:buClr>
              <a:buSzPts val="4320"/>
              <a:buFont typeface="Lucida Sans"/>
              <a:buNone/>
            </a:pPr>
            <a:r>
              <a:rPr lang="en-US" sz="4320"/>
              <a:t>INTERNAL CONTROLS &amp; INFORMATION SYSTEMS AUDIT</a:t>
            </a:r>
            <a:endParaRPr sz="4320"/>
          </a:p>
        </p:txBody>
      </p:sp>
      <p:sp>
        <p:nvSpPr>
          <p:cNvPr id="2032" name="Google Shape;2032;p283"/>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SzPts val="1564"/>
              <a:buNone/>
            </a:pPr>
            <a:r>
              <a:rPr lang="en-US"/>
              <a:t>SECTION E</a:t>
            </a:r>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28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139446" algn="l" rtl="0">
              <a:spcBef>
                <a:spcPts val="0"/>
              </a:spcBef>
              <a:spcAft>
                <a:spcPts val="0"/>
              </a:spcAft>
              <a:buSzPts val="1836"/>
              <a:buNone/>
            </a:pPr>
            <a:endParaRPr/>
          </a:p>
        </p:txBody>
      </p:sp>
      <p:sp>
        <p:nvSpPr>
          <p:cNvPr id="2038" name="Google Shape;2038;p2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Internal Controls &amp; IS Audit</a:t>
            </a:r>
            <a:endParaRP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Shape 2042"/>
        <p:cNvGrpSpPr/>
        <p:nvPr/>
      </p:nvGrpSpPr>
      <p:grpSpPr>
        <a:xfrm>
          <a:off x="0" y="0"/>
          <a:ext cx="0" cy="0"/>
          <a:chOff x="0" y="0"/>
          <a:chExt cx="0" cy="0"/>
        </a:xfrm>
      </p:grpSpPr>
      <p:sp>
        <p:nvSpPr>
          <p:cNvPr id="2043" name="Google Shape;2043;p285"/>
          <p:cNvSpPr txBox="1">
            <a:spLocks noGrp="1"/>
          </p:cNvSpPr>
          <p:nvPr>
            <p:ph type="title"/>
          </p:nvPr>
        </p:nvSpPr>
        <p:spPr>
          <a:xfrm>
            <a:off x="381000" y="1059712"/>
            <a:ext cx="8382000" cy="1828800"/>
          </a:xfrm>
          <a:prstGeom prst="rect">
            <a:avLst/>
          </a:prstGeom>
          <a:noFill/>
          <a:ln>
            <a:noFill/>
          </a:ln>
        </p:spPr>
        <p:txBody>
          <a:bodyPr spcFirstLastPara="1" wrap="square" lIns="91425" tIns="45700" rIns="91425" bIns="45700" anchor="b" anchorCtr="0">
            <a:noAutofit/>
          </a:bodyPr>
          <a:lstStyle/>
          <a:p>
            <a:pPr marL="0" lvl="0" indent="0" algn="just" rtl="0">
              <a:spcBef>
                <a:spcPts val="0"/>
              </a:spcBef>
              <a:spcAft>
                <a:spcPts val="0"/>
              </a:spcAft>
              <a:buClr>
                <a:schemeClr val="lt2"/>
              </a:buClr>
              <a:buSzPts val="4800"/>
              <a:buFont typeface="Lucida Sans"/>
              <a:buNone/>
            </a:pPr>
            <a:r>
              <a:rPr lang="en-US"/>
              <a:t>IT, INTERNAL CONTROLS &amp; CORPORATE GOVERNANCE</a:t>
            </a:r>
            <a:endParaRPr/>
          </a:p>
        </p:txBody>
      </p:sp>
      <p:sp>
        <p:nvSpPr>
          <p:cNvPr id="2044" name="Google Shape;2044;p285"/>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SzPts val="1564"/>
              <a:buNone/>
            </a:pPr>
            <a:r>
              <a:rPr lang="en-US"/>
              <a:t>SECTION F</a:t>
            </a:r>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Shape 2048"/>
        <p:cNvGrpSpPr/>
        <p:nvPr/>
      </p:nvGrpSpPr>
      <p:grpSpPr>
        <a:xfrm>
          <a:off x="0" y="0"/>
          <a:ext cx="0" cy="0"/>
          <a:chOff x="0" y="0"/>
          <a:chExt cx="0" cy="0"/>
        </a:xfrm>
      </p:grpSpPr>
      <p:sp>
        <p:nvSpPr>
          <p:cNvPr id="2049" name="Google Shape;2049;p286"/>
          <p:cNvSpPr txBox="1">
            <a:spLocks noGrp="1"/>
          </p:cNvSpPr>
          <p:nvPr>
            <p:ph type="body" idx="1"/>
          </p:nvPr>
        </p:nvSpPr>
        <p:spPr>
          <a:xfrm>
            <a:off x="457200" y="1481328"/>
            <a:ext cx="8229600" cy="49194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key areas to be considered are Sections 302 &amp; 404 of the act.</a:t>
            </a:r>
            <a:endParaRPr/>
          </a:p>
          <a:p>
            <a:pPr marL="365760" lvl="0" indent="-256032" algn="just" rtl="0">
              <a:spcBef>
                <a:spcPts val="400"/>
              </a:spcBef>
              <a:spcAft>
                <a:spcPts val="0"/>
              </a:spcAft>
              <a:buSzPts val="1836"/>
              <a:buChar char="🞂"/>
            </a:pPr>
            <a:r>
              <a:rPr lang="en-US"/>
              <a:t>These relate to management and auditor responsibilities.</a:t>
            </a:r>
            <a:endParaRPr/>
          </a:p>
          <a:p>
            <a:pPr marL="365760" lvl="0" indent="-256032" algn="just" rtl="0">
              <a:spcBef>
                <a:spcPts val="400"/>
              </a:spcBef>
              <a:spcAft>
                <a:spcPts val="0"/>
              </a:spcAft>
              <a:buSzPts val="1836"/>
              <a:buChar char="🞂"/>
            </a:pPr>
            <a:r>
              <a:rPr lang="en-US"/>
              <a:t>They apply specifically to internal control &amp; audit responsibilities.</a:t>
            </a:r>
            <a:endParaRPr/>
          </a:p>
          <a:p>
            <a:pPr marL="365760" lvl="0" indent="-139446" algn="just" rtl="0">
              <a:spcBef>
                <a:spcPts val="400"/>
              </a:spcBef>
              <a:spcAft>
                <a:spcPts val="0"/>
              </a:spcAft>
              <a:buSzPts val="1836"/>
              <a:buNone/>
            </a:pPr>
            <a:endParaRPr/>
          </a:p>
        </p:txBody>
      </p:sp>
      <p:sp>
        <p:nvSpPr>
          <p:cNvPr id="2050" name="Google Shape;2050;p2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Sarbanes-Oxley Act (SOX) Of 2002</a:t>
            </a:r>
            <a:endParaRPr sz="369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sp>
        <p:nvSpPr>
          <p:cNvPr id="2055" name="Google Shape;2055;p287"/>
          <p:cNvSpPr txBox="1">
            <a:spLocks noGrp="1"/>
          </p:cNvSpPr>
          <p:nvPr>
            <p:ph type="body" idx="1"/>
          </p:nvPr>
        </p:nvSpPr>
        <p:spPr>
          <a:xfrm>
            <a:off x="457200" y="1481328"/>
            <a:ext cx="8229600" cy="49194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Management is required to certify financial and any other information contained in the organisation’s quarterly and annual reports.</a:t>
            </a:r>
            <a:endParaRPr/>
          </a:p>
          <a:p>
            <a:pPr marL="365760" lvl="0" indent="-256032" algn="just" rtl="0">
              <a:spcBef>
                <a:spcPts val="400"/>
              </a:spcBef>
              <a:spcAft>
                <a:spcPts val="0"/>
              </a:spcAft>
              <a:buSzPts val="1836"/>
              <a:buChar char="🞂"/>
            </a:pPr>
            <a:r>
              <a:rPr lang="en-US"/>
              <a:t>Management also has to certify the internal controls over financial reporting.</a:t>
            </a:r>
            <a:endParaRPr/>
          </a:p>
          <a:p>
            <a:pPr marL="365760" lvl="0" indent="-256032" algn="just" rtl="0">
              <a:spcBef>
                <a:spcPts val="400"/>
              </a:spcBef>
              <a:spcAft>
                <a:spcPts val="0"/>
              </a:spcAft>
              <a:buSzPts val="1836"/>
              <a:buChar char="🞂"/>
            </a:pPr>
            <a:r>
              <a:rPr lang="en-US"/>
              <a:t>Reasonable assurance to the reliability of the financial reporting process based on the designed internal controls is required.</a:t>
            </a:r>
            <a:endParaRPr/>
          </a:p>
          <a:p>
            <a:pPr marL="365760" lvl="0" indent="-256032" algn="just" rtl="0">
              <a:spcBef>
                <a:spcPts val="400"/>
              </a:spcBef>
              <a:spcAft>
                <a:spcPts val="0"/>
              </a:spcAft>
              <a:buSzPts val="1836"/>
              <a:buChar char="🞂"/>
            </a:pPr>
            <a:r>
              <a:rPr lang="en-US"/>
              <a:t>Material changes to the internal controls over the last fiscal quarter should also be disclosed.</a:t>
            </a:r>
            <a:endParaRPr/>
          </a:p>
          <a:p>
            <a:pPr marL="365760" lvl="0" indent="-139446" algn="just" rtl="0">
              <a:spcBef>
                <a:spcPts val="400"/>
              </a:spcBef>
              <a:spcAft>
                <a:spcPts val="0"/>
              </a:spcAft>
              <a:buSzPts val="1836"/>
              <a:buNone/>
            </a:pPr>
            <a:endParaRPr/>
          </a:p>
        </p:txBody>
      </p:sp>
      <p:sp>
        <p:nvSpPr>
          <p:cNvPr id="2056" name="Google Shape;2056;p2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Section 302</a:t>
            </a:r>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Shape 2060"/>
        <p:cNvGrpSpPr/>
        <p:nvPr/>
      </p:nvGrpSpPr>
      <p:grpSpPr>
        <a:xfrm>
          <a:off x="0" y="0"/>
          <a:ext cx="0" cy="0"/>
          <a:chOff x="0" y="0"/>
          <a:chExt cx="0" cy="0"/>
        </a:xfrm>
      </p:grpSpPr>
      <p:sp>
        <p:nvSpPr>
          <p:cNvPr id="2061" name="Google Shape;2061;p28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Management of public companies are required to assess the effectiveness of their organisation’s internal controls over financial reporting. And address the following:</a:t>
            </a:r>
            <a:endParaRPr/>
          </a:p>
          <a:p>
            <a:pPr marL="850392" lvl="1" indent="-457200" algn="just" rtl="0">
              <a:spcBef>
                <a:spcPts val="324"/>
              </a:spcBef>
              <a:spcAft>
                <a:spcPts val="0"/>
              </a:spcAft>
              <a:buSzPts val="2300"/>
              <a:buAutoNum type="arabicPeriod"/>
            </a:pPr>
            <a:r>
              <a:rPr lang="en-US"/>
              <a:t>Statement of management’s responsibility for establishing and maintaining adequate internal control.</a:t>
            </a:r>
            <a:endParaRPr/>
          </a:p>
          <a:p>
            <a:pPr marL="850392" lvl="1" indent="-457200" algn="just" rtl="0">
              <a:spcBef>
                <a:spcPts val="324"/>
              </a:spcBef>
              <a:spcAft>
                <a:spcPts val="0"/>
              </a:spcAft>
              <a:buSzPts val="2300"/>
              <a:buAutoNum type="arabicPeriod"/>
            </a:pPr>
            <a:r>
              <a:rPr lang="en-US"/>
              <a:t>Assessment of effectiveness of internal controls over financial reporting.</a:t>
            </a:r>
            <a:endParaRPr/>
          </a:p>
          <a:p>
            <a:pPr marL="850392" lvl="1" indent="-457200" algn="just" rtl="0">
              <a:spcBef>
                <a:spcPts val="324"/>
              </a:spcBef>
              <a:spcAft>
                <a:spcPts val="0"/>
              </a:spcAft>
              <a:buSzPts val="2300"/>
              <a:buAutoNum type="arabicPeriod"/>
            </a:pPr>
            <a:r>
              <a:rPr lang="en-US"/>
              <a:t>Statement that external auditor has issued an attestation report on the internal controls.</a:t>
            </a:r>
            <a:endParaRPr/>
          </a:p>
        </p:txBody>
      </p:sp>
      <p:sp>
        <p:nvSpPr>
          <p:cNvPr id="2062" name="Google Shape;2062;p2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Section 404</a:t>
            </a:r>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Shape 2066"/>
        <p:cNvGrpSpPr/>
        <p:nvPr/>
      </p:nvGrpSpPr>
      <p:grpSpPr>
        <a:xfrm>
          <a:off x="0" y="0"/>
          <a:ext cx="0" cy="0"/>
          <a:chOff x="0" y="0"/>
          <a:chExt cx="0" cy="0"/>
        </a:xfrm>
      </p:grpSpPr>
      <p:sp>
        <p:nvSpPr>
          <p:cNvPr id="2067" name="Google Shape;2067;p28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4. Explicit written conclusion as to the effectiveness of internal control over financial reporting.</a:t>
            </a:r>
            <a:endParaRPr/>
          </a:p>
          <a:p>
            <a:pPr marL="365760" lvl="0" indent="-256032" algn="just" rtl="0">
              <a:spcBef>
                <a:spcPts val="400"/>
              </a:spcBef>
              <a:spcAft>
                <a:spcPts val="0"/>
              </a:spcAft>
              <a:buSzPts val="1836"/>
              <a:buNone/>
            </a:pPr>
            <a:r>
              <a:rPr lang="en-US"/>
              <a:t>5. Statement identifying the frameworks used by management to conduct their assessment of internal controls.</a:t>
            </a:r>
            <a:endParaRPr/>
          </a:p>
          <a:p>
            <a:pPr marL="365760" lvl="0" indent="-256032" algn="just" rtl="0">
              <a:spcBef>
                <a:spcPts val="400"/>
              </a:spcBef>
              <a:spcAft>
                <a:spcPts val="0"/>
              </a:spcAft>
              <a:buSzPts val="1836"/>
              <a:buNone/>
            </a:pPr>
            <a:endParaRPr/>
          </a:p>
          <a:p>
            <a:pPr marL="365760" lvl="0" indent="-256032" algn="just" rtl="0">
              <a:spcBef>
                <a:spcPts val="400"/>
              </a:spcBef>
              <a:spcAft>
                <a:spcPts val="0"/>
              </a:spcAft>
              <a:buSzPts val="1836"/>
              <a:buNone/>
            </a:pPr>
            <a:r>
              <a:rPr lang="en-US" i="1"/>
              <a:t>THE Committee of Sponsoring Organisations of the Treadway Commission (COSO) control framework refers moreso to point No. 5.</a:t>
            </a:r>
            <a:endParaRPr i="1"/>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Shape 2071"/>
        <p:cNvGrpSpPr/>
        <p:nvPr/>
      </p:nvGrpSpPr>
      <p:grpSpPr>
        <a:xfrm>
          <a:off x="0" y="0"/>
          <a:ext cx="0" cy="0"/>
          <a:chOff x="0" y="0"/>
          <a:chExt cx="0" cy="0"/>
        </a:xfrm>
      </p:grpSpPr>
      <p:sp>
        <p:nvSpPr>
          <p:cNvPr id="2072" name="Google Shape;2072;p29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Reflect on the </a:t>
            </a:r>
            <a:r>
              <a:rPr lang="en-US" u="sng"/>
              <a:t>Committee of Sponsoring Organisations </a:t>
            </a:r>
            <a:r>
              <a:rPr lang="en-US"/>
              <a:t>of the Treadway Commission (COSO) and the </a:t>
            </a:r>
            <a:r>
              <a:rPr lang="en-US" u="sng"/>
              <a:t>Control Objectives For Information and related Technology </a:t>
            </a:r>
            <a:r>
              <a:rPr lang="en-US"/>
              <a:t>(COBIT) published by the IT Governance Institute (ITGI).</a:t>
            </a:r>
            <a:endParaRPr/>
          </a:p>
        </p:txBody>
      </p:sp>
      <p:sp>
        <p:nvSpPr>
          <p:cNvPr id="2073" name="Google Shape;2073;p29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Exercise  </a:t>
            </a:r>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Shape 2077"/>
        <p:cNvGrpSpPr/>
        <p:nvPr/>
      </p:nvGrpSpPr>
      <p:grpSpPr>
        <a:xfrm>
          <a:off x="0" y="0"/>
          <a:ext cx="0" cy="0"/>
          <a:chOff x="0" y="0"/>
          <a:chExt cx="0" cy="0"/>
        </a:xfrm>
      </p:grpSpPr>
      <p:sp>
        <p:nvSpPr>
          <p:cNvPr id="2078" name="Google Shape;2078;p29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IT drives the financial reporting process of modern organisations.</a:t>
            </a:r>
            <a:endParaRPr/>
          </a:p>
          <a:p>
            <a:pPr marL="365760" lvl="0" indent="-256032" algn="just" rtl="0">
              <a:spcBef>
                <a:spcPts val="400"/>
              </a:spcBef>
              <a:spcAft>
                <a:spcPts val="0"/>
              </a:spcAft>
              <a:buSzPts val="1836"/>
              <a:buChar char="🞂"/>
            </a:pPr>
            <a:r>
              <a:rPr lang="en-US"/>
              <a:t>Automated systems initiate, authorise, record and report the effects of financial transactions.</a:t>
            </a:r>
            <a:endParaRPr/>
          </a:p>
          <a:p>
            <a:pPr marL="365760" lvl="0" indent="-256032" algn="just" rtl="0">
              <a:spcBef>
                <a:spcPts val="400"/>
              </a:spcBef>
              <a:spcAft>
                <a:spcPts val="0"/>
              </a:spcAft>
              <a:buSzPts val="1836"/>
              <a:buChar char="🞂"/>
            </a:pPr>
            <a:r>
              <a:rPr lang="en-US"/>
              <a:t>The implication is that for an effective audit process, IT has to be controlled.</a:t>
            </a:r>
            <a:endParaRPr/>
          </a:p>
          <a:p>
            <a:pPr marL="365760" lvl="0" indent="-256032" algn="just" rtl="0">
              <a:spcBef>
                <a:spcPts val="400"/>
              </a:spcBef>
              <a:spcAft>
                <a:spcPts val="0"/>
              </a:spcAft>
              <a:buSzPts val="1836"/>
              <a:buChar char="🞂"/>
            </a:pPr>
            <a:r>
              <a:rPr lang="en-US"/>
              <a:t>COSO identifies 2 system controls:</a:t>
            </a:r>
            <a:endParaRPr/>
          </a:p>
          <a:p>
            <a:pPr marL="850392" lvl="1" indent="-457200" algn="just" rtl="0">
              <a:spcBef>
                <a:spcPts val="324"/>
              </a:spcBef>
              <a:spcAft>
                <a:spcPts val="0"/>
              </a:spcAft>
              <a:buSzPts val="2300"/>
              <a:buFont typeface="Lucida Sans"/>
              <a:buAutoNum type="arabicPeriod"/>
            </a:pPr>
            <a:r>
              <a:rPr lang="en-US"/>
              <a:t>Application controls, and</a:t>
            </a:r>
            <a:endParaRPr/>
          </a:p>
          <a:p>
            <a:pPr marL="850392" lvl="1" indent="-457200" algn="just" rtl="0">
              <a:spcBef>
                <a:spcPts val="324"/>
              </a:spcBef>
              <a:spcAft>
                <a:spcPts val="0"/>
              </a:spcAft>
              <a:buSzPts val="2300"/>
              <a:buFont typeface="Lucida Sans"/>
              <a:buAutoNum type="arabicPeriod"/>
            </a:pPr>
            <a:r>
              <a:rPr lang="en-US"/>
              <a:t>General controls</a:t>
            </a:r>
            <a:endParaRPr/>
          </a:p>
        </p:txBody>
      </p:sp>
      <p:sp>
        <p:nvSpPr>
          <p:cNvPr id="2079" name="Google Shape;2079;p2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IT Controls &amp; Financial Reporting</a:t>
            </a:r>
            <a:endParaRPr sz="369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Shape 2083"/>
        <p:cNvGrpSpPr/>
        <p:nvPr/>
      </p:nvGrpSpPr>
      <p:grpSpPr>
        <a:xfrm>
          <a:off x="0" y="0"/>
          <a:ext cx="0" cy="0"/>
          <a:chOff x="0" y="0"/>
          <a:chExt cx="0" cy="0"/>
        </a:xfrm>
      </p:grpSpPr>
      <p:sp>
        <p:nvSpPr>
          <p:cNvPr id="2084" name="Google Shape;2084;p29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objective of these are to ensure financial transaction are:</a:t>
            </a:r>
            <a:endParaRPr/>
          </a:p>
          <a:p>
            <a:pPr marL="621792" lvl="1" indent="-228600" algn="just" rtl="0">
              <a:spcBef>
                <a:spcPts val="324"/>
              </a:spcBef>
              <a:spcAft>
                <a:spcPts val="0"/>
              </a:spcAft>
              <a:buSzPts val="2300"/>
              <a:buChar char="◦"/>
            </a:pPr>
            <a:r>
              <a:rPr lang="en-US"/>
              <a:t>Valid</a:t>
            </a:r>
            <a:endParaRPr/>
          </a:p>
          <a:p>
            <a:pPr marL="621792" lvl="1" indent="-228600" algn="just" rtl="0">
              <a:spcBef>
                <a:spcPts val="324"/>
              </a:spcBef>
              <a:spcAft>
                <a:spcPts val="0"/>
              </a:spcAft>
              <a:buSzPts val="2300"/>
              <a:buChar char="◦"/>
            </a:pPr>
            <a:r>
              <a:rPr lang="en-US"/>
              <a:t>Complete</a:t>
            </a:r>
            <a:endParaRPr/>
          </a:p>
          <a:p>
            <a:pPr marL="621792" lvl="1" indent="-228600" algn="just" rtl="0">
              <a:spcBef>
                <a:spcPts val="324"/>
              </a:spcBef>
              <a:spcAft>
                <a:spcPts val="0"/>
              </a:spcAft>
              <a:buSzPts val="2300"/>
              <a:buChar char="◦"/>
            </a:pPr>
            <a:r>
              <a:rPr lang="en-US"/>
              <a:t>Accurate</a:t>
            </a:r>
            <a:endParaRPr/>
          </a:p>
          <a:p>
            <a:pPr marL="621792" lvl="1" indent="-82550" algn="just" rtl="0">
              <a:spcBef>
                <a:spcPts val="324"/>
              </a:spcBef>
              <a:spcAft>
                <a:spcPts val="0"/>
              </a:spcAft>
              <a:buSzPts val="2300"/>
              <a:buNone/>
            </a:pPr>
            <a:endParaRPr/>
          </a:p>
          <a:p>
            <a:pPr marL="365760" lvl="0" indent="-256032" algn="just" rtl="0">
              <a:spcBef>
                <a:spcPts val="400"/>
              </a:spcBef>
              <a:spcAft>
                <a:spcPts val="0"/>
              </a:spcAft>
              <a:buSzPts val="1836"/>
              <a:buChar char="🞂"/>
            </a:pPr>
            <a:r>
              <a:rPr lang="en-US"/>
              <a:t>The controls are application specific.</a:t>
            </a:r>
            <a:endParaRPr/>
          </a:p>
          <a:p>
            <a:pPr marL="365760" lvl="0" indent="-256032" algn="just" rtl="0">
              <a:spcBef>
                <a:spcPts val="400"/>
              </a:spcBef>
              <a:spcAft>
                <a:spcPts val="0"/>
              </a:spcAft>
              <a:buSzPts val="1836"/>
              <a:buChar char="🞂"/>
            </a:pPr>
            <a:r>
              <a:rPr lang="en-US"/>
              <a:t>For example:</a:t>
            </a:r>
            <a:endParaRPr/>
          </a:p>
          <a:p>
            <a:pPr marL="621792" lvl="1" indent="-228600" algn="just" rtl="0">
              <a:spcBef>
                <a:spcPts val="324"/>
              </a:spcBef>
              <a:spcAft>
                <a:spcPts val="0"/>
              </a:spcAft>
              <a:buSzPts val="2300"/>
              <a:buChar char="◦"/>
            </a:pPr>
            <a:r>
              <a:rPr lang="en-US"/>
              <a:t>Accounts receivable check digits procedure validates customer account numbers on sales transactions. Payroll system limit checks limits.</a:t>
            </a:r>
            <a:endParaRPr/>
          </a:p>
        </p:txBody>
      </p:sp>
      <p:sp>
        <p:nvSpPr>
          <p:cNvPr id="2085" name="Google Shape;2085;p29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1. Application controls</a:t>
            </a:r>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Shape 2090"/>
        <p:cNvGrpSpPr/>
        <p:nvPr/>
      </p:nvGrpSpPr>
      <p:grpSpPr>
        <a:xfrm>
          <a:off x="0" y="0"/>
          <a:ext cx="0" cy="0"/>
          <a:chOff x="0" y="0"/>
          <a:chExt cx="0" cy="0"/>
        </a:xfrm>
      </p:grpSpPr>
      <p:sp>
        <p:nvSpPr>
          <p:cNvPr id="2091" name="Google Shape;2091;p293"/>
          <p:cNvSpPr txBox="1">
            <a:spLocks noGrp="1"/>
          </p:cNvSpPr>
          <p:nvPr>
            <p:ph type="body" idx="1"/>
          </p:nvPr>
        </p:nvSpPr>
        <p:spPr>
          <a:xfrm>
            <a:off x="457200" y="1481328"/>
            <a:ext cx="8229600" cy="48432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These controls apply to all systems.</a:t>
            </a:r>
            <a:endParaRPr/>
          </a:p>
          <a:p>
            <a:pPr marL="365760" lvl="0" indent="-256032" algn="just" rtl="0">
              <a:spcBef>
                <a:spcPts val="400"/>
              </a:spcBef>
              <a:spcAft>
                <a:spcPts val="0"/>
              </a:spcAft>
              <a:buSzPts val="1836"/>
              <a:buChar char="🞂"/>
            </a:pPr>
            <a:r>
              <a:rPr lang="en-US"/>
              <a:t>They may be termed general computer controls or IT controls among other terms.</a:t>
            </a:r>
            <a:endParaRPr/>
          </a:p>
          <a:p>
            <a:pPr marL="365760" lvl="0" indent="-256032" algn="just" rtl="0">
              <a:spcBef>
                <a:spcPts val="400"/>
              </a:spcBef>
              <a:spcAft>
                <a:spcPts val="0"/>
              </a:spcAft>
              <a:buSzPts val="1836"/>
              <a:buChar char="🞂"/>
            </a:pPr>
            <a:r>
              <a:rPr lang="en-US"/>
              <a:t>The controls apply to:</a:t>
            </a:r>
            <a:endParaRPr/>
          </a:p>
          <a:p>
            <a:pPr marL="621792" lvl="1" indent="-228600" algn="just" rtl="0">
              <a:spcBef>
                <a:spcPts val="324"/>
              </a:spcBef>
              <a:spcAft>
                <a:spcPts val="0"/>
              </a:spcAft>
              <a:buSzPts val="2300"/>
              <a:buChar char="◦"/>
            </a:pPr>
            <a:r>
              <a:rPr lang="en-US"/>
              <a:t>IT Governance,</a:t>
            </a:r>
            <a:endParaRPr/>
          </a:p>
          <a:p>
            <a:pPr marL="621792" lvl="1" indent="-228600" algn="just" rtl="0">
              <a:spcBef>
                <a:spcPts val="324"/>
              </a:spcBef>
              <a:spcAft>
                <a:spcPts val="0"/>
              </a:spcAft>
              <a:buSzPts val="2300"/>
              <a:buChar char="◦"/>
            </a:pPr>
            <a:r>
              <a:rPr lang="en-US"/>
              <a:t>IT Infrastructure,</a:t>
            </a:r>
            <a:endParaRPr/>
          </a:p>
          <a:p>
            <a:pPr marL="621792" lvl="1" indent="-228600" algn="just" rtl="0">
              <a:spcBef>
                <a:spcPts val="324"/>
              </a:spcBef>
              <a:spcAft>
                <a:spcPts val="0"/>
              </a:spcAft>
              <a:buSzPts val="2300"/>
              <a:buChar char="◦"/>
            </a:pPr>
            <a:r>
              <a:rPr lang="en-US"/>
              <a:t>Security,</a:t>
            </a:r>
            <a:endParaRPr/>
          </a:p>
          <a:p>
            <a:pPr marL="621792" lvl="1" indent="-228600" algn="just" rtl="0">
              <a:spcBef>
                <a:spcPts val="324"/>
              </a:spcBef>
              <a:spcAft>
                <a:spcPts val="0"/>
              </a:spcAft>
              <a:buSzPts val="2300"/>
              <a:buChar char="◦"/>
            </a:pPr>
            <a:r>
              <a:rPr lang="en-US"/>
              <a:t>Access to the system,</a:t>
            </a:r>
            <a:endParaRPr/>
          </a:p>
          <a:p>
            <a:pPr marL="621792" lvl="1" indent="-228600" algn="just" rtl="0">
              <a:spcBef>
                <a:spcPts val="324"/>
              </a:spcBef>
              <a:spcAft>
                <a:spcPts val="0"/>
              </a:spcAft>
              <a:buSzPts val="2300"/>
              <a:buChar char="◦"/>
            </a:pPr>
            <a:r>
              <a:rPr lang="en-US"/>
              <a:t>Access to the database,</a:t>
            </a:r>
            <a:endParaRPr/>
          </a:p>
          <a:p>
            <a:pPr marL="621792" lvl="1" indent="-228600" algn="just" rtl="0">
              <a:spcBef>
                <a:spcPts val="324"/>
              </a:spcBef>
              <a:spcAft>
                <a:spcPts val="0"/>
              </a:spcAft>
              <a:buSzPts val="2300"/>
              <a:buChar char="◦"/>
            </a:pPr>
            <a:r>
              <a:rPr lang="en-US"/>
              <a:t>Application development/acquisition,</a:t>
            </a:r>
            <a:endParaRPr/>
          </a:p>
          <a:p>
            <a:pPr marL="621792" lvl="1" indent="-228600" algn="just" rtl="0">
              <a:spcBef>
                <a:spcPts val="324"/>
              </a:spcBef>
              <a:spcAft>
                <a:spcPts val="0"/>
              </a:spcAft>
              <a:buSzPts val="2300"/>
              <a:buChar char="◦"/>
            </a:pPr>
            <a:r>
              <a:rPr lang="en-US"/>
              <a:t>Program changes.</a:t>
            </a:r>
            <a:endParaRPr/>
          </a:p>
        </p:txBody>
      </p:sp>
      <p:sp>
        <p:nvSpPr>
          <p:cNvPr id="2092" name="Google Shape;2092;p29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2. General Controls</a:t>
            </a:r>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Shape 2096"/>
        <p:cNvGrpSpPr/>
        <p:nvPr/>
      </p:nvGrpSpPr>
      <p:grpSpPr>
        <a:xfrm>
          <a:off x="0" y="0"/>
          <a:ext cx="0" cy="0"/>
          <a:chOff x="0" y="0"/>
          <a:chExt cx="0" cy="0"/>
        </a:xfrm>
      </p:grpSpPr>
      <p:sp>
        <p:nvSpPr>
          <p:cNvPr id="2097" name="Google Shape;2097;p29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1. Distinguish between attest and assurance.</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None/>
            </a:pPr>
            <a:r>
              <a:rPr lang="en-US"/>
              <a:t>2. Appreciate the relationship between management assertions and audit objectives.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None/>
            </a:pPr>
            <a:r>
              <a:rPr lang="en-US"/>
              <a:t>3. Distinguish between tests of controls and substantive tests.</a:t>
            </a:r>
            <a:endParaRPr/>
          </a:p>
        </p:txBody>
      </p:sp>
      <p:sp>
        <p:nvSpPr>
          <p:cNvPr id="2098" name="Google Shape;2098;p2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Audit implications of 302/404</a:t>
            </a:r>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Shape 2102"/>
        <p:cNvGrpSpPr/>
        <p:nvPr/>
      </p:nvGrpSpPr>
      <p:grpSpPr>
        <a:xfrm>
          <a:off x="0" y="0"/>
          <a:ext cx="0" cy="0"/>
          <a:chOff x="0" y="0"/>
          <a:chExt cx="0" cy="0"/>
        </a:xfrm>
      </p:grpSpPr>
      <p:sp>
        <p:nvSpPr>
          <p:cNvPr id="2103" name="Google Shape;2103;p295"/>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Issuance of a separate audit opinion in addition to opinion on the fairness of financial statements.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opinion of the auditor may imply weak internal controls related to the technology function, but, still be able to prove that the same weaknesses did not affect financial reports through use of substantive tests.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Auditors have to know transaction-flows.</a:t>
            </a:r>
            <a:endParaRPr/>
          </a:p>
          <a:p>
            <a:pPr marL="621792" lvl="1" indent="-228600" algn="just" rtl="0">
              <a:spcBef>
                <a:spcPts val="324"/>
              </a:spcBef>
              <a:spcAft>
                <a:spcPts val="0"/>
              </a:spcAft>
              <a:buSzPts val="2000"/>
              <a:buChar char="◦"/>
            </a:pPr>
            <a:r>
              <a:rPr lang="en-US" sz="2000"/>
              <a:t>How they are initiated, authorised, recorded and reported.</a:t>
            </a:r>
            <a:endParaRPr/>
          </a:p>
          <a:p>
            <a:pPr marL="365760" lvl="0" indent="-139446" algn="just" rtl="0">
              <a:spcBef>
                <a:spcPts val="400"/>
              </a:spcBef>
              <a:spcAft>
                <a:spcPts val="0"/>
              </a:spcAft>
              <a:buSzPts val="1836"/>
              <a:buNone/>
            </a:pPr>
            <a:endParaRPr/>
          </a:p>
        </p:txBody>
      </p:sp>
      <p:sp>
        <p:nvSpPr>
          <p:cNvPr id="2104" name="Google Shape;2104;p2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Attestation function</a:t>
            </a:r>
            <a:endParaRP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Shape 2108"/>
        <p:cNvGrpSpPr/>
        <p:nvPr/>
      </p:nvGrpSpPr>
      <p:grpSpPr>
        <a:xfrm>
          <a:off x="0" y="0"/>
          <a:ext cx="0" cy="0"/>
          <a:chOff x="0" y="0"/>
          <a:chExt cx="0" cy="0"/>
        </a:xfrm>
      </p:grpSpPr>
      <p:sp>
        <p:nvSpPr>
          <p:cNvPr id="2109" name="Google Shape;2109;p29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Financial accounts that have material implications for financial reporting have to be identified.</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Account related application controls need to be identified. The link with general controls cannot be overlooked however.</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link is reflected in the diagram below:</a:t>
            </a:r>
            <a:endParaRPr/>
          </a:p>
          <a:p>
            <a:pPr marL="365760" lvl="0" indent="-139446" algn="just" rtl="0">
              <a:spcBef>
                <a:spcPts val="400"/>
              </a:spcBef>
              <a:spcAft>
                <a:spcPts val="0"/>
              </a:spcAft>
              <a:buSzPts val="1836"/>
              <a:buNone/>
            </a:pPr>
            <a:endParaRP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Shape 2113"/>
        <p:cNvGrpSpPr/>
        <p:nvPr/>
      </p:nvGrpSpPr>
      <p:grpSpPr>
        <a:xfrm>
          <a:off x="0" y="0"/>
          <a:ext cx="0" cy="0"/>
          <a:chOff x="0" y="0"/>
          <a:chExt cx="0" cy="0"/>
        </a:xfrm>
      </p:grpSpPr>
      <p:sp>
        <p:nvSpPr>
          <p:cNvPr id="2114" name="Google Shape;2114;p29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IT Controls</a:t>
            </a:r>
            <a:endParaRPr/>
          </a:p>
        </p:txBody>
      </p:sp>
      <p:sp>
        <p:nvSpPr>
          <p:cNvPr id="2115" name="Google Shape;2115;p297"/>
          <p:cNvSpPr/>
          <p:nvPr/>
        </p:nvSpPr>
        <p:spPr>
          <a:xfrm>
            <a:off x="152400" y="3200400"/>
            <a:ext cx="1828800" cy="12192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Order Entry</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Application Control</a:t>
            </a:r>
            <a:endParaRPr sz="1800">
              <a:solidFill>
                <a:schemeClr val="dk1"/>
              </a:solidFill>
              <a:latin typeface="Lucida Sans"/>
              <a:ea typeface="Lucida Sans"/>
              <a:cs typeface="Lucida Sans"/>
              <a:sym typeface="Lucida Sans"/>
            </a:endParaRPr>
          </a:p>
        </p:txBody>
      </p:sp>
      <p:sp>
        <p:nvSpPr>
          <p:cNvPr id="2116" name="Google Shape;2116;p297"/>
          <p:cNvSpPr/>
          <p:nvPr/>
        </p:nvSpPr>
        <p:spPr>
          <a:xfrm>
            <a:off x="2590800" y="3200400"/>
            <a:ext cx="1752600" cy="12192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Purchases</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Application Controls</a:t>
            </a:r>
            <a:endParaRPr sz="1800">
              <a:solidFill>
                <a:schemeClr val="dk1"/>
              </a:solidFill>
              <a:latin typeface="Lucida Sans"/>
              <a:ea typeface="Lucida Sans"/>
              <a:cs typeface="Lucida Sans"/>
              <a:sym typeface="Lucida Sans"/>
            </a:endParaRPr>
          </a:p>
        </p:txBody>
      </p:sp>
      <p:sp>
        <p:nvSpPr>
          <p:cNvPr id="2117" name="Google Shape;2117;p297"/>
          <p:cNvSpPr/>
          <p:nvPr/>
        </p:nvSpPr>
        <p:spPr>
          <a:xfrm>
            <a:off x="4953000" y="3200400"/>
            <a:ext cx="1981200" cy="12192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Cash Disbursements</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Application Controls</a:t>
            </a:r>
            <a:endParaRPr sz="1800">
              <a:solidFill>
                <a:schemeClr val="dk1"/>
              </a:solidFill>
              <a:latin typeface="Lucida Sans"/>
              <a:ea typeface="Lucida Sans"/>
              <a:cs typeface="Lucida Sans"/>
              <a:sym typeface="Lucida Sans"/>
            </a:endParaRPr>
          </a:p>
        </p:txBody>
      </p:sp>
      <p:sp>
        <p:nvSpPr>
          <p:cNvPr id="2118" name="Google Shape;2118;p297"/>
          <p:cNvSpPr/>
          <p:nvPr/>
        </p:nvSpPr>
        <p:spPr>
          <a:xfrm>
            <a:off x="152400" y="1524000"/>
            <a:ext cx="762000" cy="3810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Sales</a:t>
            </a:r>
            <a:endParaRPr sz="1800">
              <a:solidFill>
                <a:schemeClr val="dk1"/>
              </a:solidFill>
              <a:latin typeface="Lucida Sans"/>
              <a:ea typeface="Lucida Sans"/>
              <a:cs typeface="Lucida Sans"/>
              <a:sym typeface="Lucida Sans"/>
            </a:endParaRPr>
          </a:p>
        </p:txBody>
      </p:sp>
      <p:sp>
        <p:nvSpPr>
          <p:cNvPr id="2119" name="Google Shape;2119;p297"/>
          <p:cNvSpPr/>
          <p:nvPr/>
        </p:nvSpPr>
        <p:spPr>
          <a:xfrm>
            <a:off x="1143000" y="1524000"/>
            <a:ext cx="685800" cy="3810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CGS</a:t>
            </a:r>
            <a:endParaRPr sz="1800">
              <a:solidFill>
                <a:schemeClr val="dk1"/>
              </a:solidFill>
              <a:latin typeface="Lucida Sans"/>
              <a:ea typeface="Lucida Sans"/>
              <a:cs typeface="Lucida Sans"/>
              <a:sym typeface="Lucida Sans"/>
            </a:endParaRPr>
          </a:p>
        </p:txBody>
      </p:sp>
      <p:sp>
        <p:nvSpPr>
          <p:cNvPr id="2120" name="Google Shape;2120;p297"/>
          <p:cNvSpPr/>
          <p:nvPr/>
        </p:nvSpPr>
        <p:spPr>
          <a:xfrm>
            <a:off x="2819400" y="1524000"/>
            <a:ext cx="1219200" cy="3810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Inventory </a:t>
            </a:r>
            <a:endParaRPr sz="1800">
              <a:solidFill>
                <a:schemeClr val="dk1"/>
              </a:solidFill>
              <a:latin typeface="Lucida Sans"/>
              <a:ea typeface="Lucida Sans"/>
              <a:cs typeface="Lucida Sans"/>
              <a:sym typeface="Lucida Sans"/>
            </a:endParaRPr>
          </a:p>
        </p:txBody>
      </p:sp>
      <p:sp>
        <p:nvSpPr>
          <p:cNvPr id="2121" name="Google Shape;2121;p297"/>
          <p:cNvSpPr/>
          <p:nvPr/>
        </p:nvSpPr>
        <p:spPr>
          <a:xfrm>
            <a:off x="4953000" y="1524000"/>
            <a:ext cx="838200" cy="3810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AP</a:t>
            </a:r>
            <a:endParaRPr sz="1800">
              <a:solidFill>
                <a:schemeClr val="dk1"/>
              </a:solidFill>
              <a:latin typeface="Lucida Sans"/>
              <a:ea typeface="Lucida Sans"/>
              <a:cs typeface="Lucida Sans"/>
              <a:sym typeface="Lucida Sans"/>
            </a:endParaRPr>
          </a:p>
        </p:txBody>
      </p:sp>
      <p:sp>
        <p:nvSpPr>
          <p:cNvPr id="2122" name="Google Shape;2122;p297"/>
          <p:cNvSpPr/>
          <p:nvPr/>
        </p:nvSpPr>
        <p:spPr>
          <a:xfrm>
            <a:off x="6019800" y="1524000"/>
            <a:ext cx="838200" cy="3810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Cash</a:t>
            </a:r>
            <a:endParaRPr sz="1800">
              <a:solidFill>
                <a:schemeClr val="dk1"/>
              </a:solidFill>
              <a:latin typeface="Lucida Sans"/>
              <a:ea typeface="Lucida Sans"/>
              <a:cs typeface="Lucida Sans"/>
              <a:sym typeface="Lucida Sans"/>
            </a:endParaRPr>
          </a:p>
        </p:txBody>
      </p:sp>
      <p:sp>
        <p:nvSpPr>
          <p:cNvPr id="2123" name="Google Shape;2123;p297"/>
          <p:cNvSpPr/>
          <p:nvPr/>
        </p:nvSpPr>
        <p:spPr>
          <a:xfrm>
            <a:off x="152400" y="6400800"/>
            <a:ext cx="6781800" cy="4572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Operating System Controls</a:t>
            </a:r>
            <a:endParaRPr sz="1800">
              <a:solidFill>
                <a:schemeClr val="dk1"/>
              </a:solidFill>
              <a:latin typeface="Lucida Sans"/>
              <a:ea typeface="Lucida Sans"/>
              <a:cs typeface="Lucida Sans"/>
              <a:sym typeface="Lucida Sans"/>
            </a:endParaRPr>
          </a:p>
        </p:txBody>
      </p:sp>
      <p:sp>
        <p:nvSpPr>
          <p:cNvPr id="2124" name="Google Shape;2124;p297"/>
          <p:cNvSpPr/>
          <p:nvPr/>
        </p:nvSpPr>
        <p:spPr>
          <a:xfrm>
            <a:off x="152400" y="5943600"/>
            <a:ext cx="6781800" cy="4572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Database Access Controls</a:t>
            </a:r>
            <a:endParaRPr sz="1800">
              <a:solidFill>
                <a:schemeClr val="dk1"/>
              </a:solidFill>
              <a:latin typeface="Lucida Sans"/>
              <a:ea typeface="Lucida Sans"/>
              <a:cs typeface="Lucida Sans"/>
              <a:sym typeface="Lucida Sans"/>
            </a:endParaRPr>
          </a:p>
        </p:txBody>
      </p:sp>
      <p:sp>
        <p:nvSpPr>
          <p:cNvPr id="2125" name="Google Shape;2125;p297"/>
          <p:cNvSpPr/>
          <p:nvPr/>
        </p:nvSpPr>
        <p:spPr>
          <a:xfrm>
            <a:off x="152400" y="5486400"/>
            <a:ext cx="6781800" cy="4572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Systems Development And Program Change Control</a:t>
            </a:r>
            <a:endParaRPr sz="1800">
              <a:solidFill>
                <a:schemeClr val="dk1"/>
              </a:solidFill>
              <a:latin typeface="Lucida Sans"/>
              <a:ea typeface="Lucida Sans"/>
              <a:cs typeface="Lucida Sans"/>
              <a:sym typeface="Lucida Sans"/>
            </a:endParaRPr>
          </a:p>
        </p:txBody>
      </p:sp>
      <p:sp>
        <p:nvSpPr>
          <p:cNvPr id="2126" name="Google Shape;2126;p297"/>
          <p:cNvSpPr txBox="1"/>
          <p:nvPr/>
        </p:nvSpPr>
        <p:spPr>
          <a:xfrm>
            <a:off x="6934200" y="1219200"/>
            <a:ext cx="1433406"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Significant </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Financial</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Accounts</a:t>
            </a:r>
            <a:endParaRPr sz="1800">
              <a:solidFill>
                <a:schemeClr val="dk1"/>
              </a:solidFill>
              <a:latin typeface="Lucida Sans"/>
              <a:ea typeface="Lucida Sans"/>
              <a:cs typeface="Lucida Sans"/>
              <a:sym typeface="Lucida Sans"/>
            </a:endParaRPr>
          </a:p>
        </p:txBody>
      </p:sp>
      <p:sp>
        <p:nvSpPr>
          <p:cNvPr id="2127" name="Google Shape;2127;p297"/>
          <p:cNvSpPr txBox="1"/>
          <p:nvPr/>
        </p:nvSpPr>
        <p:spPr>
          <a:xfrm>
            <a:off x="7086600" y="3276600"/>
            <a:ext cx="1454244"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Related </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Application</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Controls</a:t>
            </a:r>
            <a:endParaRPr/>
          </a:p>
        </p:txBody>
      </p:sp>
      <p:sp>
        <p:nvSpPr>
          <p:cNvPr id="2128" name="Google Shape;2128;p297"/>
          <p:cNvSpPr txBox="1"/>
          <p:nvPr/>
        </p:nvSpPr>
        <p:spPr>
          <a:xfrm>
            <a:off x="6934200" y="5867400"/>
            <a:ext cx="1420582"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Supporting</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General</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Controls</a:t>
            </a:r>
            <a:endParaRPr sz="1800">
              <a:solidFill>
                <a:schemeClr val="dk1"/>
              </a:solidFill>
              <a:latin typeface="Lucida Sans"/>
              <a:ea typeface="Lucida Sans"/>
              <a:cs typeface="Lucida Sans"/>
              <a:sym typeface="Lucida Sans"/>
            </a:endParaRPr>
          </a:p>
        </p:txBody>
      </p:sp>
      <p:sp>
        <p:nvSpPr>
          <p:cNvPr id="2129" name="Google Shape;2129;p297"/>
          <p:cNvSpPr txBox="1"/>
          <p:nvPr/>
        </p:nvSpPr>
        <p:spPr>
          <a:xfrm>
            <a:off x="7935015" y="4563070"/>
            <a:ext cx="1208985"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Controls </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For</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reviews</a:t>
            </a:r>
            <a:endParaRPr/>
          </a:p>
        </p:txBody>
      </p:sp>
      <p:sp>
        <p:nvSpPr>
          <p:cNvPr id="2130" name="Google Shape;2130;p297"/>
          <p:cNvSpPr/>
          <p:nvPr/>
        </p:nvSpPr>
        <p:spPr>
          <a:xfrm>
            <a:off x="609600" y="4572000"/>
            <a:ext cx="914400" cy="762000"/>
          </a:xfrm>
          <a:prstGeom prst="downArrowCallout">
            <a:avLst>
              <a:gd name="adj1" fmla="val 25000"/>
              <a:gd name="adj2" fmla="val 25000"/>
              <a:gd name="adj3" fmla="val 25000"/>
              <a:gd name="adj4" fmla="val 64977"/>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31" name="Google Shape;2131;p297"/>
          <p:cNvSpPr/>
          <p:nvPr/>
        </p:nvSpPr>
        <p:spPr>
          <a:xfrm>
            <a:off x="2971800" y="4572000"/>
            <a:ext cx="914400" cy="762000"/>
          </a:xfrm>
          <a:prstGeom prst="downArrowCallout">
            <a:avLst>
              <a:gd name="adj1" fmla="val 25000"/>
              <a:gd name="adj2" fmla="val 25000"/>
              <a:gd name="adj3" fmla="val 25000"/>
              <a:gd name="adj4" fmla="val 64977"/>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32" name="Google Shape;2132;p297"/>
          <p:cNvSpPr/>
          <p:nvPr/>
        </p:nvSpPr>
        <p:spPr>
          <a:xfrm>
            <a:off x="5486400" y="4572000"/>
            <a:ext cx="914400" cy="762000"/>
          </a:xfrm>
          <a:prstGeom prst="downArrowCallout">
            <a:avLst>
              <a:gd name="adj1" fmla="val 25000"/>
              <a:gd name="adj2" fmla="val 25000"/>
              <a:gd name="adj3" fmla="val 25000"/>
              <a:gd name="adj4" fmla="val 64977"/>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33" name="Google Shape;2133;p297"/>
          <p:cNvSpPr/>
          <p:nvPr/>
        </p:nvSpPr>
        <p:spPr>
          <a:xfrm rot="10800000">
            <a:off x="609600" y="2209800"/>
            <a:ext cx="914400" cy="762000"/>
          </a:xfrm>
          <a:prstGeom prst="downArrowCallout">
            <a:avLst>
              <a:gd name="adj1" fmla="val 25000"/>
              <a:gd name="adj2" fmla="val 25000"/>
              <a:gd name="adj3" fmla="val 25000"/>
              <a:gd name="adj4" fmla="val 64977"/>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34" name="Google Shape;2134;p297"/>
          <p:cNvSpPr/>
          <p:nvPr/>
        </p:nvSpPr>
        <p:spPr>
          <a:xfrm rot="10800000">
            <a:off x="2971800" y="2209800"/>
            <a:ext cx="914400" cy="762000"/>
          </a:xfrm>
          <a:prstGeom prst="downArrowCallout">
            <a:avLst>
              <a:gd name="adj1" fmla="val 25000"/>
              <a:gd name="adj2" fmla="val 25000"/>
              <a:gd name="adj3" fmla="val 25000"/>
              <a:gd name="adj4" fmla="val 64977"/>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35" name="Google Shape;2135;p297"/>
          <p:cNvSpPr/>
          <p:nvPr/>
        </p:nvSpPr>
        <p:spPr>
          <a:xfrm rot="10800000">
            <a:off x="5486400" y="2209800"/>
            <a:ext cx="914400" cy="762000"/>
          </a:xfrm>
          <a:prstGeom prst="downArrowCallout">
            <a:avLst>
              <a:gd name="adj1" fmla="val 25000"/>
              <a:gd name="adj2" fmla="val 25000"/>
              <a:gd name="adj3" fmla="val 25000"/>
              <a:gd name="adj4" fmla="val 64977"/>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Shape 2139"/>
        <p:cNvGrpSpPr/>
        <p:nvPr/>
      </p:nvGrpSpPr>
      <p:grpSpPr>
        <a:xfrm>
          <a:off x="0" y="0"/>
          <a:ext cx="0" cy="0"/>
          <a:chOff x="0" y="0"/>
          <a:chExt cx="0" cy="0"/>
        </a:xfrm>
      </p:grpSpPr>
      <p:sp>
        <p:nvSpPr>
          <p:cNvPr id="2140" name="Google Shape;2140;p29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section requires management to provide external auditors with documented test results of functioning internal controls as evidence to support the report on control effectiveness.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tests would normally be performed by the internal auditors, but management may perform their own tests.</a:t>
            </a:r>
            <a:endParaRPr/>
          </a:p>
        </p:txBody>
      </p:sp>
      <p:sp>
        <p:nvSpPr>
          <p:cNvPr id="2141" name="Google Shape;2141;p2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Section 404</a:t>
            </a:r>
            <a:endParaRP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Shape 2145"/>
        <p:cNvGrpSpPr/>
        <p:nvPr/>
      </p:nvGrpSpPr>
      <p:grpSpPr>
        <a:xfrm>
          <a:off x="0" y="0"/>
          <a:ext cx="0" cy="0"/>
          <a:chOff x="0" y="0"/>
          <a:chExt cx="0" cy="0"/>
        </a:xfrm>
      </p:grpSpPr>
      <p:sp>
        <p:nvSpPr>
          <p:cNvPr id="2146" name="Google Shape;2146;p299"/>
          <p:cNvSpPr txBox="1">
            <a:spLocks noGrp="1"/>
          </p:cNvSpPr>
          <p:nvPr>
            <p:ph type="body" idx="1"/>
          </p:nvPr>
        </p:nvSpPr>
        <p:spPr>
          <a:xfrm>
            <a:off x="457200" y="1481328"/>
            <a:ext cx="8229600" cy="4995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Auditors express an opinion on the effectiveness of internal controls.</a:t>
            </a:r>
            <a:endParaRPr/>
          </a:p>
          <a:p>
            <a:pPr marL="365760" lvl="0" indent="-256032" algn="just" rtl="0">
              <a:spcBef>
                <a:spcPts val="400"/>
              </a:spcBef>
              <a:spcAft>
                <a:spcPts val="0"/>
              </a:spcAft>
              <a:buSzPts val="1836"/>
              <a:buChar char="🞂"/>
            </a:pPr>
            <a:r>
              <a:rPr lang="en-US"/>
              <a:t>Auditors must also:</a:t>
            </a:r>
            <a:endParaRPr/>
          </a:p>
          <a:p>
            <a:pPr marL="850392" lvl="1" indent="-457200" algn="just" rtl="0">
              <a:spcBef>
                <a:spcPts val="324"/>
              </a:spcBef>
              <a:spcAft>
                <a:spcPts val="0"/>
              </a:spcAft>
              <a:buSzPts val="2300"/>
              <a:buFont typeface="Lucida Sans"/>
              <a:buAutoNum type="arabicPeriod"/>
            </a:pPr>
            <a:r>
              <a:rPr lang="en-US"/>
              <a:t>Interview management regarding changes in design or operations of internal control (prior review of interim financial information).</a:t>
            </a:r>
            <a:endParaRPr/>
          </a:p>
          <a:p>
            <a:pPr marL="850392" lvl="1" indent="-457200" algn="just" rtl="0">
              <a:spcBef>
                <a:spcPts val="324"/>
              </a:spcBef>
              <a:spcAft>
                <a:spcPts val="0"/>
              </a:spcAft>
              <a:buSzPts val="2300"/>
              <a:buFont typeface="Lucida Sans"/>
              <a:buAutoNum type="arabicPeriod"/>
            </a:pPr>
            <a:r>
              <a:rPr lang="en-US"/>
              <a:t>Evaluate implications of misstatements identified by auditors relating to effectiveness of internal controls.</a:t>
            </a:r>
            <a:endParaRPr/>
          </a:p>
          <a:p>
            <a:pPr marL="850392" lvl="1" indent="-457200" algn="just" rtl="0">
              <a:spcBef>
                <a:spcPts val="324"/>
              </a:spcBef>
              <a:spcAft>
                <a:spcPts val="0"/>
              </a:spcAft>
              <a:buSzPts val="2300"/>
              <a:buFont typeface="Lucida Sans"/>
              <a:buAutoNum type="arabicPeriod"/>
            </a:pPr>
            <a:r>
              <a:rPr lang="en-US"/>
              <a:t>Determine whether changes in internal controls are likely to materially affect internal control over financial reporting.</a:t>
            </a:r>
            <a:endParaRPr/>
          </a:p>
        </p:txBody>
      </p:sp>
      <p:sp>
        <p:nvSpPr>
          <p:cNvPr id="2147" name="Google Shape;2147;p29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Section 302</a:t>
            </a:r>
            <a:endParaRP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30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Fraudulent activity has to be detected that could result in material misstatements of the financial statements.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Management is responsible for implementing such controls.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Auditors are required to test them.</a:t>
            </a:r>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Shape 2156"/>
        <p:cNvGrpSpPr/>
        <p:nvPr/>
      </p:nvGrpSpPr>
      <p:grpSpPr>
        <a:xfrm>
          <a:off x="0" y="0"/>
          <a:ext cx="0" cy="0"/>
          <a:chOff x="0" y="0"/>
          <a:chExt cx="0" cy="0"/>
        </a:xfrm>
      </p:grpSpPr>
      <p:sp>
        <p:nvSpPr>
          <p:cNvPr id="2157" name="Google Shape;2157;p301"/>
          <p:cNvSpPr txBox="1">
            <a:spLocks noGrp="1"/>
          </p:cNvSpPr>
          <p:nvPr>
            <p:ph type="body" idx="1"/>
          </p:nvPr>
        </p:nvSpPr>
        <p:spPr>
          <a:xfrm>
            <a:off x="457200" y="1481328"/>
            <a:ext cx="8229600" cy="5148072"/>
          </a:xfrm>
          <a:prstGeom prst="rect">
            <a:avLst/>
          </a:prstGeom>
          <a:noFill/>
          <a:ln>
            <a:noFill/>
          </a:ln>
        </p:spPr>
        <p:txBody>
          <a:bodyPr spcFirstLastPara="1" wrap="square" lIns="91425" tIns="45700" rIns="91425" bIns="45700" anchor="t" anchorCtr="0">
            <a:noAutofit/>
          </a:bodyPr>
          <a:lstStyle/>
          <a:p>
            <a:pPr marL="365760" lvl="0" indent="-139446" algn="just" rtl="0">
              <a:spcBef>
                <a:spcPts val="0"/>
              </a:spcBef>
              <a:spcAft>
                <a:spcPts val="0"/>
              </a:spcAft>
              <a:buSzPts val="1836"/>
              <a:buNone/>
            </a:pPr>
            <a:endParaRPr/>
          </a:p>
          <a:p>
            <a:pPr marL="365760" lvl="0" indent="-256032" algn="just" rtl="0">
              <a:spcBef>
                <a:spcPts val="400"/>
              </a:spcBef>
              <a:spcAft>
                <a:spcPts val="0"/>
              </a:spcAft>
              <a:buSzPts val="1836"/>
              <a:buChar char="🞂"/>
            </a:pPr>
            <a:r>
              <a:rPr lang="en-US"/>
              <a:t>The main focus of these is on decision rights and accountability for encouraging desirable behaviours in the use of IT.</a:t>
            </a:r>
            <a:endParaRPr/>
          </a:p>
          <a:p>
            <a:pPr marL="365760" lvl="0" indent="-256032" algn="just" rtl="0">
              <a:spcBef>
                <a:spcPts val="400"/>
              </a:spcBef>
              <a:spcAft>
                <a:spcPts val="0"/>
              </a:spcAft>
              <a:buSzPts val="1836"/>
              <a:buChar char="🞂"/>
            </a:pPr>
            <a:r>
              <a:rPr lang="en-US"/>
              <a:t>These highlight the risks of incompatibility of functions and how to structure the IT function.</a:t>
            </a:r>
            <a:endParaRPr/>
          </a:p>
          <a:p>
            <a:pPr marL="365760" lvl="0" indent="-256032" algn="just" rtl="0">
              <a:spcBef>
                <a:spcPts val="400"/>
              </a:spcBef>
              <a:spcAft>
                <a:spcPts val="0"/>
              </a:spcAft>
              <a:buSzPts val="1836"/>
              <a:buChar char="🞂"/>
            </a:pPr>
            <a:r>
              <a:rPr lang="en-US"/>
              <a:t>They allow for the identification of key controls and precautions required to ensure that the security of an organisations computer facilities are acceptable.</a:t>
            </a:r>
            <a:endParaRPr/>
          </a:p>
          <a:p>
            <a:pPr marL="365760" lvl="0" indent="-139446" algn="l" rtl="0">
              <a:spcBef>
                <a:spcPts val="400"/>
              </a:spcBef>
              <a:spcAft>
                <a:spcPts val="0"/>
              </a:spcAft>
              <a:buSzPts val="1836"/>
              <a:buNone/>
            </a:pPr>
            <a:endParaRPr/>
          </a:p>
        </p:txBody>
      </p:sp>
      <p:sp>
        <p:nvSpPr>
          <p:cNvPr id="2158" name="Google Shape;2158;p30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IT Governance Controls</a:t>
            </a:r>
            <a:endParaRP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Shape 2162"/>
        <p:cNvGrpSpPr/>
        <p:nvPr/>
      </p:nvGrpSpPr>
      <p:grpSpPr>
        <a:xfrm>
          <a:off x="0" y="0"/>
          <a:ext cx="0" cy="0"/>
          <a:chOff x="0" y="0"/>
          <a:chExt cx="0" cy="0"/>
        </a:xfrm>
      </p:grpSpPr>
      <p:sp>
        <p:nvSpPr>
          <p:cNvPr id="2163" name="Google Shape;2163;p302"/>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Font typeface="Lucida Sans"/>
              <a:buAutoNum type="arabicPeriod"/>
            </a:pPr>
            <a:r>
              <a:rPr lang="en-US"/>
              <a:t>Separation of transaction authorisation from transaction processing.</a:t>
            </a:r>
            <a:endParaRPr/>
          </a:p>
          <a:p>
            <a:pPr marL="624078" lvl="0" indent="-397764" algn="just" rtl="0">
              <a:spcBef>
                <a:spcPts val="400"/>
              </a:spcBef>
              <a:spcAft>
                <a:spcPts val="0"/>
              </a:spcAft>
              <a:buSzPts val="1836"/>
              <a:buFont typeface="Lucida Sans"/>
              <a:buNone/>
            </a:pPr>
            <a:endParaRPr/>
          </a:p>
          <a:p>
            <a:pPr marL="624078" lvl="0" indent="-514350" algn="just" rtl="0">
              <a:spcBef>
                <a:spcPts val="400"/>
              </a:spcBef>
              <a:spcAft>
                <a:spcPts val="0"/>
              </a:spcAft>
              <a:buSzPts val="1836"/>
              <a:buFont typeface="Lucida Sans"/>
              <a:buAutoNum type="arabicPeriod"/>
            </a:pPr>
            <a:r>
              <a:rPr lang="en-US"/>
              <a:t>Segregation of record keeping from asset custody.</a:t>
            </a:r>
            <a:endParaRPr/>
          </a:p>
          <a:p>
            <a:pPr marL="624078" lvl="0" indent="-397764" algn="just" rtl="0">
              <a:spcBef>
                <a:spcPts val="400"/>
              </a:spcBef>
              <a:spcAft>
                <a:spcPts val="0"/>
              </a:spcAft>
              <a:buSzPts val="1836"/>
              <a:buFont typeface="Lucida Sans"/>
              <a:buNone/>
            </a:pPr>
            <a:endParaRPr/>
          </a:p>
          <a:p>
            <a:pPr marL="624078" lvl="0" indent="-514350" algn="just" rtl="0">
              <a:spcBef>
                <a:spcPts val="400"/>
              </a:spcBef>
              <a:spcAft>
                <a:spcPts val="0"/>
              </a:spcAft>
              <a:buSzPts val="1836"/>
              <a:buFont typeface="Lucida Sans"/>
              <a:buAutoNum type="arabicPeriod"/>
            </a:pPr>
            <a:r>
              <a:rPr lang="en-US"/>
              <a:t>Division of transaction processing tasks among individuals to require collusion between two or more individuals.</a:t>
            </a:r>
            <a:endParaRPr/>
          </a:p>
        </p:txBody>
      </p:sp>
      <p:sp>
        <p:nvSpPr>
          <p:cNvPr id="2164" name="Google Shape;2164;p30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Organisational Structure Controls</a:t>
            </a:r>
            <a:endParaRPr sz="369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Shape 2168"/>
        <p:cNvGrpSpPr/>
        <p:nvPr/>
      </p:nvGrpSpPr>
      <p:grpSpPr>
        <a:xfrm>
          <a:off x="0" y="0"/>
          <a:ext cx="0" cy="0"/>
          <a:chOff x="0" y="0"/>
          <a:chExt cx="0" cy="0"/>
        </a:xfrm>
      </p:grpSpPr>
      <p:sp>
        <p:nvSpPr>
          <p:cNvPr id="2169" name="Google Shape;2169;p30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624078" lvl="0" indent="-514350" algn="just" rtl="0">
              <a:spcBef>
                <a:spcPts val="0"/>
              </a:spcBef>
              <a:spcAft>
                <a:spcPts val="0"/>
              </a:spcAft>
              <a:buSzPts val="1836"/>
              <a:buChar char="🞂"/>
            </a:pPr>
            <a:r>
              <a:rPr lang="en-US"/>
              <a:t>Normally, IT tends to consolidate activities i.e. authorise, process &amp; record.</a:t>
            </a:r>
            <a:endParaRPr/>
          </a:p>
          <a:p>
            <a:pPr marL="624078" lvl="0" indent="-397764" algn="just" rtl="0">
              <a:spcBef>
                <a:spcPts val="400"/>
              </a:spcBef>
              <a:spcAft>
                <a:spcPts val="0"/>
              </a:spcAft>
              <a:buSzPts val="1836"/>
              <a:buNone/>
            </a:pPr>
            <a:endParaRPr/>
          </a:p>
          <a:p>
            <a:pPr marL="624078" lvl="0" indent="-514350" algn="just" rtl="0">
              <a:spcBef>
                <a:spcPts val="400"/>
              </a:spcBef>
              <a:spcAft>
                <a:spcPts val="0"/>
              </a:spcAft>
              <a:buSzPts val="1836"/>
              <a:buChar char="🞂"/>
            </a:pPr>
            <a:r>
              <a:rPr lang="en-US"/>
              <a:t>Control should thus shift from operational issues to higher level relationships within the IT function.</a:t>
            </a:r>
            <a:endParaRPr/>
          </a:p>
          <a:p>
            <a:pPr marL="365760" lvl="0" indent="-139446" algn="l" rtl="0">
              <a:spcBef>
                <a:spcPts val="400"/>
              </a:spcBef>
              <a:spcAft>
                <a:spcPts val="0"/>
              </a:spcAft>
              <a:buSzPts val="1836"/>
              <a:buNone/>
            </a:pPr>
            <a:endParaRP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Shape 2173"/>
        <p:cNvGrpSpPr/>
        <p:nvPr/>
      </p:nvGrpSpPr>
      <p:grpSpPr>
        <a:xfrm>
          <a:off x="0" y="0"/>
          <a:ext cx="0" cy="0"/>
          <a:chOff x="0" y="0"/>
          <a:chExt cx="0" cy="0"/>
        </a:xfrm>
      </p:grpSpPr>
      <p:sp>
        <p:nvSpPr>
          <p:cNvPr id="2174" name="Google Shape;2174;p304"/>
          <p:cNvSpPr txBox="1">
            <a:spLocks noGrp="1"/>
          </p:cNvSpPr>
          <p:nvPr>
            <p:ph type="body" idx="1"/>
          </p:nvPr>
        </p:nvSpPr>
        <p:spPr>
          <a:xfrm>
            <a:off x="457200" y="838200"/>
            <a:ext cx="8229600" cy="57912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There a general concern arising from the importance of inter-relationships among:</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Systems development,</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Application maintenance,</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Database administration,</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Computer operations.</a:t>
            </a:r>
            <a:endParaRPr/>
          </a:p>
          <a:p>
            <a:pPr marL="621792" lvl="1" indent="-82550" algn="just" rtl="0">
              <a:spcBef>
                <a:spcPts val="324"/>
              </a:spcBef>
              <a:spcAft>
                <a:spcPts val="0"/>
              </a:spcAft>
              <a:buSzPts val="2300"/>
              <a:buNone/>
            </a:pPr>
            <a:endParaRPr/>
          </a:p>
          <a:p>
            <a:pPr marL="621792" lvl="1" indent="-228600" algn="just" rtl="0">
              <a:spcBef>
                <a:spcPts val="324"/>
              </a:spcBef>
              <a:spcAft>
                <a:spcPts val="0"/>
              </a:spcAft>
              <a:buSzPts val="2300"/>
              <a:buChar char="◦"/>
            </a:pPr>
            <a:r>
              <a:rPr lang="en-US"/>
              <a:t>Discussion of centralisation vs. decentralisation helps discuss these.</a:t>
            </a:r>
            <a:endParaRP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Shape 2178"/>
        <p:cNvGrpSpPr/>
        <p:nvPr/>
      </p:nvGrpSpPr>
      <p:grpSpPr>
        <a:xfrm>
          <a:off x="0" y="0"/>
          <a:ext cx="0" cy="0"/>
          <a:chOff x="0" y="0"/>
          <a:chExt cx="0" cy="0"/>
        </a:xfrm>
      </p:grpSpPr>
      <p:sp>
        <p:nvSpPr>
          <p:cNvPr id="2179" name="Google Shape;2179;p30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Lucida Sans"/>
              <a:buNone/>
            </a:pPr>
            <a:r>
              <a:rPr lang="en-US" sz="3600"/>
              <a:t>Centralised IT:Segregation of duties</a:t>
            </a:r>
            <a:endParaRPr sz="3600"/>
          </a:p>
        </p:txBody>
      </p:sp>
      <p:sp>
        <p:nvSpPr>
          <p:cNvPr id="2180" name="Google Shape;2180;p305"/>
          <p:cNvSpPr/>
          <p:nvPr/>
        </p:nvSpPr>
        <p:spPr>
          <a:xfrm>
            <a:off x="3657600" y="3962400"/>
            <a:ext cx="1752600" cy="9144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Database Administrator</a:t>
            </a:r>
            <a:endParaRPr sz="1800">
              <a:solidFill>
                <a:schemeClr val="dk1"/>
              </a:solidFill>
              <a:latin typeface="Lucida Sans"/>
              <a:ea typeface="Lucida Sans"/>
              <a:cs typeface="Lucida Sans"/>
              <a:sym typeface="Lucida Sans"/>
            </a:endParaRPr>
          </a:p>
        </p:txBody>
      </p:sp>
      <p:sp>
        <p:nvSpPr>
          <p:cNvPr id="2181" name="Google Shape;2181;p305"/>
          <p:cNvSpPr/>
          <p:nvPr/>
        </p:nvSpPr>
        <p:spPr>
          <a:xfrm>
            <a:off x="381000" y="2438400"/>
            <a:ext cx="1406769"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Director</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Marketing</a:t>
            </a:r>
            <a:endParaRPr sz="1800">
              <a:solidFill>
                <a:schemeClr val="dk1"/>
              </a:solidFill>
              <a:latin typeface="Lucida Sans"/>
              <a:ea typeface="Lucida Sans"/>
              <a:cs typeface="Lucida Sans"/>
              <a:sym typeface="Lucida Sans"/>
            </a:endParaRPr>
          </a:p>
        </p:txBody>
      </p:sp>
      <p:sp>
        <p:nvSpPr>
          <p:cNvPr id="2182" name="Google Shape;2182;p305"/>
          <p:cNvSpPr/>
          <p:nvPr/>
        </p:nvSpPr>
        <p:spPr>
          <a:xfrm>
            <a:off x="2057400" y="2438400"/>
            <a:ext cx="1348154"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Director</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Finance</a:t>
            </a:r>
            <a:endParaRPr sz="1800">
              <a:solidFill>
                <a:schemeClr val="dk1"/>
              </a:solidFill>
              <a:latin typeface="Lucida Sans"/>
              <a:ea typeface="Lucida Sans"/>
              <a:cs typeface="Lucida Sans"/>
              <a:sym typeface="Lucida Sans"/>
            </a:endParaRPr>
          </a:p>
        </p:txBody>
      </p:sp>
      <p:sp>
        <p:nvSpPr>
          <p:cNvPr id="2183" name="Google Shape;2183;p305"/>
          <p:cNvSpPr/>
          <p:nvPr/>
        </p:nvSpPr>
        <p:spPr>
          <a:xfrm>
            <a:off x="3581400" y="6096000"/>
            <a:ext cx="10668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 Control</a:t>
            </a:r>
            <a:endParaRPr sz="1800">
              <a:solidFill>
                <a:schemeClr val="dk1"/>
              </a:solidFill>
              <a:latin typeface="Lucida Sans"/>
              <a:ea typeface="Lucida Sans"/>
              <a:cs typeface="Lucida Sans"/>
              <a:sym typeface="Lucida Sans"/>
            </a:endParaRPr>
          </a:p>
        </p:txBody>
      </p:sp>
      <p:sp>
        <p:nvSpPr>
          <p:cNvPr id="2184" name="Google Shape;2184;p305"/>
          <p:cNvSpPr/>
          <p:nvPr/>
        </p:nvSpPr>
        <p:spPr>
          <a:xfrm>
            <a:off x="6400800" y="6096000"/>
            <a:ext cx="140335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Computer Operations</a:t>
            </a:r>
            <a:endParaRPr sz="1800">
              <a:solidFill>
                <a:schemeClr val="dk1"/>
              </a:solidFill>
              <a:latin typeface="Lucida Sans"/>
              <a:ea typeface="Lucida Sans"/>
              <a:cs typeface="Lucida Sans"/>
              <a:sym typeface="Lucida Sans"/>
            </a:endParaRPr>
          </a:p>
        </p:txBody>
      </p:sp>
      <p:sp>
        <p:nvSpPr>
          <p:cNvPr id="2185" name="Google Shape;2185;p305"/>
          <p:cNvSpPr/>
          <p:nvPr/>
        </p:nvSpPr>
        <p:spPr>
          <a:xfrm>
            <a:off x="7988300" y="6096000"/>
            <a:ext cx="11557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 Library</a:t>
            </a:r>
            <a:endParaRPr sz="1800">
              <a:solidFill>
                <a:schemeClr val="dk1"/>
              </a:solidFill>
              <a:latin typeface="Lucida Sans"/>
              <a:ea typeface="Lucida Sans"/>
              <a:cs typeface="Lucida Sans"/>
              <a:sym typeface="Lucida Sans"/>
            </a:endParaRPr>
          </a:p>
        </p:txBody>
      </p:sp>
      <p:sp>
        <p:nvSpPr>
          <p:cNvPr id="2186" name="Google Shape;2186;p305"/>
          <p:cNvSpPr/>
          <p:nvPr/>
        </p:nvSpPr>
        <p:spPr>
          <a:xfrm>
            <a:off x="0" y="6096000"/>
            <a:ext cx="16764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New Systems Development</a:t>
            </a:r>
            <a:endParaRPr sz="1800">
              <a:solidFill>
                <a:schemeClr val="dk1"/>
              </a:solidFill>
              <a:latin typeface="Lucida Sans"/>
              <a:ea typeface="Lucida Sans"/>
              <a:cs typeface="Lucida Sans"/>
              <a:sym typeface="Lucida Sans"/>
            </a:endParaRPr>
          </a:p>
        </p:txBody>
      </p:sp>
      <p:sp>
        <p:nvSpPr>
          <p:cNvPr id="2187" name="Google Shape;2187;p305"/>
          <p:cNvSpPr/>
          <p:nvPr/>
        </p:nvSpPr>
        <p:spPr>
          <a:xfrm>
            <a:off x="1828800" y="6096000"/>
            <a:ext cx="16002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Systems Maintenance</a:t>
            </a:r>
            <a:endParaRPr sz="1800">
              <a:solidFill>
                <a:schemeClr val="dk1"/>
              </a:solidFill>
              <a:latin typeface="Lucida Sans"/>
              <a:ea typeface="Lucida Sans"/>
              <a:cs typeface="Lucida Sans"/>
              <a:sym typeface="Lucida Sans"/>
            </a:endParaRPr>
          </a:p>
        </p:txBody>
      </p:sp>
      <p:sp>
        <p:nvSpPr>
          <p:cNvPr id="2188" name="Google Shape;2188;p305"/>
          <p:cNvSpPr/>
          <p:nvPr/>
        </p:nvSpPr>
        <p:spPr>
          <a:xfrm>
            <a:off x="4800600" y="6096000"/>
            <a:ext cx="15240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 Preparation</a:t>
            </a:r>
            <a:endParaRPr sz="1800">
              <a:solidFill>
                <a:schemeClr val="dk1"/>
              </a:solidFill>
              <a:latin typeface="Lucida Sans"/>
              <a:ea typeface="Lucida Sans"/>
              <a:cs typeface="Lucida Sans"/>
              <a:sym typeface="Lucida Sans"/>
            </a:endParaRPr>
          </a:p>
        </p:txBody>
      </p:sp>
      <p:sp>
        <p:nvSpPr>
          <p:cNvPr id="2189" name="Google Shape;2189;p305"/>
          <p:cNvSpPr/>
          <p:nvPr/>
        </p:nvSpPr>
        <p:spPr>
          <a:xfrm>
            <a:off x="5562600" y="2438400"/>
            <a:ext cx="15240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Director</a:t>
            </a:r>
            <a:endParaRPr/>
          </a:p>
          <a:p>
            <a:pPr marL="0" marR="0" lvl="0" indent="0" algn="ctr" rtl="0">
              <a:spcBef>
                <a:spcPts val="0"/>
              </a:spcBef>
              <a:spcAft>
                <a:spcPts val="0"/>
              </a:spcAft>
              <a:buNone/>
            </a:pPr>
            <a:r>
              <a:rPr lang="en-US" sz="1400">
                <a:solidFill>
                  <a:schemeClr val="dk1"/>
                </a:solidFill>
                <a:latin typeface="Lucida Sans"/>
                <a:ea typeface="Lucida Sans"/>
                <a:cs typeface="Lucida Sans"/>
                <a:sym typeface="Lucida Sans"/>
              </a:rPr>
              <a:t>Administration</a:t>
            </a:r>
            <a:endParaRPr sz="1400">
              <a:solidFill>
                <a:schemeClr val="dk1"/>
              </a:solidFill>
              <a:latin typeface="Lucida Sans"/>
              <a:ea typeface="Lucida Sans"/>
              <a:cs typeface="Lucida Sans"/>
              <a:sym typeface="Lucida Sans"/>
            </a:endParaRPr>
          </a:p>
        </p:txBody>
      </p:sp>
      <p:sp>
        <p:nvSpPr>
          <p:cNvPr id="2190" name="Google Shape;2190;p305"/>
          <p:cNvSpPr/>
          <p:nvPr/>
        </p:nvSpPr>
        <p:spPr>
          <a:xfrm>
            <a:off x="7239000" y="2438400"/>
            <a:ext cx="15240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Director</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Operations</a:t>
            </a:r>
            <a:endParaRPr sz="1800">
              <a:solidFill>
                <a:schemeClr val="dk1"/>
              </a:solidFill>
              <a:latin typeface="Lucida Sans"/>
              <a:ea typeface="Lucida Sans"/>
              <a:cs typeface="Lucida Sans"/>
              <a:sym typeface="Lucida Sans"/>
            </a:endParaRPr>
          </a:p>
        </p:txBody>
      </p:sp>
      <p:cxnSp>
        <p:nvCxnSpPr>
          <p:cNvPr id="2191" name="Google Shape;2191;p305"/>
          <p:cNvCxnSpPr>
            <a:endCxn id="2180" idx="0"/>
          </p:cNvCxnSpPr>
          <p:nvPr/>
        </p:nvCxnSpPr>
        <p:spPr>
          <a:xfrm>
            <a:off x="4495800" y="2133600"/>
            <a:ext cx="38100" cy="1828800"/>
          </a:xfrm>
          <a:prstGeom prst="straightConnector1">
            <a:avLst/>
          </a:prstGeom>
          <a:noFill/>
          <a:ln w="9525" cap="flat" cmpd="sng">
            <a:solidFill>
              <a:schemeClr val="dk1"/>
            </a:solidFill>
            <a:prstDash val="solid"/>
            <a:round/>
            <a:headEnd type="none" w="sm" len="sm"/>
            <a:tailEnd type="none" w="sm" len="sm"/>
          </a:ln>
        </p:spPr>
      </p:cxnSp>
      <p:sp>
        <p:nvSpPr>
          <p:cNvPr id="2192" name="Google Shape;2192;p305"/>
          <p:cNvSpPr/>
          <p:nvPr/>
        </p:nvSpPr>
        <p:spPr>
          <a:xfrm>
            <a:off x="3733800" y="2438400"/>
            <a:ext cx="1524000" cy="6858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Director</a:t>
            </a:r>
            <a:endParaRPr/>
          </a:p>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IT Services</a:t>
            </a:r>
            <a:endParaRPr sz="1800">
              <a:solidFill>
                <a:schemeClr val="dk1"/>
              </a:solidFill>
              <a:latin typeface="Lucida Sans"/>
              <a:ea typeface="Lucida Sans"/>
              <a:cs typeface="Lucida Sans"/>
              <a:sym typeface="Lucida Sans"/>
            </a:endParaRPr>
          </a:p>
        </p:txBody>
      </p:sp>
      <p:cxnSp>
        <p:nvCxnSpPr>
          <p:cNvPr id="2193" name="Google Shape;2193;p305"/>
          <p:cNvCxnSpPr/>
          <p:nvPr/>
        </p:nvCxnSpPr>
        <p:spPr>
          <a:xfrm>
            <a:off x="1066800" y="2133600"/>
            <a:ext cx="6934200" cy="0"/>
          </a:xfrm>
          <a:prstGeom prst="straightConnector1">
            <a:avLst/>
          </a:prstGeom>
          <a:noFill/>
          <a:ln w="9525" cap="flat" cmpd="sng">
            <a:solidFill>
              <a:schemeClr val="dk1"/>
            </a:solidFill>
            <a:prstDash val="solid"/>
            <a:round/>
            <a:headEnd type="none" w="sm" len="sm"/>
            <a:tailEnd type="none" w="sm" len="sm"/>
          </a:ln>
        </p:spPr>
      </p:cxnSp>
      <p:cxnSp>
        <p:nvCxnSpPr>
          <p:cNvPr id="2194" name="Google Shape;2194;p305"/>
          <p:cNvCxnSpPr/>
          <p:nvPr/>
        </p:nvCxnSpPr>
        <p:spPr>
          <a:xfrm>
            <a:off x="1066800" y="2133600"/>
            <a:ext cx="0" cy="304800"/>
          </a:xfrm>
          <a:prstGeom prst="straightConnector1">
            <a:avLst/>
          </a:prstGeom>
          <a:noFill/>
          <a:ln w="9525" cap="flat" cmpd="sng">
            <a:solidFill>
              <a:schemeClr val="dk1"/>
            </a:solidFill>
            <a:prstDash val="solid"/>
            <a:round/>
            <a:headEnd type="none" w="sm" len="sm"/>
            <a:tailEnd type="none" w="sm" len="sm"/>
          </a:ln>
        </p:spPr>
      </p:cxnSp>
      <p:cxnSp>
        <p:nvCxnSpPr>
          <p:cNvPr id="2195" name="Google Shape;2195;p305"/>
          <p:cNvCxnSpPr/>
          <p:nvPr/>
        </p:nvCxnSpPr>
        <p:spPr>
          <a:xfrm>
            <a:off x="2667000" y="2133600"/>
            <a:ext cx="0" cy="304800"/>
          </a:xfrm>
          <a:prstGeom prst="straightConnector1">
            <a:avLst/>
          </a:prstGeom>
          <a:noFill/>
          <a:ln w="9525" cap="flat" cmpd="sng">
            <a:solidFill>
              <a:schemeClr val="dk1"/>
            </a:solidFill>
            <a:prstDash val="solid"/>
            <a:round/>
            <a:headEnd type="none" w="sm" len="sm"/>
            <a:tailEnd type="none" w="sm" len="sm"/>
          </a:ln>
        </p:spPr>
      </p:cxnSp>
      <p:cxnSp>
        <p:nvCxnSpPr>
          <p:cNvPr id="2196" name="Google Shape;2196;p305"/>
          <p:cNvCxnSpPr/>
          <p:nvPr/>
        </p:nvCxnSpPr>
        <p:spPr>
          <a:xfrm>
            <a:off x="6324600" y="2133600"/>
            <a:ext cx="0" cy="304800"/>
          </a:xfrm>
          <a:prstGeom prst="straightConnector1">
            <a:avLst/>
          </a:prstGeom>
          <a:noFill/>
          <a:ln w="9525" cap="flat" cmpd="sng">
            <a:solidFill>
              <a:schemeClr val="dk1"/>
            </a:solidFill>
            <a:prstDash val="solid"/>
            <a:round/>
            <a:headEnd type="none" w="sm" len="sm"/>
            <a:tailEnd type="none" w="sm" len="sm"/>
          </a:ln>
        </p:spPr>
      </p:cxnSp>
      <p:cxnSp>
        <p:nvCxnSpPr>
          <p:cNvPr id="2197" name="Google Shape;2197;p305"/>
          <p:cNvCxnSpPr/>
          <p:nvPr/>
        </p:nvCxnSpPr>
        <p:spPr>
          <a:xfrm>
            <a:off x="8001000" y="2133600"/>
            <a:ext cx="0" cy="304800"/>
          </a:xfrm>
          <a:prstGeom prst="straightConnector1">
            <a:avLst/>
          </a:prstGeom>
          <a:noFill/>
          <a:ln w="9525" cap="flat" cmpd="sng">
            <a:solidFill>
              <a:schemeClr val="dk1"/>
            </a:solidFill>
            <a:prstDash val="solid"/>
            <a:round/>
            <a:headEnd type="none" w="sm" len="sm"/>
            <a:tailEnd type="none" w="sm" len="sm"/>
          </a:ln>
        </p:spPr>
      </p:cxnSp>
      <p:cxnSp>
        <p:nvCxnSpPr>
          <p:cNvPr id="2198" name="Google Shape;2198;p305"/>
          <p:cNvCxnSpPr/>
          <p:nvPr/>
        </p:nvCxnSpPr>
        <p:spPr>
          <a:xfrm>
            <a:off x="1676400" y="3657600"/>
            <a:ext cx="5334000" cy="0"/>
          </a:xfrm>
          <a:prstGeom prst="straightConnector1">
            <a:avLst/>
          </a:prstGeom>
          <a:noFill/>
          <a:ln w="9525" cap="flat" cmpd="sng">
            <a:solidFill>
              <a:schemeClr val="dk1"/>
            </a:solidFill>
            <a:prstDash val="solid"/>
            <a:round/>
            <a:headEnd type="none" w="sm" len="sm"/>
            <a:tailEnd type="none" w="sm" len="sm"/>
          </a:ln>
        </p:spPr>
      </p:cxnSp>
      <p:cxnSp>
        <p:nvCxnSpPr>
          <p:cNvPr id="2199" name="Google Shape;2199;p305"/>
          <p:cNvCxnSpPr/>
          <p:nvPr/>
        </p:nvCxnSpPr>
        <p:spPr>
          <a:xfrm>
            <a:off x="7010400" y="3657600"/>
            <a:ext cx="0" cy="2057400"/>
          </a:xfrm>
          <a:prstGeom prst="straightConnector1">
            <a:avLst/>
          </a:prstGeom>
          <a:noFill/>
          <a:ln w="9525" cap="flat" cmpd="sng">
            <a:solidFill>
              <a:schemeClr val="dk1"/>
            </a:solidFill>
            <a:prstDash val="solid"/>
            <a:round/>
            <a:headEnd type="none" w="sm" len="sm"/>
            <a:tailEnd type="none" w="sm" len="sm"/>
          </a:ln>
        </p:spPr>
      </p:cxnSp>
      <p:cxnSp>
        <p:nvCxnSpPr>
          <p:cNvPr id="2200" name="Google Shape;2200;p305"/>
          <p:cNvCxnSpPr/>
          <p:nvPr/>
        </p:nvCxnSpPr>
        <p:spPr>
          <a:xfrm>
            <a:off x="762000" y="5715000"/>
            <a:ext cx="1828800" cy="0"/>
          </a:xfrm>
          <a:prstGeom prst="straightConnector1">
            <a:avLst/>
          </a:prstGeom>
          <a:noFill/>
          <a:ln w="9525" cap="flat" cmpd="sng">
            <a:solidFill>
              <a:schemeClr val="dk1"/>
            </a:solidFill>
            <a:prstDash val="solid"/>
            <a:round/>
            <a:headEnd type="none" w="sm" len="sm"/>
            <a:tailEnd type="none" w="sm" len="sm"/>
          </a:ln>
        </p:spPr>
      </p:cxnSp>
      <p:cxnSp>
        <p:nvCxnSpPr>
          <p:cNvPr id="2201" name="Google Shape;2201;p305"/>
          <p:cNvCxnSpPr/>
          <p:nvPr/>
        </p:nvCxnSpPr>
        <p:spPr>
          <a:xfrm>
            <a:off x="2590800" y="5715000"/>
            <a:ext cx="0" cy="304800"/>
          </a:xfrm>
          <a:prstGeom prst="straightConnector1">
            <a:avLst/>
          </a:prstGeom>
          <a:noFill/>
          <a:ln w="9525" cap="flat" cmpd="sng">
            <a:solidFill>
              <a:schemeClr val="dk1"/>
            </a:solidFill>
            <a:prstDash val="solid"/>
            <a:round/>
            <a:headEnd type="none" w="sm" len="sm"/>
            <a:tailEnd type="none" w="sm" len="sm"/>
          </a:ln>
        </p:spPr>
      </p:cxnSp>
      <p:cxnSp>
        <p:nvCxnSpPr>
          <p:cNvPr id="2202" name="Google Shape;2202;p305"/>
          <p:cNvCxnSpPr/>
          <p:nvPr/>
        </p:nvCxnSpPr>
        <p:spPr>
          <a:xfrm>
            <a:off x="762000" y="5715000"/>
            <a:ext cx="0" cy="304800"/>
          </a:xfrm>
          <a:prstGeom prst="straightConnector1">
            <a:avLst/>
          </a:prstGeom>
          <a:noFill/>
          <a:ln w="9525" cap="flat" cmpd="sng">
            <a:solidFill>
              <a:schemeClr val="dk1"/>
            </a:solidFill>
            <a:prstDash val="solid"/>
            <a:round/>
            <a:headEnd type="none" w="sm" len="sm"/>
            <a:tailEnd type="none" w="sm" len="sm"/>
          </a:ln>
        </p:spPr>
      </p:cxnSp>
      <p:cxnSp>
        <p:nvCxnSpPr>
          <p:cNvPr id="2203" name="Google Shape;2203;p305"/>
          <p:cNvCxnSpPr/>
          <p:nvPr/>
        </p:nvCxnSpPr>
        <p:spPr>
          <a:xfrm>
            <a:off x="1676400" y="3657600"/>
            <a:ext cx="0" cy="2057400"/>
          </a:xfrm>
          <a:prstGeom prst="straightConnector1">
            <a:avLst/>
          </a:prstGeom>
          <a:noFill/>
          <a:ln w="9525" cap="flat" cmpd="sng">
            <a:solidFill>
              <a:schemeClr val="dk1"/>
            </a:solidFill>
            <a:prstDash val="solid"/>
            <a:round/>
            <a:headEnd type="none" w="sm" len="sm"/>
            <a:tailEnd type="none" w="sm" len="sm"/>
          </a:ln>
        </p:spPr>
      </p:cxnSp>
      <p:sp>
        <p:nvSpPr>
          <p:cNvPr id="2204" name="Google Shape;2204;p305"/>
          <p:cNvSpPr/>
          <p:nvPr/>
        </p:nvSpPr>
        <p:spPr>
          <a:xfrm>
            <a:off x="838200" y="3962400"/>
            <a:ext cx="1828800" cy="9144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Systems Development Manager</a:t>
            </a:r>
            <a:endParaRPr sz="1800">
              <a:solidFill>
                <a:schemeClr val="dk1"/>
              </a:solidFill>
              <a:latin typeface="Lucida Sans"/>
              <a:ea typeface="Lucida Sans"/>
              <a:cs typeface="Lucida Sans"/>
              <a:sym typeface="Lucida Sans"/>
            </a:endParaRPr>
          </a:p>
        </p:txBody>
      </p:sp>
      <p:sp>
        <p:nvSpPr>
          <p:cNvPr id="2205" name="Google Shape;2205;p305"/>
          <p:cNvSpPr/>
          <p:nvPr/>
        </p:nvSpPr>
        <p:spPr>
          <a:xfrm>
            <a:off x="6019800" y="3962400"/>
            <a:ext cx="1981200" cy="914400"/>
          </a:xfrm>
          <a:prstGeom prst="rect">
            <a:avLst/>
          </a:prstGeom>
          <a:solidFill>
            <a:schemeClr val="lt1"/>
          </a:solidFill>
          <a:ln w="55000" cap="flat" cmpd="thickThin">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Data Processing Manager</a:t>
            </a:r>
            <a:endParaRPr sz="1800">
              <a:solidFill>
                <a:schemeClr val="dk1"/>
              </a:solidFill>
              <a:latin typeface="Lucida Sans"/>
              <a:ea typeface="Lucida Sans"/>
              <a:cs typeface="Lucida Sans"/>
              <a:sym typeface="Lucida Sans"/>
            </a:endParaRPr>
          </a:p>
        </p:txBody>
      </p:sp>
      <p:cxnSp>
        <p:nvCxnSpPr>
          <p:cNvPr id="2206" name="Google Shape;2206;p305"/>
          <p:cNvCxnSpPr/>
          <p:nvPr/>
        </p:nvCxnSpPr>
        <p:spPr>
          <a:xfrm>
            <a:off x="4114800" y="5715000"/>
            <a:ext cx="4419600" cy="0"/>
          </a:xfrm>
          <a:prstGeom prst="straightConnector1">
            <a:avLst/>
          </a:prstGeom>
          <a:noFill/>
          <a:ln w="9525" cap="flat" cmpd="sng">
            <a:solidFill>
              <a:schemeClr val="dk1"/>
            </a:solidFill>
            <a:prstDash val="solid"/>
            <a:round/>
            <a:headEnd type="none" w="sm" len="sm"/>
            <a:tailEnd type="none" w="sm" len="sm"/>
          </a:ln>
        </p:spPr>
      </p:cxnSp>
      <p:cxnSp>
        <p:nvCxnSpPr>
          <p:cNvPr id="2207" name="Google Shape;2207;p305"/>
          <p:cNvCxnSpPr/>
          <p:nvPr/>
        </p:nvCxnSpPr>
        <p:spPr>
          <a:xfrm>
            <a:off x="5638800" y="5715000"/>
            <a:ext cx="0" cy="304800"/>
          </a:xfrm>
          <a:prstGeom prst="straightConnector1">
            <a:avLst/>
          </a:prstGeom>
          <a:noFill/>
          <a:ln w="9525" cap="flat" cmpd="sng">
            <a:solidFill>
              <a:schemeClr val="dk1"/>
            </a:solidFill>
            <a:prstDash val="solid"/>
            <a:round/>
            <a:headEnd type="none" w="sm" len="sm"/>
            <a:tailEnd type="none" w="sm" len="sm"/>
          </a:ln>
        </p:spPr>
      </p:cxnSp>
      <p:cxnSp>
        <p:nvCxnSpPr>
          <p:cNvPr id="2208" name="Google Shape;2208;p305"/>
          <p:cNvCxnSpPr/>
          <p:nvPr/>
        </p:nvCxnSpPr>
        <p:spPr>
          <a:xfrm>
            <a:off x="4114800" y="5715000"/>
            <a:ext cx="0" cy="304800"/>
          </a:xfrm>
          <a:prstGeom prst="straightConnector1">
            <a:avLst/>
          </a:prstGeom>
          <a:noFill/>
          <a:ln w="9525" cap="flat" cmpd="sng">
            <a:solidFill>
              <a:schemeClr val="dk1"/>
            </a:solidFill>
            <a:prstDash val="solid"/>
            <a:round/>
            <a:headEnd type="none" w="sm" len="sm"/>
            <a:tailEnd type="none" w="sm" len="sm"/>
          </a:ln>
        </p:spPr>
      </p:cxnSp>
      <p:cxnSp>
        <p:nvCxnSpPr>
          <p:cNvPr id="2209" name="Google Shape;2209;p305"/>
          <p:cNvCxnSpPr/>
          <p:nvPr/>
        </p:nvCxnSpPr>
        <p:spPr>
          <a:xfrm>
            <a:off x="8534400" y="5715000"/>
            <a:ext cx="0" cy="304800"/>
          </a:xfrm>
          <a:prstGeom prst="straightConnector1">
            <a:avLst/>
          </a:prstGeom>
          <a:noFill/>
          <a:ln w="9525" cap="flat" cmpd="sng">
            <a:solidFill>
              <a:schemeClr val="dk1"/>
            </a:solidFill>
            <a:prstDash val="solid"/>
            <a:round/>
            <a:headEnd type="none" w="sm" len="sm"/>
            <a:tailEnd type="none" w="sm" len="sm"/>
          </a:ln>
        </p:spPr>
      </p:cxnSp>
      <p:cxnSp>
        <p:nvCxnSpPr>
          <p:cNvPr id="2210" name="Google Shape;2210;p305"/>
          <p:cNvCxnSpPr/>
          <p:nvPr/>
        </p:nvCxnSpPr>
        <p:spPr>
          <a:xfrm>
            <a:off x="7010400" y="5715000"/>
            <a:ext cx="0" cy="304800"/>
          </a:xfrm>
          <a:prstGeom prst="straightConnector1">
            <a:avLst/>
          </a:prstGeom>
          <a:noFill/>
          <a:ln w="9525" cap="flat" cmpd="sng">
            <a:solidFill>
              <a:schemeClr val="dk1"/>
            </a:solidFill>
            <a:prstDash val="solid"/>
            <a:round/>
            <a:headEnd type="none" w="sm" len="sm"/>
            <a:tailEnd type="none" w="sm" len="sm"/>
          </a:ln>
        </p:spPr>
      </p:cxnSp>
      <p:sp>
        <p:nvSpPr>
          <p:cNvPr id="2211" name="Google Shape;2211;p305"/>
          <p:cNvSpPr txBox="1"/>
          <p:nvPr/>
        </p:nvSpPr>
        <p:spPr>
          <a:xfrm>
            <a:off x="1981200" y="1524000"/>
            <a:ext cx="514596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Organisational Chart of a Centralised IT unit</a:t>
            </a:r>
            <a:endParaRPr sz="1800">
              <a:solidFill>
                <a:schemeClr val="dk1"/>
              </a:solidFill>
              <a:latin typeface="Lucida Sans"/>
              <a:ea typeface="Lucida Sans"/>
              <a:cs typeface="Lucida Sans"/>
              <a:sym typeface="Lucida Sans"/>
            </a:endParaRP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6" name="Google Shape;2216;p306"/>
          <p:cNvSpPr txBox="1">
            <a:spLocks noGrp="1"/>
          </p:cNvSpPr>
          <p:nvPr>
            <p:ph type="body" idx="1"/>
          </p:nvPr>
        </p:nvSpPr>
        <p:spPr>
          <a:xfrm>
            <a:off x="457200" y="762000"/>
            <a:ext cx="8229600" cy="59436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904"/>
              <a:buNone/>
            </a:pPr>
            <a:r>
              <a:rPr lang="en-US" sz="2800" b="1"/>
              <a:t>1. Separate systems development from Computer operations...</a:t>
            </a:r>
            <a:endParaRPr/>
          </a:p>
          <a:p>
            <a:pPr marL="365760" lvl="0" indent="-135128" algn="just" rtl="0">
              <a:spcBef>
                <a:spcPts val="400"/>
              </a:spcBef>
              <a:spcAft>
                <a:spcPts val="0"/>
              </a:spcAft>
              <a:buSzPts val="1904"/>
              <a:buNone/>
            </a:pPr>
            <a:endParaRPr sz="2800"/>
          </a:p>
          <a:p>
            <a:pPr marL="365760" lvl="0" indent="-256032" algn="just" rtl="0">
              <a:spcBef>
                <a:spcPts val="400"/>
              </a:spcBef>
              <a:spcAft>
                <a:spcPts val="0"/>
              </a:spcAft>
              <a:buSzPts val="1836"/>
              <a:buChar char="🞂"/>
            </a:pPr>
            <a:r>
              <a:rPr lang="en-US"/>
              <a:t>Systems development personnel are responsible for availing systems to users.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Maintenance personnel are responsible for ensuring that the system is up and running continually.</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Operations personnel run the systems and are not usually involved in systems development.</a:t>
            </a:r>
            <a:endParaRP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Shape 2220"/>
        <p:cNvGrpSpPr/>
        <p:nvPr/>
      </p:nvGrpSpPr>
      <p:grpSpPr>
        <a:xfrm>
          <a:off x="0" y="0"/>
          <a:ext cx="0" cy="0"/>
          <a:chOff x="0" y="0"/>
          <a:chExt cx="0" cy="0"/>
        </a:xfrm>
      </p:grpSpPr>
      <p:sp>
        <p:nvSpPr>
          <p:cNvPr id="2221" name="Google Shape;2221;p30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139446" algn="just" rtl="0">
              <a:spcBef>
                <a:spcPts val="0"/>
              </a:spcBef>
              <a:spcAft>
                <a:spcPts val="0"/>
              </a:spcAft>
              <a:buSzPts val="1836"/>
              <a:buNone/>
            </a:pPr>
            <a:endParaRPr/>
          </a:p>
          <a:p>
            <a:pPr marL="365760" lvl="0" indent="-256032" algn="just" rtl="0">
              <a:spcBef>
                <a:spcPts val="400"/>
              </a:spcBef>
              <a:spcAft>
                <a:spcPts val="0"/>
              </a:spcAft>
              <a:buSzPts val="1836"/>
              <a:buChar char="🞂"/>
            </a:pPr>
            <a:r>
              <a:rPr lang="en-US"/>
              <a:t>If  above are mingled together, one may be able to perform on the fly fraud because they have “inside” knowledge of the working of the system and may thus bypass certain aspects to perform untraceable fraud.</a:t>
            </a:r>
            <a:endParaRPr/>
          </a:p>
          <a:p>
            <a:pPr marL="365760" lvl="0" indent="-139446" algn="l" rtl="0">
              <a:spcBef>
                <a:spcPts val="400"/>
              </a:spcBef>
              <a:spcAft>
                <a:spcPts val="0"/>
              </a:spcAft>
              <a:buSzPts val="1836"/>
              <a:buNone/>
            </a:pPr>
            <a:endParaRP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Shape 2225"/>
        <p:cNvGrpSpPr/>
        <p:nvPr/>
      </p:nvGrpSpPr>
      <p:grpSpPr>
        <a:xfrm>
          <a:off x="0" y="0"/>
          <a:ext cx="0" cy="0"/>
          <a:chOff x="0" y="0"/>
          <a:chExt cx="0" cy="0"/>
        </a:xfrm>
      </p:grpSpPr>
      <p:sp>
        <p:nvSpPr>
          <p:cNvPr id="2226" name="Google Shape;2226;p308"/>
          <p:cNvSpPr txBox="1">
            <a:spLocks noGrp="1"/>
          </p:cNvSpPr>
          <p:nvPr>
            <p:ph type="body" idx="1"/>
          </p:nvPr>
        </p:nvSpPr>
        <p:spPr>
          <a:xfrm>
            <a:off x="457200" y="762000"/>
            <a:ext cx="8229600" cy="5943600"/>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904"/>
              <a:buNone/>
            </a:pPr>
            <a:r>
              <a:rPr lang="en-US" sz="2800" b="1"/>
              <a:t>2. Separate the database administrator from other functions...</a:t>
            </a:r>
            <a:endParaRPr/>
          </a:p>
          <a:p>
            <a:pPr marL="365760" lvl="0" indent="-135128" algn="just" rtl="0">
              <a:spcBef>
                <a:spcPts val="400"/>
              </a:spcBef>
              <a:spcAft>
                <a:spcPts val="0"/>
              </a:spcAft>
              <a:buSzPts val="1904"/>
              <a:buNone/>
            </a:pPr>
            <a:endParaRPr sz="2800"/>
          </a:p>
          <a:p>
            <a:pPr marL="365760" lvl="0" indent="-256032" algn="just" rtl="0">
              <a:spcBef>
                <a:spcPts val="400"/>
              </a:spcBef>
              <a:spcAft>
                <a:spcPts val="0"/>
              </a:spcAft>
              <a:buSzPts val="1836"/>
              <a:buChar char="🞂"/>
            </a:pPr>
            <a:r>
              <a:rPr lang="en-US"/>
              <a:t>The database administrator is responsible for a number of critical tasks pertaining to database security, including:</a:t>
            </a:r>
            <a:endParaRPr/>
          </a:p>
          <a:p>
            <a:pPr marL="365760" lvl="0" indent="-139446" algn="just" rtl="0">
              <a:spcBef>
                <a:spcPts val="400"/>
              </a:spcBef>
              <a:spcAft>
                <a:spcPts val="0"/>
              </a:spcAft>
              <a:buSzPts val="1836"/>
              <a:buNone/>
            </a:pPr>
            <a:endParaRPr/>
          </a:p>
          <a:p>
            <a:pPr marL="621792" lvl="1" indent="-228600" algn="just" rtl="0">
              <a:spcBef>
                <a:spcPts val="324"/>
              </a:spcBef>
              <a:spcAft>
                <a:spcPts val="0"/>
              </a:spcAft>
              <a:buSzPts val="2300"/>
              <a:buChar char="◦"/>
            </a:pPr>
            <a:r>
              <a:rPr lang="en-US"/>
              <a:t>Creating the database schema,</a:t>
            </a:r>
            <a:endParaRPr/>
          </a:p>
          <a:p>
            <a:pPr marL="621792" lvl="1" indent="-228600" algn="just" rtl="0">
              <a:spcBef>
                <a:spcPts val="324"/>
              </a:spcBef>
              <a:spcAft>
                <a:spcPts val="0"/>
              </a:spcAft>
              <a:buSzPts val="2300"/>
              <a:buChar char="◦"/>
            </a:pPr>
            <a:r>
              <a:rPr lang="en-US"/>
              <a:t>Creating user views (sub schemas),</a:t>
            </a:r>
            <a:endParaRPr/>
          </a:p>
          <a:p>
            <a:pPr marL="621792" lvl="1" indent="-228600" algn="just" rtl="0">
              <a:spcBef>
                <a:spcPts val="324"/>
              </a:spcBef>
              <a:spcAft>
                <a:spcPts val="0"/>
              </a:spcAft>
              <a:buSzPts val="2300"/>
              <a:buChar char="◦"/>
            </a:pPr>
            <a:r>
              <a:rPr lang="en-US"/>
              <a:t>Assigning access authority to users,</a:t>
            </a:r>
            <a:endParaRPr/>
          </a:p>
          <a:p>
            <a:pPr marL="621792" lvl="1" indent="-228600" algn="just" rtl="0">
              <a:spcBef>
                <a:spcPts val="324"/>
              </a:spcBef>
              <a:spcAft>
                <a:spcPts val="0"/>
              </a:spcAft>
              <a:buSzPts val="2300"/>
              <a:buChar char="◦"/>
            </a:pPr>
            <a:r>
              <a:rPr lang="en-US"/>
              <a:t>Monitoring database usage,</a:t>
            </a:r>
            <a:endParaRPr/>
          </a:p>
          <a:p>
            <a:pPr marL="621792" lvl="1" indent="-228600" algn="just" rtl="0">
              <a:spcBef>
                <a:spcPts val="324"/>
              </a:spcBef>
              <a:spcAft>
                <a:spcPts val="0"/>
              </a:spcAft>
              <a:buSzPts val="2300"/>
              <a:buChar char="◦"/>
            </a:pPr>
            <a:r>
              <a:rPr lang="en-US"/>
              <a:t>Planning for future expansion.</a:t>
            </a:r>
            <a:endParaRP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Shape 2230"/>
        <p:cNvGrpSpPr/>
        <p:nvPr/>
      </p:nvGrpSpPr>
      <p:grpSpPr>
        <a:xfrm>
          <a:off x="0" y="0"/>
          <a:ext cx="0" cy="0"/>
          <a:chOff x="0" y="0"/>
          <a:chExt cx="0" cy="0"/>
        </a:xfrm>
      </p:grpSpPr>
      <p:sp>
        <p:nvSpPr>
          <p:cNvPr id="2231" name="Google Shape;2231;p309"/>
          <p:cNvSpPr txBox="1">
            <a:spLocks noGrp="1"/>
          </p:cNvSpPr>
          <p:nvPr>
            <p:ph type="body" idx="1"/>
          </p:nvPr>
        </p:nvSpPr>
        <p:spPr>
          <a:xfrm>
            <a:off x="457200" y="1481328"/>
            <a:ext cx="8229600" cy="50718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database administrators responsibilities should not be delegated to other users as this would threaten database integrity.</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database administrator’s role is unique and independent as indicated in the diagram above.</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database administrator should be involved in system development on data options.</a:t>
            </a:r>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Shape 2235"/>
        <p:cNvGrpSpPr/>
        <p:nvPr/>
      </p:nvGrpSpPr>
      <p:grpSpPr>
        <a:xfrm>
          <a:off x="0" y="0"/>
          <a:ext cx="0" cy="0"/>
          <a:chOff x="0" y="0"/>
          <a:chExt cx="0" cy="0"/>
        </a:xfrm>
      </p:grpSpPr>
      <p:sp>
        <p:nvSpPr>
          <p:cNvPr id="2236" name="Google Shape;2236;p310"/>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3. Separating new systems development from maintenance</a:t>
            </a:r>
            <a:endParaRPr/>
          </a:p>
          <a:p>
            <a:pPr marL="621792" lvl="1" indent="-228600" algn="just" rtl="0">
              <a:spcBef>
                <a:spcPts val="324"/>
              </a:spcBef>
              <a:spcAft>
                <a:spcPts val="0"/>
              </a:spcAft>
              <a:buSzPts val="2300"/>
              <a:buChar char="◦"/>
            </a:pPr>
            <a:r>
              <a:rPr lang="en-US"/>
              <a:t>If the two are combined, the result is normally:</a:t>
            </a:r>
            <a:endParaRPr/>
          </a:p>
          <a:p>
            <a:pPr marL="859536" lvl="2" indent="-228600" algn="just" rtl="0">
              <a:spcBef>
                <a:spcPts val="350"/>
              </a:spcBef>
              <a:spcAft>
                <a:spcPts val="0"/>
              </a:spcAft>
              <a:buSzPts val="2100"/>
              <a:buNone/>
            </a:pPr>
            <a:r>
              <a:rPr lang="en-US"/>
              <a:t>1. Poor system documentation </a:t>
            </a:r>
            <a:endParaRPr/>
          </a:p>
          <a:p>
            <a:pPr marL="1143000" lvl="3" indent="-228600" algn="just" rtl="0">
              <a:spcBef>
                <a:spcPts val="350"/>
              </a:spcBef>
              <a:spcAft>
                <a:spcPts val="0"/>
              </a:spcAft>
              <a:buSzPts val="1900"/>
              <a:buChar char="●"/>
            </a:pPr>
            <a:r>
              <a:rPr lang="en-US"/>
              <a:t>One would rather begin work on a new system than document a current one.</a:t>
            </a:r>
            <a:endParaRPr/>
          </a:p>
          <a:p>
            <a:pPr marL="1143000" lvl="3" indent="-228600" algn="just" rtl="0">
              <a:spcBef>
                <a:spcPts val="350"/>
              </a:spcBef>
              <a:spcAft>
                <a:spcPts val="0"/>
              </a:spcAft>
              <a:buSzPts val="1900"/>
              <a:buChar char="●"/>
            </a:pPr>
            <a:r>
              <a:rPr lang="en-US"/>
              <a:t>Poor document enhances job security as it becomes difficult to interpret, test and debug the system.</a:t>
            </a:r>
            <a:endParaRPr/>
          </a:p>
          <a:p>
            <a:pPr marL="1143000" lvl="3" indent="-228600" algn="just" rtl="0">
              <a:spcBef>
                <a:spcPts val="350"/>
              </a:spcBef>
              <a:spcAft>
                <a:spcPts val="0"/>
              </a:spcAft>
              <a:buSzPts val="1900"/>
              <a:buChar char="●"/>
            </a:pPr>
            <a:r>
              <a:rPr lang="en-US"/>
              <a:t>One normally maintains bargaining power when they do not adequately document a system.</a:t>
            </a:r>
            <a:endParaRPr/>
          </a:p>
          <a:p>
            <a:pPr marL="859536" lvl="2" indent="-228600" algn="just" rtl="0">
              <a:spcBef>
                <a:spcPts val="350"/>
              </a:spcBef>
              <a:spcAft>
                <a:spcPts val="0"/>
              </a:spcAft>
              <a:buSzPts val="2100"/>
              <a:buNone/>
            </a:pPr>
            <a:r>
              <a:rPr lang="en-US"/>
              <a:t>2. Program fraud</a:t>
            </a:r>
            <a:endParaRPr/>
          </a:p>
          <a:p>
            <a:pPr marL="1143000" lvl="3" indent="-228600" algn="just" rtl="0">
              <a:spcBef>
                <a:spcPts val="350"/>
              </a:spcBef>
              <a:spcAft>
                <a:spcPts val="0"/>
              </a:spcAft>
              <a:buSzPts val="1900"/>
              <a:buChar char="●"/>
            </a:pPr>
            <a:r>
              <a:rPr lang="en-US"/>
              <a:t>If the one maintaining the program is also the one who developed the program, they may make changes to the system for purposes of fraud.</a:t>
            </a:r>
            <a:endParaRP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311"/>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621792" lvl="1" indent="-228600" algn="just" rtl="0">
              <a:spcBef>
                <a:spcPts val="0"/>
              </a:spcBef>
              <a:spcAft>
                <a:spcPts val="0"/>
              </a:spcAft>
              <a:buSzPts val="2300"/>
              <a:buChar char="◦"/>
            </a:pPr>
            <a:r>
              <a:rPr lang="en-US"/>
              <a:t>If the two are not combined, the result is normally:</a:t>
            </a:r>
            <a:endParaRPr/>
          </a:p>
          <a:p>
            <a:pPr marL="859536" lvl="2" indent="-228600" algn="just" rtl="0">
              <a:spcBef>
                <a:spcPts val="350"/>
              </a:spcBef>
              <a:spcAft>
                <a:spcPts val="0"/>
              </a:spcAft>
              <a:buSzPts val="2100"/>
              <a:buNone/>
            </a:pPr>
            <a:endParaRPr/>
          </a:p>
          <a:p>
            <a:pPr marL="859536" lvl="2" indent="-228600" algn="just" rtl="0">
              <a:spcBef>
                <a:spcPts val="350"/>
              </a:spcBef>
              <a:spcAft>
                <a:spcPts val="0"/>
              </a:spcAft>
              <a:buSzPts val="2100"/>
              <a:buNone/>
            </a:pPr>
            <a:r>
              <a:rPr lang="en-US"/>
              <a:t>1. Improved system documentation </a:t>
            </a:r>
            <a:endParaRPr/>
          </a:p>
          <a:p>
            <a:pPr marL="1143000" lvl="3" indent="-228600" algn="just" rtl="0">
              <a:spcBef>
                <a:spcPts val="350"/>
              </a:spcBef>
              <a:spcAft>
                <a:spcPts val="0"/>
              </a:spcAft>
              <a:buSzPts val="1900"/>
              <a:buChar char="●"/>
            </a:pPr>
            <a:r>
              <a:rPr lang="en-US"/>
              <a:t>When the two are separate, the one maintaining the system will normally require adequate documentation from the developer resulting in complete documentation.</a:t>
            </a:r>
            <a:endParaRPr/>
          </a:p>
          <a:p>
            <a:pPr marL="1143000" lvl="3" indent="-107950" algn="just" rtl="0">
              <a:spcBef>
                <a:spcPts val="350"/>
              </a:spcBef>
              <a:spcAft>
                <a:spcPts val="0"/>
              </a:spcAft>
              <a:buSzPts val="1900"/>
              <a:buNone/>
            </a:pPr>
            <a:endParaRPr/>
          </a:p>
          <a:p>
            <a:pPr marL="859536" lvl="2" indent="-228600" algn="just" rtl="0">
              <a:spcBef>
                <a:spcPts val="350"/>
              </a:spcBef>
              <a:spcAft>
                <a:spcPts val="0"/>
              </a:spcAft>
              <a:buSzPts val="2100"/>
              <a:buNone/>
            </a:pPr>
            <a:r>
              <a:rPr lang="en-US"/>
              <a:t>2. Reduced program fraud</a:t>
            </a:r>
            <a:endParaRPr/>
          </a:p>
          <a:p>
            <a:pPr marL="1143000" lvl="3" indent="-228600" algn="just" rtl="0">
              <a:spcBef>
                <a:spcPts val="350"/>
              </a:spcBef>
              <a:spcAft>
                <a:spcPts val="0"/>
              </a:spcAft>
              <a:buSzPts val="1900"/>
              <a:buChar char="●"/>
            </a:pPr>
            <a:r>
              <a:rPr lang="en-US"/>
              <a:t>The lack of prospect of accessing the system in the future will act as a deterrent for program fraud.</a:t>
            </a:r>
            <a:endParaRPr/>
          </a:p>
          <a:p>
            <a:pPr marL="1143000" lvl="3" indent="-228600" algn="just" rtl="0">
              <a:spcBef>
                <a:spcPts val="350"/>
              </a:spcBef>
              <a:spcAft>
                <a:spcPts val="0"/>
              </a:spcAft>
              <a:buSzPts val="1900"/>
              <a:buChar char="●"/>
            </a:pPr>
            <a:r>
              <a:rPr lang="en-US"/>
              <a:t>The risk of discovery also acts as a deterrent.</a:t>
            </a:r>
            <a:endParaRPr/>
          </a:p>
          <a:p>
            <a:pPr marL="1143000" lvl="3" indent="-107950" algn="just" rtl="0">
              <a:spcBef>
                <a:spcPts val="350"/>
              </a:spcBef>
              <a:spcAft>
                <a:spcPts val="0"/>
              </a:spcAft>
              <a:buSzPts val="1900"/>
              <a:buNone/>
            </a:pPr>
            <a:endParaRP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Shape 2245"/>
        <p:cNvGrpSpPr/>
        <p:nvPr/>
      </p:nvGrpSpPr>
      <p:grpSpPr>
        <a:xfrm>
          <a:off x="0" y="0"/>
          <a:ext cx="0" cy="0"/>
          <a:chOff x="0" y="0"/>
          <a:chExt cx="0" cy="0"/>
        </a:xfrm>
      </p:grpSpPr>
      <p:sp>
        <p:nvSpPr>
          <p:cNvPr id="2246" name="Google Shape;2246;p31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Distributed data processing enable end user departments control of IT services.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Computer functions which are traditionally consolidated are separated.</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The result has IT controls implications.</a:t>
            </a:r>
            <a:endParaRPr/>
          </a:p>
        </p:txBody>
      </p:sp>
      <p:sp>
        <p:nvSpPr>
          <p:cNvPr id="2247" name="Google Shape;2247;p3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Distributed IT</a:t>
            </a:r>
            <a:endParaRP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2252" name="Google Shape;2252;p313"/>
          <p:cNvSpPr txBox="1">
            <a:spLocks noGrp="1"/>
          </p:cNvSpPr>
          <p:nvPr>
            <p:ph type="body" idx="1"/>
          </p:nvPr>
        </p:nvSpPr>
        <p:spPr>
          <a:xfrm>
            <a:off x="152400" y="762000"/>
            <a:ext cx="8534400" cy="5715000"/>
          </a:xfrm>
          <a:prstGeom prst="rect">
            <a:avLst/>
          </a:prstGeom>
          <a:noFill/>
          <a:ln>
            <a:noFill/>
          </a:ln>
        </p:spPr>
        <p:txBody>
          <a:bodyPr spcFirstLastPara="1" wrap="square" lIns="91425" tIns="45700" rIns="91425" bIns="45700" anchor="t" anchorCtr="0">
            <a:noAutofit/>
          </a:bodyPr>
          <a:lstStyle/>
          <a:p>
            <a:pPr marL="624078" lvl="0" indent="-514350" algn="just" rtl="0">
              <a:lnSpc>
                <a:spcPct val="90000"/>
              </a:lnSpc>
              <a:spcBef>
                <a:spcPts val="0"/>
              </a:spcBef>
              <a:spcAft>
                <a:spcPts val="0"/>
              </a:spcAft>
              <a:buSzPts val="1836"/>
              <a:buAutoNum type="arabicPeriod"/>
            </a:pPr>
            <a:r>
              <a:rPr lang="en-US"/>
              <a:t>Incompatibility</a:t>
            </a:r>
            <a:endParaRPr/>
          </a:p>
          <a:p>
            <a:pPr marL="880110" lvl="1" indent="-514350" algn="just" rtl="0">
              <a:lnSpc>
                <a:spcPct val="90000"/>
              </a:lnSpc>
              <a:spcBef>
                <a:spcPts val="324"/>
              </a:spcBef>
              <a:spcAft>
                <a:spcPts val="0"/>
              </a:spcAft>
              <a:buSzPts val="2300"/>
              <a:buChar char="◦"/>
            </a:pPr>
            <a:r>
              <a:rPr lang="en-US"/>
              <a:t>The result maybe poorly coordinated purchases.</a:t>
            </a:r>
            <a:endParaRPr/>
          </a:p>
          <a:p>
            <a:pPr marL="880110" lvl="1" indent="-368300" algn="just" rtl="0">
              <a:lnSpc>
                <a:spcPct val="90000"/>
              </a:lnSpc>
              <a:spcBef>
                <a:spcPts val="324"/>
              </a:spcBef>
              <a:spcAft>
                <a:spcPts val="0"/>
              </a:spcAft>
              <a:buSzPts val="2300"/>
              <a:buNone/>
            </a:pPr>
            <a:endParaRPr/>
          </a:p>
          <a:p>
            <a:pPr marL="624078" lvl="0" indent="-514350" algn="just" rtl="0">
              <a:lnSpc>
                <a:spcPct val="90000"/>
              </a:lnSpc>
              <a:spcBef>
                <a:spcPts val="400"/>
              </a:spcBef>
              <a:spcAft>
                <a:spcPts val="0"/>
              </a:spcAft>
              <a:buSzPts val="1836"/>
              <a:buAutoNum type="arabicPeriod"/>
            </a:pPr>
            <a:r>
              <a:rPr lang="en-US"/>
              <a:t>Redundancy</a:t>
            </a:r>
            <a:endParaRPr/>
          </a:p>
          <a:p>
            <a:pPr marL="880110" lvl="1" indent="-514350" algn="just" rtl="0">
              <a:lnSpc>
                <a:spcPct val="90000"/>
              </a:lnSpc>
              <a:spcBef>
                <a:spcPts val="324"/>
              </a:spcBef>
              <a:spcAft>
                <a:spcPts val="0"/>
              </a:spcAft>
              <a:buSzPts val="2300"/>
              <a:buChar char="◦"/>
            </a:pPr>
            <a:r>
              <a:rPr lang="en-US"/>
              <a:t>Similar programs/data may be duplicated rather than shared.</a:t>
            </a:r>
            <a:endParaRPr/>
          </a:p>
          <a:p>
            <a:pPr marL="880110" lvl="1" indent="-368300" algn="just" rtl="0">
              <a:lnSpc>
                <a:spcPct val="90000"/>
              </a:lnSpc>
              <a:spcBef>
                <a:spcPts val="324"/>
              </a:spcBef>
              <a:spcAft>
                <a:spcPts val="0"/>
              </a:spcAft>
              <a:buSzPts val="2300"/>
              <a:buNone/>
            </a:pPr>
            <a:endParaRPr/>
          </a:p>
          <a:p>
            <a:pPr marL="624078" lvl="0" indent="-514350" algn="just" rtl="0">
              <a:lnSpc>
                <a:spcPct val="90000"/>
              </a:lnSpc>
              <a:spcBef>
                <a:spcPts val="400"/>
              </a:spcBef>
              <a:spcAft>
                <a:spcPts val="0"/>
              </a:spcAft>
              <a:buSzPts val="1836"/>
              <a:buAutoNum type="arabicPeriod"/>
            </a:pPr>
            <a:r>
              <a:rPr lang="en-US"/>
              <a:t>Consolidating incompatible activities</a:t>
            </a:r>
            <a:endParaRPr/>
          </a:p>
          <a:p>
            <a:pPr marL="880110" lvl="1" indent="-514350" algn="just" rtl="0">
              <a:lnSpc>
                <a:spcPct val="90000"/>
              </a:lnSpc>
              <a:spcBef>
                <a:spcPts val="324"/>
              </a:spcBef>
              <a:spcAft>
                <a:spcPts val="0"/>
              </a:spcAft>
              <a:buSzPts val="2300"/>
              <a:buChar char="◦"/>
            </a:pPr>
            <a:r>
              <a:rPr lang="en-US"/>
              <a:t>Some incompatible functions may be combined.</a:t>
            </a:r>
            <a:endParaRPr/>
          </a:p>
          <a:p>
            <a:pPr marL="880110" lvl="1" indent="-368300" algn="just" rtl="0">
              <a:lnSpc>
                <a:spcPct val="90000"/>
              </a:lnSpc>
              <a:spcBef>
                <a:spcPts val="324"/>
              </a:spcBef>
              <a:spcAft>
                <a:spcPts val="0"/>
              </a:spcAft>
              <a:buSzPts val="2300"/>
              <a:buNone/>
            </a:pPr>
            <a:endParaRPr/>
          </a:p>
          <a:p>
            <a:pPr marL="624078" lvl="0" indent="-514350" algn="just" rtl="0">
              <a:lnSpc>
                <a:spcPct val="90000"/>
              </a:lnSpc>
              <a:spcBef>
                <a:spcPts val="400"/>
              </a:spcBef>
              <a:spcAft>
                <a:spcPts val="0"/>
              </a:spcAft>
              <a:buSzPts val="1836"/>
              <a:buAutoNum type="arabicPeriod"/>
            </a:pPr>
            <a:r>
              <a:rPr lang="en-US"/>
              <a:t>Difficulty in acquiring qualified professionals</a:t>
            </a:r>
            <a:endParaRPr/>
          </a:p>
          <a:p>
            <a:pPr marL="880110" lvl="1" indent="-368300" algn="just" rtl="0">
              <a:lnSpc>
                <a:spcPct val="90000"/>
              </a:lnSpc>
              <a:spcBef>
                <a:spcPts val="324"/>
              </a:spcBef>
              <a:spcAft>
                <a:spcPts val="0"/>
              </a:spcAft>
              <a:buSzPts val="2300"/>
              <a:buNone/>
            </a:pPr>
            <a:endParaRPr/>
          </a:p>
          <a:p>
            <a:pPr marL="624078" lvl="0" indent="-514350" algn="just" rtl="0">
              <a:lnSpc>
                <a:spcPct val="90000"/>
              </a:lnSpc>
              <a:spcBef>
                <a:spcPts val="400"/>
              </a:spcBef>
              <a:spcAft>
                <a:spcPts val="0"/>
              </a:spcAft>
              <a:buSzPts val="1836"/>
              <a:buAutoNum type="arabicPeriod"/>
            </a:pPr>
            <a:r>
              <a:rPr lang="en-US"/>
              <a:t>Lack of standards</a:t>
            </a:r>
            <a:endParaRPr/>
          </a:p>
          <a:p>
            <a:pPr marL="880110" lvl="1" indent="-514350" algn="just" rtl="0">
              <a:lnSpc>
                <a:spcPct val="90000"/>
              </a:lnSpc>
              <a:spcBef>
                <a:spcPts val="324"/>
              </a:spcBef>
              <a:spcAft>
                <a:spcPts val="0"/>
              </a:spcAft>
              <a:buSzPts val="2300"/>
              <a:buChar char="◦"/>
            </a:pPr>
            <a:r>
              <a:rPr lang="en-US"/>
              <a:t>Standards are normally not fully adhered to.</a:t>
            </a:r>
            <a:endParaRPr/>
          </a:p>
          <a:p>
            <a:pPr marL="365760" lvl="0" indent="-139446" algn="just" rtl="0">
              <a:lnSpc>
                <a:spcPct val="90000"/>
              </a:lnSpc>
              <a:spcBef>
                <a:spcPts val="400"/>
              </a:spcBef>
              <a:spcAft>
                <a:spcPts val="0"/>
              </a:spcAft>
              <a:buSzPts val="1836"/>
              <a:buNone/>
            </a:pPr>
            <a:endParaRP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Shape 2256"/>
        <p:cNvGrpSpPr/>
        <p:nvPr/>
      </p:nvGrpSpPr>
      <p:grpSpPr>
        <a:xfrm>
          <a:off x="0" y="0"/>
          <a:ext cx="0" cy="0"/>
          <a:chOff x="0" y="0"/>
          <a:chExt cx="0" cy="0"/>
        </a:xfrm>
      </p:grpSpPr>
      <p:sp>
        <p:nvSpPr>
          <p:cNvPr id="2257" name="Google Shape;2257;p31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lnSpc>
                <a:spcPct val="90000"/>
              </a:lnSpc>
              <a:spcBef>
                <a:spcPts val="0"/>
              </a:spcBef>
              <a:spcAft>
                <a:spcPts val="0"/>
              </a:spcAft>
              <a:buSzPts val="1836"/>
              <a:buChar char="🞂"/>
            </a:pPr>
            <a:r>
              <a:rPr lang="en-US"/>
              <a:t>Systems are hardly ever found to be completed centralised nor distributed in real practise. </a:t>
            </a:r>
            <a:endParaRPr/>
          </a:p>
          <a:p>
            <a:pPr marL="365760" lvl="0" indent="-139446" algn="just" rtl="0">
              <a:lnSpc>
                <a:spcPct val="90000"/>
              </a:lnSpc>
              <a:spcBef>
                <a:spcPts val="400"/>
              </a:spcBef>
              <a:spcAft>
                <a:spcPts val="0"/>
              </a:spcAft>
              <a:buSzPts val="1836"/>
              <a:buNone/>
            </a:pPr>
            <a:endParaRPr/>
          </a:p>
          <a:p>
            <a:pPr marL="624078" lvl="0" indent="-514350" algn="just" rtl="0">
              <a:lnSpc>
                <a:spcPct val="90000"/>
              </a:lnSpc>
              <a:spcBef>
                <a:spcPts val="400"/>
              </a:spcBef>
              <a:spcAft>
                <a:spcPts val="0"/>
              </a:spcAft>
              <a:buSzPts val="1836"/>
              <a:buAutoNum type="arabicPeriod"/>
            </a:pPr>
            <a:r>
              <a:rPr lang="en-US"/>
              <a:t>Central testing of commercial software &amp; hardware.</a:t>
            </a:r>
            <a:endParaRPr/>
          </a:p>
          <a:p>
            <a:pPr marL="880110" lvl="1" indent="-514350" algn="just" rtl="0">
              <a:lnSpc>
                <a:spcPct val="90000"/>
              </a:lnSpc>
              <a:spcBef>
                <a:spcPts val="324"/>
              </a:spcBef>
              <a:spcAft>
                <a:spcPts val="0"/>
              </a:spcAft>
              <a:buSzPts val="2300"/>
              <a:buChar char="◦"/>
            </a:pPr>
            <a:r>
              <a:rPr lang="en-US"/>
              <a:t>Evaluate features, controls, compatibility and other relevant standards to make recommendations.</a:t>
            </a:r>
            <a:endParaRPr/>
          </a:p>
          <a:p>
            <a:pPr marL="624078" lvl="0" indent="-514350" algn="just" rtl="0">
              <a:lnSpc>
                <a:spcPct val="90000"/>
              </a:lnSpc>
              <a:spcBef>
                <a:spcPts val="400"/>
              </a:spcBef>
              <a:spcAft>
                <a:spcPts val="0"/>
              </a:spcAft>
              <a:buSzPts val="1836"/>
              <a:buAutoNum type="arabicPeriod"/>
            </a:pPr>
            <a:r>
              <a:rPr lang="en-US"/>
              <a:t>User services</a:t>
            </a:r>
            <a:endParaRPr/>
          </a:p>
          <a:p>
            <a:pPr marL="880110" lvl="1" indent="-514350" algn="just" rtl="0">
              <a:lnSpc>
                <a:spcPct val="90000"/>
              </a:lnSpc>
              <a:spcBef>
                <a:spcPts val="324"/>
              </a:spcBef>
              <a:spcAft>
                <a:spcPts val="0"/>
              </a:spcAft>
              <a:buSzPts val="2300"/>
              <a:buChar char="◦"/>
            </a:pPr>
            <a:r>
              <a:rPr lang="en-US"/>
              <a:t>Provide user support through electronic bulletin boards and the like</a:t>
            </a:r>
            <a:endParaRPr/>
          </a:p>
        </p:txBody>
      </p:sp>
      <p:sp>
        <p:nvSpPr>
          <p:cNvPr id="2258" name="Google Shape;2258;p3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Striking a balance</a:t>
            </a:r>
            <a:endParaRP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Shape 2262"/>
        <p:cNvGrpSpPr/>
        <p:nvPr/>
      </p:nvGrpSpPr>
      <p:grpSpPr>
        <a:xfrm>
          <a:off x="0" y="0"/>
          <a:ext cx="0" cy="0"/>
          <a:chOff x="0" y="0"/>
          <a:chExt cx="0" cy="0"/>
        </a:xfrm>
      </p:grpSpPr>
      <p:sp>
        <p:nvSpPr>
          <p:cNvPr id="2263" name="Google Shape;2263;p31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None/>
            </a:pPr>
            <a:r>
              <a:rPr lang="en-US"/>
              <a:t>3. Standard setting body</a:t>
            </a:r>
            <a:endParaRPr/>
          </a:p>
          <a:p>
            <a:pPr marL="621792" lvl="1" indent="-228600" algn="just" rtl="0">
              <a:spcBef>
                <a:spcPts val="324"/>
              </a:spcBef>
              <a:spcAft>
                <a:spcPts val="0"/>
              </a:spcAft>
              <a:buSzPts val="2300"/>
              <a:buChar char="◦"/>
            </a:pPr>
            <a:r>
              <a:rPr lang="en-US"/>
              <a:t>Sets standards for systems development, programming and documentation.</a:t>
            </a:r>
            <a:endParaRPr/>
          </a:p>
          <a:p>
            <a:pPr marL="621792" lvl="1" indent="-82550" algn="just" rtl="0">
              <a:spcBef>
                <a:spcPts val="324"/>
              </a:spcBef>
              <a:spcAft>
                <a:spcPts val="0"/>
              </a:spcAft>
              <a:buSzPts val="2300"/>
              <a:buNone/>
            </a:pPr>
            <a:endParaRPr/>
          </a:p>
          <a:p>
            <a:pPr marL="365760" lvl="0" indent="-256032" algn="just" rtl="0">
              <a:spcBef>
                <a:spcPts val="400"/>
              </a:spcBef>
              <a:spcAft>
                <a:spcPts val="0"/>
              </a:spcAft>
              <a:buSzPts val="1836"/>
              <a:buNone/>
            </a:pPr>
            <a:r>
              <a:rPr lang="en-US"/>
              <a:t>4. Personnel review</a:t>
            </a:r>
            <a:endParaRPr/>
          </a:p>
          <a:p>
            <a:pPr marL="621792" lvl="1" indent="-228600" algn="just" rtl="0">
              <a:spcBef>
                <a:spcPts val="324"/>
              </a:spcBef>
              <a:spcAft>
                <a:spcPts val="0"/>
              </a:spcAft>
              <a:buSzPts val="2300"/>
              <a:buChar char="◦"/>
            </a:pPr>
            <a:r>
              <a:rPr lang="en-US"/>
              <a:t>Performs reviews of potential and hired IT staff .</a:t>
            </a:r>
            <a:endParaRP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Shape 2267"/>
        <p:cNvGrpSpPr/>
        <p:nvPr/>
      </p:nvGrpSpPr>
      <p:grpSpPr>
        <a:xfrm>
          <a:off x="0" y="0"/>
          <a:ext cx="0" cy="0"/>
          <a:chOff x="0" y="0"/>
          <a:chExt cx="0" cy="0"/>
        </a:xfrm>
      </p:grpSpPr>
      <p:sp>
        <p:nvSpPr>
          <p:cNvPr id="2268" name="Google Shape;2268;p31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auditor’s objective would be to verify that individuals in incompatible areas are segregated in accordance with the level of potential risk and promotes a working environment.</a:t>
            </a:r>
            <a:endParaRPr/>
          </a:p>
          <a:p>
            <a:pPr marL="365760" lvl="0" indent="-139446" algn="just" rtl="0">
              <a:spcBef>
                <a:spcPts val="400"/>
              </a:spcBef>
              <a:spcAft>
                <a:spcPts val="0"/>
              </a:spcAft>
              <a:buSzPts val="1836"/>
              <a:buNone/>
            </a:pPr>
            <a:endParaRPr/>
          </a:p>
          <a:p>
            <a:pPr marL="621792" lvl="1" indent="-82550" algn="just" rtl="0">
              <a:spcBef>
                <a:spcPts val="324"/>
              </a:spcBef>
              <a:spcAft>
                <a:spcPts val="0"/>
              </a:spcAft>
              <a:buSzPts val="2300"/>
              <a:buNone/>
            </a:pPr>
            <a:endParaRPr/>
          </a:p>
        </p:txBody>
      </p:sp>
      <p:sp>
        <p:nvSpPr>
          <p:cNvPr id="2269" name="Google Shape;2269;p3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Org. Structure Audit Objective</a:t>
            </a:r>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Shape 2273"/>
        <p:cNvGrpSpPr/>
        <p:nvPr/>
      </p:nvGrpSpPr>
      <p:grpSpPr>
        <a:xfrm>
          <a:off x="0" y="0"/>
          <a:ext cx="0" cy="0"/>
          <a:chOff x="0" y="0"/>
          <a:chExt cx="0" cy="0"/>
        </a:xfrm>
      </p:grpSpPr>
      <p:sp>
        <p:nvSpPr>
          <p:cNvPr id="2274" name="Google Shape;2274;p317"/>
          <p:cNvSpPr txBox="1">
            <a:spLocks noGrp="1"/>
          </p:cNvSpPr>
          <p:nvPr>
            <p:ph type="body" idx="1"/>
          </p:nvPr>
        </p:nvSpPr>
        <p:spPr>
          <a:xfrm>
            <a:off x="457200" y="1481328"/>
            <a:ext cx="8229600" cy="53766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Obtain and review the computer security policy and its reach.</a:t>
            </a:r>
            <a:endParaRPr/>
          </a:p>
          <a:p>
            <a:pPr marL="365760" lvl="0" indent="-256032" algn="just" rtl="0">
              <a:spcBef>
                <a:spcPts val="400"/>
              </a:spcBef>
              <a:spcAft>
                <a:spcPts val="0"/>
              </a:spcAft>
              <a:buSzPts val="1836"/>
              <a:buChar char="🞂"/>
            </a:pPr>
            <a:r>
              <a:rPr lang="en-US"/>
              <a:t>Review relevant documentation such as the organisational chart, mission, job descriptions for incompatibility.</a:t>
            </a:r>
            <a:endParaRPr/>
          </a:p>
          <a:p>
            <a:pPr marL="365760" lvl="0" indent="-256032" algn="just" rtl="0">
              <a:spcBef>
                <a:spcPts val="400"/>
              </a:spcBef>
              <a:spcAft>
                <a:spcPts val="0"/>
              </a:spcAft>
              <a:buSzPts val="1836"/>
              <a:buChar char="🞂"/>
            </a:pPr>
            <a:r>
              <a:rPr lang="en-US"/>
              <a:t>Review systems documentation &amp; maintenance records for a sample of applications. Separation is key.</a:t>
            </a:r>
            <a:endParaRPr/>
          </a:p>
          <a:p>
            <a:pPr marL="365760" lvl="0" indent="-256032" algn="just" rtl="0">
              <a:spcBef>
                <a:spcPts val="400"/>
              </a:spcBef>
              <a:spcAft>
                <a:spcPts val="0"/>
              </a:spcAft>
              <a:buSzPts val="1836"/>
              <a:buChar char="🞂"/>
            </a:pPr>
            <a:r>
              <a:rPr lang="en-US"/>
              <a:t>Observe that segregation policy is being followed in practice. View access log the like.</a:t>
            </a:r>
            <a:endParaRPr/>
          </a:p>
          <a:p>
            <a:pPr marL="365760" lvl="0" indent="-256032" algn="just" rtl="0">
              <a:spcBef>
                <a:spcPts val="400"/>
              </a:spcBef>
              <a:spcAft>
                <a:spcPts val="0"/>
              </a:spcAft>
              <a:buSzPts val="1836"/>
              <a:buChar char="🞂"/>
            </a:pPr>
            <a:r>
              <a:rPr lang="en-US"/>
              <a:t>Review user rights &amp; privileges &amp; jobs.</a:t>
            </a:r>
            <a:endParaRPr/>
          </a:p>
        </p:txBody>
      </p:sp>
      <p:sp>
        <p:nvSpPr>
          <p:cNvPr id="2275" name="Google Shape;2275;p3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Org. Structure Audit Procedures</a:t>
            </a:r>
            <a:endParaRPr sz="369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sp>
        <p:nvSpPr>
          <p:cNvPr id="2280" name="Google Shape;2280;p318"/>
          <p:cNvSpPr txBox="1">
            <a:spLocks noGrp="1"/>
          </p:cNvSpPr>
          <p:nvPr>
            <p:ph type="body" idx="1"/>
          </p:nvPr>
        </p:nvSpPr>
        <p:spPr>
          <a:xfrm>
            <a:off x="457200" y="1371600"/>
            <a:ext cx="8229600" cy="5071872"/>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The creation of secure environments is paramount in situations where IT is fundamental for business operations.</a:t>
            </a:r>
            <a:endParaRPr/>
          </a:p>
          <a:p>
            <a:pPr marL="365760" lvl="0" indent="-139446" algn="just" rtl="0">
              <a:spcBef>
                <a:spcPts val="400"/>
              </a:spcBef>
              <a:spcAft>
                <a:spcPts val="0"/>
              </a:spcAft>
              <a:buSzPts val="1836"/>
              <a:buNone/>
            </a:pPr>
            <a:endParaRPr/>
          </a:p>
          <a:p>
            <a:pPr marL="365760" lvl="0" indent="-256032" algn="just" rtl="0">
              <a:spcBef>
                <a:spcPts val="400"/>
              </a:spcBef>
              <a:spcAft>
                <a:spcPts val="0"/>
              </a:spcAft>
              <a:buSzPts val="1836"/>
              <a:buChar char="🞂"/>
            </a:pPr>
            <a:r>
              <a:rPr lang="en-US"/>
              <a:t>Critical computer centre controls</a:t>
            </a:r>
            <a:endParaRPr/>
          </a:p>
          <a:p>
            <a:pPr marL="621792" lvl="1" indent="-228600" algn="just" rtl="0">
              <a:spcBef>
                <a:spcPts val="324"/>
              </a:spcBef>
              <a:spcAft>
                <a:spcPts val="0"/>
              </a:spcAft>
              <a:buSzPts val="2300"/>
              <a:buChar char="◦"/>
            </a:pPr>
            <a:r>
              <a:rPr lang="en-US"/>
              <a:t>Physical location</a:t>
            </a:r>
            <a:endParaRPr/>
          </a:p>
          <a:p>
            <a:pPr marL="621792" lvl="1" indent="-228600" algn="just" rtl="0">
              <a:spcBef>
                <a:spcPts val="324"/>
              </a:spcBef>
              <a:spcAft>
                <a:spcPts val="0"/>
              </a:spcAft>
              <a:buSzPts val="2300"/>
              <a:buChar char="◦"/>
            </a:pPr>
            <a:r>
              <a:rPr lang="en-US"/>
              <a:t>Construction</a:t>
            </a:r>
            <a:endParaRPr/>
          </a:p>
          <a:p>
            <a:pPr marL="621792" lvl="1" indent="-228600" algn="just" rtl="0">
              <a:spcBef>
                <a:spcPts val="324"/>
              </a:spcBef>
              <a:spcAft>
                <a:spcPts val="0"/>
              </a:spcAft>
              <a:buSzPts val="2300"/>
              <a:buChar char="◦"/>
            </a:pPr>
            <a:r>
              <a:rPr lang="en-US"/>
              <a:t>Access</a:t>
            </a:r>
            <a:endParaRPr/>
          </a:p>
          <a:p>
            <a:pPr marL="621792" lvl="1" indent="-228600" algn="just" rtl="0">
              <a:spcBef>
                <a:spcPts val="324"/>
              </a:spcBef>
              <a:spcAft>
                <a:spcPts val="0"/>
              </a:spcAft>
              <a:buSzPts val="2300"/>
              <a:buChar char="◦"/>
            </a:pPr>
            <a:r>
              <a:rPr lang="en-US"/>
              <a:t>Air-conditioning</a:t>
            </a:r>
            <a:endParaRPr/>
          </a:p>
          <a:p>
            <a:pPr marL="621792" lvl="1" indent="-228600" algn="just" rtl="0">
              <a:spcBef>
                <a:spcPts val="324"/>
              </a:spcBef>
              <a:spcAft>
                <a:spcPts val="0"/>
              </a:spcAft>
              <a:buSzPts val="2300"/>
              <a:buChar char="◦"/>
            </a:pPr>
            <a:r>
              <a:rPr lang="en-US"/>
              <a:t>Fire suppression</a:t>
            </a:r>
            <a:endParaRPr/>
          </a:p>
          <a:p>
            <a:pPr marL="621792" lvl="1" indent="-228600" algn="just" rtl="0">
              <a:spcBef>
                <a:spcPts val="324"/>
              </a:spcBef>
              <a:spcAft>
                <a:spcPts val="0"/>
              </a:spcAft>
              <a:buSzPts val="2300"/>
              <a:buChar char="◦"/>
            </a:pPr>
            <a:r>
              <a:rPr lang="en-US"/>
              <a:t>Fault tolerance controls (UPS, redundant arrays of independent disks – RAID)</a:t>
            </a:r>
            <a:endParaRPr/>
          </a:p>
        </p:txBody>
      </p:sp>
      <p:sp>
        <p:nvSpPr>
          <p:cNvPr id="2281" name="Google Shape;2281;p3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Lucida Sans"/>
              <a:buNone/>
            </a:pPr>
            <a:r>
              <a:rPr lang="en-US" sz="3600"/>
              <a:t>Computer centre security &amp; controls</a:t>
            </a:r>
            <a:endParaRPr sz="360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Shape 2285"/>
        <p:cNvGrpSpPr/>
        <p:nvPr/>
      </p:nvGrpSpPr>
      <p:grpSpPr>
        <a:xfrm>
          <a:off x="0" y="0"/>
          <a:ext cx="0" cy="0"/>
          <a:chOff x="0" y="0"/>
          <a:chExt cx="0" cy="0"/>
        </a:xfrm>
      </p:grpSpPr>
      <p:sp>
        <p:nvSpPr>
          <p:cNvPr id="2286" name="Google Shape;2286;p31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Primarily to evaluate the controls governing the computer centre security in the following areas:</a:t>
            </a:r>
            <a:endParaRPr/>
          </a:p>
          <a:p>
            <a:pPr marL="850392" lvl="1" indent="-457200" algn="l" rtl="0">
              <a:spcBef>
                <a:spcPts val="324"/>
              </a:spcBef>
              <a:spcAft>
                <a:spcPts val="0"/>
              </a:spcAft>
              <a:buSzPts val="2300"/>
              <a:buAutoNum type="arabicPeriod"/>
            </a:pPr>
            <a:r>
              <a:rPr lang="en-US"/>
              <a:t>Physical security controls - physical exposures.</a:t>
            </a:r>
            <a:endParaRPr/>
          </a:p>
          <a:p>
            <a:pPr marL="850392" lvl="1" indent="-311150" algn="l" rtl="0">
              <a:spcBef>
                <a:spcPts val="324"/>
              </a:spcBef>
              <a:spcAft>
                <a:spcPts val="0"/>
              </a:spcAft>
              <a:buSzPts val="2300"/>
              <a:buNone/>
            </a:pPr>
            <a:endParaRPr/>
          </a:p>
          <a:p>
            <a:pPr marL="850392" lvl="1" indent="-457200" algn="l" rtl="0">
              <a:spcBef>
                <a:spcPts val="324"/>
              </a:spcBef>
              <a:spcAft>
                <a:spcPts val="0"/>
              </a:spcAft>
              <a:buSzPts val="2300"/>
              <a:buAutoNum type="arabicPeriod"/>
            </a:pPr>
            <a:r>
              <a:rPr lang="en-US"/>
              <a:t>Insurance coverage for compensation on disaster.</a:t>
            </a:r>
            <a:endParaRPr/>
          </a:p>
          <a:p>
            <a:pPr marL="850392" lvl="1" indent="-311150" algn="l" rtl="0">
              <a:spcBef>
                <a:spcPts val="324"/>
              </a:spcBef>
              <a:spcAft>
                <a:spcPts val="0"/>
              </a:spcAft>
              <a:buSzPts val="2300"/>
              <a:buNone/>
            </a:pPr>
            <a:endParaRPr/>
          </a:p>
          <a:p>
            <a:pPr marL="850392" lvl="1" indent="-457200" algn="l" rtl="0">
              <a:spcBef>
                <a:spcPts val="324"/>
              </a:spcBef>
              <a:spcAft>
                <a:spcPts val="0"/>
              </a:spcAft>
              <a:buSzPts val="2300"/>
              <a:buAutoNum type="arabicPeriod"/>
            </a:pPr>
            <a:r>
              <a:rPr lang="en-US"/>
              <a:t>The level to which operator documentation is adequate to deal with operations and system failures.</a:t>
            </a:r>
            <a:endParaRPr/>
          </a:p>
        </p:txBody>
      </p:sp>
      <p:sp>
        <p:nvSpPr>
          <p:cNvPr id="2287" name="Google Shape;2287;p3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800"/>
              <a:buFont typeface="Lucida Sans"/>
              <a:buNone/>
            </a:pPr>
            <a:r>
              <a:rPr lang="en-US" sz="2800"/>
              <a:t>Computer centre security audit objectives</a:t>
            </a:r>
            <a:endParaRPr sz="280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Shape 2291"/>
        <p:cNvGrpSpPr/>
        <p:nvPr/>
      </p:nvGrpSpPr>
      <p:grpSpPr>
        <a:xfrm>
          <a:off x="0" y="0"/>
          <a:ext cx="0" cy="0"/>
          <a:chOff x="0" y="0"/>
          <a:chExt cx="0" cy="0"/>
        </a:xfrm>
      </p:grpSpPr>
      <p:sp>
        <p:nvSpPr>
          <p:cNvPr id="2292" name="Google Shape;2292;p32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just" rtl="0">
              <a:spcBef>
                <a:spcPts val="0"/>
              </a:spcBef>
              <a:spcAft>
                <a:spcPts val="0"/>
              </a:spcAft>
              <a:buSzPts val="1836"/>
              <a:buChar char="🞂"/>
            </a:pPr>
            <a:r>
              <a:rPr lang="en-US"/>
              <a:t>Test physical construction</a:t>
            </a:r>
            <a:endParaRPr/>
          </a:p>
          <a:p>
            <a:pPr marL="621792" lvl="1" indent="-228600" algn="just" rtl="0">
              <a:spcBef>
                <a:spcPts val="324"/>
              </a:spcBef>
              <a:spcAft>
                <a:spcPts val="0"/>
              </a:spcAft>
              <a:buSzPts val="2300"/>
              <a:buChar char="◦"/>
            </a:pPr>
            <a:r>
              <a:rPr lang="en-US"/>
              <a:t>Assess physical location of the computer centre. Assess whether there is adequate drainage to allow water flow away from the equipment in the event of water being used to douse a fire.</a:t>
            </a:r>
            <a:endParaRPr/>
          </a:p>
          <a:p>
            <a:pPr marL="621792" lvl="1" indent="-82550" algn="just" rtl="0">
              <a:spcBef>
                <a:spcPts val="324"/>
              </a:spcBef>
              <a:spcAft>
                <a:spcPts val="0"/>
              </a:spcAft>
              <a:buSzPts val="2300"/>
              <a:buNone/>
            </a:pPr>
            <a:endParaRPr/>
          </a:p>
          <a:p>
            <a:pPr marL="365760" lvl="0" indent="-256032" algn="just" rtl="0">
              <a:spcBef>
                <a:spcPts val="400"/>
              </a:spcBef>
              <a:spcAft>
                <a:spcPts val="0"/>
              </a:spcAft>
              <a:buSzPts val="1836"/>
              <a:buChar char="🞂"/>
            </a:pPr>
            <a:r>
              <a:rPr lang="en-US"/>
              <a:t>Tests of fire detection system</a:t>
            </a:r>
            <a:endParaRPr/>
          </a:p>
          <a:p>
            <a:pPr marL="621792" lvl="1" indent="-228600" algn="just" rtl="0">
              <a:spcBef>
                <a:spcPts val="324"/>
              </a:spcBef>
              <a:spcAft>
                <a:spcPts val="0"/>
              </a:spcAft>
              <a:buSzPts val="2300"/>
              <a:buChar char="◦"/>
            </a:pPr>
            <a:r>
              <a:rPr lang="en-US"/>
              <a:t>Ability to deal with fire threats.</a:t>
            </a:r>
            <a:endParaRPr/>
          </a:p>
          <a:p>
            <a:pPr marL="621792" lvl="1" indent="-82550" algn="just" rtl="0">
              <a:spcBef>
                <a:spcPts val="324"/>
              </a:spcBef>
              <a:spcAft>
                <a:spcPts val="0"/>
              </a:spcAft>
              <a:buSzPts val="2300"/>
              <a:buNone/>
            </a:pPr>
            <a:endParaRPr/>
          </a:p>
          <a:p>
            <a:pPr marL="365760" lvl="0" indent="-256032" algn="just" rtl="0">
              <a:spcBef>
                <a:spcPts val="400"/>
              </a:spcBef>
              <a:spcAft>
                <a:spcPts val="0"/>
              </a:spcAft>
              <a:buSzPts val="1836"/>
              <a:buChar char="🞂"/>
            </a:pPr>
            <a:r>
              <a:rPr lang="en-US"/>
              <a:t>Tests of access control</a:t>
            </a:r>
            <a:endParaRPr/>
          </a:p>
          <a:p>
            <a:pPr marL="621792" lvl="1" indent="-228600" algn="just" rtl="0">
              <a:spcBef>
                <a:spcPts val="324"/>
              </a:spcBef>
              <a:spcAft>
                <a:spcPts val="0"/>
              </a:spcAft>
              <a:buSzPts val="2300"/>
              <a:buChar char="◦"/>
            </a:pPr>
            <a:r>
              <a:rPr lang="en-US"/>
              <a:t>Restrictions applicable for access.</a:t>
            </a:r>
            <a:endParaRPr/>
          </a:p>
        </p:txBody>
      </p:sp>
      <p:sp>
        <p:nvSpPr>
          <p:cNvPr id="2293" name="Google Shape;2293;p3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800"/>
              <a:buFont typeface="Lucida Sans"/>
              <a:buNone/>
            </a:pPr>
            <a:r>
              <a:rPr lang="en-US" sz="2800"/>
              <a:t>Physical security controls audit procedures</a:t>
            </a:r>
            <a:endParaRPr sz="280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Shape 2297"/>
        <p:cNvGrpSpPr/>
        <p:nvPr/>
      </p:nvGrpSpPr>
      <p:grpSpPr>
        <a:xfrm>
          <a:off x="0" y="0"/>
          <a:ext cx="0" cy="0"/>
          <a:chOff x="0" y="0"/>
          <a:chExt cx="0" cy="0"/>
        </a:xfrm>
      </p:grpSpPr>
      <p:sp>
        <p:nvSpPr>
          <p:cNvPr id="2298" name="Google Shape;2298;p32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139446" algn="l" rtl="0">
              <a:spcBef>
                <a:spcPts val="0"/>
              </a:spcBef>
              <a:spcAft>
                <a:spcPts val="0"/>
              </a:spcAft>
              <a:buSzPts val="1836"/>
              <a:buNone/>
            </a:pPr>
            <a:endParaRPr/>
          </a:p>
        </p:txBody>
      </p:sp>
      <p:sp>
        <p:nvSpPr>
          <p:cNvPr id="2299" name="Google Shape;2299;p3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90"/>
              <a:buFont typeface="Lucida Sans"/>
              <a:buNone/>
            </a:pPr>
            <a:r>
              <a:rPr lang="en-US" sz="3690"/>
              <a:t>Tests of fault tolerance controls</a:t>
            </a:r>
            <a:endParaRPr sz="369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Shape 2303"/>
        <p:cNvGrpSpPr/>
        <p:nvPr/>
      </p:nvGrpSpPr>
      <p:grpSpPr>
        <a:xfrm>
          <a:off x="0" y="0"/>
          <a:ext cx="0" cy="0"/>
          <a:chOff x="0" y="0"/>
          <a:chExt cx="0" cy="0"/>
        </a:xfrm>
      </p:grpSpPr>
      <p:sp>
        <p:nvSpPr>
          <p:cNvPr id="2304" name="Google Shape;2304;p32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1836"/>
              <a:buChar char="🞂"/>
            </a:pPr>
            <a:r>
              <a:rPr lang="en-US"/>
              <a:t>IFP Whitepaper on  Fraud and Forensic Accounting In a Digital Environment </a:t>
            </a:r>
            <a:endParaRPr/>
          </a:p>
          <a:p>
            <a:pPr marL="365760" lvl="0" indent="-256032" algn="l" rtl="0">
              <a:spcBef>
                <a:spcPts val="400"/>
              </a:spcBef>
              <a:spcAft>
                <a:spcPts val="0"/>
              </a:spcAft>
              <a:buSzPts val="1836"/>
              <a:buChar char="🞂"/>
            </a:pPr>
            <a:r>
              <a:rPr lang="en-US"/>
              <a:t>Sarbanes Oxley Act</a:t>
            </a:r>
            <a:endParaRPr/>
          </a:p>
          <a:p>
            <a:pPr marL="365760" lvl="0" indent="-139446" algn="l" rtl="0">
              <a:spcBef>
                <a:spcPts val="400"/>
              </a:spcBef>
              <a:spcAft>
                <a:spcPts val="0"/>
              </a:spcAft>
              <a:buSzPts val="1836"/>
              <a:buNone/>
            </a:pPr>
            <a:endParaRPr/>
          </a:p>
        </p:txBody>
      </p:sp>
      <p:sp>
        <p:nvSpPr>
          <p:cNvPr id="2305" name="Google Shape;2305;p3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Ethics &amp; Corporate Governance</a:t>
            </a:r>
            <a:endParaRP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Shape 2309"/>
        <p:cNvGrpSpPr/>
        <p:nvPr/>
      </p:nvGrpSpPr>
      <p:grpSpPr>
        <a:xfrm>
          <a:off x="0" y="0"/>
          <a:ext cx="0" cy="0"/>
          <a:chOff x="0" y="0"/>
          <a:chExt cx="0" cy="0"/>
        </a:xfrm>
      </p:grpSpPr>
      <p:sp>
        <p:nvSpPr>
          <p:cNvPr id="2310" name="Google Shape;2310;p32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Autofit/>
          </a:bodyPr>
          <a:lstStyle/>
          <a:p>
            <a:pPr marL="365760" lvl="0" indent="-139446" algn="l" rtl="0">
              <a:spcBef>
                <a:spcPts val="0"/>
              </a:spcBef>
              <a:spcAft>
                <a:spcPts val="0"/>
              </a:spcAft>
              <a:buSzPts val="1836"/>
              <a:buNone/>
            </a:pPr>
            <a:endParaRPr/>
          </a:p>
        </p:txBody>
      </p:sp>
      <p:sp>
        <p:nvSpPr>
          <p:cNvPr id="2311" name="Google Shape;2311;p3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US"/>
              <a:t>Conclusion </a:t>
            </a:r>
            <a:endParaRPr/>
          </a:p>
        </p:txBody>
      </p:sp>
    </p:spTree>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14212</Words>
  <Application>Microsoft Office PowerPoint</Application>
  <PresentationFormat>On-screen Show (4:3)</PresentationFormat>
  <Paragraphs>1898</Paragraphs>
  <Slides>307</Slides>
  <Notes>307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307</vt:i4>
      </vt:variant>
    </vt:vector>
  </HeadingPairs>
  <TitlesOfParts>
    <vt:vector size="315" baseType="lpstr">
      <vt:lpstr>Calibri</vt:lpstr>
      <vt:lpstr>Noto Sans Symbols</vt:lpstr>
      <vt:lpstr>Verdana</vt:lpstr>
      <vt:lpstr>Arial</vt:lpstr>
      <vt:lpstr>Constantia</vt:lpstr>
      <vt:lpstr>Lucida Sans</vt:lpstr>
      <vt:lpstr>Concourse</vt:lpstr>
      <vt:lpstr>Concourse</vt:lpstr>
      <vt:lpstr>Accounting Information Systems</vt:lpstr>
      <vt:lpstr>Course outline</vt:lpstr>
      <vt:lpstr>INTRODUCTION</vt:lpstr>
      <vt:lpstr>PowerPoint Presentation</vt:lpstr>
      <vt:lpstr>PowerPoint Presentation</vt:lpstr>
      <vt:lpstr>Transaction </vt:lpstr>
      <vt:lpstr>Accounting Cycle</vt:lpstr>
      <vt:lpstr>PowerPoint Presentation</vt:lpstr>
      <vt:lpstr>Business Process Relationships e.g</vt:lpstr>
      <vt:lpstr>ACCOUNTING INFORMATION SYSTEMS</vt:lpstr>
      <vt:lpstr>What about Information Systems?</vt:lpstr>
      <vt:lpstr>Accounting Info System</vt:lpstr>
      <vt:lpstr>General AIS Model</vt:lpstr>
      <vt:lpstr>End Users</vt:lpstr>
      <vt:lpstr>Data Sources</vt:lpstr>
      <vt:lpstr>Data Collection</vt:lpstr>
      <vt:lpstr>Data Processing</vt:lpstr>
      <vt:lpstr>Database Management</vt:lpstr>
      <vt:lpstr>Information Generation</vt:lpstr>
      <vt:lpstr>Feedback</vt:lpstr>
      <vt:lpstr>The Accounting Function</vt:lpstr>
      <vt:lpstr>Some Critical Roles Of Accountants</vt:lpstr>
      <vt:lpstr>1. As System Users</vt:lpstr>
      <vt:lpstr>2. As System Designers</vt:lpstr>
      <vt:lpstr>PowerPoint Presentation</vt:lpstr>
      <vt:lpstr>PowerPoint Presentation</vt:lpstr>
      <vt:lpstr>3. As System Auditors</vt:lpstr>
      <vt:lpstr>Information System Framework</vt:lpstr>
      <vt:lpstr>PowerPoint Presentation</vt:lpstr>
      <vt:lpstr>Accounting As An Info System</vt:lpstr>
      <vt:lpstr>1. Transaction Processing System (TPS)</vt:lpstr>
      <vt:lpstr>Revenue Cycle Applications</vt:lpstr>
      <vt:lpstr>Functions in the Revenue Cycle</vt:lpstr>
      <vt:lpstr>Functions in the Revenue Cycle</vt:lpstr>
      <vt:lpstr>Inputs to the Revenue Cycle</vt:lpstr>
      <vt:lpstr>Outputs of the Revenue Cycle</vt:lpstr>
      <vt:lpstr>Accounts Receivable Functions</vt:lpstr>
      <vt:lpstr>Cycle Billing in Accounts Receivable</vt:lpstr>
      <vt:lpstr>Types of Sales Order Systems</vt:lpstr>
      <vt:lpstr>Incomplete Prebilling</vt:lpstr>
      <vt:lpstr>Separate Order And Billing</vt:lpstr>
      <vt:lpstr>Postbilling</vt:lpstr>
      <vt:lpstr>Blanket Order</vt:lpstr>
      <vt:lpstr>Factoring of Accounts Receivable</vt:lpstr>
      <vt:lpstr>Methods of Maintenance of Accounts Receivable</vt:lpstr>
      <vt:lpstr>Sales Returns and Allowances</vt:lpstr>
      <vt:lpstr>Write-off of Accounts Receivable</vt:lpstr>
      <vt:lpstr>Write-off of Accounts Receivable</vt:lpstr>
      <vt:lpstr>Lapping of Accounts Receivable-a Risk Exposure</vt:lpstr>
      <vt:lpstr>Internal Controls in the Revenue Cycle </vt:lpstr>
      <vt:lpstr>The Revenue Cycle: Sales and Cash Collections</vt:lpstr>
      <vt:lpstr>Learning Objectives</vt:lpstr>
      <vt:lpstr>Revenue Cycle Business Activities</vt:lpstr>
      <vt:lpstr>Revenue Cycle Business Activities</vt:lpstr>
      <vt:lpstr>Revenue Cycle Business Activities: Sales Order Entry </vt:lpstr>
      <vt:lpstr>Revenue Cycle Business Activities: Shipping  </vt:lpstr>
      <vt:lpstr>Revenue Cycle Business Activities: Billing and Accounts Receivable</vt:lpstr>
      <vt:lpstr>Revenue Cycle Business Activities: Cash Collections</vt:lpstr>
      <vt:lpstr>Revenue Cycle –  Key Decisions</vt:lpstr>
      <vt:lpstr>Revenue Cycle–  Key Decisions</vt:lpstr>
      <vt:lpstr>Revenue Cycle  – Key Decisions</vt:lpstr>
      <vt:lpstr>3 Sales Order Entry (Activity 1)</vt:lpstr>
      <vt:lpstr>Sales Order Entry (Activity 1)</vt:lpstr>
      <vt:lpstr>PowerPoint Presentation</vt:lpstr>
      <vt:lpstr>3 Information Needs  and Procedures</vt:lpstr>
      <vt:lpstr>Sales Order Entry (Activity 1)</vt:lpstr>
      <vt:lpstr>Sales Order Entry (Activity 1)</vt:lpstr>
      <vt:lpstr>Information Needs  and Procedures</vt:lpstr>
      <vt:lpstr>Shipping (Activity 2)</vt:lpstr>
      <vt:lpstr>PowerPoint Presentation</vt:lpstr>
      <vt:lpstr>Shipping (Activity 2)</vt:lpstr>
      <vt:lpstr>Shipping (Activity 2)</vt:lpstr>
      <vt:lpstr>Billing and Accounts Receivable (Activity 3)</vt:lpstr>
      <vt:lpstr>PowerPoint Presentation</vt:lpstr>
      <vt:lpstr>Billing and Accounts Receivable (Activity 3)</vt:lpstr>
      <vt:lpstr>Billing and Accounts Receivable (Activity 3)</vt:lpstr>
      <vt:lpstr>Billing and Accounts Receivable (Activity 3)</vt:lpstr>
      <vt:lpstr>Billing and Accounts Receivable (Activity 3)</vt:lpstr>
      <vt:lpstr>Billing and Accounts Receivable (Activity 3)</vt:lpstr>
      <vt:lpstr>Billing and Accounts Receivable (Activity 3)</vt:lpstr>
      <vt:lpstr>3 Information Needs and Procedures</vt:lpstr>
      <vt:lpstr> Cash Collections (Activity 4)</vt:lpstr>
      <vt:lpstr>Cash Collections (Activity 4)</vt:lpstr>
      <vt:lpstr>Cash Collections (Activity 4)</vt:lpstr>
      <vt:lpstr>Control: Objectives, Threats, and Procedures</vt:lpstr>
      <vt:lpstr>Control: Objectives, Threats, and Procedures</vt:lpstr>
      <vt:lpstr>Threats and Applicable Control Procedures to Sales Order Entry</vt:lpstr>
      <vt:lpstr>Threats and Applicable Control Procedures to Shipping</vt:lpstr>
      <vt:lpstr>Threats and Applicable Control Procedures to Billing and  Accounts Receivable</vt:lpstr>
      <vt:lpstr>Threat and Applicable Control Procedures to  Cash Collections</vt:lpstr>
      <vt:lpstr>General Control Issues</vt:lpstr>
      <vt:lpstr>Revenue Cycle Information Needs:  Operational Data  </vt:lpstr>
      <vt:lpstr>Revenue Cycle Information Needs: Current and Historical Information  </vt:lpstr>
      <vt:lpstr>Revenue Cycle Information Needs: Performance Evaluation </vt:lpstr>
      <vt:lpstr>The Expenditure Cycle</vt:lpstr>
      <vt:lpstr>Objectives of the Expenditure Cycle</vt:lpstr>
      <vt:lpstr>Functions in the Expenditure Cycle</vt:lpstr>
      <vt:lpstr>Functions in the Expenditure Cycle</vt:lpstr>
      <vt:lpstr>Other Related Functions of the Expenditure Cycle</vt:lpstr>
      <vt:lpstr>Inputs to the Expenditure Cycle</vt:lpstr>
      <vt:lpstr>Outputs of the Expenditure Cycle</vt:lpstr>
      <vt:lpstr>Outputs of the Expenditure Cycle</vt:lpstr>
      <vt:lpstr>Inventory Control Output Reports of the Expenditure Cycle</vt:lpstr>
      <vt:lpstr>Check Kiting - a Risk Exposure</vt:lpstr>
      <vt:lpstr>Voucher System of Cash Disbursements</vt:lpstr>
      <vt:lpstr>Internal Controls in the Expenditure Cycle</vt:lpstr>
      <vt:lpstr>Payroll</vt:lpstr>
      <vt:lpstr>Personnel</vt:lpstr>
      <vt:lpstr>Timekeeping</vt:lpstr>
      <vt:lpstr>Payroll</vt:lpstr>
      <vt:lpstr>Payroll register</vt:lpstr>
      <vt:lpstr>Payroll Controls </vt:lpstr>
      <vt:lpstr>Payroll Controls </vt:lpstr>
      <vt:lpstr>Payroll Controls</vt:lpstr>
      <vt:lpstr>independent paymaster</vt:lpstr>
      <vt:lpstr>Payroll Processing Requirements</vt:lpstr>
      <vt:lpstr>The conversion cycle</vt:lpstr>
      <vt:lpstr>PowerPoint Presentation</vt:lpstr>
      <vt:lpstr>key terms</vt:lpstr>
      <vt:lpstr>Conversion cycle business activities</vt:lpstr>
      <vt:lpstr>Major groups in the conversion cycle</vt:lpstr>
      <vt:lpstr>Inventory </vt:lpstr>
      <vt:lpstr>Inventory processing</vt:lpstr>
      <vt:lpstr>Payroll system</vt:lpstr>
      <vt:lpstr>Cost accounting</vt:lpstr>
      <vt:lpstr>Non-accounting systems </vt:lpstr>
      <vt:lpstr>Internal control procedures for the conversion cycle</vt:lpstr>
      <vt:lpstr>2. General Ledger/Financial Reporting System (GL/FRS)</vt:lpstr>
      <vt:lpstr>3. Management Reporting System (MRS)</vt:lpstr>
      <vt:lpstr>ENTERPRISE RESOURCE PLANNING SYSTEMS</vt:lpstr>
      <vt:lpstr>C. Enterprise Resource Planning</vt:lpstr>
      <vt:lpstr>PowerPoint Presentation</vt:lpstr>
      <vt:lpstr>Traditional Organisational IS</vt:lpstr>
      <vt:lpstr>Some Shortcomings Of The TIS</vt:lpstr>
      <vt:lpstr>ERP System</vt:lpstr>
      <vt:lpstr>ERP Positives </vt:lpstr>
      <vt:lpstr>Online Transaction Processing (OLTP)</vt:lpstr>
      <vt:lpstr>Online Analytical Processing (OLAP)</vt:lpstr>
      <vt:lpstr>Data Warehouse</vt:lpstr>
      <vt:lpstr>Bolt-on Software</vt:lpstr>
      <vt:lpstr>Examples of ERP Systems</vt:lpstr>
      <vt:lpstr>ERP Associated Risks </vt:lpstr>
      <vt:lpstr>PowerPoint Presentation</vt:lpstr>
      <vt:lpstr>PowerPoint Presentation</vt:lpstr>
      <vt:lpstr>PowerPoint Presentation</vt:lpstr>
      <vt:lpstr>PowerPoint Presentation</vt:lpstr>
      <vt:lpstr>PowerPoint Presentation</vt:lpstr>
      <vt:lpstr>10 Biggest ERP Software Failures of 2011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Areas Of ERP Failures</vt:lpstr>
      <vt:lpstr>What Appears to be ERP Failure</vt:lpstr>
      <vt:lpstr>PowerPoint Presentation</vt:lpstr>
      <vt:lpstr>Causes Of ERP’s Failure</vt:lpstr>
      <vt:lpstr>An example</vt:lpstr>
      <vt:lpstr>2. Lack of commitment from management: </vt:lpstr>
      <vt:lpstr>PowerPoint Presentation</vt:lpstr>
      <vt:lpstr>3. Inadequate Training </vt:lpstr>
      <vt:lpstr>PowerPoint Presentation</vt:lpstr>
      <vt:lpstr>4. Improper package selection </vt:lpstr>
      <vt:lpstr> 5. Miscalculations &amp; Expectations  </vt:lpstr>
      <vt:lpstr> 6. Incompatibility with business processes  </vt:lpstr>
      <vt:lpstr>Generally ..</vt:lpstr>
      <vt:lpstr>Reluctance to Change as a Cause of ERP Failure </vt:lpstr>
      <vt:lpstr>PowerPoint Presentation</vt:lpstr>
      <vt:lpstr> Changes in employee attitude</vt:lpstr>
      <vt:lpstr>PowerPoint Presentation</vt:lpstr>
      <vt:lpstr>PowerPoint Presentation</vt:lpstr>
      <vt:lpstr> Changes to Business processes </vt:lpstr>
      <vt:lpstr>PowerPoint Presentation</vt:lpstr>
      <vt:lpstr>HP - ERP System Functionality Testing</vt:lpstr>
      <vt:lpstr>1: Initiate planning and gather requirements.</vt:lpstr>
      <vt:lpstr>PowerPoint Presentation</vt:lpstr>
      <vt:lpstr>2: Define Test Goals And Select Appropriate Tests</vt:lpstr>
      <vt:lpstr>PowerPoint Presentation</vt:lpstr>
      <vt:lpstr>PowerPoint Presentation</vt:lpstr>
      <vt:lpstr>PowerPoint Presentation</vt:lpstr>
      <vt:lpstr>PowerPoint Presentation</vt:lpstr>
      <vt:lpstr>3: Define Objectives To Meet Testing Goals</vt:lpstr>
      <vt:lpstr>4: Identify Functionality Test Cases</vt:lpstr>
      <vt:lpstr>PowerPoint Presentation</vt:lpstr>
      <vt:lpstr>5: Document Key Business Processes.</vt:lpstr>
      <vt:lpstr>6: Develop Modular Test Components</vt:lpstr>
      <vt:lpstr>7: Set Up A Test Lab</vt:lpstr>
      <vt:lpstr>8: Understand And Leverage The “Smoke Test.”</vt:lpstr>
      <vt:lpstr>PowerPoint Presentation</vt:lpstr>
      <vt:lpstr>9: Execute Regression Tests</vt:lpstr>
      <vt:lpstr>10: Analyze Defects And Create Test Reports</vt:lpstr>
      <vt:lpstr>BUSINESS PROCESS REENGINEERING</vt:lpstr>
      <vt:lpstr>Learning Objectives</vt:lpstr>
      <vt:lpstr>Learning Objectives</vt:lpstr>
      <vt:lpstr>BPR &amp; The Organization</vt:lpstr>
      <vt:lpstr>What is BPR?</vt:lpstr>
      <vt:lpstr>BPR is Not?</vt:lpstr>
      <vt:lpstr>BPR Versus Process Simplification</vt:lpstr>
      <vt:lpstr>BPR Versus Continuous Improvement</vt:lpstr>
      <vt:lpstr>What is a Process?</vt:lpstr>
      <vt:lpstr>What is a Business Process?</vt:lpstr>
      <vt:lpstr>Why Reengineer?</vt:lpstr>
      <vt:lpstr>Why Organizations Don’t Reengineer?</vt:lpstr>
      <vt:lpstr>Performance</vt:lpstr>
      <vt:lpstr>Origins</vt:lpstr>
      <vt:lpstr>Key Characteristics</vt:lpstr>
      <vt:lpstr>Systems Perspective</vt:lpstr>
      <vt:lpstr>Process Based</vt:lpstr>
      <vt:lpstr>Radical Improvement</vt:lpstr>
      <vt:lpstr>Integrated Change</vt:lpstr>
      <vt:lpstr>People-Centred</vt:lpstr>
      <vt:lpstr>Focus on End-Customers</vt:lpstr>
      <vt:lpstr>BPR Symbols</vt:lpstr>
      <vt:lpstr>Business Process Flowchart Symbols</vt:lpstr>
      <vt:lpstr>Business Process Flowchart Symbols</vt:lpstr>
      <vt:lpstr>Business Process Flowchart Symbols</vt:lpstr>
      <vt:lpstr>Data Flowchart Symbols</vt:lpstr>
      <vt:lpstr>Data Flowchart Symbols</vt:lpstr>
      <vt:lpstr>Rules For Data Symbols</vt:lpstr>
      <vt:lpstr>Rules For Data Symbols</vt:lpstr>
      <vt:lpstr>Rules For Data Symbols</vt:lpstr>
      <vt:lpstr>Rules For Data Symbols</vt:lpstr>
      <vt:lpstr>Version Management</vt:lpstr>
      <vt:lpstr>Implementing a BPR Strategy</vt:lpstr>
      <vt:lpstr>Key Steps</vt:lpstr>
      <vt:lpstr>Select the Process &amp; Appoint Process Team</vt:lpstr>
      <vt:lpstr>Select the Process</vt:lpstr>
      <vt:lpstr>Select the Process</vt:lpstr>
      <vt:lpstr>Appoint the Process Team</vt:lpstr>
      <vt:lpstr>Core Skills Required</vt:lpstr>
      <vt:lpstr>Core Skills Required</vt:lpstr>
      <vt:lpstr>Use of Consultants</vt:lpstr>
      <vt:lpstr>Understand the Current Process</vt:lpstr>
      <vt:lpstr>Understand the Current Process</vt:lpstr>
      <vt:lpstr>Understand the Current Process</vt:lpstr>
      <vt:lpstr>Develop &amp; Communicate Vision of Improved Process</vt:lpstr>
      <vt:lpstr>Develop &amp; Communicate Vision of Improved Process</vt:lpstr>
      <vt:lpstr>Identify Action Plan</vt:lpstr>
      <vt:lpstr>Identify Action Plan</vt:lpstr>
      <vt:lpstr>Identify Action Plan</vt:lpstr>
      <vt:lpstr>Execute Plan</vt:lpstr>
      <vt:lpstr>Information Technology &amp; BPR</vt:lpstr>
      <vt:lpstr>Benefits From IT</vt:lpstr>
      <vt:lpstr>Computer Aided BPR (CABPR)</vt:lpstr>
      <vt:lpstr>BPR Challenges</vt:lpstr>
      <vt:lpstr>Common Problems</vt:lpstr>
      <vt:lpstr>Common Problems with BPR</vt:lpstr>
      <vt:lpstr>Summary</vt:lpstr>
      <vt:lpstr>Summary</vt:lpstr>
      <vt:lpstr>INTERNAL CONTROLS IMPLICATIONS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MANAGEMENT &amp; MODELLING</vt:lpstr>
      <vt:lpstr>Project Management &amp; Modelling</vt:lpstr>
      <vt:lpstr>INTERNAL CONTROLS &amp; INFORMATION SYSTEMS AUDIT</vt:lpstr>
      <vt:lpstr>Internal Controls &amp; IS Audit</vt:lpstr>
      <vt:lpstr>IT, INTERNAL CONTROLS &amp; CORPORATE GOVERNANCE</vt:lpstr>
      <vt:lpstr>Sarbanes-Oxley Act (SOX) Of 2002</vt:lpstr>
      <vt:lpstr>Section 302</vt:lpstr>
      <vt:lpstr>Section 404</vt:lpstr>
      <vt:lpstr>PowerPoint Presentation</vt:lpstr>
      <vt:lpstr>Exercise  </vt:lpstr>
      <vt:lpstr>IT Controls &amp; Financial Reporting</vt:lpstr>
      <vt:lpstr>1. Application controls</vt:lpstr>
      <vt:lpstr>2. General Controls</vt:lpstr>
      <vt:lpstr>Audit implications of 302/404</vt:lpstr>
      <vt:lpstr>Attestation function</vt:lpstr>
      <vt:lpstr>PowerPoint Presentation</vt:lpstr>
      <vt:lpstr>IT Controls</vt:lpstr>
      <vt:lpstr>Section 404</vt:lpstr>
      <vt:lpstr>Section 302</vt:lpstr>
      <vt:lpstr>PowerPoint Presentation</vt:lpstr>
      <vt:lpstr>IT Governance Controls</vt:lpstr>
      <vt:lpstr>Organisational Structure Controls</vt:lpstr>
      <vt:lpstr>PowerPoint Presentation</vt:lpstr>
      <vt:lpstr>PowerPoint Presentation</vt:lpstr>
      <vt:lpstr>Centralised IT:Segregation of duties</vt:lpstr>
      <vt:lpstr>PowerPoint Presentation</vt:lpstr>
      <vt:lpstr>PowerPoint Presentation</vt:lpstr>
      <vt:lpstr>PowerPoint Presentation</vt:lpstr>
      <vt:lpstr>PowerPoint Presentation</vt:lpstr>
      <vt:lpstr>PowerPoint Presentation</vt:lpstr>
      <vt:lpstr>PowerPoint Presentation</vt:lpstr>
      <vt:lpstr>Distributed IT</vt:lpstr>
      <vt:lpstr>PowerPoint Presentation</vt:lpstr>
      <vt:lpstr>Striking a balance</vt:lpstr>
      <vt:lpstr>PowerPoint Presentation</vt:lpstr>
      <vt:lpstr>Org. Structure Audit Objective</vt:lpstr>
      <vt:lpstr>Org. Structure Audit Procedures</vt:lpstr>
      <vt:lpstr>Computer centre security &amp; controls</vt:lpstr>
      <vt:lpstr>Computer centre security audit objectives</vt:lpstr>
      <vt:lpstr>Physical security controls audit procedures</vt:lpstr>
      <vt:lpstr>Tests of fault tolerance controls</vt:lpstr>
      <vt:lpstr>Ethics &amp; Corporate Governance</vt:lpstr>
      <vt:lpstr>Conclusion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dc:title>
  <cp:lastModifiedBy>admin</cp:lastModifiedBy>
  <cp:revision>3</cp:revision>
  <dcterms:modified xsi:type="dcterms:W3CDTF">2022-02-11T21:22:36Z</dcterms:modified>
</cp:coreProperties>
</file>