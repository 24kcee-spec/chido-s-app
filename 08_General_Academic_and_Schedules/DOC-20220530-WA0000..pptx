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5/30/2022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96DFF08F-DC6B-4601-B491-B0F83F6DD2DA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5/30/2022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W" dirty="0"/>
              <a:t>THIN CAPITALISATION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22376"/>
            <a:ext cx="9144000" cy="1309255"/>
          </a:xfrm>
        </p:spPr>
        <p:txBody>
          <a:bodyPr>
            <a:normAutofit lnSpcReduction="10000"/>
          </a:bodyPr>
          <a:lstStyle/>
          <a:p>
            <a:r>
              <a:rPr lang="en-ZW" dirty="0"/>
              <a:t>‘</a:t>
            </a:r>
            <a:r>
              <a:rPr lang="en-ZW" sz="3200" dirty="0"/>
              <a:t>THIN CAPITALISATION’ REFERS TO THE SITUATION IN WHICH A COMPANY IS FINANCED THROUGH A RELATIVELY HIGH LEVEL OF DEBT TO EQUITY</a:t>
            </a:r>
            <a:r>
              <a:rPr lang="en-ZW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842656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ADVANTAGE OF THIN CAPITALISATION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W" sz="3200" dirty="0"/>
              <a:t>THE HIGHERTHE  LEVEL OF DEBT…AND THUS INTEREST IT PAYS, THE LOWER WILL BE ITS TAXABLE PROFIT</a:t>
            </a:r>
          </a:p>
        </p:txBody>
      </p:sp>
    </p:spTree>
    <p:extLst>
      <p:ext uri="{BB962C8B-B14F-4D97-AF65-F5344CB8AC3E}">
        <p14:creationId xmlns:p14="http://schemas.microsoft.com/office/powerpoint/2010/main" val="1495133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THIN CAPITALISATION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/>
              <a:t>PURPOSE: TO PUT A CAP ON AMOUNT OF INTEREST THAT CAN BE DEDUCTED IN COMPUTING TAXABLE INCOME- HENCE PREVENT CROSS BORDER SHIFTING OF PROFIT THROUGH EXCESSIVE DEBT</a:t>
            </a:r>
          </a:p>
          <a:p>
            <a:r>
              <a:rPr lang="en-ZW" dirty="0"/>
              <a:t>TWO APPROACHES IN THIN CAPITALISATION RULES:</a:t>
            </a:r>
          </a:p>
          <a:p>
            <a:endParaRPr lang="en-ZW" dirty="0"/>
          </a:p>
          <a:p>
            <a:r>
              <a:rPr lang="en-ZW" dirty="0"/>
              <a:t>a)  </a:t>
            </a:r>
            <a:r>
              <a:rPr lang="en-ZW" b="1" u="sng" dirty="0"/>
              <a:t>determining a maximum amount of debt  </a:t>
            </a:r>
            <a:r>
              <a:rPr lang="en-ZW" dirty="0"/>
              <a:t>on which deductible interest is available</a:t>
            </a:r>
          </a:p>
          <a:p>
            <a:r>
              <a:rPr lang="en-ZW" dirty="0"/>
              <a:t>Interest on debt above the threshold not deductible</a:t>
            </a:r>
          </a:p>
          <a:p>
            <a:r>
              <a:rPr lang="en-ZW" dirty="0"/>
              <a:t>b) </a:t>
            </a:r>
            <a:r>
              <a:rPr lang="en-ZW" b="1" u="sng" dirty="0"/>
              <a:t>Determining maximum amount of interest </a:t>
            </a:r>
            <a:r>
              <a:rPr lang="en-ZW" dirty="0"/>
              <a:t>that may be deducted, by reference to the ratio of interest payable to another variable</a:t>
            </a:r>
          </a:p>
        </p:txBody>
      </p:sp>
    </p:spTree>
    <p:extLst>
      <p:ext uri="{BB962C8B-B14F-4D97-AF65-F5344CB8AC3E}">
        <p14:creationId xmlns:p14="http://schemas.microsoft.com/office/powerpoint/2010/main" val="656184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LIMITING AMOUNT OF DEBT: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/>
              <a:t>-Amount of debt a borrower </a:t>
            </a:r>
            <a:r>
              <a:rPr lang="en-ZW" b="1" u="sng" dirty="0"/>
              <a:t>could borrow </a:t>
            </a:r>
            <a:r>
              <a:rPr lang="en-ZW" dirty="0"/>
              <a:t>from an ‘arms’ length’ lender</a:t>
            </a:r>
          </a:p>
          <a:p>
            <a:r>
              <a:rPr lang="en-ZW" dirty="0"/>
              <a:t>Amount of debt could have borrowed from an arms length lender</a:t>
            </a:r>
          </a:p>
          <a:p>
            <a:r>
              <a:rPr lang="en-ZW" dirty="0"/>
              <a:t>This requires credit analysis to determine company’s ‘</a:t>
            </a:r>
            <a:r>
              <a:rPr lang="en-ZW" b="1" u="sng" dirty="0"/>
              <a:t>borrowing capacity’</a:t>
            </a:r>
          </a:p>
          <a:p>
            <a:r>
              <a:rPr lang="en-ZW" b="1" u="sng" dirty="0"/>
              <a:t>See advantages and disadvantages- OECD Draft</a:t>
            </a:r>
          </a:p>
          <a:p>
            <a:endParaRPr lang="en-ZW" dirty="0"/>
          </a:p>
        </p:txBody>
      </p:sp>
    </p:spTree>
    <p:extLst>
      <p:ext uri="{BB962C8B-B14F-4D97-AF65-F5344CB8AC3E}">
        <p14:creationId xmlns:p14="http://schemas.microsoft.com/office/powerpoint/2010/main" val="307121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LIMITING DEBT: THE RATIO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W" sz="3200" dirty="0"/>
              <a:t>Use of </a:t>
            </a:r>
            <a:r>
              <a:rPr lang="en-ZW" sz="3200" dirty="0" err="1"/>
              <a:t>eg</a:t>
            </a:r>
            <a:r>
              <a:rPr lang="en-ZW" sz="3200" dirty="0"/>
              <a:t>, debt to equity ratio</a:t>
            </a:r>
          </a:p>
          <a:p>
            <a:r>
              <a:rPr lang="en-ZW" sz="3200" dirty="0" err="1"/>
              <a:t>Eg</a:t>
            </a:r>
            <a:r>
              <a:rPr lang="en-ZW" sz="3200" dirty="0"/>
              <a:t> interest payments allowed up to 2 times amount of equity invested in the group affiliate</a:t>
            </a:r>
          </a:p>
          <a:p>
            <a:r>
              <a:rPr lang="en-ZW" sz="3200" dirty="0"/>
              <a:t>Advantage- provides certainty, simple to implement</a:t>
            </a:r>
          </a:p>
          <a:p>
            <a:r>
              <a:rPr lang="en-ZW" sz="3200" dirty="0"/>
              <a:t>Disadvantage- not always take specific market situations/ industries into account</a:t>
            </a:r>
          </a:p>
          <a:p>
            <a:r>
              <a:rPr lang="en-ZW" sz="3200" dirty="0"/>
              <a:t>No agreed international standard of an appropriate ratio</a:t>
            </a:r>
          </a:p>
        </p:txBody>
      </p:sp>
    </p:spTree>
    <p:extLst>
      <p:ext uri="{BB962C8B-B14F-4D97-AF65-F5344CB8AC3E}">
        <p14:creationId xmlns:p14="http://schemas.microsoft.com/office/powerpoint/2010/main" val="4222504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ZW" dirty="0"/>
              <a:t>Company X, a corporation resident in Country A, establishes group affiliate Company Yin Country B with an investment of 10 in equity capital and a loan of 90 from Company X at a 10% interest rate.</a:t>
            </a:r>
          </a:p>
          <a:p>
            <a:r>
              <a:rPr lang="en-ZW" dirty="0"/>
              <a:t>Company Y generates </a:t>
            </a:r>
            <a:r>
              <a:rPr lang="en-ZW" dirty="0" err="1"/>
              <a:t>pretax</a:t>
            </a:r>
            <a:r>
              <a:rPr lang="en-ZW" dirty="0"/>
              <a:t> income of 15 for Year 20XX, and must pay interest to Company X at 10% </a:t>
            </a:r>
            <a:r>
              <a:rPr lang="en-ZW" dirty="0" err="1"/>
              <a:t>ie</a:t>
            </a:r>
            <a:r>
              <a:rPr lang="en-ZW" dirty="0"/>
              <a:t> a total interest payment of 9.</a:t>
            </a:r>
          </a:p>
          <a:p>
            <a:r>
              <a:rPr lang="en-ZW" dirty="0"/>
              <a:t>Under Country A’s thin capitalisation rules, deduction for payments of interest is  limited by reference to a debt to equity ratio of 2:1. That is, interest on any debt .that is in excess of 2x the level of equity will not be allowable for tax purposes.</a:t>
            </a:r>
          </a:p>
          <a:p>
            <a:r>
              <a:rPr lang="en-ZW" dirty="0"/>
              <a:t>On a simple application of the rules, then, interest on debt in excess of 2x the level of equity will be denied. That is, debt in excess of 20 (2 x 10). In such a case, interest on debt of 70 (90-20) will be disallowed.- 70x 10%= 7</a:t>
            </a:r>
          </a:p>
          <a:p>
            <a:r>
              <a:rPr lang="en-ZW" dirty="0"/>
              <a:t>Interest of 2 is deductible</a:t>
            </a:r>
          </a:p>
        </p:txBody>
      </p:sp>
    </p:spTree>
    <p:extLst>
      <p:ext uri="{BB962C8B-B14F-4D97-AF65-F5344CB8AC3E}">
        <p14:creationId xmlns:p14="http://schemas.microsoft.com/office/powerpoint/2010/main" val="50585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Zimbabwean situation s16.1.q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/>
              <a:t>Apply the above example to a Zimbabwean branch of a foreign based holding company</a:t>
            </a:r>
          </a:p>
        </p:txBody>
      </p:sp>
    </p:spTree>
    <p:extLst>
      <p:ext uri="{BB962C8B-B14F-4D97-AF65-F5344CB8AC3E}">
        <p14:creationId xmlns:p14="http://schemas.microsoft.com/office/powerpoint/2010/main" val="3478923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Supplementing the ratio approach with a ‘would have’ provision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/>
              <a:t>This considers whether there is a commercial need for all or part of a debt:</a:t>
            </a:r>
          </a:p>
          <a:p>
            <a:r>
              <a:rPr lang="en-ZW" dirty="0"/>
              <a:t>A COMPANY LOCATED IN A JURISDICTION THAT EMPLOYS A RATIO APPROACH OF 2: 1 DEBT-EQUITY RATIO IS CAPITALISED ON A 1:1 BASIS. IN ORDER TO MAXIMISE ITS DEDUCTIBLE INTEREST, IT MAY DECIDE TO INCREASE ITS DEBT TO ACHIEVE  A 2:1 RATIO. IF THE ABOVE APPROACH IS USED, the TAX ADMINISTRATION WILL INVESTIGATE THE EXTENT TO WHICH THERE WAS A COMMERCIAL NEED FOR THE ADDITIONAL DEBT. IF SHOWN THAT IT WAS PURELY TO GAIN A TAX ADVANTAGE, THE INTEREST ON THE ADDITIONAL DEBT WOULD BE DISALLOWED</a:t>
            </a:r>
          </a:p>
        </p:txBody>
      </p:sp>
    </p:spTree>
    <p:extLst>
      <p:ext uri="{BB962C8B-B14F-4D97-AF65-F5344CB8AC3E}">
        <p14:creationId xmlns:p14="http://schemas.microsoft.com/office/powerpoint/2010/main" val="957581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EARNINGS STRIPPING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/>
              <a:t>RATIO BASED ON AMOUNT OF INTEREST VIS A VIS AMOUNT OF INCOME OUT OF WHICH IT IS PAID- </a:t>
            </a:r>
            <a:r>
              <a:rPr lang="en-ZW"/>
              <a:t>EG INTEREST </a:t>
            </a:r>
            <a:r>
              <a:rPr lang="en-ZW" dirty="0"/>
              <a:t>TO EBITDA.</a:t>
            </a:r>
          </a:p>
          <a:p>
            <a:r>
              <a:rPr lang="en-ZW" dirty="0"/>
              <a:t>Germany and Italy cap deductibility of interest to 30% of EBITDA</a:t>
            </a:r>
          </a:p>
        </p:txBody>
      </p:sp>
    </p:spTree>
    <p:extLst>
      <p:ext uri="{BB962C8B-B14F-4D97-AF65-F5344CB8AC3E}">
        <p14:creationId xmlns:p14="http://schemas.microsoft.com/office/powerpoint/2010/main" val="1669403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123</TotalTime>
  <Words>594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Banded</vt:lpstr>
      <vt:lpstr>THIN CAPITALISATION</vt:lpstr>
      <vt:lpstr>ADVANTAGE OF THIN CAPITALISATION</vt:lpstr>
      <vt:lpstr>THIN CAPITALISATION RULES</vt:lpstr>
      <vt:lpstr>LIMITING AMOUNT OF DEBT:</vt:lpstr>
      <vt:lpstr>LIMITING DEBT: THE RATIO APPROACH</vt:lpstr>
      <vt:lpstr>example</vt:lpstr>
      <vt:lpstr>Zimbabwean situation s16.1.q</vt:lpstr>
      <vt:lpstr>Supplementing the ratio approach with a ‘would have’ provision</vt:lpstr>
      <vt:lpstr>EARNINGS STRIPPING APPROACH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 CAPITALISATION</dc:title>
  <dc:creator>Fortune.Senamile Nkomo</dc:creator>
  <cp:lastModifiedBy>Fortune Senamile Nkomo</cp:lastModifiedBy>
  <cp:revision>11</cp:revision>
  <dcterms:created xsi:type="dcterms:W3CDTF">2022-05-29T19:43:29Z</dcterms:created>
  <dcterms:modified xsi:type="dcterms:W3CDTF">2022-05-29T22:10:04Z</dcterms:modified>
</cp:coreProperties>
</file>