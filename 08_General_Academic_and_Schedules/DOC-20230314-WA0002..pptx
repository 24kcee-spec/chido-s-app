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5" Type="http://schemas.openxmlformats.org/officeDocument/2006/relationships/slide" Target="slides/slide4.xml" /><Relationship Id="rId10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3/14/2023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3/14/2023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3/14/2023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3/14/2023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3/14/2023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3/14/2023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W" dirty="0"/>
              <a:t>Deceased estates and will trusts-solutions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1180102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W" dirty="0"/>
              <a:t>Example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W" dirty="0"/>
              <a:t>a) Son liable(ascertained beneficiary) on the rentals from the block of flats from day after death of Mr A</a:t>
            </a:r>
          </a:p>
          <a:p>
            <a:r>
              <a:rPr lang="en-ZW" dirty="0"/>
              <a:t>b) Estate taxable on interest from day after </a:t>
            </a:r>
            <a:r>
              <a:rPr lang="en-ZW" dirty="0" err="1"/>
              <a:t>dod</a:t>
            </a:r>
            <a:r>
              <a:rPr lang="en-ZW" dirty="0"/>
              <a:t> to date of ascertainment</a:t>
            </a:r>
          </a:p>
          <a:p>
            <a:r>
              <a:rPr lang="en-ZW" dirty="0"/>
              <a:t>c) Son and daughter taxable on interest- date of ascertainment to 31 December.</a:t>
            </a:r>
          </a:p>
          <a:p>
            <a:r>
              <a:rPr lang="en-ZW" dirty="0"/>
              <a:t>d) Estate taxable on commission</a:t>
            </a:r>
          </a:p>
          <a:p>
            <a:r>
              <a:rPr lang="en-ZW" dirty="0"/>
              <a:t>e) Estate taxable on any other income from assets in residue from day after </a:t>
            </a:r>
            <a:r>
              <a:rPr lang="en-ZW" dirty="0" err="1"/>
              <a:t>dod</a:t>
            </a:r>
            <a:r>
              <a:rPr lang="en-ZW" dirty="0"/>
              <a:t> to </a:t>
            </a:r>
            <a:r>
              <a:rPr lang="en-ZW" dirty="0" err="1"/>
              <a:t>ascertainmemt</a:t>
            </a:r>
            <a:endParaRPr lang="en-ZW" dirty="0"/>
          </a:p>
          <a:p>
            <a:r>
              <a:rPr lang="en-ZW" dirty="0"/>
              <a:t>F) Sister not taxable on anything ($ 3 000 is capital)</a:t>
            </a:r>
          </a:p>
        </p:txBody>
      </p:sp>
    </p:spTree>
    <p:extLst>
      <p:ext uri="{BB962C8B-B14F-4D97-AF65-F5344CB8AC3E}">
        <p14:creationId xmlns:p14="http://schemas.microsoft.com/office/powerpoint/2010/main" val="1468705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W" dirty="0"/>
              <a:t>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W" dirty="0"/>
              <a:t>Widow taxable on farming income from day after </a:t>
            </a:r>
            <a:r>
              <a:rPr lang="en-ZW" dirty="0" err="1"/>
              <a:t>dod</a:t>
            </a:r>
            <a:r>
              <a:rPr lang="en-ZW" dirty="0"/>
              <a:t> to 31 December, x</a:t>
            </a:r>
          </a:p>
          <a:p>
            <a:r>
              <a:rPr lang="en-ZW" dirty="0"/>
              <a:t>Estate liable on interest from day after date of death to date of ascertainment</a:t>
            </a:r>
          </a:p>
          <a:p>
            <a:r>
              <a:rPr lang="en-ZW" dirty="0"/>
              <a:t>Son liable on interest from day after date of ascertainment to end of tax year</a:t>
            </a:r>
          </a:p>
        </p:txBody>
      </p:sp>
    </p:spTree>
    <p:extLst>
      <p:ext uri="{BB962C8B-B14F-4D97-AF65-F5344CB8AC3E}">
        <p14:creationId xmlns:p14="http://schemas.microsoft.com/office/powerpoint/2010/main" val="2644630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W" dirty="0"/>
              <a:t>Example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W" dirty="0"/>
              <a:t>a) Mr X is taxable on $1 000 annual, being an annuity</a:t>
            </a:r>
          </a:p>
          <a:p>
            <a:r>
              <a:rPr lang="en-ZW" dirty="0"/>
              <a:t>b) The son is liable on his 50% share of the remaining taxable income, and the trust 50%, determined as follows:</a:t>
            </a:r>
          </a:p>
          <a:p>
            <a:r>
              <a:rPr lang="en-ZW" dirty="0"/>
              <a:t>Total net accruals			$15 000</a:t>
            </a:r>
          </a:p>
          <a:p>
            <a:r>
              <a:rPr lang="en-ZW" dirty="0"/>
              <a:t>Less: Exempt: </a:t>
            </a:r>
            <a:r>
              <a:rPr lang="en-ZW" dirty="0" err="1"/>
              <a:t>Zim</a:t>
            </a:r>
            <a:r>
              <a:rPr lang="en-ZW" dirty="0"/>
              <a:t> </a:t>
            </a:r>
            <a:r>
              <a:rPr lang="en-ZW" dirty="0" err="1"/>
              <a:t>divs</a:t>
            </a:r>
            <a:r>
              <a:rPr lang="en-ZW" dirty="0"/>
              <a:t>		$3 000</a:t>
            </a:r>
          </a:p>
          <a:p>
            <a:r>
              <a:rPr lang="en-ZW" dirty="0"/>
              <a:t>Non taxable: foreign rents	</a:t>
            </a:r>
            <a:r>
              <a:rPr lang="en-ZW" u="sng" dirty="0"/>
              <a:t>$6 000       $ 9 000</a:t>
            </a:r>
          </a:p>
          <a:p>
            <a:pPr marL="3657600" lvl="8" indent="0">
              <a:buNone/>
            </a:pPr>
            <a:r>
              <a:rPr lang="en-ZW" sz="2000" dirty="0"/>
              <a:t>                                      6 000</a:t>
            </a:r>
          </a:p>
          <a:p>
            <a:pPr marL="3657600" lvl="8" indent="0">
              <a:buNone/>
            </a:pPr>
            <a:r>
              <a:rPr lang="en-ZW" sz="2000" u="sng" dirty="0"/>
              <a:t>Proportion: annuity</a:t>
            </a:r>
          </a:p>
          <a:p>
            <a:pPr marL="3657600" lvl="8" indent="0">
              <a:buNone/>
            </a:pPr>
            <a:r>
              <a:rPr lang="en-ZW" sz="2000" u="sng" dirty="0"/>
              <a:t>6 000/15 000*1 000</a:t>
            </a:r>
          </a:p>
          <a:p>
            <a:pPr marL="3657600" lvl="8" indent="0">
              <a:buNone/>
            </a:pPr>
            <a:r>
              <a:rPr lang="en-ZW" sz="2000" dirty="0"/>
              <a:t>= $400</a:t>
            </a:r>
          </a:p>
          <a:p>
            <a:pPr marL="3657600" lvl="8" indent="0">
              <a:buNone/>
            </a:pPr>
            <a:r>
              <a:rPr lang="en-ZW" sz="2000" dirty="0"/>
              <a:t>$ 5 600</a:t>
            </a:r>
          </a:p>
          <a:p>
            <a:pPr marL="3657600" lvl="8" indent="0">
              <a:buNone/>
            </a:pPr>
            <a:r>
              <a:rPr lang="en-ZW" sz="2000" dirty="0"/>
              <a:t>50%	$2 800</a:t>
            </a:r>
          </a:p>
          <a:p>
            <a:pPr marL="3657600" lvl="8" indent="0">
              <a:buNone/>
            </a:pPr>
            <a:r>
              <a:rPr lang="en-ZW" sz="2000" dirty="0"/>
              <a:t>Trust	$ 2 800</a:t>
            </a:r>
          </a:p>
        </p:txBody>
      </p:sp>
    </p:spTree>
    <p:extLst>
      <p:ext uri="{BB962C8B-B14F-4D97-AF65-F5344CB8AC3E}">
        <p14:creationId xmlns:p14="http://schemas.microsoft.com/office/powerpoint/2010/main" val="4214817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W" dirty="0"/>
              <a:t>Example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W" dirty="0"/>
              <a:t>The son is taxable on his distribution for maintenance and education-$1 300</a:t>
            </a:r>
          </a:p>
          <a:p>
            <a:r>
              <a:rPr lang="en-ZW" dirty="0"/>
              <a:t>Trust is taxable as follows:</a:t>
            </a:r>
          </a:p>
          <a:p>
            <a:r>
              <a:rPr lang="en-ZW" dirty="0"/>
              <a:t>Total net accruals		$3 800</a:t>
            </a:r>
          </a:p>
          <a:p>
            <a:r>
              <a:rPr lang="en-ZW" dirty="0" err="1"/>
              <a:t>Add:Alterations</a:t>
            </a:r>
            <a:r>
              <a:rPr lang="en-ZW" dirty="0"/>
              <a:t>(capital)		$100</a:t>
            </a:r>
          </a:p>
          <a:p>
            <a:pPr marL="3657600" lvl="8" indent="0">
              <a:buNone/>
            </a:pPr>
            <a:r>
              <a:rPr lang="en-ZW" sz="2000" dirty="0"/>
              <a:t>$ 3 900 </a:t>
            </a:r>
            <a:r>
              <a:rPr lang="en-ZW" sz="2000"/>
              <a:t>less distributed to son $1 300 =$ 2 600</a:t>
            </a:r>
          </a:p>
        </p:txBody>
      </p:sp>
    </p:spTree>
    <p:extLst>
      <p:ext uri="{BB962C8B-B14F-4D97-AF65-F5344CB8AC3E}">
        <p14:creationId xmlns:p14="http://schemas.microsoft.com/office/powerpoint/2010/main" val="2796861303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29</TotalTime>
  <Words>290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Frame</vt:lpstr>
      <vt:lpstr>Deceased estates and will trusts-solutions</vt:lpstr>
      <vt:lpstr>Example 1</vt:lpstr>
      <vt:lpstr>Example 2</vt:lpstr>
      <vt:lpstr>Example 3</vt:lpstr>
      <vt:lpstr>Example 4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Deceased estates and will trusts-solutions</dc:title>
  <dc:creator>Fortune.Senamile Nkomo</dc:creator>
  <cp:lastModifiedBy>Fortune Senamile Nkomo</cp:lastModifiedBy>
  <cp:revision>7</cp:revision>
  <dcterms:created xsi:type="dcterms:W3CDTF">2022-05-23T09:19:38Z</dcterms:created>
  <dcterms:modified xsi:type="dcterms:W3CDTF">2023-03-14T08:57:47Z</dcterms:modified>
</cp:coreProperties>
</file>