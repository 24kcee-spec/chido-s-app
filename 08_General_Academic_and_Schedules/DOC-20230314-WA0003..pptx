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viewProps" Target="viewProp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jp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US"/>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50000"/>
                  </a:schemeClr>
                </a:solidFill>
              </a:defRPr>
            </a:lvl1pPr>
          </a:lstStyle>
          <a:p>
            <a:fld id="{F7AFFB9B-9FB8-469E-96F9-4D32314110B6}" type="datetimeFigureOut">
              <a:rPr lang="en-US" dirty="0"/>
              <a:t>3/14/2023</a:t>
            </a:fld>
            <a:endParaRPr lang="en-US" dirty="0"/>
          </a:p>
        </p:txBody>
      </p:sp>
      <p:sp>
        <p:nvSpPr>
          <p:cNvPr id="5" name="Footer Placeholder 4"/>
          <p:cNvSpPr>
            <a:spLocks noGrp="1"/>
          </p:cNvSpPr>
          <p:nvPr>
            <p:ph type="ftr" sz="quarter" idx="11"/>
          </p:nvPr>
        </p:nvSpPr>
        <p:spPr>
          <a:xfrm rot="21420000">
            <a:off x="-5560" y="4883024"/>
            <a:ext cx="4047239" cy="1195538"/>
          </a:xfrm>
        </p:spPr>
        <p:txBody>
          <a:bodyPr vert="horz" lIns="91440" tIns="45720" rIns="91440" bIns="45720" rtlCol="0" anchor="ctr"/>
          <a:lstStyle>
            <a:lvl1pPr algn="r">
              <a:defRPr lang="en-US" sz="5400" dirty="0"/>
            </a:lvl1pPr>
          </a:lstStyle>
          <a:p>
            <a:endParaRPr lang="en-US" dirty="0"/>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6D22F896-40B5-4ADD-8801-0D06FADFA095}" type="slidenum">
              <a:rPr lang="en-US" dirty="0"/>
              <a:pPr/>
              <a:t>‹#›</a:t>
            </a:fld>
            <a:endParaRPr lang="en-US" dirty="0"/>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FBDC27-E420-4878-9EE6-7B9656D6442A}" type="datetimeFigureOut">
              <a:rPr lang="en-US" dirty="0"/>
              <a:t>3/14/2023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US"/>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F7F47CF-67C9-420C-80A5-E2069FF0C2DF}" type="datetimeFigureOut">
              <a:rPr lang="en-US" dirty="0"/>
              <a:t>3/14/2023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E22DC73-F065-42F5-A9F2-D90B2E42A0B3}" type="datetimeFigureOut">
              <a:rPr lang="en-US" dirty="0"/>
              <a:t>3/14/2023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6BEA702-9B29-41CC-9BCC-3DF8A0D379FE}" type="datetimeFigureOut">
              <a:rPr lang="en-US" dirty="0"/>
              <a:t>3/14/2023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649AC-CB8F-4FF1-9A34-5861C74DD0A7}" type="datetimeFigureOut">
              <a:rPr lang="en-US" dirty="0"/>
              <a:t>3/14/2023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C5CECA-2D3A-4680-9B49-752200DE467C}" type="datetimeFigureOut">
              <a:rPr lang="en-US" dirty="0"/>
              <a:t>3/14/2023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US"/>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0C3BFE2-83B7-4B0A-B9D3-AB28331082B3}" type="datetimeFigureOut">
              <a:rPr lang="en-US" dirty="0"/>
              <a:t>3/14/2023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2EF78E3-FDA3-4D28-AAA2-0B81F349A39D}" type="datetimeFigureOut">
              <a:rPr lang="en-US" dirty="0"/>
              <a:t>3/14/2023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41D2AC3-6A0B-4169-B1EA-E3AE8B351BDD}" type="datetimeFigureOut">
              <a:rPr lang="en-US" dirty="0"/>
              <a:t>3/14/2023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D4B9363-8B87-41B7-9F8E-64519CBB8F34}" type="datetimeFigureOut">
              <a:rPr lang="en-US" dirty="0"/>
              <a:t>3/14/2023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AEF5746-5284-4951-9F37-7AE924EDBCB7}" type="datetimeFigureOut">
              <a:rPr lang="en-US" dirty="0"/>
              <a:t>3/14/2023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2398B29-7265-4A65-A2A4-6703C057B7C1}" type="datetimeFigureOut">
              <a:rPr lang="en-US" dirty="0"/>
              <a:t>3/14/2023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28FBA082-94DF-4C4B-A041-6624924AB0A8}" type="datetimeFigureOut">
              <a:rPr lang="en-US" dirty="0"/>
              <a:t>3/14/2023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US"/>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B27686C4-3AB5-4E0C-86CA-FB108C350AA9}" type="datetimeFigureOut">
              <a:rPr lang="en-US" dirty="0"/>
              <a:t>3/14/2023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FF1211-4E0C-4AB3-B04F-585959BDAFE8}" type="datetimeFigureOut">
              <a:rPr lang="en-US" dirty="0"/>
              <a:t>3/14/2023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BDECAF-D3BE-4069-9C78-642ECCD01477}" type="datetimeFigureOut">
              <a:rPr lang="en-US" dirty="0"/>
              <a:t>3/14/2023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3.jp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50000"/>
                  </a:schemeClr>
                </a:solidFill>
              </a:defRPr>
            </a:lvl1pPr>
          </a:lstStyle>
          <a:p>
            <a:fld id="{C35BB1C6-BF8F-4481-8AB2-603A1C8A906A}" type="datetimeFigureOut">
              <a:rPr lang="en-US" dirty="0"/>
              <a:t>3/14/2023</a:t>
            </a:fld>
            <a:endParaRPr lang="en-US" dirty="0"/>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50000"/>
                  </a:schemeClr>
                </a:solidFill>
              </a:defRPr>
            </a:lvl1pPr>
          </a:lstStyle>
          <a:p>
            <a:endParaRPr lang="en-US" dirty="0"/>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50000"/>
                  </a:schemeClr>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DECEASED ESTATES AND WILL TRUSTS</a:t>
            </a:r>
            <a:endParaRPr lang="en-ZW" dirty="0"/>
          </a:p>
        </p:txBody>
      </p:sp>
      <p:sp>
        <p:nvSpPr>
          <p:cNvPr id="3" name="Subtitle 2"/>
          <p:cNvSpPr>
            <a:spLocks noGrp="1"/>
          </p:cNvSpPr>
          <p:nvPr>
            <p:ph type="subTitle" idx="1"/>
          </p:nvPr>
        </p:nvSpPr>
        <p:spPr/>
        <p:txBody>
          <a:bodyPr/>
          <a:lstStyle/>
          <a:p>
            <a:endParaRPr lang="en-ZW"/>
          </a:p>
        </p:txBody>
      </p:sp>
    </p:spTree>
    <p:extLst>
      <p:ext uri="{BB962C8B-B14F-4D97-AF65-F5344CB8AC3E}">
        <p14:creationId xmlns:p14="http://schemas.microsoft.com/office/powerpoint/2010/main" val="15463545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Who is liable to income accruing?</a:t>
            </a:r>
            <a:br>
              <a:rPr lang="en-GB" dirty="0"/>
            </a:br>
            <a:endParaRPr lang="en-ZW" dirty="0"/>
          </a:p>
        </p:txBody>
      </p:sp>
      <p:sp>
        <p:nvSpPr>
          <p:cNvPr id="3" name="Content Placeholder 2"/>
          <p:cNvSpPr>
            <a:spLocks noGrp="1"/>
          </p:cNvSpPr>
          <p:nvPr>
            <p:ph sz="quarter" idx="13"/>
          </p:nvPr>
        </p:nvSpPr>
        <p:spPr/>
        <p:txBody>
          <a:bodyPr/>
          <a:lstStyle/>
          <a:p>
            <a:r>
              <a:rPr lang="en-GB" dirty="0"/>
              <a:t>From 1 January to date of death:  the deceased</a:t>
            </a:r>
          </a:p>
          <a:p>
            <a:r>
              <a:rPr lang="en-GB" dirty="0"/>
              <a:t>Post death period: Not so simple- Could be</a:t>
            </a:r>
          </a:p>
          <a:p>
            <a:r>
              <a:rPr lang="en-GB" dirty="0"/>
              <a:t>- </a:t>
            </a:r>
            <a:r>
              <a:rPr lang="en-GB" dirty="0" err="1"/>
              <a:t>i</a:t>
            </a:r>
            <a:r>
              <a:rPr lang="en-GB" dirty="0"/>
              <a:t>) Beneficiaries of the estate</a:t>
            </a:r>
          </a:p>
          <a:p>
            <a:r>
              <a:rPr lang="en-GB" dirty="0"/>
              <a:t>Ii) The estate</a:t>
            </a:r>
          </a:p>
          <a:p>
            <a:r>
              <a:rPr lang="en-GB" dirty="0"/>
              <a:t>Iii) A trust created in terms of the deceased’s will</a:t>
            </a:r>
            <a:endParaRPr lang="en-ZW" dirty="0"/>
          </a:p>
        </p:txBody>
      </p:sp>
    </p:spTree>
    <p:extLst>
      <p:ext uri="{BB962C8B-B14F-4D97-AF65-F5344CB8AC3E}">
        <p14:creationId xmlns:p14="http://schemas.microsoft.com/office/powerpoint/2010/main" val="1414520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Who is taxable</a:t>
            </a:r>
            <a:endParaRPr lang="en-ZW" dirty="0"/>
          </a:p>
        </p:txBody>
      </p:sp>
      <p:sp>
        <p:nvSpPr>
          <p:cNvPr id="3" name="Content Placeholder 2"/>
          <p:cNvSpPr>
            <a:spLocks noGrp="1"/>
          </p:cNvSpPr>
          <p:nvPr>
            <p:ph sz="quarter" idx="13"/>
          </p:nvPr>
        </p:nvSpPr>
        <p:spPr/>
        <p:txBody>
          <a:bodyPr/>
          <a:lstStyle/>
          <a:p>
            <a:r>
              <a:rPr lang="en-GB" dirty="0"/>
              <a:t>A) Specific asset left to a specific individual</a:t>
            </a:r>
          </a:p>
          <a:p>
            <a:r>
              <a:rPr lang="en-GB" dirty="0" err="1"/>
              <a:t>Eg</a:t>
            </a:r>
            <a:r>
              <a:rPr lang="en-GB" dirty="0"/>
              <a:t>-’my building society deposit TO my son ‘s’- who is ‘an ascertained beneficiary‘- the son is taxable on income earned by that asset, from day after date of death</a:t>
            </a:r>
          </a:p>
          <a:p>
            <a:r>
              <a:rPr lang="en-GB" dirty="0"/>
              <a:t>‘</a:t>
            </a:r>
          </a:p>
          <a:p>
            <a:r>
              <a:rPr lang="en-GB" dirty="0"/>
              <a:t>‘</a:t>
            </a:r>
          </a:p>
          <a:p>
            <a:endParaRPr lang="en-GB" dirty="0"/>
          </a:p>
          <a:p>
            <a:endParaRPr lang="en-ZW" dirty="0"/>
          </a:p>
        </p:txBody>
      </p:sp>
    </p:spTree>
    <p:extLst>
      <p:ext uri="{BB962C8B-B14F-4D97-AF65-F5344CB8AC3E}">
        <p14:creationId xmlns:p14="http://schemas.microsoft.com/office/powerpoint/2010/main" val="1601730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Who is taxable: b</a:t>
            </a:r>
            <a:endParaRPr lang="en-ZW" dirty="0"/>
          </a:p>
        </p:txBody>
      </p:sp>
      <p:sp>
        <p:nvSpPr>
          <p:cNvPr id="3" name="Content Placeholder 2"/>
          <p:cNvSpPr>
            <a:spLocks noGrp="1"/>
          </p:cNvSpPr>
          <p:nvPr>
            <p:ph sz="quarter" idx="13"/>
          </p:nvPr>
        </p:nvSpPr>
        <p:spPr/>
        <p:txBody>
          <a:bodyPr/>
          <a:lstStyle/>
          <a:p>
            <a:r>
              <a:rPr lang="en-GB" dirty="0"/>
              <a:t>Where the will provides for a ‘residue” in an estate , the estate is taxable, on the income from the assets in residue, from day after date of death until the distribution</a:t>
            </a:r>
          </a:p>
          <a:p>
            <a:r>
              <a:rPr lang="en-GB" dirty="0"/>
              <a:t>Residue: </a:t>
            </a:r>
            <a:r>
              <a:rPr lang="en-GB" dirty="0" err="1"/>
              <a:t>eg</a:t>
            </a:r>
            <a:r>
              <a:rPr lang="en-GB" dirty="0"/>
              <a:t>, ‘my building society deposit to my son S  and the residue of my estate to my daughter ‘d”: the estate is initially taxable on any income produced by the assets in residue; the daughter is only taxable on income produced by such assets after distribution to her</a:t>
            </a:r>
          </a:p>
          <a:p>
            <a:endParaRPr lang="en-GB" dirty="0"/>
          </a:p>
          <a:p>
            <a:endParaRPr lang="en-GB" dirty="0"/>
          </a:p>
          <a:p>
            <a:endParaRPr lang="en-ZW" dirty="0"/>
          </a:p>
        </p:txBody>
      </p:sp>
    </p:spTree>
    <p:extLst>
      <p:ext uri="{BB962C8B-B14F-4D97-AF65-F5344CB8AC3E}">
        <p14:creationId xmlns:p14="http://schemas.microsoft.com/office/powerpoint/2010/main" val="47138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Who is taxable: c</a:t>
            </a:r>
            <a:endParaRPr lang="en-ZW" dirty="0"/>
          </a:p>
        </p:txBody>
      </p:sp>
      <p:sp>
        <p:nvSpPr>
          <p:cNvPr id="3" name="Content Placeholder 2"/>
          <p:cNvSpPr>
            <a:spLocks noGrp="1"/>
          </p:cNvSpPr>
          <p:nvPr>
            <p:ph sz="quarter" idx="13"/>
          </p:nvPr>
        </p:nvSpPr>
        <p:spPr/>
        <p:txBody>
          <a:bodyPr/>
          <a:lstStyle/>
          <a:p>
            <a:r>
              <a:rPr lang="en-GB" dirty="0"/>
              <a:t>Where the will does neither of the above but provides for the whole estate to go to a specific individual:</a:t>
            </a:r>
          </a:p>
          <a:p>
            <a:r>
              <a:rPr lang="en-GB" dirty="0"/>
              <a:t>Commissioner’s practice is to  tax the estate in the period prior to distribution and the beneficiary only thereafter</a:t>
            </a:r>
            <a:endParaRPr lang="en-ZW" dirty="0"/>
          </a:p>
        </p:txBody>
      </p:sp>
    </p:spTree>
    <p:extLst>
      <p:ext uri="{BB962C8B-B14F-4D97-AF65-F5344CB8AC3E}">
        <p14:creationId xmlns:p14="http://schemas.microsoft.com/office/powerpoint/2010/main" val="11839017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Case of a usufruct</a:t>
            </a:r>
            <a:endParaRPr lang="en-ZW" dirty="0"/>
          </a:p>
        </p:txBody>
      </p:sp>
      <p:sp>
        <p:nvSpPr>
          <p:cNvPr id="3" name="Content Placeholder 2"/>
          <p:cNvSpPr>
            <a:spLocks noGrp="1"/>
          </p:cNvSpPr>
          <p:nvPr>
            <p:ph sz="quarter" idx="13"/>
          </p:nvPr>
        </p:nvSpPr>
        <p:spPr/>
        <p:txBody>
          <a:bodyPr/>
          <a:lstStyle/>
          <a:p>
            <a:r>
              <a:rPr lang="en-GB" dirty="0"/>
              <a:t>-Giving a beneficiary a right to income but not the inheritance of an asset itself:</a:t>
            </a:r>
          </a:p>
          <a:p>
            <a:r>
              <a:rPr lang="en-GB" dirty="0"/>
              <a:t>- a father leaves an asset to his son but grants the widow a life usufruct:</a:t>
            </a:r>
          </a:p>
          <a:p>
            <a:r>
              <a:rPr lang="en-GB" dirty="0"/>
              <a:t>A) Asset specified:</a:t>
            </a:r>
          </a:p>
          <a:p>
            <a:r>
              <a:rPr lang="en-GB" dirty="0"/>
              <a:t>Asset specified: the ‘ascertained beneficiary’ is liable on the income immediately</a:t>
            </a:r>
          </a:p>
          <a:p>
            <a:r>
              <a:rPr lang="en-GB" dirty="0"/>
              <a:t>‘residue”: the estate is liable on the income until date of distribution, and the beneficiary only thereafter</a:t>
            </a:r>
            <a:endParaRPr lang="en-ZW" dirty="0"/>
          </a:p>
        </p:txBody>
      </p:sp>
    </p:spTree>
    <p:extLst>
      <p:ext uri="{BB962C8B-B14F-4D97-AF65-F5344CB8AC3E}">
        <p14:creationId xmlns:p14="http://schemas.microsoft.com/office/powerpoint/2010/main" val="428273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Usufruct: ‘the whole’</a:t>
            </a:r>
            <a:endParaRPr lang="en-ZW" dirty="0"/>
          </a:p>
        </p:txBody>
      </p:sp>
      <p:sp>
        <p:nvSpPr>
          <p:cNvPr id="3" name="Content Placeholder 2"/>
          <p:cNvSpPr>
            <a:spLocks noGrp="1"/>
          </p:cNvSpPr>
          <p:nvPr>
            <p:ph sz="quarter" idx="13"/>
          </p:nvPr>
        </p:nvSpPr>
        <p:spPr/>
        <p:txBody>
          <a:bodyPr/>
          <a:lstStyle/>
          <a:p>
            <a:r>
              <a:rPr lang="en-GB" dirty="0"/>
              <a:t>The </a:t>
            </a:r>
            <a:r>
              <a:rPr lang="en-GB" dirty="0" err="1"/>
              <a:t>usufructuary</a:t>
            </a:r>
            <a:r>
              <a:rPr lang="en-GB" dirty="0"/>
              <a:t> is generally liable immediately on the post death income</a:t>
            </a:r>
            <a:endParaRPr lang="en-ZW" dirty="0"/>
          </a:p>
        </p:txBody>
      </p:sp>
    </p:spTree>
    <p:extLst>
      <p:ext uri="{BB962C8B-B14F-4D97-AF65-F5344CB8AC3E}">
        <p14:creationId xmlns:p14="http://schemas.microsoft.com/office/powerpoint/2010/main" val="856593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Tp</a:t>
            </a:r>
            <a:r>
              <a:rPr lang="en-GB" dirty="0"/>
              <a:t> dies intestate:-without a will</a:t>
            </a:r>
            <a:endParaRPr lang="en-ZW" dirty="0"/>
          </a:p>
        </p:txBody>
      </p:sp>
      <p:sp>
        <p:nvSpPr>
          <p:cNvPr id="3" name="Content Placeholder 2"/>
          <p:cNvSpPr>
            <a:spLocks noGrp="1"/>
          </p:cNvSpPr>
          <p:nvPr>
            <p:ph sz="quarter" idx="13"/>
          </p:nvPr>
        </p:nvSpPr>
        <p:spPr/>
        <p:txBody>
          <a:bodyPr/>
          <a:lstStyle/>
          <a:p>
            <a:r>
              <a:rPr lang="en-GB" dirty="0"/>
              <a:t>Position same as for a residue under a will</a:t>
            </a:r>
            <a:endParaRPr lang="en-ZW" dirty="0"/>
          </a:p>
        </p:txBody>
      </p:sp>
    </p:spTree>
    <p:extLst>
      <p:ext uri="{BB962C8B-B14F-4D97-AF65-F5344CB8AC3E}">
        <p14:creationId xmlns:p14="http://schemas.microsoft.com/office/powerpoint/2010/main" val="1024036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W" dirty="0"/>
              <a:t>Married out of community of property</a:t>
            </a:r>
          </a:p>
        </p:txBody>
      </p:sp>
      <p:sp>
        <p:nvSpPr>
          <p:cNvPr id="3" name="Content Placeholder 2"/>
          <p:cNvSpPr>
            <a:spLocks noGrp="1"/>
          </p:cNvSpPr>
          <p:nvPr>
            <p:ph sz="quarter" idx="13"/>
          </p:nvPr>
        </p:nvSpPr>
        <p:spPr/>
        <p:txBody>
          <a:bodyPr/>
          <a:lstStyle/>
          <a:p>
            <a:r>
              <a:rPr lang="en-ZW" dirty="0"/>
              <a:t>Testator can only bequeath his/her own assets, not spouse’s</a:t>
            </a:r>
          </a:p>
        </p:txBody>
      </p:sp>
    </p:spTree>
    <p:extLst>
      <p:ext uri="{BB962C8B-B14F-4D97-AF65-F5344CB8AC3E}">
        <p14:creationId xmlns:p14="http://schemas.microsoft.com/office/powerpoint/2010/main" val="20299265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a:t>In community</a:t>
            </a:r>
          </a:p>
        </p:txBody>
      </p:sp>
      <p:sp>
        <p:nvSpPr>
          <p:cNvPr id="3" name="Content Placeholder 2"/>
          <p:cNvSpPr>
            <a:spLocks noGrp="1"/>
          </p:cNvSpPr>
          <p:nvPr>
            <p:ph sz="quarter" idx="13"/>
          </p:nvPr>
        </p:nvSpPr>
        <p:spPr/>
        <p:txBody>
          <a:bodyPr/>
          <a:lstStyle/>
          <a:p>
            <a:r>
              <a:rPr lang="en-ZW" dirty="0"/>
              <a:t>Only deceased’s half share falls into his/her estate</a:t>
            </a:r>
          </a:p>
          <a:p>
            <a:r>
              <a:rPr lang="en-ZW" dirty="0"/>
              <a:t>Income on the other half is that of surviving spouse</a:t>
            </a:r>
          </a:p>
        </p:txBody>
      </p:sp>
    </p:spTree>
    <p:extLst>
      <p:ext uri="{BB962C8B-B14F-4D97-AF65-F5344CB8AC3E}">
        <p14:creationId xmlns:p14="http://schemas.microsoft.com/office/powerpoint/2010/main" val="3903107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a:t>example</a:t>
            </a:r>
          </a:p>
        </p:txBody>
      </p:sp>
      <p:sp>
        <p:nvSpPr>
          <p:cNvPr id="3" name="Content Placeholder 2"/>
          <p:cNvSpPr>
            <a:spLocks noGrp="1"/>
          </p:cNvSpPr>
          <p:nvPr>
            <p:ph sz="quarter" idx="13"/>
          </p:nvPr>
        </p:nvSpPr>
        <p:spPr/>
        <p:txBody>
          <a:bodyPr/>
          <a:lstStyle/>
          <a:p>
            <a:r>
              <a:rPr lang="en-ZW" dirty="0"/>
              <a:t>Mr A died on 30 April x6.His will specifically bequeathed to his sister the sum of $3 000 and to his only son a block of flats .the rest of the estate was left to the testator’s son and daughter in equal shares</a:t>
            </a:r>
          </a:p>
          <a:p>
            <a:r>
              <a:rPr lang="en-ZW" dirty="0"/>
              <a:t>Among the assets forming the residue of the estate were certain  interest bearing investments. The executor of the estate awarded these investments to the son and daughter on 31 august x6</a:t>
            </a:r>
          </a:p>
          <a:p>
            <a:r>
              <a:rPr lang="en-ZW" dirty="0"/>
              <a:t>On 30 November, x6, the First and final liquidation account was confirmed by the master</a:t>
            </a:r>
          </a:p>
        </p:txBody>
      </p:sp>
    </p:spTree>
    <p:extLst>
      <p:ext uri="{BB962C8B-B14F-4D97-AF65-F5344CB8AC3E}">
        <p14:creationId xmlns:p14="http://schemas.microsoft.com/office/powerpoint/2010/main" val="4106871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a:t>Example 1</a:t>
            </a:r>
          </a:p>
        </p:txBody>
      </p:sp>
      <p:sp>
        <p:nvSpPr>
          <p:cNvPr id="3" name="Content Placeholder 2"/>
          <p:cNvSpPr>
            <a:spLocks noGrp="1"/>
          </p:cNvSpPr>
          <p:nvPr>
            <p:ph sz="quarter" idx="13"/>
          </p:nvPr>
        </p:nvSpPr>
        <p:spPr/>
        <p:txBody>
          <a:bodyPr/>
          <a:lstStyle/>
          <a:p>
            <a:r>
              <a:rPr lang="en-ZW" dirty="0"/>
              <a:t>Shown in this account was an amount of commission which accrued on 15 August, x6, under a contract for services rendered by a prior to his death</a:t>
            </a:r>
          </a:p>
          <a:p>
            <a:r>
              <a:rPr lang="en-ZW" dirty="0"/>
              <a:t>Who is assessable in respect of income accrued from day after date of death?</a:t>
            </a:r>
          </a:p>
        </p:txBody>
      </p:sp>
    </p:spTree>
    <p:extLst>
      <p:ext uri="{BB962C8B-B14F-4D97-AF65-F5344CB8AC3E}">
        <p14:creationId xmlns:p14="http://schemas.microsoft.com/office/powerpoint/2010/main" val="3664296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a:t>Example 2</a:t>
            </a:r>
          </a:p>
        </p:txBody>
      </p:sp>
      <p:sp>
        <p:nvSpPr>
          <p:cNvPr id="3" name="Content Placeholder 2"/>
          <p:cNvSpPr>
            <a:spLocks noGrp="1"/>
          </p:cNvSpPr>
          <p:nvPr>
            <p:ph sz="quarter" idx="13"/>
          </p:nvPr>
        </p:nvSpPr>
        <p:spPr/>
        <p:txBody>
          <a:bodyPr/>
          <a:lstStyle/>
          <a:p>
            <a:r>
              <a:rPr lang="en-ZW" dirty="0"/>
              <a:t>MR B DIED ON 30 JUNE, X6. IN TERMS OF HIS WILL HE BEQUETHED:</a:t>
            </a:r>
          </a:p>
          <a:p>
            <a:r>
              <a:rPr lang="en-ZW" dirty="0"/>
              <a:t>A) HIS FARM TO HIS SON, SUBJECT TO A LIFE USUFRUCT IN FAVOUR OF THE WIDOW</a:t>
            </a:r>
          </a:p>
          <a:p>
            <a:r>
              <a:rPr lang="en-ZW" dirty="0"/>
              <a:t>B) THE RESIDUE OF THE ESTATE, COMPRISING INTEREST-BEARING INVESTMENTS, TO HIS SON</a:t>
            </a:r>
          </a:p>
          <a:p>
            <a:r>
              <a:rPr lang="en-ZW" dirty="0"/>
              <a:t>THE DATE OF ASCERTAINMENT WAS 30 NOVEMBER, X6</a:t>
            </a:r>
          </a:p>
          <a:p>
            <a:r>
              <a:rPr lang="en-ZW" dirty="0"/>
              <a:t>IN WHOSE HANDS IS THE INCOME TAXABLE IN THE PERIOD I JULY, 6-31 DECEMBER, X6?</a:t>
            </a:r>
          </a:p>
        </p:txBody>
      </p:sp>
    </p:spTree>
    <p:extLst>
      <p:ext uri="{BB962C8B-B14F-4D97-AF65-F5344CB8AC3E}">
        <p14:creationId xmlns:p14="http://schemas.microsoft.com/office/powerpoint/2010/main" val="3878506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a:t>WILL TRUSTS</a:t>
            </a:r>
          </a:p>
        </p:txBody>
      </p:sp>
      <p:sp>
        <p:nvSpPr>
          <p:cNvPr id="3" name="Content Placeholder 2"/>
          <p:cNvSpPr>
            <a:spLocks noGrp="1"/>
          </p:cNvSpPr>
          <p:nvPr>
            <p:ph sz="quarter" idx="13"/>
          </p:nvPr>
        </p:nvSpPr>
        <p:spPr/>
        <p:txBody>
          <a:bodyPr/>
          <a:lstStyle/>
          <a:p>
            <a:r>
              <a:rPr lang="en-ZW" dirty="0"/>
              <a:t>BASIC POINT IS WHETHER ANY BENEFICIARY HAS A VESTED RIGHT TO INCOME</a:t>
            </a:r>
          </a:p>
          <a:p>
            <a:r>
              <a:rPr lang="en-ZW" dirty="0"/>
              <a:t>IF HE/SHE HAS, THEY WILL TO THAT EXTENT BE TAXABLE ON THE TRUST INCOME: ANY OTHER TRUST INCOME IS TAXABLE IN THE HANDS OF THE TRUST ITSELF</a:t>
            </a:r>
          </a:p>
        </p:txBody>
      </p:sp>
    </p:spTree>
    <p:extLst>
      <p:ext uri="{BB962C8B-B14F-4D97-AF65-F5344CB8AC3E}">
        <p14:creationId xmlns:p14="http://schemas.microsoft.com/office/powerpoint/2010/main" val="3931154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ZW" dirty="0"/>
              <a:t>VESTED RIGHT:</a:t>
            </a:r>
            <a:br>
              <a:rPr lang="en-ZW" dirty="0"/>
            </a:br>
            <a:endParaRPr lang="en-ZW" dirty="0"/>
          </a:p>
        </p:txBody>
      </p:sp>
      <p:sp>
        <p:nvSpPr>
          <p:cNvPr id="3" name="Content Placeholder 2"/>
          <p:cNvSpPr>
            <a:spLocks noGrp="1"/>
          </p:cNvSpPr>
          <p:nvPr>
            <p:ph sz="quarter" idx="13"/>
          </p:nvPr>
        </p:nvSpPr>
        <p:spPr>
          <a:xfrm>
            <a:off x="685801" y="2011144"/>
            <a:ext cx="10394707" cy="3311189"/>
          </a:xfrm>
        </p:spPr>
        <p:txBody>
          <a:bodyPr/>
          <a:lstStyle/>
          <a:p>
            <a:r>
              <a:rPr lang="en-ZW" dirty="0"/>
              <a:t>A CLEAR VESTED RIGHT: WHERE THE INCOME HAS TO BE PAID TO, OR ACCUMULATED FOR A BENEFICIARY, THE TRUSTEES HAVE NO DISCRETION IN THE MATTER:</a:t>
            </a:r>
          </a:p>
          <a:p>
            <a:r>
              <a:rPr lang="en-ZW" dirty="0">
                <a:solidFill>
                  <a:srgbClr val="FF0000"/>
                </a:solidFill>
              </a:rPr>
              <a:t>THE BENEFICIARY IS TAXABLE ON SUCH INCOME</a:t>
            </a:r>
          </a:p>
          <a:p>
            <a:r>
              <a:rPr lang="en-ZW" dirty="0"/>
              <a:t>CLEARLY NO VESTED RIGHT, IE, THE BENEFICIARY’S ENJOYMENT OF THE INCOME IS ENTIRELY AT THE DISCRETION OF THE TRUSTEE</a:t>
            </a:r>
            <a:r>
              <a:rPr lang="en-ZW" dirty="0">
                <a:solidFill>
                  <a:srgbClr val="FF0000"/>
                </a:solidFill>
              </a:rPr>
              <a:t>: THE TRUST IS TAXABLE ON ALL UNDISTRIBUTED INCOME</a:t>
            </a:r>
          </a:p>
          <a:p>
            <a:r>
              <a:rPr lang="en-ZW" dirty="0">
                <a:solidFill>
                  <a:srgbClr val="FF0000"/>
                </a:solidFill>
              </a:rPr>
              <a:t>THE BENEFICIARY IS TAXABLE ONLY ON DISTRIBUTIONS TO HIM/HERSELF</a:t>
            </a:r>
          </a:p>
        </p:txBody>
      </p:sp>
    </p:spTree>
    <p:extLst>
      <p:ext uri="{BB962C8B-B14F-4D97-AF65-F5344CB8AC3E}">
        <p14:creationId xmlns:p14="http://schemas.microsoft.com/office/powerpoint/2010/main" val="426969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a:t>WILL TRUST</a:t>
            </a:r>
          </a:p>
        </p:txBody>
      </p:sp>
      <p:sp>
        <p:nvSpPr>
          <p:cNvPr id="3" name="Content Placeholder 2"/>
          <p:cNvSpPr>
            <a:spLocks noGrp="1"/>
          </p:cNvSpPr>
          <p:nvPr>
            <p:ph sz="quarter" idx="13"/>
          </p:nvPr>
        </p:nvSpPr>
        <p:spPr/>
        <p:txBody>
          <a:bodyPr/>
          <a:lstStyle/>
          <a:p>
            <a:r>
              <a:rPr lang="en-ZW" dirty="0"/>
              <a:t>A VESTED RIGHT IE WHERE, ALTHOUGH THE TRUSTEE HAS A DISCRETION OVER THE AMOUNT DISTRIBUTED, ANY UNDISTRIBUTED AMOUNT IS NEVERTHELESS ACCUMULATED FOR THE BENEFICIARY: TAXABLE IS IN (</a:t>
            </a:r>
            <a:r>
              <a:rPr lang="en-ZW" dirty="0" err="1"/>
              <a:t>i</a:t>
            </a:r>
            <a:r>
              <a:rPr lang="en-ZW" dirty="0"/>
              <a:t>)</a:t>
            </a:r>
          </a:p>
          <a:p>
            <a:r>
              <a:rPr lang="en-ZW" dirty="0"/>
              <a:t>THE GENERAL RULE IS THAT THE TRUST INCOME RETAINS ITS IDENTITY – EG DIVIDENDS ETC IN THE HANDS OF THE BENEFICIARIES: THE ;’CONDUIT PIPE’ PRINCIPLE</a:t>
            </a:r>
          </a:p>
          <a:p>
            <a:r>
              <a:rPr lang="en-ZW" dirty="0"/>
              <a:t>ANNUITIES FORM THE EXCEPTION TO THIS RULE AND ARE TAXABLE REGARDLESS</a:t>
            </a:r>
          </a:p>
          <a:p>
            <a:r>
              <a:rPr lang="en-ZW" dirty="0"/>
              <a:t>S14.3 REFERS</a:t>
            </a:r>
          </a:p>
        </p:txBody>
      </p:sp>
    </p:spTree>
    <p:extLst>
      <p:ext uri="{BB962C8B-B14F-4D97-AF65-F5344CB8AC3E}">
        <p14:creationId xmlns:p14="http://schemas.microsoft.com/office/powerpoint/2010/main" val="34572229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a:t>EXAMPLE</a:t>
            </a:r>
          </a:p>
        </p:txBody>
      </p:sp>
      <p:sp>
        <p:nvSpPr>
          <p:cNvPr id="3" name="Content Placeholder 2"/>
          <p:cNvSpPr>
            <a:spLocks noGrp="1"/>
          </p:cNvSpPr>
          <p:nvPr>
            <p:ph sz="quarter" idx="13"/>
          </p:nvPr>
        </p:nvSpPr>
        <p:spPr/>
        <p:txBody>
          <a:bodyPr>
            <a:normAutofit lnSpcReduction="10000"/>
          </a:bodyPr>
          <a:lstStyle/>
          <a:p>
            <a:r>
              <a:rPr lang="en-ZW" dirty="0"/>
              <a:t>MR C DIED ON 30/6/X3 AND THE RESIDUE OF HIS ESTATE WAS LEFT UPON TRUST. THE RESIDUE WAS ASCERTAINED ON 3I DECEMBER, X3. THE TRUST ASSETS COMPRISED PROPERTY AND INVESTMENTS AND THE ACCOUNTS FOR THE YEAR ENDED 31 </a:t>
            </a:r>
            <a:r>
              <a:rPr lang="en-ZW"/>
              <a:t>DECEMBER X4 REFLECTED </a:t>
            </a:r>
            <a:r>
              <a:rPr lang="en-ZW" dirty="0"/>
              <a:t>THE FOLLOWING INCOME, NET AFTER DEDUCTING ALLOWABLE EXPENDITURE:</a:t>
            </a:r>
          </a:p>
          <a:p>
            <a:r>
              <a:rPr lang="en-ZW" dirty="0"/>
              <a:t>Zimbabwe dividends					3 000</a:t>
            </a:r>
          </a:p>
          <a:p>
            <a:r>
              <a:rPr lang="en-ZW" dirty="0"/>
              <a:t>Zimbabwe interest					5 000</a:t>
            </a:r>
          </a:p>
          <a:p>
            <a:r>
              <a:rPr lang="en-ZW" dirty="0"/>
              <a:t>Foreign rents						6 000</a:t>
            </a:r>
          </a:p>
          <a:p>
            <a:r>
              <a:rPr lang="en-ZW" dirty="0"/>
              <a:t>Foreign interest					1 000       TOTAL- 15 000</a:t>
            </a:r>
          </a:p>
        </p:txBody>
      </p:sp>
    </p:spTree>
    <p:extLst>
      <p:ext uri="{BB962C8B-B14F-4D97-AF65-F5344CB8AC3E}">
        <p14:creationId xmlns:p14="http://schemas.microsoft.com/office/powerpoint/2010/main" val="3736557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a:t>EXAMPLE</a:t>
            </a:r>
          </a:p>
        </p:txBody>
      </p:sp>
      <p:sp>
        <p:nvSpPr>
          <p:cNvPr id="3" name="Content Placeholder 2"/>
          <p:cNvSpPr>
            <a:spLocks noGrp="1"/>
          </p:cNvSpPr>
          <p:nvPr>
            <p:ph sz="quarter" idx="13"/>
          </p:nvPr>
        </p:nvSpPr>
        <p:spPr/>
        <p:txBody>
          <a:bodyPr/>
          <a:lstStyle/>
          <a:p>
            <a:r>
              <a:rPr lang="en-ZW" dirty="0"/>
              <a:t>MR Z WAS A ZIMBABWEAN RESIDENT AND HIS WILL WAS EXECUTED IN ZIMBABWE. THE WILL PROVIDED:</a:t>
            </a:r>
          </a:p>
          <a:p>
            <a:r>
              <a:rPr lang="en-ZW" dirty="0"/>
              <a:t>I) THAT X BE PAID 1 000 PER ANNUM OUT OF TRUST INCOME</a:t>
            </a:r>
          </a:p>
          <a:p>
            <a:r>
              <a:rPr lang="en-ZW" dirty="0"/>
              <a:t>II) THE TESTATOR’S SON, A ZIMBABWEAN RESIDENT, BE PAID 50% OF THE TRUST INCOME REMAINING AFTER PAYMENT OF THE ANNUITY</a:t>
            </a:r>
          </a:p>
          <a:p>
            <a:r>
              <a:rPr lang="en-ZW" dirty="0"/>
              <a:t>AFTER THE DEATH OF BOTH X AND THE SON THE TRUST CAPITAL AND ACCUMULATED INCOME BE PAID TO MR Y, OR SHOULD HE NOT SURVIVE, TO HIS CHILDREN IN EQUAL SHARES</a:t>
            </a:r>
          </a:p>
          <a:p>
            <a:r>
              <a:rPr lang="en-ZW" dirty="0"/>
              <a:t>WHO IS ASSESSABLE ON THE TRUST INCOME OF $ 15 000?</a:t>
            </a:r>
          </a:p>
        </p:txBody>
      </p:sp>
    </p:spTree>
    <p:extLst>
      <p:ext uri="{BB962C8B-B14F-4D97-AF65-F5344CB8AC3E}">
        <p14:creationId xmlns:p14="http://schemas.microsoft.com/office/powerpoint/2010/main" val="1762180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a:t>Example 4</a:t>
            </a:r>
          </a:p>
        </p:txBody>
      </p:sp>
      <p:sp>
        <p:nvSpPr>
          <p:cNvPr id="3" name="Content Placeholder 2"/>
          <p:cNvSpPr>
            <a:spLocks noGrp="1"/>
          </p:cNvSpPr>
          <p:nvPr>
            <p:ph sz="quarter" idx="13"/>
          </p:nvPr>
        </p:nvSpPr>
        <p:spPr/>
        <p:txBody>
          <a:bodyPr/>
          <a:lstStyle/>
          <a:p>
            <a:r>
              <a:rPr lang="en-ZW" dirty="0"/>
              <a:t>Mr D died on 30/6/x, and the residue of his estate was left upon </a:t>
            </a:r>
            <a:r>
              <a:rPr lang="en-ZW" dirty="0" err="1"/>
              <a:t>trust.The</a:t>
            </a:r>
            <a:r>
              <a:rPr lang="en-ZW" dirty="0"/>
              <a:t> residue was ascertained on 31 December/x. The trust created in terms of the will provided that the trustees should apply so much of the income as in their discretion was </a:t>
            </a:r>
            <a:r>
              <a:rPr lang="en-ZW" dirty="0" err="1"/>
              <a:t>necessaryfor</a:t>
            </a:r>
            <a:r>
              <a:rPr lang="en-ZW" dirty="0"/>
              <a:t> the maintenance and education of the testator’s minor son to whom the trust capital and accumulated income is to be paid on his reaching the age of 25. The will provides for alternative heirs should the son not live to 25.During the year ended 31 December, x2 the trust assets earned net Zimbabwe rentals of $3 800 after charging $100 for structural alterations to the property let</a:t>
            </a:r>
          </a:p>
        </p:txBody>
      </p:sp>
    </p:spTree>
    <p:extLst>
      <p:ext uri="{BB962C8B-B14F-4D97-AF65-F5344CB8AC3E}">
        <p14:creationId xmlns:p14="http://schemas.microsoft.com/office/powerpoint/2010/main" val="13452115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W" dirty="0"/>
              <a:t>Example 4 </a:t>
            </a:r>
            <a:r>
              <a:rPr lang="en-ZW" dirty="0" err="1"/>
              <a:t>contd</a:t>
            </a:r>
            <a:endParaRPr lang="en-ZW" dirty="0"/>
          </a:p>
        </p:txBody>
      </p:sp>
      <p:sp>
        <p:nvSpPr>
          <p:cNvPr id="3" name="Content Placeholder 2"/>
          <p:cNvSpPr>
            <a:spLocks noGrp="1"/>
          </p:cNvSpPr>
          <p:nvPr>
            <p:ph sz="quarter" idx="13"/>
          </p:nvPr>
        </p:nvSpPr>
        <p:spPr/>
        <p:txBody>
          <a:bodyPr/>
          <a:lstStyle/>
          <a:p>
            <a:r>
              <a:rPr lang="en-ZW" dirty="0"/>
              <a:t>$ 1 300 of the $3 800 was paid for the maintenance and education of the minor son.</a:t>
            </a:r>
          </a:p>
          <a:p>
            <a:r>
              <a:rPr lang="en-ZW" dirty="0"/>
              <a:t>Who is assessable on the trust income earned during the year ended </a:t>
            </a:r>
            <a:r>
              <a:rPr lang="en-ZW"/>
              <a:t>31 December, x2?</a:t>
            </a:r>
          </a:p>
        </p:txBody>
      </p:sp>
    </p:spTree>
    <p:extLst>
      <p:ext uri="{BB962C8B-B14F-4D97-AF65-F5344CB8AC3E}">
        <p14:creationId xmlns:p14="http://schemas.microsoft.com/office/powerpoint/2010/main" val="3183045622"/>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image" Target="../media/image1.jpeg" /></Relationships>
</file>

<file path=ppt/theme/theme1.xml><?xml version="1.0" encoding="utf-8"?>
<a:theme xmlns:a="http://schemas.openxmlformats.org/drawingml/2006/main" name="Main Event">
  <a:themeElements>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docProps/app.xml><?xml version="1.0" encoding="utf-8"?>
<Properties xmlns="http://schemas.openxmlformats.org/officeDocument/2006/extended-properties" xmlns:vt="http://schemas.openxmlformats.org/officeDocument/2006/docPropsVTypes">
  <Template>TM04033927[[fn=Main Event]]</Template>
  <TotalTime>160</TotalTime>
  <Words>1164</Words>
  <Application>Microsoft Office PowerPoint</Application>
  <PresentationFormat>Widescreen</PresentationFormat>
  <Paragraphs>77</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Main Event</vt:lpstr>
      <vt:lpstr>DECEASED ESTATES AND WILL TRUSTS</vt:lpstr>
      <vt:lpstr>Who is liable to income accruing? </vt:lpstr>
      <vt:lpstr>Who is taxable</vt:lpstr>
      <vt:lpstr>Who is taxable: b</vt:lpstr>
      <vt:lpstr>Who is taxable: c</vt:lpstr>
      <vt:lpstr>Case of a usufruct</vt:lpstr>
      <vt:lpstr>Usufruct: ‘the whole’</vt:lpstr>
      <vt:lpstr>Tp dies intestate:-without a will</vt:lpstr>
      <vt:lpstr>Married out of community of property</vt:lpstr>
      <vt:lpstr>In community</vt:lpstr>
      <vt:lpstr>example</vt:lpstr>
      <vt:lpstr>Example 1</vt:lpstr>
      <vt:lpstr>Example 2</vt:lpstr>
      <vt:lpstr>WILL TRUSTS</vt:lpstr>
      <vt:lpstr>VESTED RIGHT: </vt:lpstr>
      <vt:lpstr>WILL TRUST</vt:lpstr>
      <vt:lpstr>EXAMPLE</vt:lpstr>
      <vt:lpstr>EXAMPLE</vt:lpstr>
      <vt:lpstr>Example 4</vt:lpstr>
      <vt:lpstr>Example 4 contd</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DECEASED ESTATES AND WILL TRUSTS</dc:title>
  <dc:creator>Fortune.Senamile Nkomo</dc:creator>
  <cp:lastModifiedBy>Fortune Senamile Nkomo</cp:lastModifiedBy>
  <cp:revision>20</cp:revision>
  <dcterms:created xsi:type="dcterms:W3CDTF">2022-05-22T19:51:28Z</dcterms:created>
  <dcterms:modified xsi:type="dcterms:W3CDTF">2023-03-14T08:56:34Z</dcterms:modified>
</cp:coreProperties>
</file>