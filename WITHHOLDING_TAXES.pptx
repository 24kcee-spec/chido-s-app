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75" r:id="rId5"/>
    <p:sldId id="259" r:id="rId6"/>
    <p:sldId id="284" r:id="rId7"/>
    <p:sldId id="285" r:id="rId8"/>
    <p:sldId id="260" r:id="rId9"/>
    <p:sldId id="261" r:id="rId10"/>
    <p:sldId id="262" r:id="rId11"/>
    <p:sldId id="263" r:id="rId12"/>
    <p:sldId id="280" r:id="rId13"/>
    <p:sldId id="264" r:id="rId14"/>
    <p:sldId id="265" r:id="rId15"/>
    <p:sldId id="266" r:id="rId16"/>
    <p:sldId id="276" r:id="rId17"/>
    <p:sldId id="277" r:id="rId18"/>
    <p:sldId id="278" r:id="rId19"/>
    <p:sldId id="281" r:id="rId20"/>
    <p:sldId id="267" r:id="rId21"/>
    <p:sldId id="279" r:id="rId22"/>
    <p:sldId id="268" r:id="rId23"/>
    <p:sldId id="269" r:id="rId24"/>
    <p:sldId id="282" r:id="rId25"/>
    <p:sldId id="270" r:id="rId26"/>
    <p:sldId id="283" r:id="rId27"/>
    <p:sldId id="271" r:id="rId28"/>
    <p:sldId id="272" r:id="rId29"/>
    <p:sldId id="273" r:id="rId30"/>
    <p:sldId id="286" r:id="rId31"/>
    <p:sldId id="274"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0" d="100"/>
          <a:sy n="70" d="100"/>
        </p:scale>
        <p:origin x="-1158" y="90"/>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9F6A04D9-2E57-4E90-80DA-F030DD39FEA0}" type="datetimeFigureOut">
              <a:rPr lang="en-ZW" smtClean="0"/>
              <a:pPr/>
              <a:t>16/2/2017</a:t>
            </a:fld>
            <a:endParaRPr lang="en-ZW"/>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ZW"/>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AB7BBD76-EF66-4567-A275-DBF23A2C02C1}" type="slidenum">
              <a:rPr lang="en-ZW" smtClean="0"/>
              <a:pPr/>
              <a:t>‹#›</a:t>
            </a:fld>
            <a:endParaRPr lang="en-Z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5" name="Footer Placeholder 4"/>
          <p:cNvSpPr>
            <a:spLocks noGrp="1"/>
          </p:cNvSpPr>
          <p:nvPr>
            <p:ph type="ftr" sz="quarter" idx="11"/>
          </p:nvPr>
        </p:nvSpPr>
        <p:spPr/>
        <p:txBody>
          <a:bodyPr/>
          <a:lstStyle>
            <a:extLst/>
          </a:lstStyle>
          <a:p>
            <a:endParaRPr lang="en-ZW"/>
          </a:p>
        </p:txBody>
      </p:sp>
      <p:sp>
        <p:nvSpPr>
          <p:cNvPr id="6" name="Slide Number Placeholder 5"/>
          <p:cNvSpPr>
            <a:spLocks noGrp="1"/>
          </p:cNvSpPr>
          <p:nvPr>
            <p:ph type="sldNum" sz="quarter" idx="12"/>
          </p:nvPr>
        </p:nvSpPr>
        <p:spPr/>
        <p:txBody>
          <a:bodyPr/>
          <a:lstStyle>
            <a:extLst/>
          </a:lstStyle>
          <a:p>
            <a:fld id="{AB7BBD76-EF66-4567-A275-DBF23A2C02C1}" type="slidenum">
              <a:rPr lang="en-ZW" smtClean="0"/>
              <a:pPr/>
              <a:t>‹#›</a:t>
            </a:fld>
            <a:endParaRPr lang="en-ZW"/>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5" name="Footer Placeholder 4"/>
          <p:cNvSpPr>
            <a:spLocks noGrp="1"/>
          </p:cNvSpPr>
          <p:nvPr>
            <p:ph type="ftr" sz="quarter" idx="11"/>
          </p:nvPr>
        </p:nvSpPr>
        <p:spPr/>
        <p:txBody>
          <a:bodyPr/>
          <a:lstStyle>
            <a:extLst/>
          </a:lstStyle>
          <a:p>
            <a:endParaRPr lang="en-ZW"/>
          </a:p>
        </p:txBody>
      </p:sp>
      <p:sp>
        <p:nvSpPr>
          <p:cNvPr id="6" name="Slide Number Placeholder 5"/>
          <p:cNvSpPr>
            <a:spLocks noGrp="1"/>
          </p:cNvSpPr>
          <p:nvPr>
            <p:ph type="sldNum" sz="quarter" idx="12"/>
          </p:nvPr>
        </p:nvSpPr>
        <p:spPr/>
        <p:txBody>
          <a:bodyPr/>
          <a:lstStyle>
            <a:extLst/>
          </a:lstStyle>
          <a:p>
            <a:fld id="{AB7BBD76-EF66-4567-A275-DBF23A2C02C1}" type="slidenum">
              <a:rPr lang="en-ZW" smtClean="0"/>
              <a:pPr/>
              <a:t>‹#›</a:t>
            </a:fld>
            <a:endParaRPr lang="en-ZW"/>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6" name="Footer Placeholder 5"/>
          <p:cNvSpPr>
            <a:spLocks noGrp="1"/>
          </p:cNvSpPr>
          <p:nvPr>
            <p:ph type="ftr" sz="quarter" idx="11"/>
          </p:nvPr>
        </p:nvSpPr>
        <p:spPr/>
        <p:txBody>
          <a:bodyPr/>
          <a:lstStyle>
            <a:extLst/>
          </a:lstStyle>
          <a:p>
            <a:endParaRPr lang="en-ZW"/>
          </a:p>
        </p:txBody>
      </p:sp>
      <p:sp>
        <p:nvSpPr>
          <p:cNvPr id="7" name="Slide Number Placeholder 6"/>
          <p:cNvSpPr>
            <a:spLocks noGrp="1"/>
          </p:cNvSpPr>
          <p:nvPr>
            <p:ph type="sldNum" sz="quarter" idx="12"/>
          </p:nvPr>
        </p:nvSpPr>
        <p:spPr/>
        <p:txBody>
          <a:bodyPr/>
          <a:lstStyle>
            <a:extLst/>
          </a:lstStyle>
          <a:p>
            <a:fld id="{AB7BBD76-EF66-4567-A275-DBF23A2C02C1}" type="slidenum">
              <a:rPr lang="en-ZW" smtClean="0"/>
              <a:pPr/>
              <a:t>‹#›</a:t>
            </a:fld>
            <a:endParaRPr lang="en-ZW"/>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8" name="Footer Placeholder 7"/>
          <p:cNvSpPr>
            <a:spLocks noGrp="1"/>
          </p:cNvSpPr>
          <p:nvPr>
            <p:ph type="ftr" sz="quarter" idx="11"/>
          </p:nvPr>
        </p:nvSpPr>
        <p:spPr/>
        <p:txBody>
          <a:bodyPr/>
          <a:lstStyle>
            <a:extLst/>
          </a:lstStyle>
          <a:p>
            <a:endParaRPr lang="en-ZW"/>
          </a:p>
        </p:txBody>
      </p:sp>
      <p:sp>
        <p:nvSpPr>
          <p:cNvPr id="9" name="Slide Number Placeholder 8"/>
          <p:cNvSpPr>
            <a:spLocks noGrp="1"/>
          </p:cNvSpPr>
          <p:nvPr>
            <p:ph type="sldNum" sz="quarter" idx="12"/>
          </p:nvPr>
        </p:nvSpPr>
        <p:spPr/>
        <p:txBody>
          <a:bodyPr/>
          <a:lstStyle>
            <a:extLst/>
          </a:lstStyle>
          <a:p>
            <a:fld id="{AB7BBD76-EF66-4567-A275-DBF23A2C02C1}" type="slidenum">
              <a:rPr lang="en-ZW" smtClean="0"/>
              <a:pPr/>
              <a:t>‹#›</a:t>
            </a:fld>
            <a:endParaRPr lang="en-ZW"/>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4" name="Footer Placeholder 3"/>
          <p:cNvSpPr>
            <a:spLocks noGrp="1"/>
          </p:cNvSpPr>
          <p:nvPr>
            <p:ph type="ftr" sz="quarter" idx="11"/>
          </p:nvPr>
        </p:nvSpPr>
        <p:spPr/>
        <p:txBody>
          <a:bodyPr/>
          <a:lstStyle>
            <a:extLst/>
          </a:lstStyle>
          <a:p>
            <a:endParaRPr lang="en-ZW"/>
          </a:p>
        </p:txBody>
      </p:sp>
      <p:sp>
        <p:nvSpPr>
          <p:cNvPr id="5" name="Slide Number Placeholder 4"/>
          <p:cNvSpPr>
            <a:spLocks noGrp="1"/>
          </p:cNvSpPr>
          <p:nvPr>
            <p:ph type="sldNum" sz="quarter" idx="12"/>
          </p:nvPr>
        </p:nvSpPr>
        <p:spPr/>
        <p:txBody>
          <a:bodyPr/>
          <a:lstStyle>
            <a:extLst/>
          </a:lstStyle>
          <a:p>
            <a:fld id="{AB7BBD76-EF66-4567-A275-DBF23A2C02C1}" type="slidenum">
              <a:rPr lang="en-ZW" smtClean="0"/>
              <a:pPr/>
              <a:t>‹#›</a:t>
            </a:fld>
            <a:endParaRPr lang="en-ZW"/>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3" name="Footer Placeholder 2"/>
          <p:cNvSpPr>
            <a:spLocks noGrp="1"/>
          </p:cNvSpPr>
          <p:nvPr>
            <p:ph type="ftr" sz="quarter" idx="11"/>
          </p:nvPr>
        </p:nvSpPr>
        <p:spPr/>
        <p:txBody>
          <a:bodyPr/>
          <a:lstStyle>
            <a:extLst/>
          </a:lstStyle>
          <a:p>
            <a:endParaRPr lang="en-ZW"/>
          </a:p>
        </p:txBody>
      </p:sp>
      <p:sp>
        <p:nvSpPr>
          <p:cNvPr id="4" name="Slide Number Placeholder 3"/>
          <p:cNvSpPr>
            <a:spLocks noGrp="1"/>
          </p:cNvSpPr>
          <p:nvPr>
            <p:ph type="sldNum" sz="quarter" idx="12"/>
          </p:nvPr>
        </p:nvSpPr>
        <p:spPr/>
        <p:txBody>
          <a:bodyPr/>
          <a:lstStyle>
            <a:extLst/>
          </a:lstStyle>
          <a:p>
            <a:fld id="{AB7BBD76-EF66-4567-A275-DBF23A2C02C1}" type="slidenum">
              <a:rPr lang="en-ZW" smtClean="0"/>
              <a:pPr/>
              <a:t>‹#›</a:t>
            </a:fld>
            <a:endParaRPr lang="en-Z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9F6A04D9-2E57-4E90-80DA-F030DD39FEA0}" type="datetimeFigureOut">
              <a:rPr lang="en-ZW" smtClean="0"/>
              <a:pPr/>
              <a:t>16/2/2017</a:t>
            </a:fld>
            <a:endParaRPr lang="en-ZW"/>
          </a:p>
        </p:txBody>
      </p:sp>
      <p:sp>
        <p:nvSpPr>
          <p:cNvPr id="6" name="Footer Placeholder 5"/>
          <p:cNvSpPr>
            <a:spLocks noGrp="1"/>
          </p:cNvSpPr>
          <p:nvPr>
            <p:ph type="ftr" sz="quarter" idx="11"/>
          </p:nvPr>
        </p:nvSpPr>
        <p:spPr/>
        <p:txBody>
          <a:bodyPr/>
          <a:lstStyle>
            <a:extLst/>
          </a:lstStyle>
          <a:p>
            <a:endParaRPr lang="en-ZW"/>
          </a:p>
        </p:txBody>
      </p:sp>
      <p:sp>
        <p:nvSpPr>
          <p:cNvPr id="7" name="Slide Number Placeholder 6"/>
          <p:cNvSpPr>
            <a:spLocks noGrp="1"/>
          </p:cNvSpPr>
          <p:nvPr>
            <p:ph type="sldNum" sz="quarter" idx="12"/>
          </p:nvPr>
        </p:nvSpPr>
        <p:spPr/>
        <p:txBody>
          <a:bodyPr/>
          <a:lstStyle>
            <a:extLst/>
          </a:lstStyle>
          <a:p>
            <a:fld id="{AB7BBD76-EF66-4567-A275-DBF23A2C02C1}" type="slidenum">
              <a:rPr lang="en-ZW" smtClean="0"/>
              <a:pPr/>
              <a:t>‹#›</a:t>
            </a:fld>
            <a:endParaRPr lang="en-ZW"/>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9F6A04D9-2E57-4E90-80DA-F030DD39FEA0}" type="datetimeFigureOut">
              <a:rPr lang="en-ZW" smtClean="0"/>
              <a:pPr/>
              <a:t>16/2/2017</a:t>
            </a:fld>
            <a:endParaRPr lang="en-ZW"/>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ZW"/>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AB7BBD76-EF66-4567-A275-DBF23A2C02C1}" type="slidenum">
              <a:rPr lang="en-ZW" smtClean="0"/>
              <a:pPr/>
              <a:t>‹#›</a:t>
            </a:fld>
            <a:endParaRPr lang="en-ZW"/>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5" name="Footer Placeholder 4"/>
          <p:cNvSpPr>
            <a:spLocks noGrp="1"/>
          </p:cNvSpPr>
          <p:nvPr>
            <p:ph type="ftr" sz="quarter" idx="11"/>
          </p:nvPr>
        </p:nvSpPr>
        <p:spPr/>
        <p:txBody>
          <a:bodyPr/>
          <a:lstStyle>
            <a:extLst/>
          </a:lstStyle>
          <a:p>
            <a:endParaRPr lang="en-ZW"/>
          </a:p>
        </p:txBody>
      </p:sp>
      <p:sp>
        <p:nvSpPr>
          <p:cNvPr id="6" name="Slide Number Placeholder 5"/>
          <p:cNvSpPr>
            <a:spLocks noGrp="1"/>
          </p:cNvSpPr>
          <p:nvPr>
            <p:ph type="sldNum" sz="quarter" idx="12"/>
          </p:nvPr>
        </p:nvSpPr>
        <p:spPr/>
        <p:txBody>
          <a:bodyPr/>
          <a:lstStyle>
            <a:extLst/>
          </a:lstStyle>
          <a:p>
            <a:fld id="{AB7BBD76-EF66-4567-A275-DBF23A2C02C1}" type="slidenum">
              <a:rPr lang="en-ZW" smtClean="0"/>
              <a:pPr/>
              <a:t>‹#›</a:t>
            </a:fld>
            <a:endParaRPr lang="en-Z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F6A04D9-2E57-4E90-80DA-F030DD39FEA0}" type="datetimeFigureOut">
              <a:rPr lang="en-ZW" smtClean="0"/>
              <a:pPr/>
              <a:t>16/2/2017</a:t>
            </a:fld>
            <a:endParaRPr lang="en-ZW"/>
          </a:p>
        </p:txBody>
      </p:sp>
      <p:sp>
        <p:nvSpPr>
          <p:cNvPr id="5" name="Footer Placeholder 4"/>
          <p:cNvSpPr>
            <a:spLocks noGrp="1"/>
          </p:cNvSpPr>
          <p:nvPr>
            <p:ph type="ftr" sz="quarter" idx="11"/>
          </p:nvPr>
        </p:nvSpPr>
        <p:spPr/>
        <p:txBody>
          <a:bodyPr/>
          <a:lstStyle>
            <a:extLst/>
          </a:lstStyle>
          <a:p>
            <a:endParaRPr lang="en-ZW"/>
          </a:p>
        </p:txBody>
      </p:sp>
      <p:sp>
        <p:nvSpPr>
          <p:cNvPr id="6" name="Slide Number Placeholder 5"/>
          <p:cNvSpPr>
            <a:spLocks noGrp="1"/>
          </p:cNvSpPr>
          <p:nvPr>
            <p:ph type="sldNum" sz="quarter" idx="12"/>
          </p:nvPr>
        </p:nvSpPr>
        <p:spPr/>
        <p:txBody>
          <a:bodyPr/>
          <a:lstStyle>
            <a:extLst/>
          </a:lstStyle>
          <a:p>
            <a:fld id="{AB7BBD76-EF66-4567-A275-DBF23A2C02C1}" type="slidenum">
              <a:rPr lang="en-ZW" smtClean="0"/>
              <a:pPr/>
              <a:t>‹#›</a:t>
            </a:fld>
            <a:endParaRPr lang="en-Z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9F6A04D9-2E57-4E90-80DA-F030DD39FEA0}" type="datetimeFigureOut">
              <a:rPr lang="en-ZW" smtClean="0"/>
              <a:pPr/>
              <a:t>16/2/2017</a:t>
            </a:fld>
            <a:endParaRPr lang="en-ZW"/>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ZW"/>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AB7BBD76-EF66-4567-A275-DBF23A2C02C1}" type="slidenum">
              <a:rPr lang="en-ZW" smtClean="0"/>
              <a:pPr/>
              <a:t>‹#›</a:t>
            </a:fld>
            <a:endParaRPr lang="en-ZW"/>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88640"/>
            <a:ext cx="7356652" cy="3687688"/>
          </a:xfrm>
        </p:spPr>
        <p:txBody>
          <a:bodyPr/>
          <a:lstStyle/>
          <a:p>
            <a:r>
              <a:rPr lang="en-ZW" dirty="0" smtClean="0"/>
              <a:t>WITHHOLDING TAXES</a:t>
            </a:r>
            <a:endParaRPr lang="en-ZW" dirty="0"/>
          </a:p>
        </p:txBody>
      </p:sp>
      <p:sp>
        <p:nvSpPr>
          <p:cNvPr id="3" name="Subtitle 2"/>
          <p:cNvSpPr>
            <a:spLocks noGrp="1"/>
          </p:cNvSpPr>
          <p:nvPr>
            <p:ph type="subTitle" idx="1"/>
          </p:nvPr>
        </p:nvSpPr>
        <p:spPr>
          <a:xfrm>
            <a:off x="1411560" y="3556001"/>
            <a:ext cx="6400800" cy="1473200"/>
          </a:xfrm>
        </p:spPr>
        <p:txBody>
          <a:bodyPr/>
          <a:lstStyle/>
          <a:p>
            <a:endParaRPr lang="en-ZW" dirty="0" smtClean="0"/>
          </a:p>
          <a:p>
            <a:endParaRPr lang="en-ZW" dirty="0"/>
          </a:p>
          <a:p>
            <a:endParaRPr lang="en-ZW" dirty="0"/>
          </a:p>
        </p:txBody>
      </p:sp>
    </p:spTree>
    <p:extLst>
      <p:ext uri="{BB962C8B-B14F-4D97-AF65-F5344CB8AC3E}">
        <p14:creationId xmlns="" xmlns:p14="http://schemas.microsoft.com/office/powerpoint/2010/main" val="131596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628800"/>
            <a:ext cx="7408333" cy="4497363"/>
          </a:xfrm>
        </p:spPr>
        <p:txBody>
          <a:bodyPr/>
          <a:lstStyle/>
          <a:p>
            <a:r>
              <a:rPr lang="en-ZW" sz="2800" dirty="0">
                <a:latin typeface="Times New Roman" pitchFamily="18" charset="0"/>
                <a:cs typeface="Times New Roman" pitchFamily="18" charset="0"/>
              </a:rPr>
              <a:t>“payee” means a person to whom any amount is payable in terms of a </a:t>
            </a:r>
            <a:r>
              <a:rPr lang="en-ZW" sz="2800" dirty="0" smtClean="0">
                <a:latin typeface="Times New Roman" pitchFamily="18" charset="0"/>
                <a:cs typeface="Times New Roman" pitchFamily="18" charset="0"/>
              </a:rPr>
              <a:t>contract.</a:t>
            </a:r>
          </a:p>
          <a:p>
            <a:r>
              <a:rPr lang="en-ZW" sz="2800" dirty="0">
                <a:latin typeface="Times New Roman" pitchFamily="18" charset="0"/>
                <a:cs typeface="Times New Roman" pitchFamily="18" charset="0"/>
              </a:rPr>
              <a:t>“quasi-Governmental institution” means any person, whether corporate or </a:t>
            </a:r>
            <a:r>
              <a:rPr lang="en-ZW" sz="2800" dirty="0" smtClean="0">
                <a:latin typeface="Times New Roman" pitchFamily="18" charset="0"/>
                <a:cs typeface="Times New Roman" pitchFamily="18" charset="0"/>
              </a:rPr>
              <a:t>unincorporated</a:t>
            </a:r>
          </a:p>
          <a:p>
            <a:r>
              <a:rPr lang="en-ZW" sz="2800" dirty="0">
                <a:latin typeface="Times New Roman" pitchFamily="18" charset="0"/>
                <a:cs typeface="Times New Roman" pitchFamily="18" charset="0"/>
              </a:rPr>
              <a:t>“contract” means a contract in terms of which the State or a statutory body, quasi-Governmental </a:t>
            </a:r>
            <a:r>
              <a:rPr lang="en-ZW" sz="2800" dirty="0" smtClean="0">
                <a:latin typeface="Times New Roman" pitchFamily="18" charset="0"/>
                <a:cs typeface="Times New Roman" pitchFamily="18" charset="0"/>
              </a:rPr>
              <a:t>institution or </a:t>
            </a:r>
            <a:r>
              <a:rPr lang="en-ZW" sz="2800" dirty="0">
                <a:latin typeface="Times New Roman" pitchFamily="18" charset="0"/>
                <a:cs typeface="Times New Roman" pitchFamily="18" charset="0"/>
              </a:rPr>
              <a:t>registered taxpayer is obliged to pay one or more persons an </a:t>
            </a:r>
            <a:r>
              <a:rPr lang="en-ZW" sz="2800" dirty="0" smtClean="0">
                <a:latin typeface="Times New Roman" pitchFamily="18" charset="0"/>
                <a:cs typeface="Times New Roman" pitchFamily="18" charset="0"/>
              </a:rPr>
              <a:t>amount.</a:t>
            </a:r>
          </a:p>
          <a:p>
            <a:endParaRPr lang="en-ZW" dirty="0"/>
          </a:p>
        </p:txBody>
      </p:sp>
      <p:sp>
        <p:nvSpPr>
          <p:cNvPr id="2" name="Title 1"/>
          <p:cNvSpPr>
            <a:spLocks noGrp="1"/>
          </p:cNvSpPr>
          <p:nvPr>
            <p:ph type="title"/>
          </p:nvPr>
        </p:nvSpPr>
        <p:spPr/>
        <p:txBody>
          <a:bodyPr>
            <a:normAutofit fontScale="90000"/>
          </a:bodyPr>
          <a:lstStyle/>
          <a:p>
            <a:r>
              <a:rPr lang="en-ZW" dirty="0" smtClean="0"/>
              <a:t>Definition of key terms.</a:t>
            </a:r>
            <a:br>
              <a:rPr lang="en-ZW" dirty="0" smtClean="0"/>
            </a:br>
            <a:endParaRPr lang="en-ZW" dirty="0"/>
          </a:p>
        </p:txBody>
      </p:sp>
    </p:spTree>
    <p:extLst>
      <p:ext uri="{BB962C8B-B14F-4D97-AF65-F5344CB8AC3E}">
        <p14:creationId xmlns="" xmlns:p14="http://schemas.microsoft.com/office/powerpoint/2010/main" val="2656984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9" y="2132856"/>
            <a:ext cx="7596832" cy="4176464"/>
          </a:xfrm>
        </p:spPr>
        <p:txBody>
          <a:bodyPr>
            <a:normAutofit/>
          </a:bodyPr>
          <a:lstStyle/>
          <a:p>
            <a:r>
              <a:rPr lang="en-ZW" sz="2800" dirty="0" smtClean="0">
                <a:latin typeface="Times New Roman" pitchFamily="18" charset="0"/>
                <a:cs typeface="Times New Roman" pitchFamily="18" charset="0"/>
              </a:rPr>
              <a:t>With holding tax is levied at source. Withholding </a:t>
            </a:r>
            <a:r>
              <a:rPr lang="en-ZW" sz="2800" dirty="0">
                <a:latin typeface="Times New Roman" pitchFamily="18" charset="0"/>
                <a:cs typeface="Times New Roman" pitchFamily="18" charset="0"/>
              </a:rPr>
              <a:t>tax is tax which is deducted at source by the payer </a:t>
            </a:r>
            <a:r>
              <a:rPr lang="en-ZW" sz="2800" dirty="0" err="1">
                <a:latin typeface="Times New Roman" pitchFamily="18" charset="0"/>
                <a:cs typeface="Times New Roman" pitchFamily="18" charset="0"/>
              </a:rPr>
              <a:t>ie</a:t>
            </a:r>
            <a:r>
              <a:rPr lang="en-ZW" sz="2800" dirty="0">
                <a:latin typeface="Times New Roman" pitchFamily="18" charset="0"/>
                <a:cs typeface="Times New Roman" pitchFamily="18" charset="0"/>
              </a:rPr>
              <a:t> tax is deducted before the income is paid over and is normally represented by a specific percentage of gross </a:t>
            </a:r>
            <a:r>
              <a:rPr lang="en-ZW" sz="2800" dirty="0" smtClean="0">
                <a:latin typeface="Times New Roman" pitchFamily="18" charset="0"/>
                <a:cs typeface="Times New Roman" pitchFamily="18" charset="0"/>
              </a:rPr>
              <a:t>income.</a:t>
            </a:r>
          </a:p>
          <a:p>
            <a:r>
              <a:rPr lang="en-ZW" sz="2800" dirty="0">
                <a:latin typeface="Times New Roman" pitchFamily="18" charset="0"/>
                <a:cs typeface="Times New Roman" pitchFamily="18" charset="0"/>
              </a:rPr>
              <a:t>Withholding tax collection mechanism is operated in such a way that the payer not the payee will pay tax to ZIMRA</a:t>
            </a:r>
            <a:r>
              <a:rPr lang="en-ZW" sz="2800" dirty="0" smtClean="0">
                <a:latin typeface="Times New Roman" pitchFamily="18" charset="0"/>
                <a:cs typeface="Times New Roman" pitchFamily="18" charset="0"/>
              </a:rPr>
              <a:t>. Recipient will receive net income and has no tax responsibility.</a:t>
            </a:r>
            <a:endParaRPr lang="en-ZW" sz="2800" dirty="0">
              <a:latin typeface="Times New Roman" pitchFamily="18" charset="0"/>
              <a:cs typeface="Times New Roman" pitchFamily="18" charset="0"/>
            </a:endParaRPr>
          </a:p>
        </p:txBody>
      </p:sp>
      <p:sp>
        <p:nvSpPr>
          <p:cNvPr id="3" name="Title 2"/>
          <p:cNvSpPr>
            <a:spLocks noGrp="1"/>
          </p:cNvSpPr>
          <p:nvPr>
            <p:ph type="title"/>
          </p:nvPr>
        </p:nvSpPr>
        <p:spPr/>
        <p:txBody>
          <a:bodyPr>
            <a:normAutofit/>
          </a:bodyPr>
          <a:lstStyle/>
          <a:p>
            <a:r>
              <a:rPr lang="en-ZW" dirty="0" smtClean="0">
                <a:latin typeface="Times New Roman" pitchFamily="18" charset="0"/>
                <a:cs typeface="Times New Roman" pitchFamily="18" charset="0"/>
              </a:rPr>
              <a:t>What is withholding tax?</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2006661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ZW" sz="2800" dirty="0" smtClean="0">
                <a:latin typeface="Times New Roman" pitchFamily="18" charset="0"/>
                <a:cs typeface="Times New Roman" pitchFamily="18" charset="0"/>
              </a:rPr>
              <a:t>With holding taxes are generally applied to interest, royalties, management fees, non executive director’s fees , remittances etc.</a:t>
            </a:r>
            <a:endParaRPr lang="en-ZW" sz="28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ZW" dirty="0" smtClean="0"/>
              <a:t>CONTND</a:t>
            </a:r>
            <a:endParaRPr lang="en-ZW"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48267" y="2060848"/>
            <a:ext cx="7408333" cy="4065315"/>
          </a:xfrm>
        </p:spPr>
        <p:txBody>
          <a:bodyPr>
            <a:normAutofit fontScale="92500" lnSpcReduction="20000"/>
          </a:bodyPr>
          <a:lstStyle/>
          <a:p>
            <a:r>
              <a:rPr lang="en-ZW" sz="2800" dirty="0" smtClean="0">
                <a:latin typeface="Times New Roman" pitchFamily="18" charset="0"/>
                <a:cs typeface="Times New Roman" pitchFamily="18" charset="0"/>
              </a:rPr>
              <a:t>Certain incomes whose nature renders them inherently susceptible to tax evasion are subjected to with holding taxes</a:t>
            </a:r>
          </a:p>
          <a:p>
            <a:r>
              <a:rPr lang="en-ZW" sz="2800" dirty="0" smtClean="0">
                <a:latin typeface="Times New Roman" pitchFamily="18" charset="0"/>
                <a:cs typeface="Times New Roman" pitchFamily="18" charset="0"/>
              </a:rPr>
              <a:t>withholding </a:t>
            </a:r>
            <a:r>
              <a:rPr lang="en-ZW" sz="2800" dirty="0">
                <a:latin typeface="Times New Roman" pitchFamily="18" charset="0"/>
                <a:cs typeface="Times New Roman" pitchFamily="18" charset="0"/>
              </a:rPr>
              <a:t>taxes results in a more efficient tax collection because the tax is collected from fewer payers</a:t>
            </a:r>
            <a:r>
              <a:rPr lang="en-ZW" sz="2800" dirty="0" smtClean="0">
                <a:latin typeface="Times New Roman" pitchFamily="18" charset="0"/>
                <a:cs typeface="Times New Roman" pitchFamily="18" charset="0"/>
              </a:rPr>
              <a:t>.</a:t>
            </a:r>
          </a:p>
          <a:p>
            <a:r>
              <a:rPr lang="en-ZW" sz="2800" dirty="0">
                <a:latin typeface="Times New Roman" pitchFamily="18" charset="0"/>
                <a:cs typeface="Times New Roman" pitchFamily="18" charset="0"/>
              </a:rPr>
              <a:t>The tax is collected from people within the tax jurisdiction as opposed to the outside of the country</a:t>
            </a:r>
            <a:r>
              <a:rPr lang="en-ZW" sz="2800" dirty="0" smtClean="0">
                <a:latin typeface="Times New Roman" pitchFamily="18" charset="0"/>
                <a:cs typeface="Times New Roman" pitchFamily="18" charset="0"/>
              </a:rPr>
              <a:t>.</a:t>
            </a:r>
          </a:p>
          <a:p>
            <a:r>
              <a:rPr lang="en-ZW" sz="2800" dirty="0">
                <a:latin typeface="Times New Roman" pitchFamily="18" charset="0"/>
                <a:cs typeface="Times New Roman" pitchFamily="18" charset="0"/>
              </a:rPr>
              <a:t>This makes the number reasonable and easier to manage. </a:t>
            </a:r>
          </a:p>
        </p:txBody>
      </p:sp>
      <p:sp>
        <p:nvSpPr>
          <p:cNvPr id="3" name="Title 2"/>
          <p:cNvSpPr>
            <a:spLocks noGrp="1"/>
          </p:cNvSpPr>
          <p:nvPr>
            <p:ph type="title"/>
          </p:nvPr>
        </p:nvSpPr>
        <p:spPr>
          <a:xfrm>
            <a:off x="533400" y="338328"/>
            <a:ext cx="8229600" cy="1252728"/>
          </a:xfrm>
        </p:spPr>
        <p:txBody>
          <a:bodyPr>
            <a:noAutofit/>
          </a:bodyPr>
          <a:lstStyle/>
          <a:p>
            <a:r>
              <a:rPr lang="en-ZW" dirty="0" smtClean="0">
                <a:latin typeface="Times New Roman" pitchFamily="18" charset="0"/>
                <a:cs typeface="Times New Roman" pitchFamily="18" charset="0"/>
              </a:rPr>
              <a:t>What is the purpose of withholding tax?</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474045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ZW" dirty="0" err="1" smtClean="0"/>
              <a:t>General:All</a:t>
            </a:r>
            <a:r>
              <a:rPr lang="en-ZW" dirty="0" smtClean="0"/>
              <a:t> withholding taxes, with the exception of Non-Resident Shareholders’ Tax, are payable to ZIMRA within 10 days of the payee being paid or becoming entitled to the payment, dividend, interest, fees commission, royalty or remittance.</a:t>
            </a:r>
          </a:p>
          <a:p>
            <a:r>
              <a:rPr lang="en-ZW" dirty="0" smtClean="0"/>
              <a:t>Non Resident Shareholder’s Tax is payable within 30 days of distribution of or becoming entitled to the dividend.</a:t>
            </a:r>
          </a:p>
          <a:p>
            <a:r>
              <a:rPr lang="en-ZW" dirty="0" smtClean="0"/>
              <a:t>For all withholding taxes penalties up to 100% of the unpaid tax can imposed.</a:t>
            </a:r>
            <a:endParaRPr lang="en-ZW" dirty="0"/>
          </a:p>
        </p:txBody>
      </p:sp>
      <p:sp>
        <p:nvSpPr>
          <p:cNvPr id="3" name="Title 2"/>
          <p:cNvSpPr>
            <a:spLocks noGrp="1"/>
          </p:cNvSpPr>
          <p:nvPr>
            <p:ph type="title"/>
          </p:nvPr>
        </p:nvSpPr>
        <p:spPr/>
        <p:txBody>
          <a:bodyPr>
            <a:normAutofit fontScale="90000"/>
          </a:bodyPr>
          <a:lstStyle/>
          <a:p>
            <a:r>
              <a:rPr lang="en-ZW" dirty="0" smtClean="0"/>
              <a:t>NOTES ON WITHHOLDING TAXES</a:t>
            </a:r>
            <a:endParaRPr lang="en-ZW"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Interest is charged at 10% per annum for each month or part there of during which the tax and penalties remain unchanged.</a:t>
            </a:r>
            <a:endParaRPr lang="en-ZW" dirty="0"/>
          </a:p>
        </p:txBody>
      </p:sp>
      <p:sp>
        <p:nvSpPr>
          <p:cNvPr id="3" name="Title 2"/>
          <p:cNvSpPr>
            <a:spLocks noGrp="1"/>
          </p:cNvSpPr>
          <p:nvPr>
            <p:ph type="title"/>
          </p:nvPr>
        </p:nvSpPr>
        <p:spPr/>
        <p:txBody>
          <a:bodyPr/>
          <a:lstStyle/>
          <a:p>
            <a:r>
              <a:rPr lang="en-ZW" dirty="0" smtClean="0"/>
              <a:t>NOTES  CONT’D</a:t>
            </a:r>
            <a:endParaRPr lang="en-ZW"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24467" y="2060848"/>
            <a:ext cx="7408333" cy="4065315"/>
          </a:xfrm>
        </p:spPr>
        <p:txBody>
          <a:bodyPr/>
          <a:lstStyle/>
          <a:p>
            <a:r>
              <a:rPr lang="en-ZW" sz="2800" dirty="0">
                <a:latin typeface="Times New Roman" pitchFamily="18" charset="0"/>
                <a:cs typeface="Times New Roman" pitchFamily="18" charset="0"/>
              </a:rPr>
              <a:t>all registered operators including government, quasi‐government and statutory corporations who enter into any contracts which result in an obligation to pay any amounts aggregating US$250 or more are required to withhold 10% of each amount payable to payees without valid tax clearance </a:t>
            </a:r>
            <a:r>
              <a:rPr lang="en-ZW" sz="2800" dirty="0" smtClean="0">
                <a:latin typeface="Times New Roman" pitchFamily="18" charset="0"/>
                <a:cs typeface="Times New Roman" pitchFamily="18" charset="0"/>
              </a:rPr>
              <a:t>certificates (ITF 63)</a:t>
            </a:r>
            <a:r>
              <a:rPr lang="en-ZW" dirty="0" smtClean="0"/>
              <a:t>.</a:t>
            </a:r>
            <a:endParaRPr lang="en-ZW" dirty="0"/>
          </a:p>
        </p:txBody>
      </p:sp>
      <p:sp>
        <p:nvSpPr>
          <p:cNvPr id="3" name="Title 2"/>
          <p:cNvSpPr>
            <a:spLocks noGrp="1"/>
          </p:cNvSpPr>
          <p:nvPr>
            <p:ph type="title"/>
          </p:nvPr>
        </p:nvSpPr>
        <p:spPr>
          <a:xfrm>
            <a:off x="609600" y="338328"/>
            <a:ext cx="8229600" cy="1252728"/>
          </a:xfrm>
        </p:spPr>
        <p:txBody>
          <a:bodyPr>
            <a:noAutofit/>
          </a:bodyPr>
          <a:lstStyle/>
          <a:p>
            <a:r>
              <a:rPr lang="en-ZW" dirty="0" smtClean="0">
                <a:latin typeface="Times New Roman" pitchFamily="18" charset="0"/>
                <a:cs typeface="Times New Roman" pitchFamily="18" charset="0"/>
              </a:rPr>
              <a:t>What does S80(1)  say about withholding taxes?</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4042075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844824"/>
            <a:ext cx="7408333" cy="4281339"/>
          </a:xfrm>
        </p:spPr>
        <p:txBody>
          <a:bodyPr/>
          <a:lstStyle/>
          <a:p>
            <a:r>
              <a:rPr lang="en-ZW" dirty="0">
                <a:latin typeface="Times New Roman" pitchFamily="18" charset="0"/>
                <a:cs typeface="Times New Roman" pitchFamily="18" charset="0"/>
              </a:rPr>
              <a:t>Tax clearance certificates are issued only to clients who are fully paid up and whose income tax, VAT and PAYE returns are up to date. They are valid for a period of 6 months </a:t>
            </a:r>
            <a:r>
              <a:rPr lang="en-ZW" dirty="0" err="1">
                <a:latin typeface="Times New Roman" pitchFamily="18" charset="0"/>
                <a:cs typeface="Times New Roman" pitchFamily="18" charset="0"/>
              </a:rPr>
              <a:t>i.e</a:t>
            </a:r>
            <a:r>
              <a:rPr lang="en-ZW" dirty="0">
                <a:latin typeface="Times New Roman" pitchFamily="18" charset="0"/>
                <a:cs typeface="Times New Roman" pitchFamily="18" charset="0"/>
              </a:rPr>
              <a:t> January‐June and July‐December.</a:t>
            </a:r>
          </a:p>
          <a:p>
            <a:endParaRPr lang="en-ZW" dirty="0"/>
          </a:p>
        </p:txBody>
      </p:sp>
      <p:sp>
        <p:nvSpPr>
          <p:cNvPr id="3" name="Title 2"/>
          <p:cNvSpPr>
            <a:spLocks noGrp="1"/>
          </p:cNvSpPr>
          <p:nvPr>
            <p:ph type="title"/>
          </p:nvPr>
        </p:nvSpPr>
        <p:spPr/>
        <p:txBody>
          <a:bodyPr/>
          <a:lstStyle/>
          <a:p>
            <a:r>
              <a:rPr lang="en-ZW" dirty="0" err="1" smtClean="0"/>
              <a:t>Cont</a:t>
            </a:r>
            <a:r>
              <a:rPr lang="en-ZW" dirty="0" smtClean="0"/>
              <a:t>’</a:t>
            </a:r>
            <a:endParaRPr lang="en-ZW" dirty="0"/>
          </a:p>
        </p:txBody>
      </p:sp>
    </p:spTree>
    <p:extLst>
      <p:ext uri="{BB962C8B-B14F-4D97-AF65-F5344CB8AC3E}">
        <p14:creationId xmlns="" xmlns:p14="http://schemas.microsoft.com/office/powerpoint/2010/main" val="2182572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348880"/>
            <a:ext cx="7408333" cy="3777283"/>
          </a:xfrm>
        </p:spPr>
        <p:txBody>
          <a:bodyPr/>
          <a:lstStyle/>
          <a:p>
            <a:pPr lvl="0"/>
            <a:r>
              <a:rPr lang="en-ZW" dirty="0"/>
              <a:t> </a:t>
            </a:r>
            <a:r>
              <a:rPr lang="en-ZW" sz="2800" dirty="0">
                <a:latin typeface="Times New Roman" pitchFamily="18" charset="0"/>
                <a:cs typeface="Times New Roman" pitchFamily="18" charset="0"/>
              </a:rPr>
              <a:t>The amount deducted should be remitted to ZIMRA on or before the 10th of the month following the month in which the payment is made. </a:t>
            </a:r>
            <a:r>
              <a:rPr lang="en-ZW" sz="2800" b="1" dirty="0">
                <a:latin typeface="Times New Roman" pitchFamily="18" charset="0"/>
                <a:cs typeface="Times New Roman" pitchFamily="18" charset="0"/>
              </a:rPr>
              <a:t>S80(2)</a:t>
            </a:r>
            <a:endParaRPr lang="en-ZW" sz="2800" dirty="0">
              <a:latin typeface="Times New Roman" pitchFamily="18" charset="0"/>
              <a:cs typeface="Times New Roman" pitchFamily="18" charset="0"/>
            </a:endParaRPr>
          </a:p>
          <a:p>
            <a:pPr lvl="0"/>
            <a:r>
              <a:rPr lang="en-ZW" sz="2800" dirty="0">
                <a:latin typeface="Times New Roman" pitchFamily="18" charset="0"/>
                <a:cs typeface="Times New Roman" pitchFamily="18" charset="0"/>
              </a:rPr>
              <a:t>The person from whom the amount has been withheld must be furnished with a certificate showing full details including the amount withheld. </a:t>
            </a:r>
            <a:r>
              <a:rPr lang="en-ZW" sz="2800" b="1" dirty="0">
                <a:latin typeface="Times New Roman" pitchFamily="18" charset="0"/>
                <a:cs typeface="Times New Roman" pitchFamily="18" charset="0"/>
              </a:rPr>
              <a:t>S80(2)</a:t>
            </a:r>
            <a:endParaRPr lang="en-ZW" sz="2800" dirty="0">
              <a:latin typeface="Times New Roman" pitchFamily="18" charset="0"/>
              <a:cs typeface="Times New Roman" pitchFamily="18" charset="0"/>
            </a:endParaRPr>
          </a:p>
          <a:p>
            <a:endParaRPr lang="en-ZW" dirty="0"/>
          </a:p>
        </p:txBody>
      </p:sp>
      <p:sp>
        <p:nvSpPr>
          <p:cNvPr id="3" name="Title 2"/>
          <p:cNvSpPr>
            <a:spLocks noGrp="1"/>
          </p:cNvSpPr>
          <p:nvPr>
            <p:ph type="title"/>
          </p:nvPr>
        </p:nvSpPr>
        <p:spPr/>
        <p:txBody>
          <a:bodyPr/>
          <a:lstStyle/>
          <a:p>
            <a:r>
              <a:rPr lang="en-ZW" dirty="0" smtClean="0">
                <a:latin typeface="Times New Roman" pitchFamily="18" charset="0"/>
                <a:cs typeface="Times New Roman" pitchFamily="18" charset="0"/>
              </a:rPr>
              <a:t>What are the payer’s obligations?</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2607240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420888"/>
            <a:ext cx="7408333" cy="3705275"/>
          </a:xfrm>
        </p:spPr>
        <p:txBody>
          <a:bodyPr>
            <a:normAutofit/>
          </a:bodyPr>
          <a:lstStyle/>
          <a:p>
            <a:pPr lvl="0"/>
            <a:r>
              <a:rPr lang="en-ZW" sz="2800" dirty="0">
                <a:latin typeface="Times New Roman" pitchFamily="18" charset="0"/>
                <a:cs typeface="Times New Roman" pitchFamily="18" charset="0"/>
              </a:rPr>
              <a:t>The payer should retain a copy of the tax clearance certificates furnished by registered clients.</a:t>
            </a:r>
          </a:p>
          <a:p>
            <a:r>
              <a:rPr lang="en-ZW" sz="2800" dirty="0">
                <a:latin typeface="Times New Roman" pitchFamily="18" charset="0"/>
                <a:cs typeface="Times New Roman" pitchFamily="18" charset="0"/>
              </a:rPr>
              <a:t>The payer is liable for the amount that he/she has failed to withhold and is also liable to payment of a 100% penalty on the amount defaulted. Interest is also payable on outstanding amounts</a:t>
            </a:r>
          </a:p>
        </p:txBody>
      </p:sp>
      <p:sp>
        <p:nvSpPr>
          <p:cNvPr id="3" name="Title 2"/>
          <p:cNvSpPr>
            <a:spLocks noGrp="1"/>
          </p:cNvSpPr>
          <p:nvPr>
            <p:ph type="title"/>
          </p:nvPr>
        </p:nvSpPr>
        <p:spPr/>
        <p:txBody>
          <a:bodyPr/>
          <a:lstStyle/>
          <a:p>
            <a:r>
              <a:rPr lang="en-ZW" dirty="0" err="1" smtClean="0">
                <a:latin typeface="Times New Roman" pitchFamily="18" charset="0"/>
                <a:cs typeface="Times New Roman" pitchFamily="18" charset="0"/>
              </a:rPr>
              <a:t>Cont</a:t>
            </a:r>
            <a:r>
              <a:rPr lang="en-ZW" dirty="0" smtClean="0">
                <a:latin typeface="Times New Roman" pitchFamily="18" charset="0"/>
                <a:cs typeface="Times New Roman" pitchFamily="18" charset="0"/>
              </a:rPr>
              <a:t>’</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352354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A contractor of services to a non resident artist or entertainer is required to with hold 15% of the amount payable under the contract and shall pay the amount so with held to the commissioner by the 10</a:t>
            </a:r>
            <a:r>
              <a:rPr lang="en-ZW" baseline="30000" dirty="0" smtClean="0"/>
              <a:t>th</a:t>
            </a:r>
            <a:r>
              <a:rPr lang="en-ZW" dirty="0" smtClean="0"/>
              <a:t> of the following month.</a:t>
            </a:r>
            <a:endParaRPr lang="en-ZW" dirty="0"/>
          </a:p>
        </p:txBody>
      </p:sp>
      <p:sp>
        <p:nvSpPr>
          <p:cNvPr id="3" name="Title 2"/>
          <p:cNvSpPr>
            <a:spLocks noGrp="1"/>
          </p:cNvSpPr>
          <p:nvPr>
            <p:ph type="title"/>
          </p:nvPr>
        </p:nvSpPr>
        <p:spPr/>
        <p:txBody>
          <a:bodyPr>
            <a:normAutofit fontScale="90000"/>
          </a:bodyPr>
          <a:lstStyle/>
          <a:p>
            <a:r>
              <a:rPr lang="en-ZW" dirty="0" smtClean="0"/>
              <a:t>With holding tax on non resident entertainers and artist (S80 B)</a:t>
            </a:r>
            <a:endParaRPr lang="en-ZW"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28800"/>
            <a:ext cx="7408333" cy="4497363"/>
          </a:xfrm>
        </p:spPr>
        <p:txBody>
          <a:bodyPr>
            <a:normAutofit/>
          </a:bodyPr>
          <a:lstStyle/>
          <a:p>
            <a:r>
              <a:rPr lang="en-ZW" sz="2800" dirty="0">
                <a:latin typeface="Times New Roman" pitchFamily="18" charset="0"/>
                <a:cs typeface="Times New Roman" pitchFamily="18" charset="0"/>
              </a:rPr>
              <a:t>Amounts paid in terms of employment </a:t>
            </a:r>
            <a:r>
              <a:rPr lang="en-ZW" sz="2800" dirty="0" smtClean="0">
                <a:latin typeface="Times New Roman" pitchFamily="18" charset="0"/>
                <a:cs typeface="Times New Roman" pitchFamily="18" charset="0"/>
              </a:rPr>
              <a:t>contract</a:t>
            </a:r>
          </a:p>
          <a:p>
            <a:pPr lvl="0"/>
            <a:r>
              <a:rPr lang="en-ZW" sz="2800" dirty="0">
                <a:latin typeface="Times New Roman" pitchFamily="18" charset="0"/>
                <a:cs typeface="Times New Roman" pitchFamily="18" charset="0"/>
              </a:rPr>
              <a:t>Payments for the supply of farm produce and livestock to farmers. However payments for farm produce to persons who buy for resale such as traders, retailers and wholesalers are subject to withholding tax.</a:t>
            </a:r>
          </a:p>
          <a:p>
            <a:r>
              <a:rPr lang="en-ZW" sz="2800" dirty="0">
                <a:latin typeface="Times New Roman" pitchFamily="18" charset="0"/>
                <a:cs typeface="Times New Roman" pitchFamily="18" charset="0"/>
              </a:rPr>
              <a:t>Sales effected in any shop in the ordinary course of the business of the shop and any other consumer contract for the sale or supply of goods or services</a:t>
            </a:r>
            <a:r>
              <a:rPr lang="en-ZW" dirty="0"/>
              <a:t> </a:t>
            </a:r>
          </a:p>
        </p:txBody>
      </p:sp>
      <p:sp>
        <p:nvSpPr>
          <p:cNvPr id="3" name="Title 2"/>
          <p:cNvSpPr>
            <a:spLocks noGrp="1"/>
          </p:cNvSpPr>
          <p:nvPr>
            <p:ph type="title"/>
          </p:nvPr>
        </p:nvSpPr>
        <p:spPr/>
        <p:txBody>
          <a:bodyPr/>
          <a:lstStyle/>
          <a:p>
            <a:r>
              <a:rPr lang="en-ZW" dirty="0" smtClean="0">
                <a:latin typeface="Times New Roman" pitchFamily="18" charset="0"/>
                <a:cs typeface="Times New Roman" pitchFamily="18" charset="0"/>
              </a:rPr>
              <a:t>What is exempted?</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3241820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40768"/>
            <a:ext cx="8229600" cy="3600400"/>
          </a:xfrm>
        </p:spPr>
        <p:txBody>
          <a:bodyPr/>
          <a:lstStyle/>
          <a:p>
            <a:r>
              <a:rPr lang="en-ZW" dirty="0" smtClean="0">
                <a:solidFill>
                  <a:schemeClr val="tx2"/>
                </a:solidFill>
                <a:latin typeface="Times New Roman" pitchFamily="18" charset="0"/>
                <a:cs typeface="Times New Roman" pitchFamily="18" charset="0"/>
              </a:rPr>
              <a:t>Types of withholding taxes</a:t>
            </a:r>
            <a:r>
              <a:rPr lang="en-ZW" dirty="0" smtClean="0">
                <a:solidFill>
                  <a:schemeClr val="tx2"/>
                </a:solidFill>
              </a:rPr>
              <a:t>.</a:t>
            </a:r>
            <a:endParaRPr lang="en-ZW" dirty="0">
              <a:solidFill>
                <a:schemeClr val="tx2"/>
              </a:solidFill>
            </a:endParaRPr>
          </a:p>
        </p:txBody>
      </p:sp>
    </p:spTree>
    <p:extLst>
      <p:ext uri="{BB962C8B-B14F-4D97-AF65-F5344CB8AC3E}">
        <p14:creationId xmlns="" xmlns:p14="http://schemas.microsoft.com/office/powerpoint/2010/main" val="3193498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72067" y="1844824"/>
            <a:ext cx="7408333" cy="4281339"/>
          </a:xfrm>
        </p:spPr>
        <p:txBody>
          <a:bodyPr>
            <a:normAutofit fontScale="92500" lnSpcReduction="20000"/>
          </a:bodyPr>
          <a:lstStyle/>
          <a:p>
            <a:r>
              <a:rPr lang="en-ZW" sz="2800" dirty="0" smtClean="0">
                <a:latin typeface="Times New Roman" pitchFamily="18" charset="0"/>
                <a:cs typeface="Times New Roman" pitchFamily="18" charset="0"/>
              </a:rPr>
              <a:t>Every co, ordinarily resident in Zimbabwe, which distributes a dividend to a person other than a statutory corporation, a co limited by shares, </a:t>
            </a:r>
            <a:r>
              <a:rPr lang="en-ZW" sz="2800" dirty="0" err="1" smtClean="0">
                <a:latin typeface="Times New Roman" pitchFamily="18" charset="0"/>
                <a:cs typeface="Times New Roman" pitchFamily="18" charset="0"/>
              </a:rPr>
              <a:t>pvt</a:t>
            </a:r>
            <a:r>
              <a:rPr lang="en-ZW" sz="2800" dirty="0" smtClean="0">
                <a:latin typeface="Times New Roman" pitchFamily="18" charset="0"/>
                <a:cs typeface="Times New Roman" pitchFamily="18" charset="0"/>
              </a:rPr>
              <a:t> </a:t>
            </a:r>
            <a:r>
              <a:rPr lang="en-ZW" sz="2800" dirty="0" err="1" smtClean="0">
                <a:latin typeface="Times New Roman" pitchFamily="18" charset="0"/>
                <a:cs typeface="Times New Roman" pitchFamily="18" charset="0"/>
              </a:rPr>
              <a:t>bsn</a:t>
            </a:r>
            <a:r>
              <a:rPr lang="en-ZW" sz="2800" dirty="0" smtClean="0">
                <a:latin typeface="Times New Roman" pitchFamily="18" charset="0"/>
                <a:cs typeface="Times New Roman" pitchFamily="18" charset="0"/>
              </a:rPr>
              <a:t> corporation, PF, BF or a medical aid society who is ordinarily resident in </a:t>
            </a:r>
            <a:r>
              <a:rPr lang="en-ZW" sz="2800" dirty="0" err="1" smtClean="0">
                <a:latin typeface="Times New Roman" pitchFamily="18" charset="0"/>
                <a:cs typeface="Times New Roman" pitchFamily="18" charset="0"/>
              </a:rPr>
              <a:t>Zim</a:t>
            </a:r>
            <a:r>
              <a:rPr lang="en-ZW" sz="2800" dirty="0" smtClean="0">
                <a:latin typeface="Times New Roman" pitchFamily="18" charset="0"/>
                <a:cs typeface="Times New Roman" pitchFamily="18" charset="0"/>
              </a:rPr>
              <a:t> or a partnership which is ordinarily resident in </a:t>
            </a:r>
            <a:r>
              <a:rPr lang="en-ZW" sz="2800" dirty="0" err="1" smtClean="0">
                <a:latin typeface="Times New Roman" pitchFamily="18" charset="0"/>
                <a:cs typeface="Times New Roman" pitchFamily="18" charset="0"/>
              </a:rPr>
              <a:t>Zim</a:t>
            </a:r>
            <a:r>
              <a:rPr lang="en-ZW" sz="2800" dirty="0" smtClean="0">
                <a:latin typeface="Times New Roman" pitchFamily="18" charset="0"/>
                <a:cs typeface="Times New Roman" pitchFamily="18" charset="0"/>
              </a:rPr>
              <a:t> shall with hold RST as follows:</a:t>
            </a:r>
            <a:endParaRPr lang="en-ZW" sz="2800" dirty="0">
              <a:latin typeface="Times New Roman" pitchFamily="18" charset="0"/>
              <a:cs typeface="Times New Roman" pitchFamily="18" charset="0"/>
            </a:endParaRPr>
          </a:p>
          <a:p>
            <a:r>
              <a:rPr lang="en-ZW" sz="2800" dirty="0">
                <a:latin typeface="Times New Roman" pitchFamily="18" charset="0"/>
                <a:cs typeface="Times New Roman" pitchFamily="18" charset="0"/>
              </a:rPr>
              <a:t>· Payable by companies listed on the Zimbabwe Stock Exchange is 10%</a:t>
            </a:r>
          </a:p>
          <a:p>
            <a:r>
              <a:rPr lang="en-ZW" sz="2800" dirty="0">
                <a:latin typeface="Times New Roman" pitchFamily="18" charset="0"/>
                <a:cs typeface="Times New Roman" pitchFamily="18" charset="0"/>
              </a:rPr>
              <a:t>· Payable by non listed entities is 15%.</a:t>
            </a:r>
          </a:p>
          <a:p>
            <a:r>
              <a:rPr lang="en-ZW" sz="2800" dirty="0">
                <a:latin typeface="Times New Roman" pitchFamily="18" charset="0"/>
                <a:cs typeface="Times New Roman" pitchFamily="18" charset="0"/>
              </a:rPr>
              <a:t>R.S.T. is payable by the 10th day of the month following date of distribution.</a:t>
            </a:r>
          </a:p>
          <a:p>
            <a:endParaRPr lang="en-ZW" dirty="0"/>
          </a:p>
        </p:txBody>
      </p:sp>
      <p:sp>
        <p:nvSpPr>
          <p:cNvPr id="3" name="Title 2"/>
          <p:cNvSpPr>
            <a:spLocks noGrp="1"/>
          </p:cNvSpPr>
          <p:nvPr>
            <p:ph type="title"/>
          </p:nvPr>
        </p:nvSpPr>
        <p:spPr/>
        <p:txBody>
          <a:bodyPr>
            <a:noAutofit/>
          </a:bodyPr>
          <a:lstStyle/>
          <a:p>
            <a:r>
              <a:rPr lang="en-ZW" dirty="0">
                <a:latin typeface="Times New Roman" pitchFamily="18" charset="0"/>
                <a:cs typeface="Times New Roman" pitchFamily="18" charset="0"/>
              </a:rPr>
              <a:t>RESIDENT SHAREHOLDERS’ TAX [R.S.T</a:t>
            </a:r>
            <a:r>
              <a:rPr lang="en-ZW" dirty="0" smtClean="0">
                <a:latin typeface="Times New Roman" pitchFamily="18" charset="0"/>
                <a:cs typeface="Times New Roman" pitchFamily="18" charset="0"/>
              </a:rPr>
              <a:t>.]: Sect 26&amp;28</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3534074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ZW" sz="2800" dirty="0" smtClean="0">
                <a:latin typeface="Times New Roman" pitchFamily="18" charset="0"/>
                <a:cs typeface="Times New Roman" pitchFamily="18" charset="0"/>
              </a:rPr>
              <a:t>NB , a co is deemed to be ordinarily resident in Zimbabwe if its central management and control is situated in Zimbabwe. A partnership is deemed to be ordinarily resident in Zimbabwe when at least one partner is ordinarily resident in Zimbabwe.</a:t>
            </a:r>
          </a:p>
          <a:p>
            <a:r>
              <a:rPr lang="en-ZW" sz="2800" dirty="0" smtClean="0">
                <a:latin typeface="Times New Roman" pitchFamily="18" charset="0"/>
                <a:cs typeface="Times New Roman" pitchFamily="18" charset="0"/>
              </a:rPr>
              <a:t>In case where a nominee is used the, the nominee must with hold tax  if not deducted by the co and provide the TP with a certificate showing the gross dividend, the amount if any of tax previously granted and the amount of RST with held.</a:t>
            </a:r>
            <a:endParaRPr lang="en-ZW" sz="28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ZW" dirty="0" smtClean="0"/>
              <a:t>RST CONTND</a:t>
            </a:r>
            <a:endParaRPr lang="en-ZW"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The commissioner shall authorise a refund of RST where the aggregate dividend from a local source and interest does not exceed certain threshold as shown below:</a:t>
            </a:r>
          </a:p>
          <a:p>
            <a:r>
              <a:rPr lang="en-ZW" dirty="0" smtClean="0"/>
              <a:t>The refund is reduced proportionately if the period of assessment is less than a year. The commissioner will not authorize a refund unless the claim is made within 6yrs from the date of the payment.</a:t>
            </a:r>
            <a:endParaRPr lang="en-ZW" dirty="0"/>
          </a:p>
        </p:txBody>
      </p:sp>
      <p:sp>
        <p:nvSpPr>
          <p:cNvPr id="3" name="Title 2"/>
          <p:cNvSpPr>
            <a:spLocks noGrp="1"/>
          </p:cNvSpPr>
          <p:nvPr>
            <p:ph type="title"/>
          </p:nvPr>
        </p:nvSpPr>
        <p:spPr/>
        <p:txBody>
          <a:bodyPr/>
          <a:lstStyle/>
          <a:p>
            <a:r>
              <a:rPr lang="en-ZW" dirty="0" smtClean="0"/>
              <a:t>REFUND OF RST</a:t>
            </a:r>
            <a:endParaRPr lang="en-ZW"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481138"/>
          <a:ext cx="8229600" cy="395732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pPr marL="0" marR="0">
                        <a:lnSpc>
                          <a:spcPct val="115000"/>
                        </a:lnSpc>
                        <a:spcBef>
                          <a:spcPts val="0"/>
                        </a:spcBef>
                        <a:spcAft>
                          <a:spcPts val="0"/>
                        </a:spcAft>
                      </a:pPr>
                      <a:r>
                        <a:rPr lang="en-ZW" sz="2000" b="1" dirty="0">
                          <a:latin typeface="Times New Roman"/>
                          <a:ea typeface="Calibri"/>
                          <a:cs typeface="Times New Roman"/>
                        </a:rPr>
                        <a:t>SHAREHOLDERS ABOVE 55 YEARS</a:t>
                      </a:r>
                      <a:endParaRPr lang="en-ZW" sz="1100" dirty="0">
                        <a:latin typeface="Calibri"/>
                        <a:ea typeface="Calibri"/>
                        <a:cs typeface="Times New Roman"/>
                      </a:endParaRPr>
                    </a:p>
                  </a:txBody>
                  <a:tcPr marL="68580" marR="68580" marT="0" marB="0"/>
                </a:tc>
                <a:tc>
                  <a:txBody>
                    <a:bodyPr/>
                    <a:lstStyle/>
                    <a:p>
                      <a:endParaRPr lang="en-ZW" dirty="0"/>
                    </a:p>
                  </a:txBody>
                  <a:tcPr/>
                </a:tc>
                <a:tc>
                  <a:txBody>
                    <a:bodyPr/>
                    <a:lstStyle/>
                    <a:p>
                      <a:r>
                        <a:rPr kumimoji="0" lang="en-ZW" sz="1800" b="1" kern="1200" dirty="0" smtClean="0">
                          <a:solidFill>
                            <a:schemeClr val="lt1"/>
                          </a:solidFill>
                          <a:latin typeface="+mn-lt"/>
                          <a:ea typeface="+mn-ea"/>
                          <a:cs typeface="+mn-cs"/>
                        </a:rPr>
                        <a:t>SHAREHOLDERS BELOW 55 YEARS</a:t>
                      </a:r>
                      <a:endParaRPr lang="en-ZW" dirty="0"/>
                    </a:p>
                  </a:txBody>
                  <a:tcPr/>
                </a:tc>
                <a:tc>
                  <a:txBody>
                    <a:bodyPr/>
                    <a:lstStyle/>
                    <a:p>
                      <a:endParaRPr lang="en-ZW"/>
                    </a:p>
                  </a:txBody>
                  <a:tcPr/>
                </a:tc>
              </a:tr>
              <a:tr h="370840">
                <a:tc>
                  <a:txBody>
                    <a:bodyPr/>
                    <a:lstStyle/>
                    <a:p>
                      <a:pPr marL="0" marR="0">
                        <a:lnSpc>
                          <a:spcPct val="115000"/>
                        </a:lnSpc>
                        <a:spcBef>
                          <a:spcPts val="0"/>
                        </a:spcBef>
                        <a:spcAft>
                          <a:spcPts val="0"/>
                        </a:spcAft>
                      </a:pPr>
                      <a:r>
                        <a:rPr lang="en-ZW" sz="2000" dirty="0">
                          <a:latin typeface="Times New Roman"/>
                          <a:ea typeface="Calibri"/>
                          <a:cs typeface="Times New Roman"/>
                        </a:rPr>
                        <a:t>Aggregate dividend plus interest</a:t>
                      </a:r>
                      <a:endParaRPr lang="en-ZW" sz="1100" dirty="0">
                        <a:latin typeface="Calibri"/>
                        <a:ea typeface="Calibri"/>
                        <a:cs typeface="Times New Roman"/>
                      </a:endParaRPr>
                    </a:p>
                  </a:txBody>
                  <a:tcPr marL="68580" marR="68580" marT="0" marB="0"/>
                </a:tc>
                <a:tc>
                  <a:txBody>
                    <a:bodyPr/>
                    <a:lstStyle/>
                    <a:p>
                      <a:endParaRPr lang="en-ZW"/>
                    </a:p>
                  </a:txBody>
                  <a:tcPr/>
                </a:tc>
                <a:tc>
                  <a:txBody>
                    <a:bodyPr/>
                    <a:lstStyle/>
                    <a:p>
                      <a:pPr marL="0" marR="0">
                        <a:lnSpc>
                          <a:spcPct val="115000"/>
                        </a:lnSpc>
                        <a:spcBef>
                          <a:spcPts val="0"/>
                        </a:spcBef>
                        <a:spcAft>
                          <a:spcPts val="0"/>
                        </a:spcAft>
                      </a:pPr>
                      <a:r>
                        <a:rPr lang="en-ZW" sz="2000" dirty="0">
                          <a:latin typeface="Times New Roman"/>
                          <a:ea typeface="Calibri"/>
                          <a:cs typeface="Times New Roman"/>
                        </a:rPr>
                        <a:t>Aggregate dividend plus interest</a:t>
                      </a:r>
                      <a:endParaRPr lang="en-ZW" sz="1100" dirty="0">
                        <a:latin typeface="Calibri"/>
                        <a:ea typeface="Calibri"/>
                        <a:cs typeface="Times New Roman"/>
                      </a:endParaRPr>
                    </a:p>
                  </a:txBody>
                  <a:tcPr marL="68580" marR="68580" marT="0" marB="0"/>
                </a:tc>
                <a:tc>
                  <a:txBody>
                    <a:bodyPr/>
                    <a:lstStyle/>
                    <a:p>
                      <a:endParaRPr lang="en-ZW"/>
                    </a:p>
                  </a:txBody>
                  <a:tcPr/>
                </a:tc>
              </a:tr>
              <a:tr h="370840">
                <a:tc>
                  <a:txBody>
                    <a:bodyPr/>
                    <a:lstStyle/>
                    <a:p>
                      <a:r>
                        <a:rPr lang="en-ZW" dirty="0" smtClean="0"/>
                        <a:t>$</a:t>
                      </a:r>
                      <a:endParaRPr lang="en-ZW" dirty="0"/>
                    </a:p>
                  </a:txBody>
                  <a:tcPr/>
                </a:tc>
                <a:tc>
                  <a:txBody>
                    <a:bodyPr/>
                    <a:lstStyle/>
                    <a:p>
                      <a:r>
                        <a:rPr lang="en-ZW" dirty="0" smtClean="0"/>
                        <a:t>%</a:t>
                      </a:r>
                      <a:endParaRPr lang="en-ZW" dirty="0"/>
                    </a:p>
                  </a:txBody>
                  <a:tcPr/>
                </a:tc>
                <a:tc>
                  <a:txBody>
                    <a:bodyPr/>
                    <a:lstStyle/>
                    <a:p>
                      <a:r>
                        <a:rPr lang="en-ZW" dirty="0" smtClean="0"/>
                        <a:t>$</a:t>
                      </a:r>
                      <a:endParaRPr lang="en-ZW" dirty="0"/>
                    </a:p>
                  </a:txBody>
                  <a:tcPr/>
                </a:tc>
                <a:tc>
                  <a:txBody>
                    <a:bodyPr/>
                    <a:lstStyle/>
                    <a:p>
                      <a:r>
                        <a:rPr lang="en-ZW" dirty="0" smtClean="0"/>
                        <a:t>%</a:t>
                      </a:r>
                      <a:endParaRPr lang="en-ZW" dirty="0"/>
                    </a:p>
                  </a:txBody>
                  <a:tcPr/>
                </a:tc>
              </a:tr>
              <a:tr h="370840">
                <a:tc>
                  <a:txBody>
                    <a:bodyPr/>
                    <a:lstStyle/>
                    <a:p>
                      <a:r>
                        <a:rPr lang="en-ZW" dirty="0" smtClean="0"/>
                        <a:t>Up to 600</a:t>
                      </a:r>
                      <a:endParaRPr lang="en-ZW" dirty="0"/>
                    </a:p>
                  </a:txBody>
                  <a:tcPr/>
                </a:tc>
                <a:tc>
                  <a:txBody>
                    <a:bodyPr/>
                    <a:lstStyle/>
                    <a:p>
                      <a:r>
                        <a:rPr lang="en-ZW" dirty="0" smtClean="0"/>
                        <a:t>100</a:t>
                      </a:r>
                      <a:endParaRPr lang="en-ZW" dirty="0"/>
                    </a:p>
                  </a:txBody>
                  <a:tcPr/>
                </a:tc>
                <a:tc>
                  <a:txBody>
                    <a:bodyPr/>
                    <a:lstStyle/>
                    <a:p>
                      <a:r>
                        <a:rPr lang="en-ZW" dirty="0" smtClean="0"/>
                        <a:t>Up to 480</a:t>
                      </a:r>
                      <a:endParaRPr lang="en-ZW" dirty="0"/>
                    </a:p>
                  </a:txBody>
                  <a:tcPr/>
                </a:tc>
                <a:tc>
                  <a:txBody>
                    <a:bodyPr/>
                    <a:lstStyle/>
                    <a:p>
                      <a:r>
                        <a:rPr lang="en-ZW" dirty="0" smtClean="0"/>
                        <a:t>100</a:t>
                      </a:r>
                      <a:endParaRPr lang="en-ZW" dirty="0"/>
                    </a:p>
                  </a:txBody>
                  <a:tcPr/>
                </a:tc>
              </a:tr>
              <a:tr h="370840">
                <a:tc>
                  <a:txBody>
                    <a:bodyPr/>
                    <a:lstStyle/>
                    <a:p>
                      <a:r>
                        <a:rPr lang="en-ZW" dirty="0" smtClean="0"/>
                        <a:t>601-720</a:t>
                      </a:r>
                      <a:endParaRPr lang="en-ZW" dirty="0"/>
                    </a:p>
                  </a:txBody>
                  <a:tcPr/>
                </a:tc>
                <a:tc>
                  <a:txBody>
                    <a:bodyPr/>
                    <a:lstStyle/>
                    <a:p>
                      <a:r>
                        <a:rPr lang="en-ZW" dirty="0" smtClean="0"/>
                        <a:t>75</a:t>
                      </a:r>
                      <a:endParaRPr lang="en-ZW" dirty="0"/>
                    </a:p>
                  </a:txBody>
                  <a:tcPr/>
                </a:tc>
                <a:tc>
                  <a:txBody>
                    <a:bodyPr/>
                    <a:lstStyle/>
                    <a:p>
                      <a:r>
                        <a:rPr lang="en-ZW" dirty="0" smtClean="0"/>
                        <a:t>481- 600</a:t>
                      </a:r>
                      <a:endParaRPr lang="en-ZW" dirty="0"/>
                    </a:p>
                  </a:txBody>
                  <a:tcPr/>
                </a:tc>
                <a:tc>
                  <a:txBody>
                    <a:bodyPr/>
                    <a:lstStyle/>
                    <a:p>
                      <a:r>
                        <a:rPr lang="en-ZW" dirty="0" smtClean="0"/>
                        <a:t>75</a:t>
                      </a:r>
                      <a:endParaRPr lang="en-ZW" dirty="0"/>
                    </a:p>
                  </a:txBody>
                  <a:tcPr/>
                </a:tc>
              </a:tr>
              <a:tr h="370840">
                <a:tc>
                  <a:txBody>
                    <a:bodyPr/>
                    <a:lstStyle/>
                    <a:p>
                      <a:r>
                        <a:rPr lang="en-ZW" dirty="0" smtClean="0"/>
                        <a:t>721-840</a:t>
                      </a:r>
                      <a:endParaRPr lang="en-ZW" dirty="0"/>
                    </a:p>
                  </a:txBody>
                  <a:tcPr/>
                </a:tc>
                <a:tc>
                  <a:txBody>
                    <a:bodyPr/>
                    <a:lstStyle/>
                    <a:p>
                      <a:r>
                        <a:rPr lang="en-ZW" dirty="0" smtClean="0"/>
                        <a:t>50</a:t>
                      </a:r>
                      <a:endParaRPr lang="en-ZW" dirty="0"/>
                    </a:p>
                  </a:txBody>
                  <a:tcPr/>
                </a:tc>
                <a:tc>
                  <a:txBody>
                    <a:bodyPr/>
                    <a:lstStyle/>
                    <a:p>
                      <a:r>
                        <a:rPr lang="en-ZW" dirty="0" smtClean="0"/>
                        <a:t>601-  720</a:t>
                      </a:r>
                      <a:endParaRPr lang="en-ZW" dirty="0"/>
                    </a:p>
                  </a:txBody>
                  <a:tcPr/>
                </a:tc>
                <a:tc>
                  <a:txBody>
                    <a:bodyPr/>
                    <a:lstStyle/>
                    <a:p>
                      <a:r>
                        <a:rPr lang="en-ZW" dirty="0" smtClean="0"/>
                        <a:t>50</a:t>
                      </a:r>
                      <a:endParaRPr lang="en-ZW" dirty="0"/>
                    </a:p>
                  </a:txBody>
                  <a:tcPr/>
                </a:tc>
              </a:tr>
              <a:tr h="370840">
                <a:tc>
                  <a:txBody>
                    <a:bodyPr/>
                    <a:lstStyle/>
                    <a:p>
                      <a:r>
                        <a:rPr lang="en-ZW" dirty="0" smtClean="0"/>
                        <a:t>841-960</a:t>
                      </a:r>
                      <a:endParaRPr lang="en-ZW" dirty="0"/>
                    </a:p>
                  </a:txBody>
                  <a:tcPr/>
                </a:tc>
                <a:tc>
                  <a:txBody>
                    <a:bodyPr/>
                    <a:lstStyle/>
                    <a:p>
                      <a:r>
                        <a:rPr lang="en-ZW" dirty="0" smtClean="0"/>
                        <a:t>25</a:t>
                      </a:r>
                      <a:endParaRPr lang="en-ZW" dirty="0"/>
                    </a:p>
                  </a:txBody>
                  <a:tcPr/>
                </a:tc>
                <a:tc>
                  <a:txBody>
                    <a:bodyPr/>
                    <a:lstStyle/>
                    <a:p>
                      <a:r>
                        <a:rPr lang="en-ZW" dirty="0" smtClean="0"/>
                        <a:t>721-  840</a:t>
                      </a:r>
                      <a:endParaRPr lang="en-ZW" dirty="0"/>
                    </a:p>
                  </a:txBody>
                  <a:tcPr/>
                </a:tc>
                <a:tc>
                  <a:txBody>
                    <a:bodyPr/>
                    <a:lstStyle/>
                    <a:p>
                      <a:r>
                        <a:rPr lang="en-ZW" dirty="0" smtClean="0"/>
                        <a:t>25</a:t>
                      </a:r>
                      <a:endParaRPr lang="en-ZW" dirty="0"/>
                    </a:p>
                  </a:txBody>
                  <a:tcPr/>
                </a:tc>
              </a:tr>
            </a:tbl>
          </a:graphicData>
        </a:graphic>
      </p:graphicFrame>
      <p:sp>
        <p:nvSpPr>
          <p:cNvPr id="3" name="Title 2"/>
          <p:cNvSpPr>
            <a:spLocks noGrp="1"/>
          </p:cNvSpPr>
          <p:nvPr>
            <p:ph type="title"/>
          </p:nvPr>
        </p:nvSpPr>
        <p:spPr/>
        <p:txBody>
          <a:bodyPr/>
          <a:lstStyle/>
          <a:p>
            <a:r>
              <a:rPr lang="en-ZW" dirty="0" smtClean="0"/>
              <a:t>REFUND OF RST</a:t>
            </a:r>
            <a:endParaRPr lang="en-ZW"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Compute how much is refunded to Mr Mpofu, 66 years old </a:t>
            </a:r>
            <a:r>
              <a:rPr lang="en-ZW" dirty="0" smtClean="0"/>
              <a:t>who </a:t>
            </a:r>
            <a:r>
              <a:rPr lang="en-ZW" smtClean="0"/>
              <a:t>received net dividends </a:t>
            </a:r>
            <a:r>
              <a:rPr lang="en-ZW" dirty="0" smtClean="0"/>
              <a:t>and interest as follows </a:t>
            </a:r>
          </a:p>
          <a:p>
            <a:r>
              <a:rPr lang="en-ZW" dirty="0" smtClean="0"/>
              <a:t>Dividend from local  unlisted co               340</a:t>
            </a:r>
          </a:p>
          <a:p>
            <a:r>
              <a:rPr lang="en-ZW" dirty="0" smtClean="0"/>
              <a:t>Interest                                                    204</a:t>
            </a:r>
            <a:endParaRPr lang="en-ZW" dirty="0"/>
          </a:p>
        </p:txBody>
      </p:sp>
      <p:sp>
        <p:nvSpPr>
          <p:cNvPr id="3" name="Title 2"/>
          <p:cNvSpPr>
            <a:spLocks noGrp="1"/>
          </p:cNvSpPr>
          <p:nvPr>
            <p:ph type="title"/>
          </p:nvPr>
        </p:nvSpPr>
        <p:spPr/>
        <p:txBody>
          <a:bodyPr/>
          <a:lstStyle/>
          <a:p>
            <a:r>
              <a:rPr lang="en-ZW" dirty="0" smtClean="0"/>
              <a:t>EXAMPLE </a:t>
            </a:r>
            <a:endParaRPr lang="en-ZW"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16832"/>
            <a:ext cx="7408333" cy="4209331"/>
          </a:xfrm>
        </p:spPr>
        <p:txBody>
          <a:bodyPr>
            <a:normAutofit fontScale="92500"/>
          </a:bodyPr>
          <a:lstStyle/>
          <a:p>
            <a:r>
              <a:rPr lang="en-ZW" sz="2800" dirty="0" smtClean="0">
                <a:latin typeface="Times New Roman" pitchFamily="18" charset="0"/>
                <a:cs typeface="Times New Roman" pitchFamily="18" charset="0"/>
              </a:rPr>
              <a:t>NRST is levied on dividend accruing to a person who is non resident of Zimbabwe. Required to with hold tax is every company that distributes a dividend to  person other a company .....,foreign company or  a foreign insurance co </a:t>
            </a:r>
            <a:r>
              <a:rPr lang="en-ZW" sz="2800" dirty="0">
                <a:latin typeface="Times New Roman" pitchFamily="18" charset="0"/>
                <a:cs typeface="Times New Roman" pitchFamily="18" charset="0"/>
              </a:rPr>
              <a:t>as follows</a:t>
            </a:r>
          </a:p>
          <a:p>
            <a:r>
              <a:rPr lang="en-ZW" sz="2800" dirty="0">
                <a:latin typeface="Times New Roman" pitchFamily="18" charset="0"/>
                <a:cs typeface="Times New Roman" pitchFamily="18" charset="0"/>
              </a:rPr>
              <a:t>· Payable by companies listed on the Zimbabwe Stock Exchange is 10%</a:t>
            </a:r>
          </a:p>
          <a:p>
            <a:r>
              <a:rPr lang="en-ZW" sz="2800" dirty="0">
                <a:latin typeface="Times New Roman" pitchFamily="18" charset="0"/>
                <a:cs typeface="Times New Roman" pitchFamily="18" charset="0"/>
              </a:rPr>
              <a:t>· Payable by non listed entities is 15%.</a:t>
            </a:r>
          </a:p>
          <a:p>
            <a:r>
              <a:rPr lang="en-ZW" sz="2800" dirty="0">
                <a:latin typeface="Times New Roman" pitchFamily="18" charset="0"/>
                <a:cs typeface="Times New Roman" pitchFamily="18" charset="0"/>
              </a:rPr>
              <a:t>N.S.R.T. is </a:t>
            </a:r>
            <a:r>
              <a:rPr lang="en-ZW" sz="2800" dirty="0" smtClean="0">
                <a:latin typeface="Times New Roman" pitchFamily="18" charset="0"/>
                <a:cs typeface="Times New Roman" pitchFamily="18" charset="0"/>
              </a:rPr>
              <a:t>due within 30 days from the date of distribution</a:t>
            </a:r>
            <a:r>
              <a:rPr lang="en-ZW" dirty="0" smtClean="0"/>
              <a:t>.</a:t>
            </a:r>
            <a:endParaRPr lang="en-ZW" dirty="0"/>
          </a:p>
          <a:p>
            <a:endParaRPr lang="en-ZW" dirty="0"/>
          </a:p>
        </p:txBody>
      </p:sp>
      <p:sp>
        <p:nvSpPr>
          <p:cNvPr id="3" name="Title 2"/>
          <p:cNvSpPr>
            <a:spLocks noGrp="1"/>
          </p:cNvSpPr>
          <p:nvPr>
            <p:ph type="title"/>
          </p:nvPr>
        </p:nvSpPr>
        <p:spPr/>
        <p:txBody>
          <a:bodyPr>
            <a:normAutofit fontScale="90000"/>
          </a:bodyPr>
          <a:lstStyle/>
          <a:p>
            <a:r>
              <a:rPr lang="en-ZW" dirty="0">
                <a:latin typeface="Times New Roman" pitchFamily="18" charset="0"/>
                <a:cs typeface="Times New Roman" pitchFamily="18" charset="0"/>
              </a:rPr>
              <a:t>NON-RESIDENT SHAREHOLDERS’ TAX [N.R.S.T.]</a:t>
            </a:r>
          </a:p>
        </p:txBody>
      </p:sp>
    </p:spTree>
    <p:extLst>
      <p:ext uri="{BB962C8B-B14F-4D97-AF65-F5344CB8AC3E}">
        <p14:creationId xmlns="" xmlns:p14="http://schemas.microsoft.com/office/powerpoint/2010/main" val="1537336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On NRST  the payer must furnish the Payee with a certificate  showing;</a:t>
            </a:r>
          </a:p>
          <a:p>
            <a:pPr>
              <a:buFont typeface="Arial" pitchFamily="34" charset="0"/>
              <a:buChar char="•"/>
            </a:pPr>
            <a:r>
              <a:rPr lang="en-ZW" dirty="0" smtClean="0"/>
              <a:t>The gross amount of the dividend</a:t>
            </a:r>
          </a:p>
          <a:p>
            <a:pPr>
              <a:buFont typeface="Arial" pitchFamily="34" charset="0"/>
              <a:buChar char="•"/>
            </a:pPr>
            <a:r>
              <a:rPr lang="en-ZW" dirty="0" smtClean="0"/>
              <a:t>Any reduction of the dividend for the purpose of computing NRST</a:t>
            </a:r>
          </a:p>
          <a:p>
            <a:pPr>
              <a:buFont typeface="Arial" pitchFamily="34" charset="0"/>
              <a:buChar char="•"/>
            </a:pPr>
            <a:r>
              <a:rPr lang="en-ZW" dirty="0" smtClean="0"/>
              <a:t>The amount of NRST with held.</a:t>
            </a:r>
          </a:p>
          <a:p>
            <a:pPr>
              <a:buFont typeface="Wingdings" pitchFamily="2" charset="2"/>
              <a:buChar char="Ø"/>
            </a:pPr>
            <a:r>
              <a:rPr lang="en-ZW" dirty="0" smtClean="0"/>
              <a:t>Failure to with hold  NRST, the payer will be personally liable for the payment together with a 100%, interest on outstanding liability at 35% </a:t>
            </a:r>
            <a:r>
              <a:rPr lang="en-ZW" dirty="0" err="1" smtClean="0"/>
              <a:t>p.a</a:t>
            </a:r>
            <a:r>
              <a:rPr lang="en-ZW" dirty="0" smtClean="0"/>
              <a:t> from the due date of the payment.</a:t>
            </a:r>
            <a:endParaRPr lang="en-ZW" dirty="0"/>
          </a:p>
        </p:txBody>
      </p:sp>
      <p:sp>
        <p:nvSpPr>
          <p:cNvPr id="3" name="Title 2"/>
          <p:cNvSpPr>
            <a:spLocks noGrp="1"/>
          </p:cNvSpPr>
          <p:nvPr>
            <p:ph type="title"/>
          </p:nvPr>
        </p:nvSpPr>
        <p:spPr/>
        <p:txBody>
          <a:bodyPr/>
          <a:lstStyle/>
          <a:p>
            <a:r>
              <a:rPr lang="en-ZW" dirty="0" smtClean="0"/>
              <a:t>CONTND</a:t>
            </a:r>
            <a:endParaRPr lang="en-ZW"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ZW" sz="2800" dirty="0" smtClean="0">
                <a:latin typeface="Times New Roman" pitchFamily="18" charset="0"/>
                <a:cs typeface="Times New Roman" pitchFamily="18" charset="0"/>
              </a:rPr>
              <a:t>Resident Tax on interest is levied on </a:t>
            </a:r>
            <a:r>
              <a:rPr lang="en-ZW" sz="2800" b="1" dirty="0" smtClean="0">
                <a:latin typeface="Times New Roman" pitchFamily="18" charset="0"/>
                <a:cs typeface="Times New Roman" pitchFamily="18" charset="0"/>
              </a:rPr>
              <a:t>interest</a:t>
            </a:r>
            <a:r>
              <a:rPr lang="en-ZW" sz="2800" dirty="0" smtClean="0">
                <a:latin typeface="Times New Roman" pitchFamily="18" charset="0"/>
                <a:cs typeface="Times New Roman" pitchFamily="18" charset="0"/>
              </a:rPr>
              <a:t> from a source within Zimbabwe payable by a financial institution.  Fin institution includes any registered banking institution, BS or the RBZ, a co acting as a trust etc.</a:t>
            </a:r>
          </a:p>
          <a:p>
            <a:r>
              <a:rPr lang="en-ZW" sz="2800" dirty="0" smtClean="0">
                <a:latin typeface="Times New Roman" pitchFamily="18" charset="0"/>
                <a:cs typeface="Times New Roman" pitchFamily="18" charset="0"/>
              </a:rPr>
              <a:t>Every fin institution that pays interest is therefore required to with hold RTI</a:t>
            </a:r>
          </a:p>
          <a:p>
            <a:r>
              <a:rPr lang="en-ZW" sz="2800" dirty="0" smtClean="0">
                <a:latin typeface="Times New Roman" pitchFamily="18" charset="0"/>
                <a:cs typeface="Times New Roman" pitchFamily="18" charset="0"/>
              </a:rPr>
              <a:t>Residents</a:t>
            </a:r>
            <a:r>
              <a:rPr lang="en-ZW" sz="2800" dirty="0">
                <a:latin typeface="Times New Roman" pitchFamily="18" charset="0"/>
                <a:cs typeface="Times New Roman" pitchFamily="18" charset="0"/>
              </a:rPr>
              <a:t>’ tax on Interest is </a:t>
            </a:r>
            <a:r>
              <a:rPr lang="en-ZW" sz="2800" dirty="0" smtClean="0">
                <a:latin typeface="Times New Roman" pitchFamily="18" charset="0"/>
                <a:cs typeface="Times New Roman" pitchFamily="18" charset="0"/>
              </a:rPr>
              <a:t>5% , reduced from 15% from 1 Jan 2015.</a:t>
            </a:r>
            <a:endParaRPr lang="en-ZW" sz="2800" dirty="0">
              <a:latin typeface="Times New Roman" pitchFamily="18" charset="0"/>
              <a:cs typeface="Times New Roman" pitchFamily="18" charset="0"/>
            </a:endParaRPr>
          </a:p>
          <a:p>
            <a:r>
              <a:rPr lang="en-ZW" sz="2800" dirty="0">
                <a:latin typeface="Times New Roman" pitchFamily="18" charset="0"/>
                <a:cs typeface="Times New Roman" pitchFamily="18" charset="0"/>
              </a:rPr>
              <a:t> RTI is payable by the 10th day of the month following date of payment</a:t>
            </a:r>
          </a:p>
          <a:p>
            <a:endParaRPr lang="en-ZW" dirty="0"/>
          </a:p>
        </p:txBody>
      </p:sp>
      <p:sp>
        <p:nvSpPr>
          <p:cNvPr id="3" name="Title 2"/>
          <p:cNvSpPr>
            <a:spLocks noGrp="1"/>
          </p:cNvSpPr>
          <p:nvPr>
            <p:ph type="title"/>
          </p:nvPr>
        </p:nvSpPr>
        <p:spPr/>
        <p:txBody>
          <a:bodyPr>
            <a:noAutofit/>
          </a:bodyPr>
          <a:lstStyle/>
          <a:p>
            <a:r>
              <a:rPr lang="en-ZW" dirty="0">
                <a:latin typeface="Times New Roman" pitchFamily="18" charset="0"/>
                <a:cs typeface="Times New Roman" pitchFamily="18" charset="0"/>
              </a:rPr>
              <a:t>RESIDENTS’ TAX ON INTEREST (R.T.I</a:t>
            </a:r>
            <a:r>
              <a:rPr lang="en-ZW" dirty="0" smtClean="0">
                <a:latin typeface="Times New Roman" pitchFamily="18" charset="0"/>
                <a:cs typeface="Times New Roman" pitchFamily="18" charset="0"/>
              </a:rPr>
              <a:t>.) : Sect 34</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1102028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600200"/>
            <a:ext cx="7408333" cy="4525963"/>
          </a:xfrm>
        </p:spPr>
        <p:txBody>
          <a:bodyPr>
            <a:normAutofit/>
          </a:bodyPr>
          <a:lstStyle/>
          <a:p>
            <a:r>
              <a:rPr lang="en-US" sz="2800" dirty="0" smtClean="0">
                <a:latin typeface="Times New Roman" pitchFamily="18" charset="0"/>
                <a:cs typeface="Times New Roman" pitchFamily="18" charset="0"/>
              </a:rPr>
              <a:t>Exemptions to this tax are POSB, Tax Reserve certificates,4% government six years bonds , Building Society class C shares and interest on foreign currency dominated accounts.</a:t>
            </a:r>
          </a:p>
          <a:p>
            <a:r>
              <a:rPr lang="en-ZW" b="1" dirty="0" smtClean="0"/>
              <a:t>NB NRTI was repealed with effect from 2009.</a:t>
            </a:r>
            <a:endParaRPr lang="en-ZW" b="1" dirty="0"/>
          </a:p>
        </p:txBody>
      </p:sp>
      <p:sp>
        <p:nvSpPr>
          <p:cNvPr id="3" name="Title 2"/>
          <p:cNvSpPr>
            <a:spLocks noGrp="1"/>
          </p:cNvSpPr>
          <p:nvPr>
            <p:ph type="title"/>
          </p:nvPr>
        </p:nvSpPr>
        <p:spPr/>
        <p:txBody>
          <a:bodyPr>
            <a:normAutofit/>
          </a:bodyPr>
          <a:lstStyle/>
          <a:p>
            <a:r>
              <a:rPr lang="en-ZW" dirty="0" smtClean="0">
                <a:latin typeface="Times New Roman" pitchFamily="18" charset="0"/>
                <a:cs typeface="Times New Roman" pitchFamily="18" charset="0"/>
              </a:rPr>
              <a:t>RTI  CONTND</a:t>
            </a:r>
            <a:endParaRPr lang="en-ZW" dirty="0">
              <a:latin typeface="Times New Roman" pitchFamily="18" charset="0"/>
              <a:cs typeface="Times New Roman" pitchFamily="18" charset="0"/>
            </a:endParaRPr>
          </a:p>
        </p:txBody>
      </p:sp>
    </p:spTree>
    <p:extLst>
      <p:ext uri="{BB962C8B-B14F-4D97-AF65-F5344CB8AC3E}">
        <p14:creationId xmlns="" xmlns:p14="http://schemas.microsoft.com/office/powerpoint/2010/main" val="3562639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Compute RTI for Miss </a:t>
            </a:r>
            <a:r>
              <a:rPr lang="en-ZW" dirty="0" err="1" smtClean="0"/>
              <a:t>Ncube</a:t>
            </a:r>
            <a:r>
              <a:rPr lang="en-ZW" dirty="0" smtClean="0"/>
              <a:t>, 65 years old who bought a Treasury bill with a face value of $12000 for $7300</a:t>
            </a:r>
            <a:endParaRPr lang="en-ZW" dirty="0"/>
          </a:p>
        </p:txBody>
      </p:sp>
      <p:sp>
        <p:nvSpPr>
          <p:cNvPr id="3" name="Title 2"/>
          <p:cNvSpPr>
            <a:spLocks noGrp="1"/>
          </p:cNvSpPr>
          <p:nvPr>
            <p:ph type="title"/>
          </p:nvPr>
        </p:nvSpPr>
        <p:spPr/>
        <p:txBody>
          <a:bodyPr/>
          <a:lstStyle/>
          <a:p>
            <a:r>
              <a:rPr lang="en-ZW" dirty="0" smtClean="0"/>
              <a:t>Example</a:t>
            </a:r>
            <a:endParaRPr lang="en-ZW"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7467" y="2276872"/>
            <a:ext cx="7408333" cy="3849291"/>
          </a:xfrm>
        </p:spPr>
        <p:txBody>
          <a:bodyPr>
            <a:normAutofit/>
          </a:bodyPr>
          <a:lstStyle/>
          <a:p>
            <a:r>
              <a:rPr lang="en-ZW" sz="2800" dirty="0">
                <a:latin typeface="Times New Roman" pitchFamily="18" charset="0"/>
                <a:cs typeface="Times New Roman" pitchFamily="18" charset="0"/>
              </a:rPr>
              <a:t>The rate of withholding tax on fees is 15%.</a:t>
            </a:r>
          </a:p>
          <a:p>
            <a:r>
              <a:rPr lang="en-ZW" sz="2800" dirty="0">
                <a:latin typeface="Times New Roman" pitchFamily="18" charset="0"/>
                <a:cs typeface="Times New Roman" pitchFamily="18" charset="0"/>
              </a:rPr>
              <a:t>The tax is imposed on fees paid to non-residents in respect of technical, managerial, administrative or consultative services. This includes directors’ </a:t>
            </a:r>
            <a:r>
              <a:rPr lang="en-ZW" sz="2800" dirty="0" smtClean="0">
                <a:latin typeface="Times New Roman" pitchFamily="18" charset="0"/>
                <a:cs typeface="Times New Roman" pitchFamily="18" charset="0"/>
              </a:rPr>
              <a:t>fees excludes amounts paid for </a:t>
            </a:r>
            <a:r>
              <a:rPr lang="en-ZW" sz="2800" smtClean="0">
                <a:latin typeface="Times New Roman" pitchFamily="18" charset="0"/>
                <a:cs typeface="Times New Roman" pitchFamily="18" charset="0"/>
              </a:rPr>
              <a:t>training services.</a:t>
            </a:r>
            <a:endParaRPr lang="en-ZW" sz="2800" dirty="0">
              <a:latin typeface="Times New Roman" pitchFamily="18" charset="0"/>
              <a:cs typeface="Times New Roman" pitchFamily="18" charset="0"/>
            </a:endParaRPr>
          </a:p>
          <a:p>
            <a:r>
              <a:rPr lang="en-ZW" sz="2800" dirty="0">
                <a:latin typeface="Times New Roman" pitchFamily="18" charset="0"/>
                <a:cs typeface="Times New Roman" pitchFamily="18" charset="0"/>
              </a:rPr>
              <a:t> NRTF is payable by the 10th day of the month following date of payment</a:t>
            </a:r>
          </a:p>
        </p:txBody>
      </p:sp>
      <p:sp>
        <p:nvSpPr>
          <p:cNvPr id="3" name="Title 2"/>
          <p:cNvSpPr>
            <a:spLocks noGrp="1"/>
          </p:cNvSpPr>
          <p:nvPr>
            <p:ph type="title"/>
          </p:nvPr>
        </p:nvSpPr>
        <p:spPr/>
        <p:txBody>
          <a:bodyPr>
            <a:noAutofit/>
          </a:bodyPr>
          <a:lstStyle/>
          <a:p>
            <a:r>
              <a:rPr lang="en-ZW" dirty="0">
                <a:latin typeface="Times New Roman" pitchFamily="18" charset="0"/>
                <a:cs typeface="Times New Roman" pitchFamily="18" charset="0"/>
              </a:rPr>
              <a:t>NON-RESIDENTS’ TAX ON FEES (NRTF)</a:t>
            </a:r>
          </a:p>
        </p:txBody>
      </p:sp>
    </p:spTree>
    <p:extLst>
      <p:ext uri="{BB962C8B-B14F-4D97-AF65-F5344CB8AC3E}">
        <p14:creationId xmlns="" xmlns:p14="http://schemas.microsoft.com/office/powerpoint/2010/main" val="4193422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CBC Ltd, a domestic corporation, commission Navision networking , supplied by a USA based company. The co paid a cheque of $33000 to USA based co, which was broken down as follows:</a:t>
            </a:r>
          </a:p>
          <a:p>
            <a:r>
              <a:rPr lang="en-ZW" dirty="0" smtClean="0"/>
              <a:t>Training of staff                     5000</a:t>
            </a:r>
          </a:p>
          <a:p>
            <a:r>
              <a:rPr lang="en-ZW" dirty="0" smtClean="0"/>
              <a:t>Technical support                 16000</a:t>
            </a:r>
          </a:p>
          <a:p>
            <a:r>
              <a:rPr lang="en-ZW" dirty="0" smtClean="0"/>
              <a:t>Payment to CBC ltd employees involved in the project                                     7500</a:t>
            </a:r>
          </a:p>
          <a:p>
            <a:r>
              <a:rPr lang="en-ZW" dirty="0" smtClean="0"/>
              <a:t>Commissioning fees                 4500</a:t>
            </a:r>
            <a:endParaRPr lang="en-ZW" dirty="0"/>
          </a:p>
        </p:txBody>
      </p:sp>
      <p:sp>
        <p:nvSpPr>
          <p:cNvPr id="3" name="Title 2"/>
          <p:cNvSpPr>
            <a:spLocks noGrp="1"/>
          </p:cNvSpPr>
          <p:nvPr>
            <p:ph type="title"/>
          </p:nvPr>
        </p:nvSpPr>
        <p:spPr/>
        <p:txBody>
          <a:bodyPr>
            <a:normAutofit fontScale="90000"/>
          </a:bodyPr>
          <a:lstStyle/>
          <a:p>
            <a:r>
              <a:rPr lang="en-ZW" dirty="0" smtClean="0"/>
              <a:t>Example(compute with holding tax on the fees)</a:t>
            </a:r>
            <a:endParaRPr lang="en-ZW"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48267" y="2348880"/>
            <a:ext cx="7408333" cy="3777283"/>
          </a:xfrm>
        </p:spPr>
        <p:txBody>
          <a:bodyPr>
            <a:normAutofit fontScale="92500"/>
          </a:bodyPr>
          <a:lstStyle/>
          <a:p>
            <a:r>
              <a:rPr lang="en-ZW" sz="2800" dirty="0">
                <a:latin typeface="Times New Roman" pitchFamily="18" charset="0"/>
                <a:cs typeface="Times New Roman" pitchFamily="18" charset="0"/>
              </a:rPr>
              <a:t>The rate of withholding tax on</a:t>
            </a:r>
            <a:r>
              <a:rPr lang="en-ZW" sz="2800" b="1" dirty="0">
                <a:latin typeface="Times New Roman" pitchFamily="18" charset="0"/>
                <a:cs typeface="Times New Roman" pitchFamily="18" charset="0"/>
              </a:rPr>
              <a:t> royalties</a:t>
            </a:r>
            <a:r>
              <a:rPr lang="en-ZW" sz="2800" dirty="0">
                <a:latin typeface="Times New Roman" pitchFamily="18" charset="0"/>
                <a:cs typeface="Times New Roman" pitchFamily="18" charset="0"/>
              </a:rPr>
              <a:t> is 15</a:t>
            </a:r>
            <a:r>
              <a:rPr lang="en-ZW" sz="2800" dirty="0" smtClean="0">
                <a:latin typeface="Times New Roman" pitchFamily="18" charset="0"/>
                <a:cs typeface="Times New Roman" pitchFamily="18" charset="0"/>
              </a:rPr>
              <a:t>%. NB* the rate of tax may however be reduced by any double taxation agreements treaties in place with specific countries.</a:t>
            </a:r>
            <a:endParaRPr lang="en-ZW" sz="2800" dirty="0">
              <a:latin typeface="Times New Roman" pitchFamily="18" charset="0"/>
              <a:cs typeface="Times New Roman" pitchFamily="18" charset="0"/>
            </a:endParaRPr>
          </a:p>
          <a:p>
            <a:r>
              <a:rPr lang="en-ZW" sz="2800" dirty="0">
                <a:latin typeface="Times New Roman" pitchFamily="18" charset="0"/>
                <a:cs typeface="Times New Roman" pitchFamily="18" charset="0"/>
              </a:rPr>
              <a:t>The withholding tax is chargeable on royalties paid to non-residents for the use of patents, trademarks, formulae, equipment, motion picture etc.</a:t>
            </a:r>
          </a:p>
          <a:p>
            <a:r>
              <a:rPr lang="en-ZW" sz="2800" dirty="0">
                <a:latin typeface="Times New Roman" pitchFamily="18" charset="0"/>
                <a:cs typeface="Times New Roman" pitchFamily="18" charset="0"/>
              </a:rPr>
              <a:t>NRTROY is payable by the 10th of the month following date of payment</a:t>
            </a:r>
          </a:p>
        </p:txBody>
      </p:sp>
      <p:sp>
        <p:nvSpPr>
          <p:cNvPr id="3" name="Title 2"/>
          <p:cNvSpPr>
            <a:spLocks noGrp="1"/>
          </p:cNvSpPr>
          <p:nvPr>
            <p:ph type="title"/>
          </p:nvPr>
        </p:nvSpPr>
        <p:spPr>
          <a:xfrm>
            <a:off x="533400" y="338328"/>
            <a:ext cx="8229600" cy="1252728"/>
          </a:xfrm>
        </p:spPr>
        <p:txBody>
          <a:bodyPr>
            <a:noAutofit/>
          </a:bodyPr>
          <a:lstStyle/>
          <a:p>
            <a:r>
              <a:rPr lang="en-ZW" dirty="0">
                <a:latin typeface="Times New Roman" pitchFamily="18" charset="0"/>
                <a:cs typeface="Times New Roman" pitchFamily="18" charset="0"/>
              </a:rPr>
              <a:t>NON-RESIDENTS’ TAX ON ROYALTIES (</a:t>
            </a:r>
            <a:r>
              <a:rPr lang="en-ZW" dirty="0" smtClean="0">
                <a:latin typeface="Times New Roman" pitchFamily="18" charset="0"/>
                <a:cs typeface="Times New Roman" pitchFamily="18" charset="0"/>
              </a:rPr>
              <a:t>N.R.T.R.O.Y</a:t>
            </a:r>
            <a:r>
              <a:rPr lang="en-ZW" dirty="0">
                <a:latin typeface="Times New Roman" pitchFamily="18" charset="0"/>
                <a:cs typeface="Times New Roman" pitchFamily="18" charset="0"/>
              </a:rPr>
              <a:t>)</a:t>
            </a:r>
          </a:p>
        </p:txBody>
      </p:sp>
    </p:spTree>
    <p:extLst>
      <p:ext uri="{BB962C8B-B14F-4D97-AF65-F5344CB8AC3E}">
        <p14:creationId xmlns="" xmlns:p14="http://schemas.microsoft.com/office/powerpoint/2010/main" val="2123020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71600" y="2348880"/>
            <a:ext cx="7408333" cy="3954752"/>
          </a:xfrm>
        </p:spPr>
        <p:txBody>
          <a:bodyPr>
            <a:normAutofit/>
          </a:bodyPr>
          <a:lstStyle/>
          <a:p>
            <a:r>
              <a:rPr lang="en-ZW" sz="2800" dirty="0">
                <a:latin typeface="Times New Roman" pitchFamily="18" charset="0"/>
                <a:cs typeface="Times New Roman" pitchFamily="18" charset="0"/>
              </a:rPr>
              <a:t>A 15% tax is levied on amounts remitted outside </a:t>
            </a:r>
            <a:r>
              <a:rPr lang="en-ZW" sz="2800" dirty="0" smtClean="0">
                <a:latin typeface="Times New Roman" pitchFamily="18" charset="0"/>
                <a:cs typeface="Times New Roman" pitchFamily="18" charset="0"/>
              </a:rPr>
              <a:t>Zimbabwe or transferred from Zimbabwe to another country </a:t>
            </a:r>
            <a:r>
              <a:rPr lang="en-ZW" sz="2800" dirty="0">
                <a:latin typeface="Times New Roman" pitchFamily="18" charset="0"/>
                <a:cs typeface="Times New Roman" pitchFamily="18" charset="0"/>
              </a:rPr>
              <a:t>in respect of allocable expenditure, being expenditure of a technical, managerial, administrative, or consultative nature incurred by non-residents outside Zimbabwe but in connection with their trade in Zimbabwe</a:t>
            </a:r>
            <a:r>
              <a:rPr lang="en-ZW" sz="2800" dirty="0" smtClean="0">
                <a:latin typeface="Times New Roman" pitchFamily="18" charset="0"/>
                <a:cs typeface="Times New Roman" pitchFamily="18" charset="0"/>
              </a:rPr>
              <a:t>. (15% of gross amount) </a:t>
            </a:r>
            <a:r>
              <a:rPr lang="en-ZW" sz="2800" dirty="0">
                <a:latin typeface="Times New Roman" pitchFamily="18" charset="0"/>
                <a:cs typeface="Times New Roman" pitchFamily="18" charset="0"/>
              </a:rPr>
              <a:t>This does not apply to licensed investors. </a:t>
            </a:r>
          </a:p>
        </p:txBody>
      </p:sp>
      <p:sp>
        <p:nvSpPr>
          <p:cNvPr id="3" name="Title 2"/>
          <p:cNvSpPr>
            <a:spLocks noGrp="1"/>
          </p:cNvSpPr>
          <p:nvPr>
            <p:ph type="title"/>
          </p:nvPr>
        </p:nvSpPr>
        <p:spPr/>
        <p:txBody>
          <a:bodyPr>
            <a:normAutofit fontScale="90000"/>
          </a:bodyPr>
          <a:lstStyle/>
          <a:p>
            <a:r>
              <a:rPr lang="en-ZW" dirty="0"/>
              <a:t>NON-RESIDENTS’ TAX ON REMITTANCES (NRTR) </a:t>
            </a:r>
          </a:p>
        </p:txBody>
      </p:sp>
    </p:spTree>
    <p:extLst>
      <p:ext uri="{BB962C8B-B14F-4D97-AF65-F5344CB8AC3E}">
        <p14:creationId xmlns="" xmlns:p14="http://schemas.microsoft.com/office/powerpoint/2010/main" val="1610290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348880"/>
            <a:ext cx="7408333" cy="3777283"/>
          </a:xfrm>
        </p:spPr>
        <p:txBody>
          <a:bodyPr/>
          <a:lstStyle/>
          <a:p>
            <a:r>
              <a:rPr lang="en-ZW" sz="2800" dirty="0">
                <a:latin typeface="Times New Roman" pitchFamily="18" charset="0"/>
                <a:cs typeface="Times New Roman" pitchFamily="18" charset="0"/>
              </a:rPr>
              <a:t>Director’s fees payable to non-executive directors are subject to a 20% withholding tax payable to ZIMRA within 10 days of the month following date of payment.</a:t>
            </a:r>
          </a:p>
          <a:p>
            <a:endParaRPr lang="en-ZW" dirty="0"/>
          </a:p>
        </p:txBody>
      </p:sp>
      <p:sp>
        <p:nvSpPr>
          <p:cNvPr id="3" name="Title 2"/>
          <p:cNvSpPr>
            <a:spLocks noGrp="1"/>
          </p:cNvSpPr>
          <p:nvPr>
            <p:ph type="title"/>
          </p:nvPr>
        </p:nvSpPr>
        <p:spPr/>
        <p:txBody>
          <a:bodyPr>
            <a:normAutofit fontScale="90000"/>
          </a:bodyPr>
          <a:lstStyle/>
          <a:p>
            <a:r>
              <a:rPr lang="en-ZW" dirty="0">
                <a:latin typeface="Times New Roman" pitchFamily="18" charset="0"/>
                <a:cs typeface="Times New Roman" pitchFamily="18" charset="0"/>
              </a:rPr>
              <a:t>NON EXECUTIVE DIRECTORS FEES </a:t>
            </a:r>
          </a:p>
        </p:txBody>
      </p:sp>
    </p:spTree>
    <p:extLst>
      <p:ext uri="{BB962C8B-B14F-4D97-AF65-F5344CB8AC3E}">
        <p14:creationId xmlns="" xmlns:p14="http://schemas.microsoft.com/office/powerpoint/2010/main" val="1180100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Non –executive director’s fees qualify as business income and tax withheld is deductible from income payable.</a:t>
            </a:r>
          </a:p>
          <a:p>
            <a:r>
              <a:rPr lang="en-ZW" dirty="0" smtClean="0"/>
              <a:t>In the case of fees and royalties Non -Resident withholding tax is final unless the incomes are subject to income tax where the withholding tax is then applied to reduce the income tax liability.</a:t>
            </a:r>
          </a:p>
          <a:p>
            <a:endParaRPr lang="en-ZW" dirty="0"/>
          </a:p>
        </p:txBody>
      </p:sp>
      <p:sp>
        <p:nvSpPr>
          <p:cNvPr id="3" name="Title 2"/>
          <p:cNvSpPr>
            <a:spLocks noGrp="1"/>
          </p:cNvSpPr>
          <p:nvPr>
            <p:ph type="title"/>
          </p:nvPr>
        </p:nvSpPr>
        <p:spPr/>
        <p:txBody>
          <a:bodyPr/>
          <a:lstStyle/>
          <a:p>
            <a:r>
              <a:rPr lang="en-ZW" dirty="0" smtClean="0"/>
              <a:t>RECAP POINTS</a:t>
            </a:r>
            <a:endParaRPr lang="en-ZW"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20%  of commission</a:t>
            </a:r>
            <a:endParaRPr lang="en-ZW" dirty="0"/>
          </a:p>
        </p:txBody>
      </p:sp>
      <p:sp>
        <p:nvSpPr>
          <p:cNvPr id="3" name="Title 2"/>
          <p:cNvSpPr>
            <a:spLocks noGrp="1"/>
          </p:cNvSpPr>
          <p:nvPr>
            <p:ph type="title"/>
          </p:nvPr>
        </p:nvSpPr>
        <p:spPr/>
        <p:txBody>
          <a:bodyPr>
            <a:normAutofit fontScale="90000"/>
          </a:bodyPr>
          <a:lstStyle/>
          <a:p>
            <a:r>
              <a:rPr lang="en-ZW" dirty="0" smtClean="0"/>
              <a:t> withholding tax on insurance commission</a:t>
            </a:r>
            <a:endParaRPr lang="en-ZW" dirty="0"/>
          </a:p>
        </p:txBody>
      </p:sp>
    </p:spTree>
    <p:extLst>
      <p:ext uri="{BB962C8B-B14F-4D97-AF65-F5344CB8AC3E}">
        <p14:creationId xmlns="" xmlns:p14="http://schemas.microsoft.com/office/powerpoint/2010/main" val="700403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ZW" dirty="0" smtClean="0"/>
              <a:t>These are styled as being for the avoidance of double taxation and the prevention of fiscal evasion.</a:t>
            </a:r>
          </a:p>
          <a:p>
            <a:r>
              <a:rPr lang="en-ZW" dirty="0" smtClean="0"/>
              <a:t>Double taxation agreements arise where, for example, a TP resident in country C conducts operations in or derives investment income from country D, which means tax liability may arise in both countries by reason of the TP’s residence and the application of the source </a:t>
            </a:r>
            <a:r>
              <a:rPr lang="en-ZW" dirty="0" err="1" smtClean="0"/>
              <a:t>priniple</a:t>
            </a:r>
            <a:r>
              <a:rPr lang="en-ZW" dirty="0" smtClean="0"/>
              <a:t>.</a:t>
            </a:r>
          </a:p>
          <a:p>
            <a:r>
              <a:rPr lang="en-ZW" dirty="0" smtClean="0"/>
              <a:t>Most agreements </a:t>
            </a:r>
            <a:r>
              <a:rPr lang="en-ZW" dirty="0" err="1" smtClean="0"/>
              <a:t>btwn</a:t>
            </a:r>
            <a:r>
              <a:rPr lang="en-ZW" dirty="0" smtClean="0"/>
              <a:t> </a:t>
            </a:r>
            <a:r>
              <a:rPr lang="en-ZW" dirty="0" err="1" smtClean="0"/>
              <a:t>Zim</a:t>
            </a:r>
            <a:r>
              <a:rPr lang="en-ZW" dirty="0" smtClean="0"/>
              <a:t> n other countries date back to 1980 n with SA from 1965.</a:t>
            </a:r>
            <a:endParaRPr lang="en-ZW" dirty="0"/>
          </a:p>
        </p:txBody>
      </p:sp>
      <p:sp>
        <p:nvSpPr>
          <p:cNvPr id="3" name="Title 2"/>
          <p:cNvSpPr>
            <a:spLocks noGrp="1"/>
          </p:cNvSpPr>
          <p:nvPr>
            <p:ph type="title"/>
          </p:nvPr>
        </p:nvSpPr>
        <p:spPr/>
        <p:txBody>
          <a:bodyPr/>
          <a:lstStyle/>
          <a:p>
            <a:r>
              <a:rPr lang="en-ZW" dirty="0" smtClean="0"/>
              <a:t>Double taxation Agreements</a:t>
            </a:r>
            <a:endParaRPr lang="en-ZW"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Main effect of these is either to restrict or conversely, to preserve the power which each country might otherwise have had to impose liability on residents of the  other country</a:t>
            </a:r>
            <a:endParaRPr lang="en-ZW" dirty="0"/>
          </a:p>
        </p:txBody>
      </p:sp>
      <p:sp>
        <p:nvSpPr>
          <p:cNvPr id="3" name="Title 2"/>
          <p:cNvSpPr>
            <a:spLocks noGrp="1"/>
          </p:cNvSpPr>
          <p:nvPr>
            <p:ph type="title"/>
          </p:nvPr>
        </p:nvSpPr>
        <p:spPr/>
        <p:txBody>
          <a:bodyPr/>
          <a:lstStyle/>
          <a:p>
            <a:r>
              <a:rPr lang="en-ZW" dirty="0" err="1" smtClean="0"/>
              <a:t>Contd</a:t>
            </a:r>
            <a:endParaRPr lang="en-ZW"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Empowers the President to enter into DTA to avoid double taxation and also  for assistance in the administration and collection of taxes levied under this Act on income levied under the laws of such other countries.</a:t>
            </a:r>
          </a:p>
          <a:p>
            <a:r>
              <a:rPr lang="en-ZW" dirty="0" smtClean="0"/>
              <a:t>Sect 92- In case of a DTA tax paid on income from that country may be allowed as a tax credit against Zimbabwe tax paid on such incomes</a:t>
            </a:r>
          </a:p>
          <a:p>
            <a:endParaRPr lang="en-ZW" dirty="0" smtClean="0"/>
          </a:p>
          <a:p>
            <a:endParaRPr lang="en-ZW" dirty="0"/>
          </a:p>
        </p:txBody>
      </p:sp>
      <p:sp>
        <p:nvSpPr>
          <p:cNvPr id="3" name="Title 2"/>
          <p:cNvSpPr>
            <a:spLocks noGrp="1"/>
          </p:cNvSpPr>
          <p:nvPr>
            <p:ph type="title"/>
          </p:nvPr>
        </p:nvSpPr>
        <p:spPr/>
        <p:txBody>
          <a:bodyPr/>
          <a:lstStyle/>
          <a:p>
            <a:r>
              <a:rPr lang="en-ZW" dirty="0" smtClean="0"/>
              <a:t>Sect 91</a:t>
            </a:r>
            <a:endParaRPr lang="en-ZW"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ZW" dirty="0" smtClean="0"/>
              <a:t>The calculation of double taxation relief is spilt into 2 parts to provide for foreign company dividends which are taxable at a rate of 20% and other foreign income such as foreign interest </a:t>
            </a:r>
            <a:r>
              <a:rPr lang="en-ZW" dirty="0" err="1" smtClean="0"/>
              <a:t>wc</a:t>
            </a:r>
            <a:r>
              <a:rPr lang="en-ZW" dirty="0" smtClean="0"/>
              <a:t> is taxable as income from investments.</a:t>
            </a:r>
          </a:p>
          <a:p>
            <a:r>
              <a:rPr lang="en-ZW" dirty="0" smtClean="0"/>
              <a:t>The relief to be allowed in the 1s instance-</a:t>
            </a:r>
          </a:p>
          <a:p>
            <a:pPr marL="624078" indent="-514350">
              <a:buAutoNum type="alphaLcParenR"/>
            </a:pPr>
            <a:r>
              <a:rPr lang="en-ZW" dirty="0" smtClean="0"/>
              <a:t>The Zimbabwe tax suffered on the foreign income on which relief is to be granted or</a:t>
            </a:r>
          </a:p>
          <a:p>
            <a:pPr marL="624078" indent="-514350">
              <a:buAutoNum type="alphaLcParenR"/>
            </a:pPr>
            <a:r>
              <a:rPr lang="en-ZW" dirty="0" smtClean="0"/>
              <a:t>The foreign tax,</a:t>
            </a:r>
          </a:p>
          <a:p>
            <a:pPr marL="624078" indent="-514350">
              <a:buNone/>
            </a:pPr>
            <a:r>
              <a:rPr lang="en-ZW" dirty="0" smtClean="0"/>
              <a:t>Whichever is lesser</a:t>
            </a:r>
            <a:endParaRPr lang="en-ZW" dirty="0"/>
          </a:p>
        </p:txBody>
      </p:sp>
      <p:sp>
        <p:nvSpPr>
          <p:cNvPr id="3" name="Title 2"/>
          <p:cNvSpPr>
            <a:spLocks noGrp="1"/>
          </p:cNvSpPr>
          <p:nvPr>
            <p:ph type="title"/>
          </p:nvPr>
        </p:nvSpPr>
        <p:spPr/>
        <p:txBody>
          <a:bodyPr/>
          <a:lstStyle/>
          <a:p>
            <a:r>
              <a:rPr lang="en-ZW" dirty="0" smtClean="0"/>
              <a:t>Sect 92</a:t>
            </a:r>
            <a:endParaRPr lang="en-ZW"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John received a dividend of $15200 (net of SA withholding tax of 5%) from a company incorporated in SA. Calculate the amount payable in </a:t>
            </a:r>
            <a:r>
              <a:rPr lang="en-ZW" dirty="0" err="1" smtClean="0"/>
              <a:t>Zim</a:t>
            </a:r>
            <a:r>
              <a:rPr lang="en-ZW" dirty="0" smtClean="0"/>
              <a:t> in respect of the dividend</a:t>
            </a:r>
            <a:endParaRPr lang="en-ZW" dirty="0"/>
          </a:p>
        </p:txBody>
      </p:sp>
      <p:sp>
        <p:nvSpPr>
          <p:cNvPr id="3" name="Title 2"/>
          <p:cNvSpPr>
            <a:spLocks noGrp="1"/>
          </p:cNvSpPr>
          <p:nvPr>
            <p:ph type="title"/>
          </p:nvPr>
        </p:nvSpPr>
        <p:spPr/>
        <p:txBody>
          <a:bodyPr/>
          <a:lstStyle/>
          <a:p>
            <a:r>
              <a:rPr lang="en-ZW" dirty="0" smtClean="0"/>
              <a:t>EXAMPLE</a:t>
            </a:r>
            <a:endParaRPr lang="en-ZW"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The foreign dividend is deemed to be from a source within Zimbabwe hence the amt is payable as follows.</a:t>
            </a:r>
          </a:p>
          <a:p>
            <a:r>
              <a:rPr lang="en-ZW" dirty="0" smtClean="0"/>
              <a:t>Gross dividend ($15 200*100/95)        16000</a:t>
            </a:r>
          </a:p>
          <a:p>
            <a:r>
              <a:rPr lang="en-ZW" dirty="0" smtClean="0"/>
              <a:t>Tax @special rate of 20%                        3200</a:t>
            </a:r>
          </a:p>
          <a:p>
            <a:r>
              <a:rPr lang="en-ZW" dirty="0" smtClean="0"/>
              <a:t>Less South African tax(the lower of two) </a:t>
            </a:r>
            <a:r>
              <a:rPr lang="en-ZW" u="sng" dirty="0" smtClean="0"/>
              <a:t>(800)</a:t>
            </a:r>
          </a:p>
          <a:p>
            <a:r>
              <a:rPr lang="en-ZW" dirty="0" smtClean="0"/>
              <a:t>Total tax payable in Zimbabwe               </a:t>
            </a:r>
            <a:r>
              <a:rPr lang="en-ZW" u="sng" dirty="0" smtClean="0"/>
              <a:t>2400</a:t>
            </a:r>
            <a:endParaRPr lang="en-ZW" u="sng" dirty="0"/>
          </a:p>
        </p:txBody>
      </p:sp>
      <p:sp>
        <p:nvSpPr>
          <p:cNvPr id="3" name="Title 2"/>
          <p:cNvSpPr>
            <a:spLocks noGrp="1"/>
          </p:cNvSpPr>
          <p:nvPr>
            <p:ph type="title"/>
          </p:nvPr>
        </p:nvSpPr>
        <p:spPr/>
        <p:txBody>
          <a:bodyPr/>
          <a:lstStyle/>
          <a:p>
            <a:r>
              <a:rPr lang="en-ZW" dirty="0" smtClean="0"/>
              <a:t>Solution</a:t>
            </a:r>
            <a:endParaRPr lang="en-ZW"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ZW" dirty="0" smtClean="0"/>
              <a:t>If a person in Zimbabwe (or outside Zimbabwe who is deemed by the virtue of the provisions of Sections 12(1) and 12(4), to have received income from Zimbabwe) pays foreign tax on income from a country which has not entered into an agreement with Zimbabwe under section 91, and also pays tax in Zimbabwe on the same income, such person will be entitled to claim relief in respect of such foreign tax as if the terms of the subsections(3) and(4) of section 92 applicable</a:t>
            </a:r>
            <a:endParaRPr lang="en-ZW" dirty="0"/>
          </a:p>
        </p:txBody>
      </p:sp>
      <p:sp>
        <p:nvSpPr>
          <p:cNvPr id="3" name="Title 2"/>
          <p:cNvSpPr>
            <a:spLocks noGrp="1"/>
          </p:cNvSpPr>
          <p:nvPr>
            <p:ph type="title"/>
          </p:nvPr>
        </p:nvSpPr>
        <p:spPr/>
        <p:txBody>
          <a:bodyPr/>
          <a:lstStyle/>
          <a:p>
            <a:r>
              <a:rPr lang="en-ZW" dirty="0" smtClean="0"/>
              <a:t>Sect 93</a:t>
            </a:r>
            <a:endParaRPr lang="en-ZW"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ZW" dirty="0" smtClean="0"/>
              <a:t>If the true source of any income is Zimbabwean then, of course, no relief can be given in terms of this section even though tax may have been paid in another country.</a:t>
            </a:r>
            <a:endParaRPr lang="en-ZW" dirty="0"/>
          </a:p>
        </p:txBody>
      </p:sp>
      <p:sp>
        <p:nvSpPr>
          <p:cNvPr id="3" name="Title 2"/>
          <p:cNvSpPr>
            <a:spLocks noGrp="1"/>
          </p:cNvSpPr>
          <p:nvPr>
            <p:ph type="title"/>
          </p:nvPr>
        </p:nvSpPr>
        <p:spPr/>
        <p:txBody>
          <a:bodyPr/>
          <a:lstStyle/>
          <a:p>
            <a:r>
              <a:rPr lang="en-ZW" dirty="0" smtClean="0"/>
              <a:t>Sect 93 cont.....</a:t>
            </a:r>
            <a:endParaRPr lang="en-ZW"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24078" indent="-514350">
              <a:buNone/>
            </a:pPr>
            <a:r>
              <a:rPr lang="en-ZW" dirty="0" smtClean="0"/>
              <a:t>Summary :</a:t>
            </a:r>
          </a:p>
          <a:p>
            <a:pPr marL="624078" indent="-514350">
              <a:buAutoNum type="alphaLcParenR"/>
            </a:pPr>
            <a:r>
              <a:rPr lang="en-ZW" dirty="0" smtClean="0"/>
              <a:t>If the Zimbabwean tax is less than or equal to the foreign tax withheld the DTR= the Zimbabwean tax</a:t>
            </a:r>
          </a:p>
          <a:p>
            <a:pPr marL="624078" indent="-514350">
              <a:buAutoNum type="alphaLcParenR"/>
            </a:pPr>
            <a:r>
              <a:rPr lang="en-ZW" dirty="0" smtClean="0"/>
              <a:t>If the Zimbabwean tax is more than the foreign tax withheld the DTR = the foreign tax withheld such that the additional Zimbabwean tax chargeable will be equal to the Zimbabwean tax less the foreign tax paid</a:t>
            </a:r>
            <a:endParaRPr lang="en-ZW" dirty="0"/>
          </a:p>
        </p:txBody>
      </p:sp>
      <p:sp>
        <p:nvSpPr>
          <p:cNvPr id="3" name="Title 2"/>
          <p:cNvSpPr>
            <a:spLocks noGrp="1"/>
          </p:cNvSpPr>
          <p:nvPr>
            <p:ph type="title"/>
          </p:nvPr>
        </p:nvSpPr>
        <p:spPr/>
        <p:txBody>
          <a:bodyPr/>
          <a:lstStyle/>
          <a:p>
            <a:r>
              <a:rPr lang="en-ZW" dirty="0" smtClean="0"/>
              <a:t>Example </a:t>
            </a:r>
            <a:endParaRPr lang="en-ZW"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481138"/>
          <a:ext cx="8229600" cy="4117022"/>
        </p:xfrm>
        <a:graphic>
          <a:graphicData uri="http://schemas.openxmlformats.org/drawingml/2006/table">
            <a:tbl>
              <a:tblPr firstRow="1" bandRow="1">
                <a:tableStyleId>{5C22544A-7EE6-4342-B048-85BDC9FD1C3A}</a:tableStyleId>
              </a:tblPr>
              <a:tblGrid>
                <a:gridCol w="5334000"/>
                <a:gridCol w="1524000"/>
                <a:gridCol w="1371600"/>
              </a:tblGrid>
              <a:tr h="370840">
                <a:tc>
                  <a:txBody>
                    <a:bodyPr/>
                    <a:lstStyle/>
                    <a:p>
                      <a:endParaRPr lang="en-ZW" dirty="0"/>
                    </a:p>
                  </a:txBody>
                  <a:tcPr/>
                </a:tc>
                <a:tc>
                  <a:txBody>
                    <a:bodyPr/>
                    <a:lstStyle/>
                    <a:p>
                      <a:r>
                        <a:rPr lang="en-ZW" dirty="0" smtClean="0"/>
                        <a:t>Example </a:t>
                      </a:r>
                      <a:r>
                        <a:rPr lang="en-ZW" baseline="0" dirty="0" smtClean="0"/>
                        <a:t> A</a:t>
                      </a:r>
                      <a:endParaRPr lang="en-ZW" dirty="0"/>
                    </a:p>
                  </a:txBody>
                  <a:tcPr/>
                </a:tc>
                <a:tc>
                  <a:txBody>
                    <a:bodyPr/>
                    <a:lstStyle/>
                    <a:p>
                      <a:r>
                        <a:rPr lang="en-ZW" dirty="0" smtClean="0"/>
                        <a:t>Example</a:t>
                      </a:r>
                      <a:r>
                        <a:rPr lang="en-ZW" baseline="0" dirty="0" smtClean="0"/>
                        <a:t> B</a:t>
                      </a:r>
                      <a:endParaRPr lang="en-ZW" dirty="0"/>
                    </a:p>
                  </a:txBody>
                  <a:tcPr/>
                </a:tc>
              </a:tr>
              <a:tr h="370840">
                <a:tc>
                  <a:txBody>
                    <a:bodyPr/>
                    <a:lstStyle/>
                    <a:p>
                      <a:r>
                        <a:rPr lang="en-ZW" dirty="0" smtClean="0"/>
                        <a:t>Fees</a:t>
                      </a:r>
                      <a:r>
                        <a:rPr lang="en-ZW" baseline="0" dirty="0" smtClean="0"/>
                        <a:t> </a:t>
                      </a:r>
                      <a:endParaRPr lang="en-ZW" dirty="0"/>
                    </a:p>
                  </a:txBody>
                  <a:tcPr/>
                </a:tc>
                <a:tc>
                  <a:txBody>
                    <a:bodyPr/>
                    <a:lstStyle/>
                    <a:p>
                      <a:r>
                        <a:rPr lang="en-ZW" dirty="0" smtClean="0"/>
                        <a:t>1,000</a:t>
                      </a:r>
                      <a:r>
                        <a:rPr lang="en-ZW" baseline="0" dirty="0" smtClean="0"/>
                        <a:t>,000</a:t>
                      </a:r>
                      <a:endParaRPr lang="en-ZW" dirty="0"/>
                    </a:p>
                  </a:txBody>
                  <a:tcPr/>
                </a:tc>
                <a:tc>
                  <a:txBody>
                    <a:bodyPr/>
                    <a:lstStyle/>
                    <a:p>
                      <a:r>
                        <a:rPr lang="en-ZW" dirty="0" smtClean="0"/>
                        <a:t>1,000,000</a:t>
                      </a:r>
                      <a:endParaRPr lang="en-ZW" dirty="0"/>
                    </a:p>
                  </a:txBody>
                  <a:tcPr/>
                </a:tc>
              </a:tr>
              <a:tr h="370840">
                <a:tc>
                  <a:txBody>
                    <a:bodyPr/>
                    <a:lstStyle/>
                    <a:p>
                      <a:r>
                        <a:rPr lang="en-ZW" dirty="0" smtClean="0"/>
                        <a:t>Allowable expenditure</a:t>
                      </a:r>
                      <a:endParaRPr lang="en-ZW" dirty="0"/>
                    </a:p>
                  </a:txBody>
                  <a:tcPr/>
                </a:tc>
                <a:tc>
                  <a:txBody>
                    <a:bodyPr/>
                    <a:lstStyle/>
                    <a:p>
                      <a:r>
                        <a:rPr lang="en-ZW" u="sng" dirty="0" smtClean="0"/>
                        <a:t>950,000</a:t>
                      </a:r>
                      <a:endParaRPr lang="en-ZW" u="sng" dirty="0"/>
                    </a:p>
                  </a:txBody>
                  <a:tcPr/>
                </a:tc>
                <a:tc>
                  <a:txBody>
                    <a:bodyPr/>
                    <a:lstStyle/>
                    <a:p>
                      <a:r>
                        <a:rPr lang="en-ZW" u="sng" dirty="0" smtClean="0"/>
                        <a:t>600,000</a:t>
                      </a:r>
                      <a:endParaRPr lang="en-ZW" u="sng" dirty="0"/>
                    </a:p>
                  </a:txBody>
                  <a:tcPr/>
                </a:tc>
              </a:tr>
              <a:tr h="370840">
                <a:tc>
                  <a:txBody>
                    <a:bodyPr/>
                    <a:lstStyle/>
                    <a:p>
                      <a:r>
                        <a:rPr lang="en-ZW" dirty="0" smtClean="0"/>
                        <a:t>Taxable income </a:t>
                      </a:r>
                      <a:endParaRPr lang="en-ZW" dirty="0"/>
                    </a:p>
                  </a:txBody>
                  <a:tcPr/>
                </a:tc>
                <a:tc>
                  <a:txBody>
                    <a:bodyPr/>
                    <a:lstStyle/>
                    <a:p>
                      <a:r>
                        <a:rPr lang="en-ZW" u="sng" dirty="0" smtClean="0"/>
                        <a:t>50,000</a:t>
                      </a:r>
                      <a:endParaRPr lang="en-ZW" u="sng" dirty="0"/>
                    </a:p>
                  </a:txBody>
                  <a:tcPr/>
                </a:tc>
                <a:tc>
                  <a:txBody>
                    <a:bodyPr/>
                    <a:lstStyle/>
                    <a:p>
                      <a:r>
                        <a:rPr lang="en-ZW" u="sng" dirty="0" smtClean="0"/>
                        <a:t>400,000</a:t>
                      </a:r>
                      <a:endParaRPr lang="en-ZW" u="sng" dirty="0"/>
                    </a:p>
                  </a:txBody>
                  <a:tcPr/>
                </a:tc>
              </a:tr>
              <a:tr h="370840">
                <a:tc>
                  <a:txBody>
                    <a:bodyPr/>
                    <a:lstStyle/>
                    <a:p>
                      <a:r>
                        <a:rPr lang="en-ZW" dirty="0" smtClean="0"/>
                        <a:t>Income tax (25,75%) thereon</a:t>
                      </a:r>
                      <a:endParaRPr lang="en-ZW" dirty="0"/>
                    </a:p>
                  </a:txBody>
                  <a:tcPr/>
                </a:tc>
                <a:tc>
                  <a:txBody>
                    <a:bodyPr/>
                    <a:lstStyle/>
                    <a:p>
                      <a:r>
                        <a:rPr lang="en-ZW" dirty="0" smtClean="0"/>
                        <a:t>12 875</a:t>
                      </a:r>
                      <a:endParaRPr lang="en-ZW" dirty="0"/>
                    </a:p>
                  </a:txBody>
                  <a:tcPr/>
                </a:tc>
                <a:tc>
                  <a:txBody>
                    <a:bodyPr/>
                    <a:lstStyle/>
                    <a:p>
                      <a:r>
                        <a:rPr lang="en-ZW" dirty="0" smtClean="0"/>
                        <a:t>103 000</a:t>
                      </a:r>
                      <a:endParaRPr lang="en-ZW" dirty="0"/>
                    </a:p>
                  </a:txBody>
                  <a:tcPr/>
                </a:tc>
              </a:tr>
              <a:tr h="779462">
                <a:tc>
                  <a:txBody>
                    <a:bodyPr/>
                    <a:lstStyle/>
                    <a:p>
                      <a:r>
                        <a:rPr lang="en-ZW" dirty="0" smtClean="0"/>
                        <a:t>Non-residents’ tax already with held on fees 10% on 1 000 000</a:t>
                      </a:r>
                      <a:endParaRPr lang="en-ZW" dirty="0"/>
                    </a:p>
                  </a:txBody>
                  <a:tcPr/>
                </a:tc>
                <a:tc>
                  <a:txBody>
                    <a:bodyPr/>
                    <a:lstStyle/>
                    <a:p>
                      <a:endParaRPr lang="en-ZW" dirty="0" smtClean="0"/>
                    </a:p>
                    <a:p>
                      <a:r>
                        <a:rPr lang="en-ZW" u="sng" dirty="0" smtClean="0"/>
                        <a:t>1</a:t>
                      </a:r>
                      <a:r>
                        <a:rPr lang="en-ZW" u="sng" baseline="0" dirty="0" smtClean="0"/>
                        <a:t>00 000</a:t>
                      </a:r>
                      <a:endParaRPr lang="en-ZW" u="sng" dirty="0"/>
                    </a:p>
                  </a:txBody>
                  <a:tcPr/>
                </a:tc>
                <a:tc>
                  <a:txBody>
                    <a:bodyPr/>
                    <a:lstStyle/>
                    <a:p>
                      <a:endParaRPr lang="en-ZW" dirty="0" smtClean="0"/>
                    </a:p>
                    <a:p>
                      <a:r>
                        <a:rPr lang="en-ZW" u="sng" dirty="0" smtClean="0"/>
                        <a:t>100 000</a:t>
                      </a:r>
                      <a:endParaRPr lang="en-ZW" u="sng" dirty="0"/>
                    </a:p>
                  </a:txBody>
                  <a:tcPr/>
                </a:tc>
              </a:tr>
              <a:tr h="370840">
                <a:tc>
                  <a:txBody>
                    <a:bodyPr/>
                    <a:lstStyle/>
                    <a:p>
                      <a:r>
                        <a:rPr lang="en-ZW" dirty="0" smtClean="0"/>
                        <a:t>Excess non refundable in example A</a:t>
                      </a:r>
                      <a:endParaRPr lang="en-ZW" dirty="0"/>
                    </a:p>
                  </a:txBody>
                  <a:tcPr/>
                </a:tc>
                <a:tc>
                  <a:txBody>
                    <a:bodyPr/>
                    <a:lstStyle/>
                    <a:p>
                      <a:r>
                        <a:rPr lang="en-ZW" dirty="0" smtClean="0"/>
                        <a:t>87 125</a:t>
                      </a:r>
                      <a:endParaRPr lang="en-ZW" dirty="0"/>
                    </a:p>
                  </a:txBody>
                  <a:tcPr/>
                </a:tc>
                <a:tc>
                  <a:txBody>
                    <a:bodyPr/>
                    <a:lstStyle/>
                    <a:p>
                      <a:endParaRPr lang="en-ZW" dirty="0"/>
                    </a:p>
                  </a:txBody>
                  <a:tcPr/>
                </a:tc>
              </a:tr>
              <a:tr h="370840">
                <a:tc>
                  <a:txBody>
                    <a:bodyPr/>
                    <a:lstStyle/>
                    <a:p>
                      <a:r>
                        <a:rPr lang="en-ZW" dirty="0" smtClean="0"/>
                        <a:t>Excess</a:t>
                      </a:r>
                      <a:r>
                        <a:rPr lang="en-ZW" baseline="0" dirty="0" smtClean="0"/>
                        <a:t> chargeable in example B </a:t>
                      </a:r>
                      <a:r>
                        <a:rPr lang="en-ZW" b="1" i="1" baseline="0" dirty="0" smtClean="0"/>
                        <a:t>actual</a:t>
                      </a:r>
                      <a:endParaRPr lang="en-ZW" b="1" i="1" dirty="0"/>
                    </a:p>
                  </a:txBody>
                  <a:tcPr/>
                </a:tc>
                <a:tc>
                  <a:txBody>
                    <a:bodyPr/>
                    <a:lstStyle/>
                    <a:p>
                      <a:endParaRPr lang="en-ZW"/>
                    </a:p>
                  </a:txBody>
                  <a:tcPr/>
                </a:tc>
                <a:tc>
                  <a:txBody>
                    <a:bodyPr/>
                    <a:lstStyle/>
                    <a:p>
                      <a:r>
                        <a:rPr lang="en-ZW" dirty="0" smtClean="0"/>
                        <a:t>3 000</a:t>
                      </a:r>
                      <a:endParaRPr lang="en-ZW" dirty="0"/>
                    </a:p>
                  </a:txBody>
                  <a:tcPr/>
                </a:tc>
              </a:tr>
              <a:tr h="370840">
                <a:tc>
                  <a:txBody>
                    <a:bodyPr/>
                    <a:lstStyle/>
                    <a:p>
                      <a:r>
                        <a:rPr lang="en-ZW" dirty="0" smtClean="0"/>
                        <a:t>Liability therefore</a:t>
                      </a:r>
                      <a:endParaRPr lang="en-ZW" dirty="0"/>
                    </a:p>
                  </a:txBody>
                  <a:tcPr/>
                </a:tc>
                <a:tc>
                  <a:txBody>
                    <a:bodyPr/>
                    <a:lstStyle/>
                    <a:p>
                      <a:endParaRPr lang="en-ZW"/>
                    </a:p>
                  </a:txBody>
                  <a:tcPr/>
                </a:tc>
                <a:tc>
                  <a:txBody>
                    <a:bodyPr/>
                    <a:lstStyle/>
                    <a:p>
                      <a:endParaRPr lang="en-ZW" dirty="0"/>
                    </a:p>
                  </a:txBody>
                  <a:tcPr/>
                </a:tc>
              </a:tr>
              <a:tr h="370840">
                <a:tc>
                  <a:txBody>
                    <a:bodyPr/>
                    <a:lstStyle/>
                    <a:p>
                      <a:endParaRPr lang="en-ZW"/>
                    </a:p>
                  </a:txBody>
                  <a:tcPr/>
                </a:tc>
                <a:tc>
                  <a:txBody>
                    <a:bodyPr/>
                    <a:lstStyle/>
                    <a:p>
                      <a:r>
                        <a:rPr lang="en-ZW" b="1" dirty="0" smtClean="0"/>
                        <a:t>0000</a:t>
                      </a:r>
                      <a:endParaRPr lang="en-ZW" b="1" dirty="0"/>
                    </a:p>
                  </a:txBody>
                  <a:tcPr/>
                </a:tc>
                <a:tc>
                  <a:txBody>
                    <a:bodyPr/>
                    <a:lstStyle/>
                    <a:p>
                      <a:r>
                        <a:rPr lang="en-ZW" b="1" dirty="0" smtClean="0"/>
                        <a:t>3 000</a:t>
                      </a:r>
                      <a:endParaRPr lang="en-ZW" b="1" dirty="0"/>
                    </a:p>
                  </a:txBody>
                  <a:tcPr/>
                </a:tc>
              </a:tr>
            </a:tbl>
          </a:graphicData>
        </a:graphic>
      </p:graphicFrame>
      <p:sp>
        <p:nvSpPr>
          <p:cNvPr id="3" name="Title 2"/>
          <p:cNvSpPr>
            <a:spLocks noGrp="1"/>
          </p:cNvSpPr>
          <p:nvPr>
            <p:ph type="title"/>
          </p:nvPr>
        </p:nvSpPr>
        <p:spPr/>
        <p:txBody>
          <a:bodyPr/>
          <a:lstStyle/>
          <a:p>
            <a:r>
              <a:rPr lang="en-ZW" dirty="0" smtClean="0"/>
              <a:t>Example cont.....</a:t>
            </a:r>
            <a:endParaRPr lang="en-ZW"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963</TotalTime>
  <Words>2365</Words>
  <Application>Microsoft Office PowerPoint</Application>
  <PresentationFormat>On-screen Show (4:3)</PresentationFormat>
  <Paragraphs>181</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Concourse</vt:lpstr>
      <vt:lpstr>WITHHOLDING TAXES</vt:lpstr>
      <vt:lpstr>Definition of key terms. </vt:lpstr>
      <vt:lpstr>What is withholding tax?</vt:lpstr>
      <vt:lpstr>CONTND</vt:lpstr>
      <vt:lpstr>What is the purpose of withholding tax?</vt:lpstr>
      <vt:lpstr>NOTES ON WITHHOLDING TAXES</vt:lpstr>
      <vt:lpstr>NOTES  CONT’D</vt:lpstr>
      <vt:lpstr>What does S80(1)  say about withholding taxes?</vt:lpstr>
      <vt:lpstr>Cont’</vt:lpstr>
      <vt:lpstr>What are the payer’s obligations?</vt:lpstr>
      <vt:lpstr>Cont’</vt:lpstr>
      <vt:lpstr>With holding tax on non resident entertainers and artist (S80 B)</vt:lpstr>
      <vt:lpstr>What is exempted?</vt:lpstr>
      <vt:lpstr>Types of withholding taxes.</vt:lpstr>
      <vt:lpstr>RESIDENT SHAREHOLDERS’ TAX [R.S.T.]: Sect 26&amp;28</vt:lpstr>
      <vt:lpstr>RST CONTND</vt:lpstr>
      <vt:lpstr>REFUND OF RST</vt:lpstr>
      <vt:lpstr>REFUND OF RST</vt:lpstr>
      <vt:lpstr>EXAMPLE </vt:lpstr>
      <vt:lpstr>NON-RESIDENT SHAREHOLDERS’ TAX [N.R.S.T.]</vt:lpstr>
      <vt:lpstr>CONTND</vt:lpstr>
      <vt:lpstr>RESIDENTS’ TAX ON INTEREST (R.T.I.) : Sect 34</vt:lpstr>
      <vt:lpstr>RTI  CONTND</vt:lpstr>
      <vt:lpstr>Example</vt:lpstr>
      <vt:lpstr>NON-RESIDENTS’ TAX ON FEES (NRTF)</vt:lpstr>
      <vt:lpstr>Example(compute with holding tax on the fees)</vt:lpstr>
      <vt:lpstr>NON-RESIDENTS’ TAX ON ROYALTIES (N.R.T.R.O.Y)</vt:lpstr>
      <vt:lpstr>NON-RESIDENTS’ TAX ON REMITTANCES (NRTR) </vt:lpstr>
      <vt:lpstr>NON EXECUTIVE DIRECTORS FEES </vt:lpstr>
      <vt:lpstr>RECAP POINTS</vt:lpstr>
      <vt:lpstr> withholding tax on insurance commission</vt:lpstr>
      <vt:lpstr>Double taxation Agreements</vt:lpstr>
      <vt:lpstr>Contd</vt:lpstr>
      <vt:lpstr>Sect 91</vt:lpstr>
      <vt:lpstr>Sect 92</vt:lpstr>
      <vt:lpstr>EXAMPLE</vt:lpstr>
      <vt:lpstr>Solution</vt:lpstr>
      <vt:lpstr>Sect 93</vt:lpstr>
      <vt:lpstr>Sect 93 cont.....</vt:lpstr>
      <vt:lpstr>Example </vt:lpstr>
      <vt:lpstr>Example cont.....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WITHHOLDING TAXES</dc:title>
  <dc:creator>gee</dc:creator>
  <cp:lastModifiedBy>Private1</cp:lastModifiedBy>
  <cp:revision>30</cp:revision>
  <dcterms:created xsi:type="dcterms:W3CDTF">2015-02-17T05:55:08Z</dcterms:created>
  <dcterms:modified xsi:type="dcterms:W3CDTF">2017-02-16T09:16:47Z</dcterms:modified>
</cp:coreProperties>
</file>